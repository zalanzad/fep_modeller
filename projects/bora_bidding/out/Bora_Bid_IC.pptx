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Metadata/LabelInfo.xml" ContentType="application/vnd.ms-office.classificationlabel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authors.xml" ContentType="application/vnd.ms-powerpoint.authors+xml"/>
  <Override PartName="/ppt/changesInfos/changesInfo1.xml" ContentType="application/vnd.ms-powerpoint.changesinfo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Relationship Id="rId6" Type="http://schemas.microsoft.com/office/2020/02/relationships/classificationlabels" Target="docMetadata/LabelInfo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677" r:id="rId4"/>
    <p:sldMasterId id="2147483676" r:id="rId5"/>
  </p:sldMasterIdLst>
  <p:notesMasterIdLst>
    <p:notesMasterId r:id="rId13"/>
  </p:notesMasterIdLst>
  <p:handoutMasterIdLst>
    <p:handoutMasterId r:id="rId14"/>
  </p:handoutMasterIdLst>
  <p:sldIdLst>
    <p:sldId id="257" r:id="rId6"/>
    <p:sldId id="258" r:id="rId12"/>
    <p:sldId id="259" r:id="rId11"/>
    <p:sldId id="260" r:id="rId10"/>
    <p:sldId id="261" r:id="rId9"/>
    <p:sldId id="262" r:id="rId8"/>
    <p:sldId id="263" r:id="rId7"/>
  </p:sldIdLst>
  <p:sldSz cx="20105688" cy="11310938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3562" userDrawn="1">
          <p15:clr>
            <a:srgbClr val="A4A3A4"/>
          </p15:clr>
        </p15:guide>
        <p15:guide id="2" pos="6332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77CEBA77-0EB0-CD9A-B348-5737FB6F5DFF}" name="Szentirmai Dániel" initials="DS" userId="S::daniel.szentirmai@futurealgroup.com::e4a987b4-a5be-46be-85af-05dbdc723d0d" providerId="AD"/>
  <p188:author id="{C83FDAAA-8457-959D-A531-E1A9B1A8ED9F}" name="Alexander Gibbs" initials="AG" userId="S::alexander.gibbs@futurealgroup.com::45f5242f-161c-406b-bf69-4ed0d839e483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4EA72E"/>
    <a:srgbClr val="00563C"/>
    <a:srgbClr val="E8E8E8"/>
    <a:srgbClr val="005328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–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9D7B26C5-4107-4FEC-AEDC-1716B250A1EF}" styleName="Light Style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93296810-A885-4BE3-A3E7-6D5BEEA58F35}" styleName="Közepesen sötét stílus 2 – 6. jelölőszín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55" d="100"/>
          <a:sy n="55" d="100"/>
        </p:scale>
        <p:origin x="346" y="53"/>
      </p:cViewPr>
      <p:guideLst>
        <p:guide orient="horz" pos="3562"/>
        <p:guide pos="6332"/>
      </p:guideLst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>
        <p:scale>
          <a:sx n="1" d="2"/>
          <a:sy n="1" d="2"/>
        </p:scale>
        <p:origin x="0" y="0"/>
      </p:cViewPr>
      <p:guideLst/>
    </p:cSldViewPr>
  </p:notes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5" Type="http://schemas.openxmlformats.org/officeDocument/2006/relationships/slideMaster" Target="slideMasters/slideMaster2.xml"/><Relationship Id="rId6" Type="http://schemas.openxmlformats.org/officeDocument/2006/relationships/slide" Target="slides/slide1.xml"/><Relationship Id="rId7" Type="http://schemas.openxmlformats.org/officeDocument/2006/relationships/slide" Target="slides/slide7.xml"/><Relationship Id="rId8" Type="http://schemas.openxmlformats.org/officeDocument/2006/relationships/slide" Target="slides/slide6.xml"/><Relationship Id="rId9" Type="http://schemas.openxmlformats.org/officeDocument/2006/relationships/slide" Target="slides/slide5.xml"/><Relationship Id="rId10" Type="http://schemas.openxmlformats.org/officeDocument/2006/relationships/slide" Target="slides/slide4.xml"/><Relationship Id="rId11" Type="http://schemas.openxmlformats.org/officeDocument/2006/relationships/slide" Target="slides/slide3.xml"/><Relationship Id="rId12" Type="http://schemas.openxmlformats.org/officeDocument/2006/relationships/slide" Target="slides/slide2.xml"/><Relationship Id="rId13" Type="http://schemas.openxmlformats.org/officeDocument/2006/relationships/notesMaster" Target="notesMasters/notesMaster1.xml"/><Relationship Id="rId14" Type="http://schemas.openxmlformats.org/officeDocument/2006/relationships/handoutMaster" Target="handoutMasters/handout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Relationship Id="rId19" Type="http://schemas.microsoft.com/office/2016/11/relationships/changesInfo" Target="changesInfos/changesInfo1.xml"/><Relationship Id="rId20" Type="http://schemas.microsoft.com/office/2018/10/relationships/authors" Target="author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Zádeczki Zalán" userId="859bb901-d59a-4d05-86af-7c7fa75f15cc" providerId="ADAL" clId="{E470E0F3-1B55-4365-AA6F-980ABE4A6DBB}"/>
    <pc:docChg chg="modSld">
      <pc:chgData name="Zádeczki Zalán" userId="859bb901-d59a-4d05-86af-7c7fa75f15cc" providerId="ADAL" clId="{E470E0F3-1B55-4365-AA6F-980ABE4A6DBB}" dt="2026-04-21T07:28:57.393" v="0" actId="1076"/>
      <pc:docMkLst>
        <pc:docMk/>
      </pc:docMkLst>
      <pc:sldChg chg="modSp mod">
        <pc:chgData name="Zádeczki Zalán" userId="859bb901-d59a-4d05-86af-7c7fa75f15cc" providerId="ADAL" clId="{E470E0F3-1B55-4365-AA6F-980ABE4A6DBB}" dt="2026-04-21T07:28:57.393" v="0" actId="1076"/>
        <pc:sldMkLst>
          <pc:docMk/>
          <pc:sldMk cId="2832106109" sldId="316"/>
        </pc:sldMkLst>
        <pc:spChg chg="mod">
          <ac:chgData name="Zádeczki Zalán" userId="859bb901-d59a-4d05-86af-7c7fa75f15cc" providerId="ADAL" clId="{E470E0F3-1B55-4365-AA6F-980ABE4A6DBB}" dt="2026-04-21T07:28:57.393" v="0" actId="1076"/>
          <ac:spMkLst>
            <pc:docMk/>
            <pc:sldMk cId="2832106109" sldId="316"/>
            <ac:spMk id="7" creationId="{9C712E98-0880-E251-D893-E63AD1472F07}"/>
          </ac:spMkLst>
        </pc:spChg>
      </pc:sldChg>
    </pc:docChg>
  </pc:docChgLst>
</pc:chgInfo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4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20C69F0A-753D-4D0A-E937-192AB0B195D6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hu-HU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CB5C423-415A-8E73-29C5-35785CB64AE4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2B9B0E-0173-6448-B6CE-6FFDEF3DFC7C}" type="datetimeFigureOut">
              <a:rPr lang="hu-HU" smtClean="0"/>
              <a:t>2026. 10. 09.</a:t>
            </a:fld>
            <a:endParaRPr lang="hu-HU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1AD4182-9C29-5D16-7BAD-1DC5C2F06A4E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hu-HU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FBC83AC-DE2C-7165-9265-93700EAAB656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0F7E15C-B816-EE44-A0DD-18B068892EE4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714726874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FBDBD05-8D06-4AD0-9F7F-CE567DB23A8F}" type="datetimeFigureOut">
              <a:rPr lang="en-GB" smtClean="0"/>
              <a:t>09/10/2026</a:t>
            </a:fld>
            <a:endParaRPr lang="en-GB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GB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ABA7ABA-3AE4-43F1-8148-8F32BDF4A571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11762359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pn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pn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.png"/><Relationship Id="rId3" Type="http://schemas.openxmlformats.org/officeDocument/2006/relationships/image" Target="../media/image1.png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png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pn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png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png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png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png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99B80CFB-4B2B-A473-B8AE-23147E9EE5C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4200188" y="10483850"/>
            <a:ext cx="4522787" cy="60166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2EEA166-2877-4493-9FAA-8D6952A82FC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4163030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Base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 descr="A logo with green letters and a black background&#10;&#10;AI-generated content may be incorrect.">
            <a:extLst>
              <a:ext uri="{FF2B5EF4-FFF2-40B4-BE49-F238E27FC236}">
                <a16:creationId xmlns:a16="http://schemas.microsoft.com/office/drawing/2014/main" id="{CCB7FFD3-F237-D100-AD13-19091185976F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7367250" y="-7761"/>
            <a:ext cx="2013881" cy="1378630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82B1D0F8-2753-A3E5-3757-05F080DBEC8C}"/>
              </a:ext>
            </a:extLst>
          </p:cNvPr>
          <p:cNvSpPr txBox="1"/>
          <p:nvPr userDrawn="1"/>
        </p:nvSpPr>
        <p:spPr>
          <a:xfrm>
            <a:off x="2365513" y="536713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hu-HU"/>
          </a:p>
        </p:txBody>
      </p:sp>
      <p:sp>
        <p:nvSpPr>
          <p:cNvPr id="14" name="object 16">
            <a:extLst>
              <a:ext uri="{FF2B5EF4-FFF2-40B4-BE49-F238E27FC236}">
                <a16:creationId xmlns:a16="http://schemas.microsoft.com/office/drawing/2014/main" id="{D1A1E1BD-5203-A3AC-1FCD-200DE8EC4D24}"/>
              </a:ext>
            </a:extLst>
          </p:cNvPr>
          <p:cNvSpPr txBox="1">
            <a:spLocks noGrp="1"/>
          </p:cNvSpPr>
          <p:nvPr>
            <p:ph type="title" hasCustomPrompt="1"/>
          </p:nvPr>
        </p:nvSpPr>
        <p:spPr>
          <a:xfrm>
            <a:off x="4500000" y="283409"/>
            <a:ext cx="3434079" cy="796290"/>
          </a:xfrm>
          <a:prstGeom prst="rect">
            <a:avLst/>
          </a:prstGeom>
        </p:spPr>
        <p:txBody>
          <a:bodyPr vert="horz" wrap="none" lIns="0" tIns="0" rIns="0" bIns="0" rtlCol="0" anchor="ctr" anchorCtr="0">
            <a:noAutofit/>
          </a:bodyPr>
          <a:lstStyle>
            <a:lvl1pPr>
              <a:defRPr sz="3300" b="0" i="0">
                <a:latin typeface="Aptos Black" panose="020B0004020202020204" pitchFamily="34" charset="0"/>
              </a:defRPr>
            </a:lvl1pPr>
          </a:lstStyle>
          <a:p>
            <a:pPr marL="12700">
              <a:lnSpc>
                <a:spcPts val="3840"/>
              </a:lnSpc>
              <a:spcBef>
                <a:spcPts val="95"/>
              </a:spcBef>
            </a:pPr>
            <a:r>
              <a:t>Header</a:t>
            </a:r>
            <a:r>
              <a:rPr spc="-85"/>
              <a:t> </a:t>
            </a:r>
            <a:r>
              <a:t>Line</a:t>
            </a:r>
            <a:r>
              <a:rPr spc="-85"/>
              <a:t> </a:t>
            </a:r>
            <a:r>
              <a:rPr spc="-50"/>
              <a:t>1</a:t>
            </a:r>
            <a:endParaRPr lang="en-HU" spc="-5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93A530C-C9E9-8EDB-5821-11A963C1A10F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4500000" y="3417835"/>
            <a:ext cx="10058400" cy="2763837"/>
          </a:xfrm>
          <a:prstGeom prst="rect">
            <a:avLst/>
          </a:prstGeom>
        </p:spPr>
        <p:txBody>
          <a:bodyPr/>
          <a:lstStyle>
            <a:lvl1pPr marL="409575" indent="-409575">
              <a:buFont typeface="Aptos" panose="020B0004020202020204" pitchFamily="34" charset="0"/>
              <a:buChar char="›"/>
              <a:tabLst/>
              <a:defRPr sz="1800" b="0" i="0">
                <a:latin typeface="Aptos" panose="020B0004020202020204" pitchFamily="34" charset="0"/>
              </a:defRPr>
            </a:lvl1pPr>
            <a:lvl2pPr marL="685800" indent="-228600">
              <a:buFont typeface="Aptos" panose="020B0004020202020204" pitchFamily="34" charset="0"/>
              <a:buChar char="›"/>
              <a:defRPr sz="2600" b="0" i="0">
                <a:latin typeface="Aptos" panose="020B0004020202020204" pitchFamily="34" charset="0"/>
              </a:defRPr>
            </a:lvl2pPr>
            <a:lvl3pPr marL="1143000" indent="-228600">
              <a:buFont typeface="Aptos" panose="020B0004020202020204" pitchFamily="34" charset="0"/>
              <a:buChar char="›"/>
              <a:defRPr/>
            </a:lvl3pPr>
            <a:lvl4pPr marL="1600200" indent="-228600">
              <a:buFont typeface="Aptos" panose="020B0004020202020204" pitchFamily="34" charset="0"/>
              <a:buChar char="›"/>
              <a:defRPr/>
            </a:lvl4pPr>
            <a:lvl5pPr marL="2057400" indent="-228600">
              <a:buFont typeface="Aptos" panose="020B0004020202020204" pitchFamily="34" charset="0"/>
              <a:buChar char="›"/>
              <a:defRPr/>
            </a:lvl5pPr>
          </a:lstStyle>
          <a:p>
            <a:pPr lvl="0"/>
            <a:r>
              <a:rPr lang="en-GB"/>
              <a:t>Click to edit Master text styles</a:t>
            </a:r>
          </a:p>
          <a:p>
            <a:pPr lvl="0"/>
            <a:endParaRPr lang="en-GB"/>
          </a:p>
          <a:p>
            <a:pPr lvl="0"/>
            <a:endParaRPr lang="en-GB"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88576B7A-1C0F-D2A3-8BE9-18F63D64C45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4200188" y="10483850"/>
            <a:ext cx="4522787" cy="60166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2EEA166-2877-4493-9FAA-8D6952A82FC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685672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 descr="A logo with green letters and a black background&#10;&#10;AI-generated content may be incorrect.">
            <a:extLst>
              <a:ext uri="{FF2B5EF4-FFF2-40B4-BE49-F238E27FC236}">
                <a16:creationId xmlns:a16="http://schemas.microsoft.com/office/drawing/2014/main" id="{CCB7FFD3-F237-D100-AD13-19091185976F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7367250" y="-7761"/>
            <a:ext cx="2013881" cy="1378630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82B1D0F8-2753-A3E5-3757-05F080DBEC8C}"/>
              </a:ext>
            </a:extLst>
          </p:cNvPr>
          <p:cNvSpPr txBox="1"/>
          <p:nvPr userDrawn="1"/>
        </p:nvSpPr>
        <p:spPr>
          <a:xfrm>
            <a:off x="2365513" y="536713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hu-HU"/>
          </a:p>
        </p:txBody>
      </p:sp>
      <p:sp>
        <p:nvSpPr>
          <p:cNvPr id="14" name="object 16">
            <a:extLst>
              <a:ext uri="{FF2B5EF4-FFF2-40B4-BE49-F238E27FC236}">
                <a16:creationId xmlns:a16="http://schemas.microsoft.com/office/drawing/2014/main" id="{D1A1E1BD-5203-A3AC-1FCD-200DE8EC4D24}"/>
              </a:ext>
            </a:extLst>
          </p:cNvPr>
          <p:cNvSpPr txBox="1">
            <a:spLocks noGrp="1"/>
          </p:cNvSpPr>
          <p:nvPr>
            <p:ph type="title" hasCustomPrompt="1"/>
          </p:nvPr>
        </p:nvSpPr>
        <p:spPr>
          <a:xfrm>
            <a:off x="4500000" y="283409"/>
            <a:ext cx="3434079" cy="796290"/>
          </a:xfrm>
          <a:prstGeom prst="rect">
            <a:avLst/>
          </a:prstGeom>
        </p:spPr>
        <p:txBody>
          <a:bodyPr vert="horz" wrap="none" lIns="0" tIns="0" rIns="0" bIns="0" rtlCol="0" anchor="ctr" anchorCtr="0">
            <a:noAutofit/>
          </a:bodyPr>
          <a:lstStyle>
            <a:lvl1pPr>
              <a:defRPr sz="3300" b="0" i="0">
                <a:latin typeface="Aptos Black" panose="020B0004020202020204" pitchFamily="34" charset="0"/>
              </a:defRPr>
            </a:lvl1pPr>
          </a:lstStyle>
          <a:p>
            <a:pPr marL="12700">
              <a:lnSpc>
                <a:spcPts val="3840"/>
              </a:lnSpc>
              <a:spcBef>
                <a:spcPts val="95"/>
              </a:spcBef>
            </a:pPr>
            <a:r>
              <a:t>Header</a:t>
            </a:r>
            <a:r>
              <a:rPr spc="-85"/>
              <a:t> </a:t>
            </a:r>
            <a:r>
              <a:t>Line</a:t>
            </a:r>
            <a:r>
              <a:rPr spc="-85"/>
              <a:t> </a:t>
            </a:r>
            <a:r>
              <a:rPr spc="-50"/>
              <a:t>1</a:t>
            </a:r>
            <a:endParaRPr lang="en-HU" spc="-50"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94430D23-6C94-E7D2-E011-50938D4089D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4200188" y="10483850"/>
            <a:ext cx="4522787" cy="60166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2EEA166-2877-4493-9FAA-8D6952A82FC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75033735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ase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 descr="A logo with green letters and a black background&#10;&#10;AI-generated content may be incorrect.">
            <a:extLst>
              <a:ext uri="{FF2B5EF4-FFF2-40B4-BE49-F238E27FC236}">
                <a16:creationId xmlns:a16="http://schemas.microsoft.com/office/drawing/2014/main" id="{CCB7FFD3-F237-D100-AD13-19091185976F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7367250" y="-7761"/>
            <a:ext cx="2013881" cy="1378630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82B1D0F8-2753-A3E5-3757-05F080DBEC8C}"/>
              </a:ext>
            </a:extLst>
          </p:cNvPr>
          <p:cNvSpPr txBox="1"/>
          <p:nvPr userDrawn="1"/>
        </p:nvSpPr>
        <p:spPr>
          <a:xfrm>
            <a:off x="2365513" y="536713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hu-HU"/>
          </a:p>
        </p:txBody>
      </p:sp>
      <p:sp>
        <p:nvSpPr>
          <p:cNvPr id="14" name="object 16">
            <a:extLst>
              <a:ext uri="{FF2B5EF4-FFF2-40B4-BE49-F238E27FC236}">
                <a16:creationId xmlns:a16="http://schemas.microsoft.com/office/drawing/2014/main" id="{D1A1E1BD-5203-A3AC-1FCD-200DE8EC4D24}"/>
              </a:ext>
            </a:extLst>
          </p:cNvPr>
          <p:cNvSpPr txBox="1">
            <a:spLocks noGrp="1"/>
          </p:cNvSpPr>
          <p:nvPr>
            <p:ph type="title" hasCustomPrompt="1"/>
          </p:nvPr>
        </p:nvSpPr>
        <p:spPr>
          <a:xfrm>
            <a:off x="4500000" y="283409"/>
            <a:ext cx="3434079" cy="796290"/>
          </a:xfrm>
          <a:prstGeom prst="rect">
            <a:avLst/>
          </a:prstGeom>
        </p:spPr>
        <p:txBody>
          <a:bodyPr vert="horz" wrap="none" lIns="0" tIns="0" rIns="0" bIns="0" rtlCol="0" anchor="ctr" anchorCtr="0">
            <a:noAutofit/>
          </a:bodyPr>
          <a:lstStyle>
            <a:lvl1pPr>
              <a:defRPr sz="3300" b="0" i="0">
                <a:latin typeface="Aptos Black" panose="020B0004020202020204" pitchFamily="34" charset="0"/>
              </a:defRPr>
            </a:lvl1pPr>
          </a:lstStyle>
          <a:p>
            <a:pPr marL="12700">
              <a:lnSpc>
                <a:spcPts val="3840"/>
              </a:lnSpc>
              <a:spcBef>
                <a:spcPts val="95"/>
              </a:spcBef>
            </a:pPr>
            <a:r>
              <a:t>Header</a:t>
            </a:r>
            <a:r>
              <a:rPr spc="-85"/>
              <a:t> </a:t>
            </a:r>
            <a:r>
              <a:t>Line</a:t>
            </a:r>
            <a:r>
              <a:rPr spc="-85"/>
              <a:t> </a:t>
            </a:r>
            <a:r>
              <a:rPr spc="-50"/>
              <a:t>1</a:t>
            </a:r>
            <a:endParaRPr lang="en-HU" spc="-5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93A530C-C9E9-8EDB-5821-11A963C1A10F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4500000" y="3417835"/>
            <a:ext cx="10058400" cy="2763837"/>
          </a:xfrm>
          <a:prstGeom prst="rect">
            <a:avLst/>
          </a:prstGeom>
        </p:spPr>
        <p:txBody>
          <a:bodyPr/>
          <a:lstStyle>
            <a:lvl1pPr marL="409575" indent="-409575">
              <a:buFont typeface="Aptos" panose="020B0004020202020204" pitchFamily="34" charset="0"/>
              <a:buChar char="›"/>
              <a:tabLst/>
              <a:defRPr sz="1800" b="0" i="0">
                <a:latin typeface="Aptos" panose="020B0004020202020204" pitchFamily="34" charset="0"/>
              </a:defRPr>
            </a:lvl1pPr>
            <a:lvl2pPr marL="685800" indent="-228600">
              <a:buFont typeface="Aptos" panose="020B0004020202020204" pitchFamily="34" charset="0"/>
              <a:buChar char="›"/>
              <a:defRPr sz="2600" b="0" i="0">
                <a:latin typeface="Aptos" panose="020B0004020202020204" pitchFamily="34" charset="0"/>
              </a:defRPr>
            </a:lvl2pPr>
            <a:lvl3pPr marL="1143000" indent="-228600">
              <a:buFont typeface="Aptos" panose="020B0004020202020204" pitchFamily="34" charset="0"/>
              <a:buChar char="›"/>
              <a:defRPr/>
            </a:lvl3pPr>
            <a:lvl4pPr marL="1600200" indent="-228600">
              <a:buFont typeface="Aptos" panose="020B0004020202020204" pitchFamily="34" charset="0"/>
              <a:buChar char="›"/>
              <a:defRPr/>
            </a:lvl4pPr>
            <a:lvl5pPr marL="2057400" indent="-228600">
              <a:buFont typeface="Aptos" panose="020B0004020202020204" pitchFamily="34" charset="0"/>
              <a:buChar char="›"/>
              <a:defRPr/>
            </a:lvl5pPr>
          </a:lstStyle>
          <a:p>
            <a:pPr lvl="0"/>
            <a:r>
              <a:rPr lang="en-GB"/>
              <a:t>Click to edit Master text styles</a:t>
            </a:r>
          </a:p>
          <a:p>
            <a:pPr lvl="0"/>
            <a:endParaRPr lang="en-GB"/>
          </a:p>
          <a:p>
            <a:pPr lvl="0"/>
            <a:endParaRPr lang="en-GB"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88576B7A-1C0F-D2A3-8BE9-18F63D64C45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4200188" y="10483850"/>
            <a:ext cx="4522787" cy="60166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2EEA166-2877-4493-9FAA-8D6952A82FC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7806838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Base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object 23">
            <a:extLst>
              <a:ext uri="{FF2B5EF4-FFF2-40B4-BE49-F238E27FC236}">
                <a16:creationId xmlns:a16="http://schemas.microsoft.com/office/drawing/2014/main" id="{C5F27261-9AF0-6EB2-713F-486F78006C79}"/>
              </a:ext>
            </a:extLst>
          </p:cNvPr>
          <p:cNvPicPr/>
          <p:nvPr userDrawn="1"/>
        </p:nvPicPr>
        <p:blipFill>
          <a:blip r:embed="rId2" cstate="print"/>
          <a:stretch>
            <a:fillRect/>
          </a:stretch>
        </p:blipFill>
        <p:spPr>
          <a:xfrm>
            <a:off x="8520665" y="4942258"/>
            <a:ext cx="11583434" cy="6366298"/>
          </a:xfrm>
          <a:prstGeom prst="rect">
            <a:avLst/>
          </a:prstGeom>
        </p:spPr>
      </p:pic>
      <p:pic>
        <p:nvPicPr>
          <p:cNvPr id="6" name="Picture 5" descr="A logo with green letters and a black background&#10;&#10;AI-generated content may be incorrect.">
            <a:extLst>
              <a:ext uri="{FF2B5EF4-FFF2-40B4-BE49-F238E27FC236}">
                <a16:creationId xmlns:a16="http://schemas.microsoft.com/office/drawing/2014/main" id="{CCB7FFD3-F237-D100-AD13-19091185976F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17367250" y="-7761"/>
            <a:ext cx="2013881" cy="1378630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82B1D0F8-2753-A3E5-3757-05F080DBEC8C}"/>
              </a:ext>
            </a:extLst>
          </p:cNvPr>
          <p:cNvSpPr txBox="1"/>
          <p:nvPr userDrawn="1"/>
        </p:nvSpPr>
        <p:spPr>
          <a:xfrm>
            <a:off x="2365513" y="536713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hu-HU"/>
          </a:p>
        </p:txBody>
      </p:sp>
      <p:sp>
        <p:nvSpPr>
          <p:cNvPr id="14" name="object 16">
            <a:extLst>
              <a:ext uri="{FF2B5EF4-FFF2-40B4-BE49-F238E27FC236}">
                <a16:creationId xmlns:a16="http://schemas.microsoft.com/office/drawing/2014/main" id="{D1A1E1BD-5203-A3AC-1FCD-200DE8EC4D24}"/>
              </a:ext>
            </a:extLst>
          </p:cNvPr>
          <p:cNvSpPr txBox="1">
            <a:spLocks noGrp="1"/>
          </p:cNvSpPr>
          <p:nvPr>
            <p:ph type="title" hasCustomPrompt="1"/>
          </p:nvPr>
        </p:nvSpPr>
        <p:spPr>
          <a:xfrm>
            <a:off x="4500000" y="283409"/>
            <a:ext cx="3434079" cy="796290"/>
          </a:xfrm>
          <a:prstGeom prst="rect">
            <a:avLst/>
          </a:prstGeom>
        </p:spPr>
        <p:txBody>
          <a:bodyPr vert="horz" wrap="none" lIns="0" tIns="0" rIns="0" bIns="0" rtlCol="0" anchor="ctr" anchorCtr="0">
            <a:noAutofit/>
          </a:bodyPr>
          <a:lstStyle>
            <a:lvl1pPr>
              <a:defRPr sz="3300" b="0" i="0">
                <a:latin typeface="Aptos Black" panose="020B0004020202020204" pitchFamily="34" charset="0"/>
              </a:defRPr>
            </a:lvl1pPr>
          </a:lstStyle>
          <a:p>
            <a:pPr marL="12700">
              <a:lnSpc>
                <a:spcPts val="3840"/>
              </a:lnSpc>
              <a:spcBef>
                <a:spcPts val="95"/>
              </a:spcBef>
            </a:pPr>
            <a:r>
              <a:t>Header</a:t>
            </a:r>
            <a:r>
              <a:rPr spc="-85"/>
              <a:t> </a:t>
            </a:r>
            <a:r>
              <a:t>Line</a:t>
            </a:r>
            <a:r>
              <a:rPr spc="-85"/>
              <a:t> </a:t>
            </a:r>
            <a:r>
              <a:rPr spc="-50"/>
              <a:t>1</a:t>
            </a:r>
            <a:endParaRPr lang="en-HU" spc="-5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93A530C-C9E9-8EDB-5821-11A963C1A10F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4500000" y="3014714"/>
            <a:ext cx="5110181" cy="2763837"/>
          </a:xfrm>
          <a:prstGeom prst="rect">
            <a:avLst/>
          </a:prstGeom>
        </p:spPr>
        <p:txBody>
          <a:bodyPr/>
          <a:lstStyle>
            <a:lvl1pPr marL="409575" indent="-409575">
              <a:buFont typeface="Aptos" panose="020B0004020202020204" pitchFamily="34" charset="0"/>
              <a:buChar char="›"/>
              <a:tabLst/>
              <a:defRPr sz="1600" b="0" i="0">
                <a:latin typeface="Aptos" panose="020B0004020202020204" pitchFamily="34" charset="0"/>
              </a:defRPr>
            </a:lvl1pPr>
            <a:lvl2pPr marL="685800" indent="-228600">
              <a:buFont typeface="Aptos" panose="020B0004020202020204" pitchFamily="34" charset="0"/>
              <a:buChar char="›"/>
              <a:defRPr sz="2600" b="0" i="0">
                <a:latin typeface="Aptos" panose="020B0004020202020204" pitchFamily="34" charset="0"/>
              </a:defRPr>
            </a:lvl2pPr>
            <a:lvl3pPr marL="1143000" indent="-228600">
              <a:buFont typeface="Aptos" panose="020B0004020202020204" pitchFamily="34" charset="0"/>
              <a:buChar char="›"/>
              <a:defRPr/>
            </a:lvl3pPr>
            <a:lvl4pPr marL="1600200" indent="-228600">
              <a:buFont typeface="Aptos" panose="020B0004020202020204" pitchFamily="34" charset="0"/>
              <a:buChar char="›"/>
              <a:defRPr/>
            </a:lvl4pPr>
            <a:lvl5pPr marL="2057400" indent="-228600">
              <a:buFont typeface="Aptos" panose="020B0004020202020204" pitchFamily="34" charset="0"/>
              <a:buChar char="›"/>
              <a:defRPr/>
            </a:lvl5pPr>
          </a:lstStyle>
          <a:p>
            <a:pPr lvl="0"/>
            <a:r>
              <a:rPr lang="en-GB"/>
              <a:t>Click to edit Master text styles</a:t>
            </a:r>
          </a:p>
          <a:p>
            <a:pPr lvl="0"/>
            <a:endParaRPr lang="en-GB"/>
          </a:p>
          <a:p>
            <a:pPr lvl="0"/>
            <a:endParaRPr lang="en-GB"/>
          </a:p>
        </p:txBody>
      </p:sp>
      <p:sp>
        <p:nvSpPr>
          <p:cNvPr id="2" name="Text Placeholder 3">
            <a:extLst>
              <a:ext uri="{FF2B5EF4-FFF2-40B4-BE49-F238E27FC236}">
                <a16:creationId xmlns:a16="http://schemas.microsoft.com/office/drawing/2014/main" id="{D61619E1-FB93-D0B1-A562-709B3CB802E7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4500000" y="2066114"/>
            <a:ext cx="5110181" cy="371127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0">
              <a:buFont typeface="Aptos" panose="020B0004020202020204" pitchFamily="34" charset="0"/>
              <a:buNone/>
              <a:tabLst/>
              <a:defRPr sz="2000" b="1" i="0">
                <a:latin typeface="Aptos" panose="020B0004020202020204" pitchFamily="34" charset="0"/>
              </a:defRPr>
            </a:lvl1pPr>
            <a:lvl2pPr marL="685800" indent="-228600">
              <a:buFont typeface="Aptos" panose="020B0004020202020204" pitchFamily="34" charset="0"/>
              <a:buChar char="›"/>
              <a:defRPr sz="2600" b="0" i="0">
                <a:latin typeface="Aptos" panose="020B0004020202020204" pitchFamily="34" charset="0"/>
              </a:defRPr>
            </a:lvl2pPr>
            <a:lvl3pPr marL="1143000" indent="-228600">
              <a:buFont typeface="Aptos" panose="020B0004020202020204" pitchFamily="34" charset="0"/>
              <a:buChar char="›"/>
              <a:defRPr/>
            </a:lvl3pPr>
            <a:lvl4pPr marL="1600200" indent="-228600">
              <a:buFont typeface="Aptos" panose="020B0004020202020204" pitchFamily="34" charset="0"/>
              <a:buChar char="›"/>
              <a:defRPr/>
            </a:lvl4pPr>
            <a:lvl5pPr marL="2057400" indent="-228600">
              <a:buFont typeface="Aptos" panose="020B0004020202020204" pitchFamily="34" charset="0"/>
              <a:buChar char="›"/>
              <a:defRPr/>
            </a:lvl5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Text Placeholder 3">
            <a:extLst>
              <a:ext uri="{FF2B5EF4-FFF2-40B4-BE49-F238E27FC236}">
                <a16:creationId xmlns:a16="http://schemas.microsoft.com/office/drawing/2014/main" id="{BDECA4B7-C217-E87C-BE98-ECFAC7D75F5A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10066611" y="3014714"/>
            <a:ext cx="5110181" cy="2763837"/>
          </a:xfrm>
          <a:prstGeom prst="rect">
            <a:avLst/>
          </a:prstGeom>
        </p:spPr>
        <p:txBody>
          <a:bodyPr/>
          <a:lstStyle>
            <a:lvl1pPr marL="409575" indent="-409575">
              <a:buFont typeface="Aptos" panose="020B0004020202020204" pitchFamily="34" charset="0"/>
              <a:buChar char="›"/>
              <a:tabLst/>
              <a:defRPr sz="1600" b="0" i="0">
                <a:latin typeface="Aptos" panose="020B0004020202020204" pitchFamily="34" charset="0"/>
              </a:defRPr>
            </a:lvl1pPr>
            <a:lvl2pPr marL="685800" indent="-228600">
              <a:buFont typeface="Aptos" panose="020B0004020202020204" pitchFamily="34" charset="0"/>
              <a:buChar char="›"/>
              <a:defRPr sz="2600" b="0" i="0">
                <a:latin typeface="Aptos" panose="020B0004020202020204" pitchFamily="34" charset="0"/>
              </a:defRPr>
            </a:lvl2pPr>
            <a:lvl3pPr marL="1143000" indent="-228600">
              <a:buFont typeface="Aptos" panose="020B0004020202020204" pitchFamily="34" charset="0"/>
              <a:buChar char="›"/>
              <a:defRPr/>
            </a:lvl3pPr>
            <a:lvl4pPr marL="1600200" indent="-228600">
              <a:buFont typeface="Aptos" panose="020B0004020202020204" pitchFamily="34" charset="0"/>
              <a:buChar char="›"/>
              <a:defRPr/>
            </a:lvl4pPr>
            <a:lvl5pPr marL="2057400" indent="-228600">
              <a:buFont typeface="Aptos" panose="020B0004020202020204" pitchFamily="34" charset="0"/>
              <a:buChar char="›"/>
              <a:defRPr/>
            </a:lvl5pPr>
          </a:lstStyle>
          <a:p>
            <a:pPr lvl="0"/>
            <a:r>
              <a:rPr lang="en-GB"/>
              <a:t>Click to edit Master text styles</a:t>
            </a:r>
          </a:p>
          <a:p>
            <a:pPr lvl="0"/>
            <a:endParaRPr lang="en-GB"/>
          </a:p>
          <a:p>
            <a:pPr lvl="0"/>
            <a:endParaRPr lang="en-GB"/>
          </a:p>
        </p:txBody>
      </p:sp>
      <p:sp>
        <p:nvSpPr>
          <p:cNvPr id="7" name="Slide Number Placeholder 1">
            <a:extLst>
              <a:ext uri="{FF2B5EF4-FFF2-40B4-BE49-F238E27FC236}">
                <a16:creationId xmlns:a16="http://schemas.microsoft.com/office/drawing/2014/main" id="{DF2B1256-E455-F14C-DA27-04643C697B0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4200188" y="10483850"/>
            <a:ext cx="4522787" cy="60166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2EEA166-2877-4493-9FAA-8D6952A82FC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82958440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mage + text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 descr="A logo with green letters and a black background&#10;&#10;AI-generated content may be incorrect.">
            <a:extLst>
              <a:ext uri="{FF2B5EF4-FFF2-40B4-BE49-F238E27FC236}">
                <a16:creationId xmlns:a16="http://schemas.microsoft.com/office/drawing/2014/main" id="{CCB7FFD3-F237-D100-AD13-19091185976F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7367250" y="-7761"/>
            <a:ext cx="2013881" cy="1378630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82B1D0F8-2753-A3E5-3757-05F080DBEC8C}"/>
              </a:ext>
            </a:extLst>
          </p:cNvPr>
          <p:cNvSpPr txBox="1"/>
          <p:nvPr userDrawn="1"/>
        </p:nvSpPr>
        <p:spPr>
          <a:xfrm>
            <a:off x="2365513" y="536713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hu-HU"/>
          </a:p>
        </p:txBody>
      </p:sp>
      <p:sp>
        <p:nvSpPr>
          <p:cNvPr id="14" name="object 16">
            <a:extLst>
              <a:ext uri="{FF2B5EF4-FFF2-40B4-BE49-F238E27FC236}">
                <a16:creationId xmlns:a16="http://schemas.microsoft.com/office/drawing/2014/main" id="{D1A1E1BD-5203-A3AC-1FCD-200DE8EC4D24}"/>
              </a:ext>
            </a:extLst>
          </p:cNvPr>
          <p:cNvSpPr txBox="1">
            <a:spLocks noGrp="1"/>
          </p:cNvSpPr>
          <p:nvPr>
            <p:ph type="title" hasCustomPrompt="1"/>
          </p:nvPr>
        </p:nvSpPr>
        <p:spPr>
          <a:xfrm>
            <a:off x="4500000" y="283409"/>
            <a:ext cx="3434079" cy="796290"/>
          </a:xfrm>
          <a:prstGeom prst="rect">
            <a:avLst/>
          </a:prstGeom>
        </p:spPr>
        <p:txBody>
          <a:bodyPr vert="horz" wrap="none" lIns="0" tIns="0" rIns="0" bIns="0" rtlCol="0" anchor="ctr" anchorCtr="0">
            <a:noAutofit/>
          </a:bodyPr>
          <a:lstStyle>
            <a:lvl1pPr>
              <a:defRPr sz="3300" b="0" i="0">
                <a:latin typeface="Aptos Black" panose="020B0004020202020204" pitchFamily="34" charset="0"/>
              </a:defRPr>
            </a:lvl1pPr>
          </a:lstStyle>
          <a:p>
            <a:pPr marL="12700">
              <a:lnSpc>
                <a:spcPts val="3840"/>
              </a:lnSpc>
              <a:spcBef>
                <a:spcPts val="95"/>
              </a:spcBef>
            </a:pPr>
            <a:r>
              <a:t>Header</a:t>
            </a:r>
            <a:r>
              <a:rPr spc="-85"/>
              <a:t> </a:t>
            </a:r>
            <a:r>
              <a:t>Line</a:t>
            </a:r>
            <a:r>
              <a:rPr spc="-85"/>
              <a:t> </a:t>
            </a:r>
            <a:r>
              <a:rPr spc="-50"/>
              <a:t>1</a:t>
            </a:r>
            <a:endParaRPr lang="en-HU" spc="-50"/>
          </a:p>
        </p:txBody>
      </p:sp>
      <p:sp>
        <p:nvSpPr>
          <p:cNvPr id="5" name="Picture Placeholder 4">
            <a:extLst>
              <a:ext uri="{FF2B5EF4-FFF2-40B4-BE49-F238E27FC236}">
                <a16:creationId xmlns:a16="http://schemas.microsoft.com/office/drawing/2014/main" id="{49DEB9E5-1C75-93D8-7926-E2F4E629B40E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500000" y="2106613"/>
            <a:ext cx="8290800" cy="8250237"/>
          </a:xfrm>
          <a:prstGeom prst="rect">
            <a:avLst/>
          </a:prstGeom>
        </p:spPr>
        <p:txBody>
          <a:bodyPr/>
          <a:lstStyle/>
          <a:p>
            <a:endParaRPr lang="hu-HU"/>
          </a:p>
        </p:txBody>
      </p:sp>
      <p:sp>
        <p:nvSpPr>
          <p:cNvPr id="9" name="Text Placeholder 3">
            <a:extLst>
              <a:ext uri="{FF2B5EF4-FFF2-40B4-BE49-F238E27FC236}">
                <a16:creationId xmlns:a16="http://schemas.microsoft.com/office/drawing/2014/main" id="{5AE3D0A3-F667-55A1-9C2D-343A97FC6E3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13120576" y="2891632"/>
            <a:ext cx="5968799" cy="1170005"/>
          </a:xfrm>
          <a:prstGeom prst="rect">
            <a:avLst/>
          </a:prstGeom>
        </p:spPr>
        <p:txBody>
          <a:bodyPr/>
          <a:lstStyle>
            <a:lvl1pPr marL="0" indent="0">
              <a:buFont typeface="Aptos" panose="020B0004020202020204" pitchFamily="34" charset="0"/>
              <a:buNone/>
              <a:tabLst/>
              <a:defRPr sz="1800" b="1" i="0">
                <a:latin typeface="Aptos" panose="020B0004020202020204" pitchFamily="34" charset="0"/>
              </a:defRPr>
            </a:lvl1pPr>
            <a:lvl2pPr marL="685800" indent="-228600">
              <a:buFont typeface="Aptos" panose="020B0004020202020204" pitchFamily="34" charset="0"/>
              <a:buChar char="›"/>
              <a:defRPr sz="2600" b="0" i="0">
                <a:latin typeface="Aptos" panose="020B0004020202020204" pitchFamily="34" charset="0"/>
              </a:defRPr>
            </a:lvl2pPr>
            <a:lvl3pPr marL="1143000" indent="-228600">
              <a:buFont typeface="Aptos" panose="020B0004020202020204" pitchFamily="34" charset="0"/>
              <a:buChar char="›"/>
              <a:defRPr/>
            </a:lvl3pPr>
            <a:lvl4pPr marL="1600200" indent="-228600">
              <a:buFont typeface="Aptos" panose="020B0004020202020204" pitchFamily="34" charset="0"/>
              <a:buChar char="›"/>
              <a:defRPr/>
            </a:lvl4pPr>
            <a:lvl5pPr marL="2057400" indent="-228600">
              <a:buFont typeface="Aptos" panose="020B0004020202020204" pitchFamily="34" charset="0"/>
              <a:buChar char="›"/>
              <a:defRPr/>
            </a:lvl5pPr>
          </a:lstStyle>
          <a:p>
            <a:pPr lvl="0"/>
            <a:r>
              <a:rPr lang="en-GB"/>
              <a:t>Click to edit Master text styles</a:t>
            </a:r>
          </a:p>
          <a:p>
            <a:pPr lvl="0"/>
            <a:endParaRPr lang="en-GB"/>
          </a:p>
          <a:p>
            <a:pPr lvl="0"/>
            <a:endParaRPr lang="en-GB"/>
          </a:p>
        </p:txBody>
      </p:sp>
      <p:sp>
        <p:nvSpPr>
          <p:cNvPr id="16" name="Text Placeholder 3">
            <a:extLst>
              <a:ext uri="{FF2B5EF4-FFF2-40B4-BE49-F238E27FC236}">
                <a16:creationId xmlns:a16="http://schemas.microsoft.com/office/drawing/2014/main" id="{59D9EFFB-8C77-5ACF-8C26-4C9E9FE8670D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3120576" y="4283971"/>
            <a:ext cx="5968799" cy="574582"/>
          </a:xfrm>
          <a:prstGeom prst="rect">
            <a:avLst/>
          </a:prstGeom>
        </p:spPr>
        <p:txBody>
          <a:bodyPr/>
          <a:lstStyle>
            <a:lvl1pPr marL="0" indent="0">
              <a:buFont typeface="Aptos" panose="020B0004020202020204" pitchFamily="34" charset="0"/>
              <a:buNone/>
              <a:tabLst/>
              <a:defRPr sz="1600" b="0" i="0">
                <a:latin typeface="Aptos" panose="020B0004020202020204" pitchFamily="34" charset="0"/>
              </a:defRPr>
            </a:lvl1pPr>
            <a:lvl2pPr marL="685800" indent="-228600">
              <a:buFont typeface="Aptos" panose="020B0004020202020204" pitchFamily="34" charset="0"/>
              <a:buChar char="›"/>
              <a:defRPr sz="2600" b="0" i="0">
                <a:latin typeface="Aptos" panose="020B0004020202020204" pitchFamily="34" charset="0"/>
              </a:defRPr>
            </a:lvl2pPr>
            <a:lvl3pPr marL="1143000" indent="-228600">
              <a:buFont typeface="Aptos" panose="020B0004020202020204" pitchFamily="34" charset="0"/>
              <a:buChar char="›"/>
              <a:defRPr/>
            </a:lvl3pPr>
            <a:lvl4pPr marL="1600200" indent="-228600">
              <a:buFont typeface="Aptos" panose="020B0004020202020204" pitchFamily="34" charset="0"/>
              <a:buChar char="›"/>
              <a:defRPr/>
            </a:lvl4pPr>
            <a:lvl5pPr marL="2057400" indent="-228600">
              <a:buFont typeface="Aptos" panose="020B0004020202020204" pitchFamily="34" charset="0"/>
              <a:buChar char="›"/>
              <a:defRPr/>
            </a:lvl5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18" name="Text Placeholder 3">
            <a:extLst>
              <a:ext uri="{FF2B5EF4-FFF2-40B4-BE49-F238E27FC236}">
                <a16:creationId xmlns:a16="http://schemas.microsoft.com/office/drawing/2014/main" id="{0AEB47D1-319C-304A-3785-F8EC65694CA1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13120576" y="5184808"/>
            <a:ext cx="5968799" cy="1046923"/>
          </a:xfrm>
          <a:prstGeom prst="rect">
            <a:avLst/>
          </a:prstGeom>
        </p:spPr>
        <p:txBody>
          <a:bodyPr/>
          <a:lstStyle>
            <a:lvl1pPr marL="409575" indent="-409575">
              <a:buFont typeface="Aptos" panose="020B0004020202020204" pitchFamily="34" charset="0"/>
              <a:buChar char="›"/>
              <a:tabLst/>
              <a:defRPr sz="1600" b="0" i="0">
                <a:latin typeface="Aptos" panose="020B0004020202020204" pitchFamily="34" charset="0"/>
              </a:defRPr>
            </a:lvl1pPr>
            <a:lvl2pPr marL="685800" indent="-228600">
              <a:buFont typeface="Aptos" panose="020B0004020202020204" pitchFamily="34" charset="0"/>
              <a:buChar char="›"/>
              <a:defRPr sz="2600" b="0" i="0">
                <a:latin typeface="Aptos" panose="020B0004020202020204" pitchFamily="34" charset="0"/>
              </a:defRPr>
            </a:lvl2pPr>
            <a:lvl3pPr marL="1143000" indent="-228600">
              <a:buFont typeface="Aptos" panose="020B0004020202020204" pitchFamily="34" charset="0"/>
              <a:buChar char="›"/>
              <a:defRPr/>
            </a:lvl3pPr>
            <a:lvl4pPr marL="1600200" indent="-228600">
              <a:buFont typeface="Aptos" panose="020B0004020202020204" pitchFamily="34" charset="0"/>
              <a:buChar char="›"/>
              <a:defRPr/>
            </a:lvl4pPr>
            <a:lvl5pPr marL="2057400" indent="-228600">
              <a:buFont typeface="Aptos" panose="020B0004020202020204" pitchFamily="34" charset="0"/>
              <a:buChar char="›"/>
              <a:defRPr/>
            </a:lvl5pPr>
          </a:lstStyle>
          <a:p>
            <a:pPr lvl="0"/>
            <a:r>
              <a:rPr lang="en-GB"/>
              <a:t>Click to edit Master text styles</a:t>
            </a:r>
          </a:p>
          <a:p>
            <a:pPr lvl="0"/>
            <a:endParaRPr lang="en-GB"/>
          </a:p>
          <a:p>
            <a:pPr lvl="0"/>
            <a:endParaRPr lang="en-GB"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75DA3241-C4F1-F459-5D91-7EC5148AD9F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4200188" y="10483850"/>
            <a:ext cx="4522787" cy="60166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2EEA166-2877-4493-9FAA-8D6952A82FC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7733506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Image + text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 descr="A logo with green letters and a black background&#10;&#10;AI-generated content may be incorrect.">
            <a:extLst>
              <a:ext uri="{FF2B5EF4-FFF2-40B4-BE49-F238E27FC236}">
                <a16:creationId xmlns:a16="http://schemas.microsoft.com/office/drawing/2014/main" id="{CCB7FFD3-F237-D100-AD13-19091185976F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7367250" y="-7761"/>
            <a:ext cx="2013881" cy="1378630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82B1D0F8-2753-A3E5-3757-05F080DBEC8C}"/>
              </a:ext>
            </a:extLst>
          </p:cNvPr>
          <p:cNvSpPr txBox="1"/>
          <p:nvPr userDrawn="1"/>
        </p:nvSpPr>
        <p:spPr>
          <a:xfrm>
            <a:off x="2365513" y="536713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hu-HU"/>
          </a:p>
        </p:txBody>
      </p:sp>
      <p:sp>
        <p:nvSpPr>
          <p:cNvPr id="14" name="object 16">
            <a:extLst>
              <a:ext uri="{FF2B5EF4-FFF2-40B4-BE49-F238E27FC236}">
                <a16:creationId xmlns:a16="http://schemas.microsoft.com/office/drawing/2014/main" id="{D1A1E1BD-5203-A3AC-1FCD-200DE8EC4D24}"/>
              </a:ext>
            </a:extLst>
          </p:cNvPr>
          <p:cNvSpPr txBox="1">
            <a:spLocks noGrp="1"/>
          </p:cNvSpPr>
          <p:nvPr>
            <p:ph type="title" hasCustomPrompt="1"/>
          </p:nvPr>
        </p:nvSpPr>
        <p:spPr>
          <a:xfrm>
            <a:off x="4582800" y="283409"/>
            <a:ext cx="3434079" cy="796290"/>
          </a:xfrm>
          <a:prstGeom prst="rect">
            <a:avLst/>
          </a:prstGeom>
        </p:spPr>
        <p:txBody>
          <a:bodyPr vert="horz" wrap="none" lIns="0" tIns="0" rIns="0" bIns="0" rtlCol="0" anchor="ctr" anchorCtr="0">
            <a:noAutofit/>
          </a:bodyPr>
          <a:lstStyle>
            <a:lvl1pPr>
              <a:defRPr sz="3300" b="0" i="0">
                <a:latin typeface="Aptos Black" panose="020B0004020202020204" pitchFamily="34" charset="0"/>
              </a:defRPr>
            </a:lvl1pPr>
          </a:lstStyle>
          <a:p>
            <a:pPr marL="12700">
              <a:lnSpc>
                <a:spcPts val="3840"/>
              </a:lnSpc>
              <a:spcBef>
                <a:spcPts val="95"/>
              </a:spcBef>
            </a:pPr>
            <a:r>
              <a:t>Header</a:t>
            </a:r>
            <a:r>
              <a:rPr spc="-85"/>
              <a:t> </a:t>
            </a:r>
            <a:r>
              <a:t>Line</a:t>
            </a:r>
            <a:r>
              <a:rPr spc="-85"/>
              <a:t> </a:t>
            </a:r>
            <a:r>
              <a:rPr spc="-50"/>
              <a:t>1</a:t>
            </a:r>
            <a:endParaRPr lang="en-HU" spc="-50"/>
          </a:p>
        </p:txBody>
      </p:sp>
      <p:sp>
        <p:nvSpPr>
          <p:cNvPr id="5" name="Picture Placeholder 4">
            <a:extLst>
              <a:ext uri="{FF2B5EF4-FFF2-40B4-BE49-F238E27FC236}">
                <a16:creationId xmlns:a16="http://schemas.microsoft.com/office/drawing/2014/main" id="{49DEB9E5-1C75-93D8-7926-E2F4E629B40E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12291237" y="3955313"/>
            <a:ext cx="6851212" cy="4552838"/>
          </a:xfrm>
          <a:prstGeom prst="rect">
            <a:avLst/>
          </a:prstGeom>
        </p:spPr>
        <p:txBody>
          <a:bodyPr/>
          <a:lstStyle/>
          <a:p>
            <a:endParaRPr lang="hu-HU"/>
          </a:p>
        </p:txBody>
      </p:sp>
      <p:sp>
        <p:nvSpPr>
          <p:cNvPr id="2" name="Text Placeholder 3">
            <a:extLst>
              <a:ext uri="{FF2B5EF4-FFF2-40B4-BE49-F238E27FC236}">
                <a16:creationId xmlns:a16="http://schemas.microsoft.com/office/drawing/2014/main" id="{67E4D72A-A4C5-4CE0-1DC5-685309E6ACCB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4582800" y="3955313"/>
            <a:ext cx="7240605" cy="4552838"/>
          </a:xfrm>
          <a:prstGeom prst="rect">
            <a:avLst/>
          </a:prstGeom>
        </p:spPr>
        <p:txBody>
          <a:bodyPr/>
          <a:lstStyle>
            <a:lvl1pPr marL="409575" indent="-409575">
              <a:buFont typeface="Aptos" panose="020B0004020202020204" pitchFamily="34" charset="0"/>
              <a:buChar char="›"/>
              <a:tabLst/>
              <a:defRPr sz="1600" b="0" i="0">
                <a:latin typeface="Aptos" panose="020B0004020202020204" pitchFamily="34" charset="0"/>
              </a:defRPr>
            </a:lvl1pPr>
            <a:lvl2pPr marL="685800" indent="-228600">
              <a:buFont typeface="Aptos" panose="020B0004020202020204" pitchFamily="34" charset="0"/>
              <a:buChar char="›"/>
              <a:defRPr sz="2600" b="0" i="0">
                <a:latin typeface="Aptos" panose="020B0004020202020204" pitchFamily="34" charset="0"/>
              </a:defRPr>
            </a:lvl2pPr>
            <a:lvl3pPr marL="1143000" indent="-228600">
              <a:buFont typeface="Aptos" panose="020B0004020202020204" pitchFamily="34" charset="0"/>
              <a:buChar char="›"/>
              <a:defRPr/>
            </a:lvl3pPr>
            <a:lvl4pPr marL="1600200" indent="-228600">
              <a:buFont typeface="Aptos" panose="020B0004020202020204" pitchFamily="34" charset="0"/>
              <a:buChar char="›"/>
              <a:defRPr/>
            </a:lvl4pPr>
            <a:lvl5pPr marL="2057400" indent="-228600">
              <a:buFont typeface="Aptos" panose="020B0004020202020204" pitchFamily="34" charset="0"/>
              <a:buChar char="›"/>
              <a:defRPr/>
            </a:lvl5pPr>
          </a:lstStyle>
          <a:p>
            <a:pPr lvl="0"/>
            <a:r>
              <a:rPr lang="en-GB"/>
              <a:t>Click to edit Master text styles</a:t>
            </a:r>
          </a:p>
          <a:p>
            <a:pPr lvl="0"/>
            <a:endParaRPr lang="en-GB"/>
          </a:p>
          <a:p>
            <a:pPr lvl="0"/>
            <a:endParaRPr lang="en-GB"/>
          </a:p>
        </p:txBody>
      </p:sp>
      <p:sp>
        <p:nvSpPr>
          <p:cNvPr id="3" name="Slide Number Placeholder 1">
            <a:extLst>
              <a:ext uri="{FF2B5EF4-FFF2-40B4-BE49-F238E27FC236}">
                <a16:creationId xmlns:a16="http://schemas.microsoft.com/office/drawing/2014/main" id="{B444AF4A-18BD-89AF-5CAF-F8416A0228B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4200188" y="10483850"/>
            <a:ext cx="4522787" cy="60166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2EEA166-2877-4493-9FAA-8D6952A82FC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9218469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 + tabl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 descr="A logo with green letters and a black background&#10;&#10;AI-generated content may be incorrect.">
            <a:extLst>
              <a:ext uri="{FF2B5EF4-FFF2-40B4-BE49-F238E27FC236}">
                <a16:creationId xmlns:a16="http://schemas.microsoft.com/office/drawing/2014/main" id="{CCB7FFD3-F237-D100-AD13-19091185976F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7367250" y="-7761"/>
            <a:ext cx="2013881" cy="1378630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82B1D0F8-2753-A3E5-3757-05F080DBEC8C}"/>
              </a:ext>
            </a:extLst>
          </p:cNvPr>
          <p:cNvSpPr txBox="1"/>
          <p:nvPr userDrawn="1"/>
        </p:nvSpPr>
        <p:spPr>
          <a:xfrm>
            <a:off x="2365513" y="536713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hu-HU"/>
          </a:p>
        </p:txBody>
      </p:sp>
      <p:sp>
        <p:nvSpPr>
          <p:cNvPr id="14" name="object 16">
            <a:extLst>
              <a:ext uri="{FF2B5EF4-FFF2-40B4-BE49-F238E27FC236}">
                <a16:creationId xmlns:a16="http://schemas.microsoft.com/office/drawing/2014/main" id="{D1A1E1BD-5203-A3AC-1FCD-200DE8EC4D24}"/>
              </a:ext>
            </a:extLst>
          </p:cNvPr>
          <p:cNvSpPr txBox="1">
            <a:spLocks noGrp="1"/>
          </p:cNvSpPr>
          <p:nvPr>
            <p:ph type="title" hasCustomPrompt="1"/>
          </p:nvPr>
        </p:nvSpPr>
        <p:spPr>
          <a:xfrm>
            <a:off x="4500000" y="283409"/>
            <a:ext cx="3434079" cy="796290"/>
          </a:xfrm>
          <a:prstGeom prst="rect">
            <a:avLst/>
          </a:prstGeom>
        </p:spPr>
        <p:txBody>
          <a:bodyPr vert="horz" wrap="none" lIns="0" tIns="0" rIns="0" bIns="0" rtlCol="0" anchor="ctr" anchorCtr="0">
            <a:noAutofit/>
          </a:bodyPr>
          <a:lstStyle>
            <a:lvl1pPr>
              <a:defRPr sz="3300" b="0" i="0">
                <a:latin typeface="Aptos Black" panose="020B0004020202020204" pitchFamily="34" charset="0"/>
              </a:defRPr>
            </a:lvl1pPr>
          </a:lstStyle>
          <a:p>
            <a:pPr marL="12700">
              <a:lnSpc>
                <a:spcPts val="3840"/>
              </a:lnSpc>
              <a:spcBef>
                <a:spcPts val="95"/>
              </a:spcBef>
            </a:pPr>
            <a:r>
              <a:t>Header</a:t>
            </a:r>
            <a:r>
              <a:rPr spc="-85"/>
              <a:t> </a:t>
            </a:r>
            <a:r>
              <a:t>Line</a:t>
            </a:r>
            <a:r>
              <a:rPr spc="-85"/>
              <a:t> </a:t>
            </a:r>
            <a:r>
              <a:rPr spc="-50"/>
              <a:t>1</a:t>
            </a:r>
            <a:endParaRPr lang="en-HU" spc="-5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B2AC032-DF18-4A35-CA27-5654560CC0ED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4500000" y="3121296"/>
            <a:ext cx="14595474" cy="1258199"/>
          </a:xfrm>
          <a:prstGeom prst="rect">
            <a:avLst/>
          </a:prstGeom>
        </p:spPr>
        <p:txBody>
          <a:bodyPr/>
          <a:lstStyle>
            <a:lvl1pPr marL="0" indent="0">
              <a:buFont typeface="Aptos" panose="020B0004020202020204" pitchFamily="34" charset="0"/>
              <a:buNone/>
              <a:tabLst/>
              <a:defRPr sz="1800" b="1" i="0">
                <a:latin typeface="Aptos" panose="020B0004020202020204" pitchFamily="34" charset="0"/>
              </a:defRPr>
            </a:lvl1pPr>
            <a:lvl2pPr marL="685800" indent="-228600">
              <a:buFont typeface="Aptos" panose="020B0004020202020204" pitchFamily="34" charset="0"/>
              <a:buChar char="›"/>
              <a:defRPr sz="2600" b="0" i="0">
                <a:latin typeface="Aptos" panose="020B0004020202020204" pitchFamily="34" charset="0"/>
              </a:defRPr>
            </a:lvl2pPr>
            <a:lvl3pPr marL="1143000" indent="-228600">
              <a:buFont typeface="Aptos" panose="020B0004020202020204" pitchFamily="34" charset="0"/>
              <a:buChar char="›"/>
              <a:defRPr/>
            </a:lvl3pPr>
            <a:lvl4pPr marL="1600200" indent="-228600">
              <a:buFont typeface="Aptos" panose="020B0004020202020204" pitchFamily="34" charset="0"/>
              <a:buChar char="›"/>
              <a:defRPr/>
            </a:lvl4pPr>
            <a:lvl5pPr marL="2057400" indent="-228600">
              <a:buFont typeface="Aptos" panose="020B0004020202020204" pitchFamily="34" charset="0"/>
              <a:buChar char="›"/>
              <a:defRPr/>
            </a:lvl5pPr>
          </a:lstStyle>
          <a:p>
            <a:pPr lvl="0"/>
            <a:r>
              <a:rPr lang="en-GB"/>
              <a:t>Click to edit Master text styles</a:t>
            </a:r>
          </a:p>
          <a:p>
            <a:pPr lvl="0"/>
            <a:endParaRPr lang="en-GB"/>
          </a:p>
          <a:p>
            <a:pPr lvl="0"/>
            <a:endParaRPr lang="en-GB"/>
          </a:p>
        </p:txBody>
      </p:sp>
      <p:sp>
        <p:nvSpPr>
          <p:cNvPr id="2" name="Text Placeholder 3">
            <a:extLst>
              <a:ext uri="{FF2B5EF4-FFF2-40B4-BE49-F238E27FC236}">
                <a16:creationId xmlns:a16="http://schemas.microsoft.com/office/drawing/2014/main" id="{40C855FD-0FB1-B567-AAB2-4AAC261A6159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4500000" y="2215162"/>
            <a:ext cx="5968799" cy="574582"/>
          </a:xfrm>
          <a:prstGeom prst="rect">
            <a:avLst/>
          </a:prstGeom>
        </p:spPr>
        <p:txBody>
          <a:bodyPr/>
          <a:lstStyle>
            <a:lvl1pPr marL="0" indent="0">
              <a:buFont typeface="Aptos" panose="020B0004020202020204" pitchFamily="34" charset="0"/>
              <a:buNone/>
              <a:tabLst/>
              <a:defRPr sz="1800" b="0" i="0">
                <a:latin typeface="Aptos" panose="020B0004020202020204" pitchFamily="34" charset="0"/>
              </a:defRPr>
            </a:lvl1pPr>
            <a:lvl2pPr marL="685800" indent="-228600">
              <a:buFont typeface="Aptos" panose="020B0004020202020204" pitchFamily="34" charset="0"/>
              <a:buChar char="›"/>
              <a:defRPr sz="2600" b="0" i="0">
                <a:latin typeface="Aptos" panose="020B0004020202020204" pitchFamily="34" charset="0"/>
              </a:defRPr>
            </a:lvl2pPr>
            <a:lvl3pPr marL="1143000" indent="-228600">
              <a:buFont typeface="Aptos" panose="020B0004020202020204" pitchFamily="34" charset="0"/>
              <a:buChar char="›"/>
              <a:defRPr/>
            </a:lvl3pPr>
            <a:lvl4pPr marL="1600200" indent="-228600">
              <a:buFont typeface="Aptos" panose="020B0004020202020204" pitchFamily="34" charset="0"/>
              <a:buChar char="›"/>
              <a:defRPr/>
            </a:lvl4pPr>
            <a:lvl5pPr marL="2057400" indent="-228600">
              <a:buFont typeface="Aptos" panose="020B0004020202020204" pitchFamily="34" charset="0"/>
              <a:buChar char="›"/>
              <a:defRPr/>
            </a:lvl5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3" name="Slide Number Placeholder 1">
            <a:extLst>
              <a:ext uri="{FF2B5EF4-FFF2-40B4-BE49-F238E27FC236}">
                <a16:creationId xmlns:a16="http://schemas.microsoft.com/office/drawing/2014/main" id="{D77B3963-F925-BC86-DB81-A0E80350330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4200188" y="10483850"/>
            <a:ext cx="4522787" cy="60166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2EEA166-2877-4493-9FAA-8D6952A82FC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8672310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 + tables +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 descr="A logo with green letters and a black background&#10;&#10;AI-generated content may be incorrect.">
            <a:extLst>
              <a:ext uri="{FF2B5EF4-FFF2-40B4-BE49-F238E27FC236}">
                <a16:creationId xmlns:a16="http://schemas.microsoft.com/office/drawing/2014/main" id="{CCB7FFD3-F237-D100-AD13-19091185976F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7367250" y="-7761"/>
            <a:ext cx="2013881" cy="1378630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82B1D0F8-2753-A3E5-3757-05F080DBEC8C}"/>
              </a:ext>
            </a:extLst>
          </p:cNvPr>
          <p:cNvSpPr txBox="1"/>
          <p:nvPr userDrawn="1"/>
        </p:nvSpPr>
        <p:spPr>
          <a:xfrm>
            <a:off x="2365513" y="536713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hu-HU"/>
          </a:p>
        </p:txBody>
      </p:sp>
      <p:sp>
        <p:nvSpPr>
          <p:cNvPr id="14" name="object 16">
            <a:extLst>
              <a:ext uri="{FF2B5EF4-FFF2-40B4-BE49-F238E27FC236}">
                <a16:creationId xmlns:a16="http://schemas.microsoft.com/office/drawing/2014/main" id="{D1A1E1BD-5203-A3AC-1FCD-200DE8EC4D24}"/>
              </a:ext>
            </a:extLst>
          </p:cNvPr>
          <p:cNvSpPr txBox="1">
            <a:spLocks noGrp="1"/>
          </p:cNvSpPr>
          <p:nvPr>
            <p:ph type="title" hasCustomPrompt="1"/>
          </p:nvPr>
        </p:nvSpPr>
        <p:spPr>
          <a:xfrm>
            <a:off x="4500000" y="283409"/>
            <a:ext cx="3434079" cy="796290"/>
          </a:xfrm>
          <a:prstGeom prst="rect">
            <a:avLst/>
          </a:prstGeom>
        </p:spPr>
        <p:txBody>
          <a:bodyPr vert="horz" wrap="none" lIns="0" tIns="0" rIns="0" bIns="0" rtlCol="0" anchor="ctr" anchorCtr="0">
            <a:noAutofit/>
          </a:bodyPr>
          <a:lstStyle>
            <a:lvl1pPr>
              <a:defRPr sz="3300" b="0" i="0">
                <a:latin typeface="Aptos Black" panose="020B0004020202020204" pitchFamily="34" charset="0"/>
              </a:defRPr>
            </a:lvl1pPr>
          </a:lstStyle>
          <a:p>
            <a:pPr marL="12700">
              <a:lnSpc>
                <a:spcPts val="3840"/>
              </a:lnSpc>
              <a:spcBef>
                <a:spcPts val="95"/>
              </a:spcBef>
            </a:pPr>
            <a:r>
              <a:t>Header</a:t>
            </a:r>
            <a:r>
              <a:rPr spc="-85"/>
              <a:t> </a:t>
            </a:r>
            <a:r>
              <a:t>Line</a:t>
            </a:r>
            <a:r>
              <a:rPr spc="-85"/>
              <a:t> </a:t>
            </a:r>
            <a:r>
              <a:rPr spc="-50"/>
              <a:t>1</a:t>
            </a:r>
            <a:endParaRPr lang="en-HU" spc="-50"/>
          </a:p>
        </p:txBody>
      </p:sp>
      <p:sp>
        <p:nvSpPr>
          <p:cNvPr id="2" name="Picture Placeholder 4">
            <a:extLst>
              <a:ext uri="{FF2B5EF4-FFF2-40B4-BE49-F238E27FC236}">
                <a16:creationId xmlns:a16="http://schemas.microsoft.com/office/drawing/2014/main" id="{94541138-C940-BC02-754C-BCBAFB7BDC4A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10820101" y="2106613"/>
            <a:ext cx="8251200" cy="8250237"/>
          </a:xfrm>
          <a:prstGeom prst="rect">
            <a:avLst/>
          </a:prstGeom>
        </p:spPr>
        <p:txBody>
          <a:bodyPr/>
          <a:lstStyle/>
          <a:p>
            <a:endParaRPr lang="hu-HU"/>
          </a:p>
        </p:txBody>
      </p:sp>
      <p:sp>
        <p:nvSpPr>
          <p:cNvPr id="3" name="Text Placeholder 3">
            <a:extLst>
              <a:ext uri="{FF2B5EF4-FFF2-40B4-BE49-F238E27FC236}">
                <a16:creationId xmlns:a16="http://schemas.microsoft.com/office/drawing/2014/main" id="{13B6016E-B0AF-721C-85CC-8DE92D8A8875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4500000" y="2106613"/>
            <a:ext cx="5968799" cy="454740"/>
          </a:xfrm>
          <a:prstGeom prst="rect">
            <a:avLst/>
          </a:prstGeom>
        </p:spPr>
        <p:txBody>
          <a:bodyPr wrap="square">
            <a:noAutofit/>
          </a:bodyPr>
          <a:lstStyle>
            <a:lvl1pPr marL="0" indent="0">
              <a:buFont typeface="Aptos" panose="020B0004020202020204" pitchFamily="34" charset="0"/>
              <a:buNone/>
              <a:tabLst/>
              <a:defRPr sz="1800" b="0" i="0">
                <a:latin typeface="Aptos" panose="020B0004020202020204" pitchFamily="34" charset="0"/>
              </a:defRPr>
            </a:lvl1pPr>
            <a:lvl2pPr marL="685800" indent="-228600">
              <a:buFont typeface="Aptos" panose="020B0004020202020204" pitchFamily="34" charset="0"/>
              <a:buChar char="›"/>
              <a:defRPr sz="2600" b="0" i="0">
                <a:latin typeface="Aptos" panose="020B0004020202020204" pitchFamily="34" charset="0"/>
              </a:defRPr>
            </a:lvl2pPr>
            <a:lvl3pPr marL="1143000" indent="-228600">
              <a:buFont typeface="Aptos" panose="020B0004020202020204" pitchFamily="34" charset="0"/>
              <a:buChar char="›"/>
              <a:defRPr/>
            </a:lvl3pPr>
            <a:lvl4pPr marL="1600200" indent="-228600">
              <a:buFont typeface="Aptos" panose="020B0004020202020204" pitchFamily="34" charset="0"/>
              <a:buChar char="›"/>
              <a:defRPr/>
            </a:lvl4pPr>
            <a:lvl5pPr marL="2057400" indent="-228600">
              <a:buFont typeface="Aptos" panose="020B0004020202020204" pitchFamily="34" charset="0"/>
              <a:buChar char="›"/>
              <a:defRPr/>
            </a:lvl5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Text Placeholder 3">
            <a:extLst>
              <a:ext uri="{FF2B5EF4-FFF2-40B4-BE49-F238E27FC236}">
                <a16:creationId xmlns:a16="http://schemas.microsoft.com/office/drawing/2014/main" id="{144D6315-84DC-775C-A51D-F101FDA30C82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4500000" y="2928235"/>
            <a:ext cx="5968799" cy="1046923"/>
          </a:xfrm>
          <a:prstGeom prst="rect">
            <a:avLst/>
          </a:prstGeom>
        </p:spPr>
        <p:txBody>
          <a:bodyPr/>
          <a:lstStyle>
            <a:lvl1pPr marL="409575" indent="-409575">
              <a:buFont typeface="Aptos" panose="020B0004020202020204" pitchFamily="34" charset="0"/>
              <a:buChar char="›"/>
              <a:tabLst/>
              <a:defRPr sz="1600" b="0" i="0">
                <a:latin typeface="Aptos" panose="020B0004020202020204" pitchFamily="34" charset="0"/>
              </a:defRPr>
            </a:lvl1pPr>
            <a:lvl2pPr marL="685800" indent="-228600">
              <a:buFont typeface="Aptos" panose="020B0004020202020204" pitchFamily="34" charset="0"/>
              <a:buChar char="›"/>
              <a:defRPr sz="2600" b="0" i="0">
                <a:latin typeface="Aptos" panose="020B0004020202020204" pitchFamily="34" charset="0"/>
              </a:defRPr>
            </a:lvl2pPr>
            <a:lvl3pPr marL="1143000" indent="-228600">
              <a:buFont typeface="Aptos" panose="020B0004020202020204" pitchFamily="34" charset="0"/>
              <a:buChar char="›"/>
              <a:defRPr/>
            </a:lvl3pPr>
            <a:lvl4pPr marL="1600200" indent="-228600">
              <a:buFont typeface="Aptos" panose="020B0004020202020204" pitchFamily="34" charset="0"/>
              <a:buChar char="›"/>
              <a:defRPr/>
            </a:lvl4pPr>
            <a:lvl5pPr marL="2057400" indent="-228600">
              <a:buFont typeface="Aptos" panose="020B0004020202020204" pitchFamily="34" charset="0"/>
              <a:buChar char="›"/>
              <a:defRPr/>
            </a:lvl5pPr>
          </a:lstStyle>
          <a:p>
            <a:pPr lvl="0"/>
            <a:r>
              <a:rPr lang="en-GB"/>
              <a:t>Click to edit Master text styles</a:t>
            </a:r>
          </a:p>
          <a:p>
            <a:pPr lvl="0"/>
            <a:endParaRPr lang="en-GB"/>
          </a:p>
          <a:p>
            <a:pPr lvl="0"/>
            <a:endParaRPr lang="en-GB"/>
          </a:p>
        </p:txBody>
      </p:sp>
      <p:sp>
        <p:nvSpPr>
          <p:cNvPr id="4" name="Slide Number Placeholder 1">
            <a:extLst>
              <a:ext uri="{FF2B5EF4-FFF2-40B4-BE49-F238E27FC236}">
                <a16:creationId xmlns:a16="http://schemas.microsoft.com/office/drawing/2014/main" id="{57649FED-5AF9-0BAF-7D1F-23B3D2CCD12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4200188" y="10483850"/>
            <a:ext cx="4522787" cy="60166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2EEA166-2877-4493-9FAA-8D6952A82FC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99771658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arge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Picture Placeholder 8">
            <a:extLst>
              <a:ext uri="{FF2B5EF4-FFF2-40B4-BE49-F238E27FC236}">
                <a16:creationId xmlns:a16="http://schemas.microsoft.com/office/drawing/2014/main" id="{C513D7C6-6F52-D314-C456-2E4EEE9C6A53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4500000" y="2087563"/>
            <a:ext cx="14638605" cy="8269287"/>
          </a:xfrm>
          <a:prstGeom prst="rect">
            <a:avLst/>
          </a:prstGeom>
        </p:spPr>
        <p:txBody>
          <a:bodyPr/>
          <a:lstStyle/>
          <a:p>
            <a:endParaRPr lang="hu-HU"/>
          </a:p>
        </p:txBody>
      </p:sp>
      <p:pic>
        <p:nvPicPr>
          <p:cNvPr id="6" name="Picture 5" descr="A logo with green letters and a black background&#10;&#10;AI-generated content may be incorrect.">
            <a:extLst>
              <a:ext uri="{FF2B5EF4-FFF2-40B4-BE49-F238E27FC236}">
                <a16:creationId xmlns:a16="http://schemas.microsoft.com/office/drawing/2014/main" id="{CCB7FFD3-F237-D100-AD13-19091185976F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7367250" y="-7761"/>
            <a:ext cx="2013881" cy="1378630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82B1D0F8-2753-A3E5-3757-05F080DBEC8C}"/>
              </a:ext>
            </a:extLst>
          </p:cNvPr>
          <p:cNvSpPr txBox="1"/>
          <p:nvPr userDrawn="1"/>
        </p:nvSpPr>
        <p:spPr>
          <a:xfrm>
            <a:off x="2365513" y="536713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hu-HU"/>
          </a:p>
        </p:txBody>
      </p:sp>
      <p:sp>
        <p:nvSpPr>
          <p:cNvPr id="14" name="object 16">
            <a:extLst>
              <a:ext uri="{FF2B5EF4-FFF2-40B4-BE49-F238E27FC236}">
                <a16:creationId xmlns:a16="http://schemas.microsoft.com/office/drawing/2014/main" id="{D1A1E1BD-5203-A3AC-1FCD-200DE8EC4D24}"/>
              </a:ext>
            </a:extLst>
          </p:cNvPr>
          <p:cNvSpPr txBox="1">
            <a:spLocks noGrp="1"/>
          </p:cNvSpPr>
          <p:nvPr>
            <p:ph type="title" hasCustomPrompt="1"/>
          </p:nvPr>
        </p:nvSpPr>
        <p:spPr>
          <a:xfrm>
            <a:off x="4500000" y="283409"/>
            <a:ext cx="3434079" cy="796290"/>
          </a:xfrm>
          <a:prstGeom prst="rect">
            <a:avLst/>
          </a:prstGeom>
        </p:spPr>
        <p:txBody>
          <a:bodyPr vert="horz" wrap="none" lIns="0" tIns="0" rIns="0" bIns="0" rtlCol="0" anchor="ctr" anchorCtr="0">
            <a:noAutofit/>
          </a:bodyPr>
          <a:lstStyle>
            <a:lvl1pPr>
              <a:defRPr sz="3300" b="0" i="0">
                <a:latin typeface="Aptos Black" panose="020B0004020202020204" pitchFamily="34" charset="0"/>
              </a:defRPr>
            </a:lvl1pPr>
          </a:lstStyle>
          <a:p>
            <a:pPr marL="12700">
              <a:lnSpc>
                <a:spcPts val="3840"/>
              </a:lnSpc>
              <a:spcBef>
                <a:spcPts val="95"/>
              </a:spcBef>
            </a:pPr>
            <a:r>
              <a:t>Header</a:t>
            </a:r>
            <a:r>
              <a:rPr spc="-85"/>
              <a:t> </a:t>
            </a:r>
            <a:r>
              <a:t>Line</a:t>
            </a:r>
            <a:r>
              <a:rPr spc="-85"/>
              <a:t> </a:t>
            </a:r>
            <a:r>
              <a:rPr spc="-50"/>
              <a:t>1</a:t>
            </a:r>
            <a:endParaRPr lang="en-HU" spc="-5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550C817D-4A21-D2C8-B411-11678420F4BA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5052893" y="2624138"/>
            <a:ext cx="6659562" cy="1847850"/>
          </a:xfrm>
          <a:prstGeom prst="rect">
            <a:avLst/>
          </a:prstGeom>
          <a:gradFill>
            <a:gsLst>
              <a:gs pos="0">
                <a:schemeClr val="accent2">
                  <a:alpha val="30000"/>
                </a:schemeClr>
              </a:gs>
              <a:gs pos="100000">
                <a:schemeClr val="accent1">
                  <a:lumMod val="88000"/>
                  <a:lumOff val="12000"/>
                  <a:alpha val="30000"/>
                </a:schemeClr>
              </a:gs>
            </a:gsLst>
            <a:lin ang="21594000" scaled="0"/>
          </a:gradFill>
        </p:spPr>
        <p:txBody>
          <a:bodyPr lIns="360000" tIns="0" rIns="0" bIns="0" anchor="ctr" anchorCtr="0"/>
          <a:lstStyle>
            <a:lvl1pPr marL="0" indent="0">
              <a:buNone/>
              <a:defRPr sz="2600">
                <a:solidFill>
                  <a:schemeClr val="bg1"/>
                </a:solidFill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GB"/>
              <a:t>Click to edit Master text style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39633254-15B8-F374-8FAC-EB824ADB83B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4200188" y="10483850"/>
            <a:ext cx="4522787" cy="60166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2EEA166-2877-4493-9FAA-8D6952A82FC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9003055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Galler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Picture Placeholder 19">
            <a:extLst>
              <a:ext uri="{FF2B5EF4-FFF2-40B4-BE49-F238E27FC236}">
                <a16:creationId xmlns:a16="http://schemas.microsoft.com/office/drawing/2014/main" id="{858633A7-3D11-1220-3C5A-EDAB8D9145D4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519050" y="2605404"/>
            <a:ext cx="4644659" cy="2892417"/>
          </a:xfrm>
          <a:prstGeom prst="rect">
            <a:avLst/>
          </a:prstGeom>
        </p:spPr>
        <p:txBody>
          <a:bodyPr/>
          <a:lstStyle/>
          <a:p>
            <a:endParaRPr lang="hu-HU"/>
          </a:p>
        </p:txBody>
      </p:sp>
      <p:sp>
        <p:nvSpPr>
          <p:cNvPr id="42" name="Picture Placeholder 19">
            <a:extLst>
              <a:ext uri="{FF2B5EF4-FFF2-40B4-BE49-F238E27FC236}">
                <a16:creationId xmlns:a16="http://schemas.microsoft.com/office/drawing/2014/main" id="{87FD6E3D-6F9F-5EA9-AE10-8A97EC5F294D}"/>
              </a:ext>
            </a:extLst>
          </p:cNvPr>
          <p:cNvSpPr>
            <a:spLocks noGrp="1"/>
          </p:cNvSpPr>
          <p:nvPr>
            <p:ph type="pic" sz="quarter" idx="22"/>
          </p:nvPr>
        </p:nvSpPr>
        <p:spPr>
          <a:xfrm>
            <a:off x="9516352" y="2605404"/>
            <a:ext cx="4644659" cy="2892417"/>
          </a:xfrm>
          <a:prstGeom prst="rect">
            <a:avLst/>
          </a:prstGeom>
        </p:spPr>
        <p:txBody>
          <a:bodyPr/>
          <a:lstStyle/>
          <a:p>
            <a:endParaRPr lang="hu-HU"/>
          </a:p>
        </p:txBody>
      </p:sp>
      <p:sp>
        <p:nvSpPr>
          <p:cNvPr id="43" name="Picture Placeholder 19">
            <a:extLst>
              <a:ext uri="{FF2B5EF4-FFF2-40B4-BE49-F238E27FC236}">
                <a16:creationId xmlns:a16="http://schemas.microsoft.com/office/drawing/2014/main" id="{66685B75-93B7-22A6-FA43-77CE7E9B2532}"/>
              </a:ext>
            </a:extLst>
          </p:cNvPr>
          <p:cNvSpPr>
            <a:spLocks noGrp="1"/>
          </p:cNvSpPr>
          <p:nvPr>
            <p:ph type="pic" sz="quarter" idx="23"/>
          </p:nvPr>
        </p:nvSpPr>
        <p:spPr>
          <a:xfrm>
            <a:off x="14492389" y="2605404"/>
            <a:ext cx="4644659" cy="2892417"/>
          </a:xfrm>
          <a:prstGeom prst="rect">
            <a:avLst/>
          </a:prstGeom>
        </p:spPr>
        <p:txBody>
          <a:bodyPr/>
          <a:lstStyle/>
          <a:p>
            <a:endParaRPr lang="hu-HU"/>
          </a:p>
        </p:txBody>
      </p:sp>
      <p:sp>
        <p:nvSpPr>
          <p:cNvPr id="44" name="Picture Placeholder 19">
            <a:extLst>
              <a:ext uri="{FF2B5EF4-FFF2-40B4-BE49-F238E27FC236}">
                <a16:creationId xmlns:a16="http://schemas.microsoft.com/office/drawing/2014/main" id="{649F82B6-0B11-1D9B-2756-1C27FA453518}"/>
              </a:ext>
            </a:extLst>
          </p:cNvPr>
          <p:cNvSpPr>
            <a:spLocks noGrp="1"/>
          </p:cNvSpPr>
          <p:nvPr>
            <p:ph type="pic" sz="quarter" idx="24"/>
          </p:nvPr>
        </p:nvSpPr>
        <p:spPr>
          <a:xfrm>
            <a:off x="4519050" y="6220474"/>
            <a:ext cx="4644659" cy="2892417"/>
          </a:xfrm>
          <a:prstGeom prst="rect">
            <a:avLst/>
          </a:prstGeom>
        </p:spPr>
        <p:txBody>
          <a:bodyPr/>
          <a:lstStyle/>
          <a:p>
            <a:endParaRPr lang="hu-HU"/>
          </a:p>
        </p:txBody>
      </p:sp>
      <p:sp>
        <p:nvSpPr>
          <p:cNvPr id="45" name="Picture Placeholder 19">
            <a:extLst>
              <a:ext uri="{FF2B5EF4-FFF2-40B4-BE49-F238E27FC236}">
                <a16:creationId xmlns:a16="http://schemas.microsoft.com/office/drawing/2014/main" id="{B50884DA-261D-F296-F9FF-8870DF570BCB}"/>
              </a:ext>
            </a:extLst>
          </p:cNvPr>
          <p:cNvSpPr>
            <a:spLocks noGrp="1"/>
          </p:cNvSpPr>
          <p:nvPr>
            <p:ph type="pic" sz="quarter" idx="25"/>
          </p:nvPr>
        </p:nvSpPr>
        <p:spPr>
          <a:xfrm>
            <a:off x="9516352" y="6220474"/>
            <a:ext cx="4644659" cy="2892417"/>
          </a:xfrm>
          <a:prstGeom prst="rect">
            <a:avLst/>
          </a:prstGeom>
        </p:spPr>
        <p:txBody>
          <a:bodyPr/>
          <a:lstStyle/>
          <a:p>
            <a:endParaRPr lang="hu-HU"/>
          </a:p>
        </p:txBody>
      </p:sp>
      <p:sp>
        <p:nvSpPr>
          <p:cNvPr id="46" name="Picture Placeholder 19">
            <a:extLst>
              <a:ext uri="{FF2B5EF4-FFF2-40B4-BE49-F238E27FC236}">
                <a16:creationId xmlns:a16="http://schemas.microsoft.com/office/drawing/2014/main" id="{16C7E976-3EF1-4ABD-DBDF-4A18754D9393}"/>
              </a:ext>
            </a:extLst>
          </p:cNvPr>
          <p:cNvSpPr>
            <a:spLocks noGrp="1"/>
          </p:cNvSpPr>
          <p:nvPr>
            <p:ph type="pic" sz="quarter" idx="26"/>
          </p:nvPr>
        </p:nvSpPr>
        <p:spPr>
          <a:xfrm>
            <a:off x="14492389" y="6220474"/>
            <a:ext cx="4644659" cy="2892417"/>
          </a:xfrm>
          <a:prstGeom prst="rect">
            <a:avLst/>
          </a:prstGeom>
        </p:spPr>
        <p:txBody>
          <a:bodyPr/>
          <a:lstStyle/>
          <a:p>
            <a:endParaRPr lang="hu-HU"/>
          </a:p>
        </p:txBody>
      </p:sp>
      <p:pic>
        <p:nvPicPr>
          <p:cNvPr id="6" name="Picture 5" descr="A logo with green letters and a black background&#10;&#10;AI-generated content may be incorrect.">
            <a:extLst>
              <a:ext uri="{FF2B5EF4-FFF2-40B4-BE49-F238E27FC236}">
                <a16:creationId xmlns:a16="http://schemas.microsoft.com/office/drawing/2014/main" id="{CCB7FFD3-F237-D100-AD13-19091185976F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7367250" y="-7761"/>
            <a:ext cx="2013881" cy="1378630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82B1D0F8-2753-A3E5-3757-05F080DBEC8C}"/>
              </a:ext>
            </a:extLst>
          </p:cNvPr>
          <p:cNvSpPr txBox="1"/>
          <p:nvPr userDrawn="1"/>
        </p:nvSpPr>
        <p:spPr>
          <a:xfrm>
            <a:off x="2365513" y="536713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hu-HU"/>
          </a:p>
        </p:txBody>
      </p:sp>
      <p:sp>
        <p:nvSpPr>
          <p:cNvPr id="14" name="object 16">
            <a:extLst>
              <a:ext uri="{FF2B5EF4-FFF2-40B4-BE49-F238E27FC236}">
                <a16:creationId xmlns:a16="http://schemas.microsoft.com/office/drawing/2014/main" id="{D1A1E1BD-5203-A3AC-1FCD-200DE8EC4D24}"/>
              </a:ext>
            </a:extLst>
          </p:cNvPr>
          <p:cNvSpPr txBox="1">
            <a:spLocks noGrp="1"/>
          </p:cNvSpPr>
          <p:nvPr>
            <p:ph type="title" hasCustomPrompt="1"/>
          </p:nvPr>
        </p:nvSpPr>
        <p:spPr>
          <a:xfrm>
            <a:off x="4500000" y="283409"/>
            <a:ext cx="3434079" cy="796290"/>
          </a:xfrm>
          <a:prstGeom prst="rect">
            <a:avLst/>
          </a:prstGeom>
        </p:spPr>
        <p:txBody>
          <a:bodyPr vert="horz" wrap="none" lIns="0" tIns="0" rIns="0" bIns="0" rtlCol="0" anchor="ctr" anchorCtr="0">
            <a:noAutofit/>
          </a:bodyPr>
          <a:lstStyle>
            <a:lvl1pPr>
              <a:defRPr sz="3300" b="0" i="0">
                <a:latin typeface="Aptos Black" panose="020B0004020202020204" pitchFamily="34" charset="0"/>
              </a:defRPr>
            </a:lvl1pPr>
          </a:lstStyle>
          <a:p>
            <a:pPr marL="12700">
              <a:lnSpc>
                <a:spcPts val="3840"/>
              </a:lnSpc>
              <a:spcBef>
                <a:spcPts val="95"/>
              </a:spcBef>
            </a:pPr>
            <a:r>
              <a:t>Header</a:t>
            </a:r>
            <a:r>
              <a:rPr spc="-85"/>
              <a:t> </a:t>
            </a:r>
            <a:r>
              <a:t>Line</a:t>
            </a:r>
            <a:r>
              <a:rPr spc="-85"/>
              <a:t> </a:t>
            </a:r>
            <a:r>
              <a:rPr spc="-50"/>
              <a:t>1</a:t>
            </a:r>
            <a:endParaRPr lang="en-HU" spc="-50"/>
          </a:p>
        </p:txBody>
      </p:sp>
      <p:sp>
        <p:nvSpPr>
          <p:cNvPr id="30" name="Text Placeholder 28">
            <a:extLst>
              <a:ext uri="{FF2B5EF4-FFF2-40B4-BE49-F238E27FC236}">
                <a16:creationId xmlns:a16="http://schemas.microsoft.com/office/drawing/2014/main" id="{6E1B915D-A732-5430-C55E-837F13D6800E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6643709" y="5647440"/>
            <a:ext cx="2520000" cy="276225"/>
          </a:xfrm>
          <a:prstGeom prst="rect">
            <a:avLst/>
          </a:prstGeom>
        </p:spPr>
        <p:txBody>
          <a:bodyPr/>
          <a:lstStyle>
            <a:lvl1pPr marL="0" indent="0" algn="r">
              <a:buNone/>
              <a:defRPr sz="1650"/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GB"/>
              <a:t>Click to edit</a:t>
            </a:r>
          </a:p>
        </p:txBody>
      </p:sp>
      <p:sp>
        <p:nvSpPr>
          <p:cNvPr id="58" name="Text Placeholder 28">
            <a:extLst>
              <a:ext uri="{FF2B5EF4-FFF2-40B4-BE49-F238E27FC236}">
                <a16:creationId xmlns:a16="http://schemas.microsoft.com/office/drawing/2014/main" id="{BB5AB633-0835-AA84-5117-DC61D0EB34FF}"/>
              </a:ext>
            </a:extLst>
          </p:cNvPr>
          <p:cNvSpPr>
            <a:spLocks noGrp="1"/>
          </p:cNvSpPr>
          <p:nvPr>
            <p:ph type="body" sz="quarter" idx="29"/>
          </p:nvPr>
        </p:nvSpPr>
        <p:spPr>
          <a:xfrm>
            <a:off x="6643709" y="9271173"/>
            <a:ext cx="2520000" cy="276225"/>
          </a:xfrm>
          <a:prstGeom prst="rect">
            <a:avLst/>
          </a:prstGeom>
        </p:spPr>
        <p:txBody>
          <a:bodyPr/>
          <a:lstStyle>
            <a:lvl1pPr marL="0" indent="0" algn="r">
              <a:buNone/>
              <a:defRPr sz="1650"/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GB"/>
              <a:t>Click to edit</a:t>
            </a:r>
          </a:p>
        </p:txBody>
      </p:sp>
      <p:sp>
        <p:nvSpPr>
          <p:cNvPr id="2" name="Text Placeholder 28">
            <a:extLst>
              <a:ext uri="{FF2B5EF4-FFF2-40B4-BE49-F238E27FC236}">
                <a16:creationId xmlns:a16="http://schemas.microsoft.com/office/drawing/2014/main" id="{85BB3BB6-E61D-556C-8696-9480420C8E37}"/>
              </a:ext>
            </a:extLst>
          </p:cNvPr>
          <p:cNvSpPr>
            <a:spLocks noGrp="1"/>
          </p:cNvSpPr>
          <p:nvPr>
            <p:ph type="body" sz="quarter" idx="30"/>
          </p:nvPr>
        </p:nvSpPr>
        <p:spPr>
          <a:xfrm>
            <a:off x="11639915" y="5647440"/>
            <a:ext cx="2520000" cy="276225"/>
          </a:xfrm>
          <a:prstGeom prst="rect">
            <a:avLst/>
          </a:prstGeom>
        </p:spPr>
        <p:txBody>
          <a:bodyPr/>
          <a:lstStyle>
            <a:lvl1pPr marL="0" indent="0" algn="r">
              <a:buNone/>
              <a:defRPr sz="1650"/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GB"/>
              <a:t>Click to edit</a:t>
            </a:r>
          </a:p>
        </p:txBody>
      </p:sp>
      <p:sp>
        <p:nvSpPr>
          <p:cNvPr id="3" name="Text Placeholder 28">
            <a:extLst>
              <a:ext uri="{FF2B5EF4-FFF2-40B4-BE49-F238E27FC236}">
                <a16:creationId xmlns:a16="http://schemas.microsoft.com/office/drawing/2014/main" id="{ED45A816-C7D3-8E0C-0D0D-A3F78ECACAEB}"/>
              </a:ext>
            </a:extLst>
          </p:cNvPr>
          <p:cNvSpPr>
            <a:spLocks noGrp="1"/>
          </p:cNvSpPr>
          <p:nvPr>
            <p:ph type="body" sz="quarter" idx="31"/>
          </p:nvPr>
        </p:nvSpPr>
        <p:spPr>
          <a:xfrm>
            <a:off x="11639915" y="9271173"/>
            <a:ext cx="2520000" cy="276225"/>
          </a:xfrm>
          <a:prstGeom prst="rect">
            <a:avLst/>
          </a:prstGeom>
        </p:spPr>
        <p:txBody>
          <a:bodyPr/>
          <a:lstStyle>
            <a:lvl1pPr marL="0" indent="0" algn="r">
              <a:buNone/>
              <a:defRPr sz="1650"/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GB"/>
              <a:t>Click to edit</a:t>
            </a:r>
          </a:p>
        </p:txBody>
      </p:sp>
      <p:sp>
        <p:nvSpPr>
          <p:cNvPr id="4" name="Text Placeholder 28">
            <a:extLst>
              <a:ext uri="{FF2B5EF4-FFF2-40B4-BE49-F238E27FC236}">
                <a16:creationId xmlns:a16="http://schemas.microsoft.com/office/drawing/2014/main" id="{56F453A5-CE6D-DF7F-14CB-2D686920D7DB}"/>
              </a:ext>
            </a:extLst>
          </p:cNvPr>
          <p:cNvSpPr>
            <a:spLocks noGrp="1"/>
          </p:cNvSpPr>
          <p:nvPr>
            <p:ph type="body" sz="quarter" idx="32"/>
          </p:nvPr>
        </p:nvSpPr>
        <p:spPr>
          <a:xfrm>
            <a:off x="16617268" y="5647440"/>
            <a:ext cx="2520000" cy="276225"/>
          </a:xfrm>
          <a:prstGeom prst="rect">
            <a:avLst/>
          </a:prstGeom>
        </p:spPr>
        <p:txBody>
          <a:bodyPr/>
          <a:lstStyle>
            <a:lvl1pPr marL="0" indent="0" algn="r">
              <a:buNone/>
              <a:defRPr sz="1650"/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GB"/>
              <a:t>Click to edit</a:t>
            </a:r>
          </a:p>
        </p:txBody>
      </p:sp>
      <p:sp>
        <p:nvSpPr>
          <p:cNvPr id="5" name="Text Placeholder 28">
            <a:extLst>
              <a:ext uri="{FF2B5EF4-FFF2-40B4-BE49-F238E27FC236}">
                <a16:creationId xmlns:a16="http://schemas.microsoft.com/office/drawing/2014/main" id="{33E5179F-76C1-1B0B-A97B-930D04A7D0B4}"/>
              </a:ext>
            </a:extLst>
          </p:cNvPr>
          <p:cNvSpPr>
            <a:spLocks noGrp="1"/>
          </p:cNvSpPr>
          <p:nvPr>
            <p:ph type="body" sz="quarter" idx="33"/>
          </p:nvPr>
        </p:nvSpPr>
        <p:spPr>
          <a:xfrm>
            <a:off x="16617268" y="9271173"/>
            <a:ext cx="2520000" cy="276225"/>
          </a:xfrm>
          <a:prstGeom prst="rect">
            <a:avLst/>
          </a:prstGeom>
        </p:spPr>
        <p:txBody>
          <a:bodyPr/>
          <a:lstStyle>
            <a:lvl1pPr marL="0" indent="0" algn="r">
              <a:buNone/>
              <a:defRPr sz="1650"/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GB"/>
              <a:t>Click to edit</a:t>
            </a:r>
          </a:p>
        </p:txBody>
      </p:sp>
      <p:sp>
        <p:nvSpPr>
          <p:cNvPr id="7" name="Slide Number Placeholder 1">
            <a:extLst>
              <a:ext uri="{FF2B5EF4-FFF2-40B4-BE49-F238E27FC236}">
                <a16:creationId xmlns:a16="http://schemas.microsoft.com/office/drawing/2014/main" id="{E267ADC1-AF57-08DA-3461-735A01E6294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4200188" y="10483850"/>
            <a:ext cx="4522787" cy="60166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2EEA166-2877-4493-9FAA-8D6952A82FC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85420291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99B80CFB-4B2B-A473-B8AE-23147E9EE5C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4200188" y="10483850"/>
            <a:ext cx="4522787" cy="60166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2EEA166-2877-4493-9FAA-8D6952A82FC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90845885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slideLayout" Target="../slideLayouts/slideLayout4.xml"/><Relationship Id="rId3" Type="http://schemas.openxmlformats.org/officeDocument/2006/relationships/slideLayout" Target="../slideLayouts/slideLayout5.xml"/><Relationship Id="rId4" Type="http://schemas.openxmlformats.org/officeDocument/2006/relationships/slideLayout" Target="../slideLayouts/slideLayout6.xml"/><Relationship Id="rId5" Type="http://schemas.openxmlformats.org/officeDocument/2006/relationships/slideLayout" Target="../slideLayouts/slideLayout7.xml"/><Relationship Id="rId6" Type="http://schemas.openxmlformats.org/officeDocument/2006/relationships/slideLayout" Target="../slideLayouts/slideLayout8.xml"/><Relationship Id="rId7" Type="http://schemas.openxmlformats.org/officeDocument/2006/relationships/slideLayout" Target="../slideLayouts/slideLayout9.xml"/><Relationship Id="rId8" Type="http://schemas.openxmlformats.org/officeDocument/2006/relationships/slideLayout" Target="../slideLayouts/slideLayout10.xml"/><Relationship Id="rId9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2.xml"/><Relationship Id="rId11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8BAC708B-19F4-8EF4-2753-507BDF8E8F7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4200188" y="10483850"/>
            <a:ext cx="4522787" cy="60166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2EEA166-2877-4493-9FAA-8D6952A82FC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59210225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8" r:id="rId1"/>
    <p:sldLayoutId id="2147483698" r:id="rId2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H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object 17">
            <a:extLst>
              <a:ext uri="{FF2B5EF4-FFF2-40B4-BE49-F238E27FC236}">
                <a16:creationId xmlns:a16="http://schemas.microsoft.com/office/drawing/2014/main" id="{FED51FD9-DD91-984F-64F8-1561CC177398}"/>
              </a:ext>
            </a:extLst>
          </p:cNvPr>
          <p:cNvSpPr/>
          <p:nvPr userDrawn="1"/>
        </p:nvSpPr>
        <p:spPr>
          <a:xfrm>
            <a:off x="4500000" y="1413569"/>
            <a:ext cx="14659200" cy="0"/>
          </a:xfrm>
          <a:custGeom>
            <a:avLst/>
            <a:gdLst/>
            <a:ahLst/>
            <a:cxnLst/>
            <a:rect l="l" t="t" r="r" b="b"/>
            <a:pathLst>
              <a:path w="18104485">
                <a:moveTo>
                  <a:pt x="0" y="0"/>
                </a:moveTo>
                <a:lnTo>
                  <a:pt x="18104160" y="0"/>
                </a:lnTo>
              </a:path>
            </a:pathLst>
          </a:custGeom>
          <a:ln w="12700">
            <a:gradFill>
              <a:gsLst>
                <a:gs pos="100000">
                  <a:schemeClr val="accent1"/>
                </a:gs>
                <a:gs pos="0">
                  <a:schemeClr val="accent2"/>
                </a:gs>
              </a:gsLst>
              <a:lin ang="0" scaled="0"/>
            </a:gra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2BD5A937-B250-7022-4FC6-F9B79765E5C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4200188" y="10483850"/>
            <a:ext cx="4522787" cy="60166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2EEA166-2877-4493-9FAA-8D6952A82FC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89260744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8" r:id="rId1"/>
    <p:sldLayoutId id="2147483689" r:id="rId2"/>
    <p:sldLayoutId id="2147483690" r:id="rId3"/>
    <p:sldLayoutId id="2147483691" r:id="rId4"/>
    <p:sldLayoutId id="2147483692" r:id="rId5"/>
    <p:sldLayoutId id="2147483693" r:id="rId6"/>
    <p:sldLayoutId id="2147483694" r:id="rId7"/>
    <p:sldLayoutId id="2147483695" r:id="rId8"/>
    <p:sldLayoutId id="2147483696" r:id="rId9"/>
    <p:sldLayoutId id="2147483697" r:id="rId10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H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.jpeg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object 4">
            <a:extLst>
              <a:ext uri="{FF2B5EF4-FFF2-40B4-BE49-F238E27FC236}">
                <a16:creationId xmlns:a16="http://schemas.microsoft.com/office/drawing/2014/main" id="{E7403717-93A4-AAB0-5DA1-E3D59335FFA0}"/>
              </a:ext>
            </a:extLst>
          </p:cNvPr>
          <p:cNvPicPr/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0" y="794"/>
            <a:ext cx="20104099" cy="11308556"/>
          </a:xfrm>
          <a:prstGeom prst="rect">
            <a:avLst/>
          </a:prstGeom>
        </p:spPr>
      </p:pic>
      <p:pic>
        <p:nvPicPr>
          <p:cNvPr id="5" name="object 5">
            <a:extLst>
              <a:ext uri="{FF2B5EF4-FFF2-40B4-BE49-F238E27FC236}">
                <a16:creationId xmlns:a16="http://schemas.microsoft.com/office/drawing/2014/main" id="{B8281C5C-DD60-55B1-3FC1-4EB141D94BC3}"/>
              </a:ext>
            </a:extLst>
          </p:cNvPr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11873983" y="837670"/>
            <a:ext cx="8230115" cy="10470885"/>
          </a:xfrm>
          <a:prstGeom prst="rect">
            <a:avLst/>
          </a:prstGeom>
        </p:spPr>
      </p:pic>
      <p:pic>
        <p:nvPicPr>
          <p:cNvPr id="6" name="Picture 5" descr="A logo with white text&#10;&#10;AI-generated content may be incorrect.">
            <a:extLst>
              <a:ext uri="{FF2B5EF4-FFF2-40B4-BE49-F238E27FC236}">
                <a16:creationId xmlns:a16="http://schemas.microsoft.com/office/drawing/2014/main" id="{1FBC48BB-7B45-9563-3E74-6A7D75EA4605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5386" y="8474075"/>
            <a:ext cx="3450664" cy="2362200"/>
          </a:xfrm>
          <a:prstGeom prst="rect">
            <a:avLst/>
          </a:prstGeom>
        </p:spPr>
      </p:pic>
      <p:sp>
        <p:nvSpPr>
          <p:cNvPr id="7" name="object 16">
            <a:extLst>
              <a:ext uri="{FF2B5EF4-FFF2-40B4-BE49-F238E27FC236}">
                <a16:creationId xmlns:a16="http://schemas.microsoft.com/office/drawing/2014/main" id="{34703AC2-FA13-747C-85E7-7DB5CD624568}"/>
              </a:ext>
            </a:extLst>
          </p:cNvPr>
          <p:cNvSpPr txBox="1">
            <a:spLocks/>
          </p:cNvSpPr>
          <p:nvPr/>
        </p:nvSpPr>
        <p:spPr>
          <a:xfrm>
            <a:off x="818996" y="1956921"/>
            <a:ext cx="18466105" cy="10011074"/>
          </a:xfrm>
          <a:prstGeom prst="rect">
            <a:avLst/>
          </a:prstGeom>
        </p:spPr>
        <p:txBody>
          <a:bodyPr vert="horz" wrap="square" lIns="0" tIns="12065" rIns="0" bIns="0" rtlCol="0" anchor="t">
            <a:sp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12700">
              <a:lnSpc>
                <a:spcPts val="9570"/>
              </a:lnSpc>
              <a:spcBef>
                <a:spcPts val="95"/>
              </a:spcBef>
            </a:pPr>
            <a:r>
              <a:rPr lang="en-GB" sz="8250" b="1" spc="-10" noProof="0" dirty="0">
                <a:solidFill>
                  <a:srgbClr val="FFFFFF"/>
                </a:solidFill>
                <a:latin typeface="Aptos" panose="020B0004020202020204" pitchFamily="34" charset="0"/>
                <a:cs typeface="Aptos"/>
              </a:rPr>
              <a:t>Project Bora</a:t>
            </a:r>
          </a:p>
          <a:p>
            <a:pPr marL="12700">
              <a:lnSpc>
                <a:spcPts val="5600"/>
              </a:lnSpc>
              <a:spcBef>
                <a:spcPts val="95"/>
              </a:spcBef>
            </a:pPr>
            <a:r>
              <a:rPr lang="en-GB" sz="4400" b="1" spc="-10" noProof="0" dirty="0">
                <a:solidFill>
                  <a:srgbClr val="FFFFFF"/>
                </a:solidFill>
                <a:latin typeface="Aptos"/>
                <a:cs typeface="Aptos"/>
              </a:rPr>
              <a:t>BORA 1 and BORA 2 capacity bids</a:t>
            </a:r>
            <a:endParaRPr lang="en-GB" sz="5400" b="1" noProof="0" dirty="0">
              <a:latin typeface="Aptos"/>
              <a:cs typeface="Aptos"/>
            </a:endParaRPr>
          </a:p>
          <a:p>
            <a:pPr marL="12700">
              <a:lnSpc>
                <a:spcPts val="3600"/>
              </a:lnSpc>
            </a:pPr>
            <a:r>
              <a:rPr lang="en-GB" sz="2800" b="0" spc="-10" noProof="0" dirty="0">
                <a:solidFill>
                  <a:srgbClr val="FFFFFF"/>
                </a:solidFill>
                <a:latin typeface="Aptos"/>
                <a:cs typeface="Aptos"/>
              </a:rPr>
              <a:t>Approval of the tender commitments,</a:t>
            </a:r>
            <a:br/>
            <a:r>
              <a:rPr lang="en-GB" sz="2800" b="0" spc="-10" noProof="0" dirty="0">
                <a:solidFill>
                  <a:srgbClr val="FFFFFF"/>
                </a:solidFill>
                <a:latin typeface="Aptos"/>
                <a:cs typeface="Aptos"/>
              </a:rPr>
              <a:t>2 × 100 MVA, Szombathely OVIT</a:t>
            </a:r>
            <a:endParaRPr lang="en-GB" sz="4950" spc="-10" noProof="0" dirty="0">
              <a:solidFill>
                <a:srgbClr val="FFFFFF"/>
              </a:solidFill>
              <a:latin typeface="Aptos"/>
              <a:cs typeface="Aptos"/>
            </a:endParaRPr>
          </a:p>
          <a:p>
            <a:pPr marL="12700">
              <a:lnSpc>
                <a:spcPts val="5610"/>
              </a:lnSpc>
            </a:pPr>
            <a:r>
              <a:rPr lang="en-GB" sz="3200" b="0" spc="-10" noProof="0" dirty="0">
                <a:solidFill>
                  <a:srgbClr val="FFFFFF"/>
                </a:solidFill>
                <a:latin typeface="Aptos"/>
                <a:cs typeface="Aptos"/>
              </a:rPr>
              <a:t>12‑Oct‑2026</a:t>
            </a:r>
            <a:endParaRPr lang="en-GB" sz="4950" spc="-10" noProof="0" dirty="0">
              <a:solidFill>
                <a:srgbClr val="FFFFFF"/>
              </a:solidFill>
              <a:latin typeface="Aptos"/>
              <a:cs typeface="Aptos"/>
            </a:endParaRPr>
          </a:p>
          <a:p>
            <a:pPr marL="12700" algn="r">
              <a:lnSpc>
                <a:spcPts val="5610"/>
              </a:lnSpc>
            </a:pPr>
            <a:endParaRPr lang="en-GB" sz="2800" b="1" spc="-10" noProof="0" dirty="0">
              <a:solidFill>
                <a:schemeClr val="bg1"/>
              </a:solidFill>
              <a:latin typeface="Aptos"/>
              <a:cs typeface="Aptos"/>
            </a:endParaRPr>
          </a:p>
          <a:p>
            <a:pPr marL="12700" algn="r">
              <a:lnSpc>
                <a:spcPct val="150000"/>
              </a:lnSpc>
            </a:pPr>
            <a:endParaRPr lang="en-GB" sz="2800" b="1" spc="-10" noProof="0" dirty="0">
              <a:solidFill>
                <a:schemeClr val="bg1"/>
              </a:solidFill>
              <a:latin typeface="Aptos"/>
              <a:cs typeface="Aptos"/>
            </a:endParaRPr>
          </a:p>
          <a:p>
            <a:pPr marL="12700">
              <a:lnSpc>
                <a:spcPct val="150000"/>
              </a:lnSpc>
            </a:pPr>
            <a:endParaRPr lang="en-GB" sz="4950" spc="-10" noProof="0" dirty="0">
              <a:solidFill>
                <a:srgbClr val="FFFFFF"/>
              </a:solidFill>
              <a:latin typeface="Aptos"/>
              <a:cs typeface="Aptos"/>
            </a:endParaRPr>
          </a:p>
          <a:p>
            <a:pPr marL="12700">
              <a:lnSpc>
                <a:spcPts val="5610"/>
              </a:lnSpc>
            </a:pPr>
            <a:endParaRPr lang="en-GB" sz="4950" spc="-10" noProof="0" dirty="0">
              <a:solidFill>
                <a:srgbClr val="FFFFFF"/>
              </a:solidFill>
              <a:latin typeface="Aptos"/>
              <a:cs typeface="Aptos"/>
            </a:endParaRPr>
          </a:p>
        </p:txBody>
      </p:sp>
    </p:spTree>
    <p:extLst>
      <p:ext uri="{BB962C8B-B14F-4D97-AF65-F5344CB8AC3E}">
        <p14:creationId xmlns:p14="http://schemas.microsoft.com/office/powerpoint/2010/main" val="718128318"/>
      </p:ext>
    </p:extLst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498848" y="182880"/>
            <a:ext cx="12710160" cy="1097280"/>
          </a:xfrm>
        </p:spPr>
        <p:txBody>
          <a:bodyPr wrap="square"/>
          <a:lstStyle/>
          <a:p>
            <a:r>
              <a:t>Submit both bids with the same commitments at 85 points each: FEP earns €13.1m at the RtB exit, a 22.2% IRR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88576B7A-1C0F-D2A3-8BE9-18F63D64C45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4200188" y="10483850"/>
            <a:ext cx="4522787" cy="60166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2EEA166-2877-4493-9FAA-8D6952A82FC3}" type="slidenum">
              <a:rPr lang="en-GB" smtClean="0"/>
              <a:t>‹#›</a:t>
            </a:fld>
            <a:endParaRPr lang="en-GB"/>
          </a:p>
        </p:txBody>
      </p:sp>
      <p:graphicFrame>
        <p:nvGraphicFramePr>
          <p:cNvPr id="3" name="Navigator"/>
          <p:cNvGraphicFramePr>
            <a:graphicFrameLocks noGrp="1"/>
          </p:cNvGraphicFramePr>
          <p:nvPr/>
        </p:nvGraphicFramePr>
        <p:xfrm>
          <a:off x="0" y="0"/>
          <a:ext cx="3767328" cy="466344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767328"/>
              </a:tblGrid>
              <a:tr h="777240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  <a:latin typeface="Aptos"/>
                        </a:rPr>
                        <a:t>Executive summary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gradFill rotWithShape="1">
                      <a:gsLst>
                        <a:gs pos="0">
                          <a:srgbClr val="00A651"/>
                        </a:gs>
                        <a:gs pos="100000">
                          <a:srgbClr val="00563C"/>
                        </a:gs>
                      </a:gsLst>
                      <a:lin scaled="0" ang="0"/>
                    </a:gra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3C3C3B"/>
                          </a:solidFill>
                          <a:latin typeface="Aptos"/>
                        </a:rPr>
                        <a:t>Commitments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noFill/>
                  </a:tcPr>
                </a:tc>
              </a:tr>
              <a:tr h="77724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3C3C3B"/>
                          </a:solidFill>
                          <a:latin typeface="Aptos"/>
                        </a:rPr>
                        <a:t>Economics – RtB exit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noFill/>
                  </a:tcPr>
                </a:tc>
              </a:tr>
              <a:tr h="77724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3C3C3B"/>
                          </a:solidFill>
                          <a:latin typeface="Aptos"/>
                        </a:rPr>
                        <a:t>Funding and capex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noFill/>
                  </a:tcPr>
                </a:tc>
              </a:tr>
              <a:tr h="77724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3C3C3B"/>
                          </a:solidFill>
                          <a:latin typeface="Aptos"/>
                        </a:rPr>
                        <a:t>Economics – COD and HTM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noFill/>
                  </a:tcPr>
                </a:tc>
              </a:tr>
              <a:tr h="77724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3C3C3B"/>
                          </a:solidFill>
                          <a:latin typeface="Aptos"/>
                        </a:rPr>
                        <a:t>Risks and mitigants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4" name="Subtitle"/>
          <p:cNvSpPr txBox="1"/>
          <p:nvPr/>
        </p:nvSpPr>
        <p:spPr>
          <a:xfrm>
            <a:off x="4498848" y="1371600"/>
            <a:ext cx="13716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1">
                <a:solidFill>
                  <a:srgbClr val="3C3C3B"/>
                </a:solidFill>
                <a:latin typeface="Aptos"/>
              </a:rPr>
              <a:t>Against the zero bid, the commitments cost €0.8m of RtB profit and 2.4 pp of HTM IRR per bid, and add €23.4m per bid to the all-in commitment.</a:t>
            </a:r>
          </a:p>
        </p:txBody>
      </p:sp>
      <p:graphicFrame>
        <p:nvGraphicFramePr>
          <p:cNvPr id="5" name="Table"/>
          <p:cNvGraphicFramePr>
            <a:graphicFrameLocks noGrp="1"/>
          </p:cNvGraphicFramePr>
          <p:nvPr/>
        </p:nvGraphicFramePr>
        <p:xfrm>
          <a:off x="4498848" y="2240280"/>
          <a:ext cx="9052560" cy="339242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931920"/>
                <a:gridCol w="1005840"/>
                <a:gridCol w="1371600"/>
                <a:gridCol w="1371600"/>
                <a:gridCol w="1371600"/>
              </a:tblGrid>
              <a:tr h="539496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Item</a:t>
                      </a:r>
                    </a:p>
                  </a:txBody>
                  <a:tcPr marL="73152" marR="73152" marT="27432" marB="27432" anchor="ctr">
                    <a:solidFill>
                      <a:srgbClr val="00A65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Unit</a:t>
                      </a:r>
                    </a:p>
                  </a:txBody>
                  <a:tcPr marL="73152" marR="73152" marT="27432" marB="27432" anchor="ctr">
                    <a:solidFill>
                      <a:srgbClr val="00A65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Zero bid, per bid</a:t>
                      </a:r>
                    </a:p>
                  </a:txBody>
                  <a:tcPr marL="73152" marR="73152" marT="27432" marB="27432" anchor="ctr">
                    <a:solidFill>
                      <a:srgbClr val="00A65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Per bid</a:t>
                      </a:r>
                    </a:p>
                  </a:txBody>
                  <a:tcPr marL="73152" marR="73152" marT="27432" marB="27432" anchor="ctr">
                    <a:solidFill>
                      <a:srgbClr val="00A65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Both bids</a:t>
                      </a:r>
                    </a:p>
                  </a:txBody>
                  <a:tcPr marL="73152" marR="73152" marT="27432" marB="27432" anchor="ctr">
                    <a:solidFill>
                      <a:srgbClr val="00A651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Points (EU turbine)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919191"/>
                          </a:solidFill>
                          <a:latin typeface="Aptos"/>
                        </a:rPr>
                        <a:t>points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0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85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–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FEP profit – RtB route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919191"/>
                          </a:solidFill>
                          <a:latin typeface="Aptos"/>
                        </a:rPr>
                        <a:t>€ m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7.4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6.5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13.1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FEP IRR – RtB route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919191"/>
                          </a:solidFill>
                          <a:latin typeface="Aptos"/>
                        </a:rPr>
                        <a:t>%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25.8%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22.2%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–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FEP IRR – sale at COD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919191"/>
                          </a:solidFill>
                          <a:latin typeface="Aptos"/>
                        </a:rPr>
                        <a:t>%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49.6%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37.8%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–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FEP IRR – hold to maturity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919191"/>
                          </a:solidFill>
                          <a:latin typeface="Aptos"/>
                        </a:rPr>
                        <a:t>%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11.9%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9.5%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–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3C3C3B"/>
                          </a:solidFill>
                          <a:latin typeface="Aptos"/>
                        </a:rPr>
                        <a:t>All-in commitment if built (securities, development, construction, financing)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919191"/>
                          </a:solidFill>
                          <a:latin typeface="Aptos"/>
                        </a:rPr>
                        <a:t>€ m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3C3C3B"/>
                          </a:solidFill>
                          <a:latin typeface="Aptos"/>
                        </a:rPr>
                        <a:t>147.8</a:t>
                      </a:r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3C3C3B"/>
                          </a:solidFill>
                          <a:latin typeface="Aptos"/>
                        </a:rPr>
                        <a:t>171.2</a:t>
                      </a:r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3C3C3B"/>
                          </a:solidFill>
                          <a:latin typeface="Aptos"/>
                        </a:rPr>
                        <a:t>342.4</a:t>
                      </a:r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</a:tr>
            </a:tbl>
          </a:graphicData>
        </a:graphic>
      </p:graphicFrame>
      <p:sp>
        <p:nvSpPr>
          <p:cNvPr id="6" name="Card"/>
          <p:cNvSpPr/>
          <p:nvPr/>
        </p:nvSpPr>
        <p:spPr>
          <a:xfrm>
            <a:off x="13990320" y="2240280"/>
            <a:ext cx="4224528" cy="3749039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0" rIns="182880" tIns="137160"/>
          <a:lstStyle/>
          <a:p>
            <a:pPr algn="l"/>
            <a:r>
              <a:rPr sz="1600" b="1">
                <a:solidFill>
                  <a:srgbClr val="00563C"/>
                </a:solidFill>
                <a:latin typeface="Aptos"/>
              </a:rPr>
              <a:t>Approval requested and timetable</a:t>
            </a:r>
          </a:p>
          <a:p>
            <a:pPr algn="l">
              <a:spcBef>
                <a:spcPts val="800"/>
              </a:spcBef>
            </a:pPr>
            <a:r>
              <a:rPr sz="1300" b="1">
                <a:solidFill>
                  <a:srgbClr val="3C3C3B"/>
                </a:solidFill>
                <a:latin typeface="Aptos"/>
              </a:rPr>
              <a:t>Submit BORA 1 and BORA 2 by 30‑Oct‑2026, each with: </a:t>
            </a:r>
            <a:r>
              <a:rPr sz="1300" b="0">
                <a:solidFill>
                  <a:srgbClr val="3C3C3B"/>
                </a:solidFill>
                <a:latin typeface="Aptos"/>
              </a:rPr>
              <a:t>municipal 50 k€/MW; community 3.00 €/MWh; overbuild 51% (not built); BESS 51% of MVA, 4 h; PB at the 1.0x minimum; partial award, shared connection, EU turbines and transformers.</a:t>
            </a:r>
          </a:p>
          <a:p>
            <a:pPr algn="l">
              <a:spcBef>
                <a:spcPts val="800"/>
              </a:spcBef>
            </a:pPr>
            <a:r>
              <a:rPr sz="1300" b="1">
                <a:solidFill>
                  <a:srgbClr val="3C3C3B"/>
                </a:solidFill>
                <a:latin typeface="Aptos"/>
              </a:rPr>
              <a:t>Day one, at submission (both bids): </a:t>
            </a:r>
            <a:r>
              <a:rPr sz="1300" b="0">
                <a:solidFill>
                  <a:srgbClr val="3C3C3B"/>
                </a:solidFill>
                <a:latin typeface="Aptos"/>
              </a:rPr>
              <a:t>participation fees €0.016m in cash and bid guarantees of €2.8m.</a:t>
            </a:r>
          </a:p>
          <a:p>
            <a:pPr algn="l">
              <a:spcBef>
                <a:spcPts val="800"/>
              </a:spcBef>
            </a:pPr>
            <a:r>
              <a:rPr sz="1300" b="1">
                <a:solidFill>
                  <a:srgbClr val="3C3C3B"/>
                </a:solidFill>
                <a:latin typeface="Aptos"/>
              </a:rPr>
              <a:t>After award (13‑Dec‑2026), both bids: </a:t>
            </a:r>
            <a:r>
              <a:rPr sz="1300" b="0">
                <a:solidFill>
                  <a:srgbClr val="3C3C3B"/>
                </a:solidFill>
                <a:latin typeface="Aptos"/>
              </a:rPr>
              <a:t>PB guarantees of €14.0m by 28‑Dec‑2026, replacing the bid guarantees; TSO cash security of €2.5m by 30‑Dec‑2026.</a:t>
            </a:r>
          </a:p>
        </p:txBody>
      </p:sp>
      <p:sp>
        <p:nvSpPr>
          <p:cNvPr id="7" name="Footnote"/>
          <p:cNvSpPr txBox="1"/>
          <p:nvPr/>
        </p:nvSpPr>
        <p:spPr>
          <a:xfrm>
            <a:off x="4498848" y="9646920"/>
            <a:ext cx="131673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919191"/>
                </a:solidFill>
                <a:latin typeface="Aptos"/>
              </a:rPr>
              <a:t>Post-tax, FEP share, EU turbine, base case (overbuild not built, BESS built, PB lost pro rata to the shortfall); RtB exit 31‑Dec‑2029. Zero bid = every commitment at its zero level. The two bids are identical, so IRRs are the same per bid and for both.</a:t>
            </a:r>
          </a:p>
          <a:p>
            <a:r>
              <a:rPr sz="1100" b="0">
                <a:solidFill>
                  <a:srgbClr val="919191"/>
                </a:solidFill>
                <a:latin typeface="Aptos"/>
              </a:rPr>
              <a:t>Source: Bora_Bid_Model.xlsm, 12 Oct 2026.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498848" y="182880"/>
            <a:ext cx="12710160" cy="1097280"/>
          </a:xfrm>
        </p:spPr>
        <p:txBody>
          <a:bodyPr wrap="square"/>
          <a:lstStyle/>
          <a:p>
            <a:r>
              <a:t>Municipal buys 20 points for 0.4 pp of HTM IRR; BESS (1.2 pp) and community (0.6 pp) carry the return cost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88576B7A-1C0F-D2A3-8BE9-18F63D64C45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4200188" y="10483850"/>
            <a:ext cx="4522787" cy="60166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2EEA166-2877-4493-9FAA-8D6952A82FC3}" type="slidenum">
              <a:rPr lang="en-GB" smtClean="0"/>
              <a:t>‹#›</a:t>
            </a:fld>
            <a:endParaRPr lang="en-GB"/>
          </a:p>
        </p:txBody>
      </p:sp>
      <p:graphicFrame>
        <p:nvGraphicFramePr>
          <p:cNvPr id="3" name="Navigator"/>
          <p:cNvGraphicFramePr>
            <a:graphicFrameLocks noGrp="1"/>
          </p:cNvGraphicFramePr>
          <p:nvPr/>
        </p:nvGraphicFramePr>
        <p:xfrm>
          <a:off x="0" y="0"/>
          <a:ext cx="3767328" cy="466344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767328"/>
              </a:tblGrid>
              <a:tr h="77724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3C3C3B"/>
                          </a:solidFill>
                          <a:latin typeface="Aptos"/>
                        </a:rPr>
                        <a:t>Executive summary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noFill/>
                  </a:tcPr>
                </a:tc>
              </a:tr>
              <a:tr h="777240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  <a:latin typeface="Aptos"/>
                        </a:rPr>
                        <a:t>Commitments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gradFill rotWithShape="1">
                      <a:gsLst>
                        <a:gs pos="0">
                          <a:srgbClr val="00A651"/>
                        </a:gs>
                        <a:gs pos="100000">
                          <a:srgbClr val="00563C"/>
                        </a:gs>
                      </a:gsLst>
                      <a:lin scaled="0" ang="0"/>
                    </a:gra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3C3C3B"/>
                          </a:solidFill>
                          <a:latin typeface="Aptos"/>
                        </a:rPr>
                        <a:t>Economics – RtB exit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noFill/>
                  </a:tcPr>
                </a:tc>
              </a:tr>
              <a:tr h="77724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3C3C3B"/>
                          </a:solidFill>
                          <a:latin typeface="Aptos"/>
                        </a:rPr>
                        <a:t>Funding and capex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noFill/>
                  </a:tcPr>
                </a:tc>
              </a:tr>
              <a:tr h="77724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3C3C3B"/>
                          </a:solidFill>
                          <a:latin typeface="Aptos"/>
                        </a:rPr>
                        <a:t>Economics – COD and HTM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noFill/>
                  </a:tcPr>
                </a:tc>
              </a:tr>
              <a:tr h="77724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3C3C3B"/>
                          </a:solidFill>
                          <a:latin typeface="Aptos"/>
                        </a:rPr>
                        <a:t>Risks and mitigants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4" name="Subtitle"/>
          <p:cNvSpPr txBox="1"/>
          <p:nvPr/>
        </p:nvSpPr>
        <p:spPr>
          <a:xfrm>
            <a:off x="4498848" y="1371600"/>
            <a:ext cx="13716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1">
                <a:solidFill>
                  <a:srgbClr val="3C3C3B"/>
                </a:solidFill>
                <a:latin typeface="Aptos"/>
              </a:rPr>
              <a:t>Each commitment is measured alone against the zero bid, per bid; the PB stays at the minimum because 2.0x adds 5 points for one more PB of guarantee.</a:t>
            </a:r>
          </a:p>
        </p:txBody>
      </p:sp>
      <p:graphicFrame>
        <p:nvGraphicFramePr>
          <p:cNvPr id="5" name="Table"/>
          <p:cNvGraphicFramePr>
            <a:graphicFrameLocks noGrp="1"/>
          </p:cNvGraphicFramePr>
          <p:nvPr/>
        </p:nvGraphicFramePr>
        <p:xfrm>
          <a:off x="4498848" y="2240280"/>
          <a:ext cx="13716000" cy="4507992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926080"/>
                <a:gridCol w="1371600"/>
                <a:gridCol w="1188720"/>
                <a:gridCol w="1188720"/>
                <a:gridCol w="1143000"/>
                <a:gridCol w="1143000"/>
                <a:gridCol w="1600200"/>
                <a:gridCol w="3154680"/>
              </a:tblGrid>
              <a:tr h="539496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Commitment (per bid)</a:t>
                      </a:r>
                    </a:p>
                  </a:txBody>
                  <a:tcPr marL="73152" marR="73152" marT="27432" marB="27432" anchor="ctr">
                    <a:solidFill>
                      <a:srgbClr val="00A65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Offered</a:t>
                      </a:r>
                    </a:p>
                  </a:txBody>
                  <a:tcPr marL="73152" marR="73152" marT="27432" marB="27432" anchor="ctr">
                    <a:solidFill>
                      <a:srgbClr val="00A65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Points</a:t>
                      </a:r>
                    </a:p>
                  </a:txBody>
                  <a:tcPr marL="73152" marR="73152" marT="27432" marB="27432" anchor="ctr">
                    <a:solidFill>
                      <a:srgbClr val="00A65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Δ RtB profit € m</a:t>
                      </a:r>
                    </a:p>
                  </a:txBody>
                  <a:tcPr marL="73152" marR="73152" marT="27432" marB="27432" anchor="ctr">
                    <a:solidFill>
                      <a:srgbClr val="00A65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Δ COD IRR pp</a:t>
                      </a:r>
                    </a:p>
                  </a:txBody>
                  <a:tcPr marL="73152" marR="73152" marT="27432" marB="27432" anchor="ctr">
                    <a:solidFill>
                      <a:srgbClr val="00A65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Δ HTM IRR pp</a:t>
                      </a:r>
                    </a:p>
                  </a:txBody>
                  <a:tcPr marL="73152" marR="73152" marT="27432" marB="27432" anchor="ctr">
                    <a:solidFill>
                      <a:srgbClr val="00A65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Δ deposits and guarantees € m</a:t>
                      </a:r>
                    </a:p>
                  </a:txBody>
                  <a:tcPr marL="73152" marR="73152" marT="27432" marB="27432" anchor="ctr">
                    <a:solidFill>
                      <a:srgbClr val="00A65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Logic</a:t>
                      </a:r>
                    </a:p>
                  </a:txBody>
                  <a:tcPr marL="73152" marR="73152" marT="27432" marB="27432" anchor="ctr">
                    <a:solidFill>
                      <a:srgbClr val="00A651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Municipal one-off (ÖSZ-1)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50 k€/MW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20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0.0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−1.2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−0.4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0.0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Paid at COD, after the RtB exit: no FEP cash on the RtB route.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Community contribution (ÖSZ-2)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3.00 €/MWh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15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0.0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−2.6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−0.6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0.0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Operating cost after COD.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Overbuild (ÖSZ-3)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51%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10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(0.5)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−1.1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−0.2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+1.4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Not built: the cost is the larger PB, lost pro rata to the shortfall.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BESS power (ÖSZ-4), 4 h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51% of MVA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15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(0.4)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−6.5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−1.2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+2.8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Sized with the overbuild and built; valued at cost, with no BESS revenue.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PB multiple (ÖSZ-6)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1.0x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0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0.0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0.0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0.0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0.0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Not raised: 2.0x adds 5 points for one more PB of €7.0m of guarantee.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Partial award (ÖSZ-5), shared connection (ÖSZ-8), EU turbines / transformers (ÖSZ-9)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yes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5 / 5 / 12 / 3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0.0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0.0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0.0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0.0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No cash or return impact. EU sourcing is in the base cost (turbine 600 k€/MW).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3C3C3B"/>
                          </a:solidFill>
                          <a:latin typeface="Aptos"/>
                        </a:rPr>
                        <a:t>Full bid vs zero bid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3C3C3B"/>
                          </a:solidFill>
                          <a:latin typeface="Aptos"/>
                        </a:rPr>
                        <a:t>85</a:t>
                      </a:r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3C3C3B"/>
                          </a:solidFill>
                          <a:latin typeface="Aptos"/>
                        </a:rPr>
                        <a:t>(0.8)</a:t>
                      </a:r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3C3C3B"/>
                          </a:solidFill>
                          <a:latin typeface="Aptos"/>
                        </a:rPr>
                        <a:t>−11.7</a:t>
                      </a:r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3C3C3B"/>
                          </a:solidFill>
                          <a:latin typeface="Aptos"/>
                        </a:rPr>
                        <a:t>−2.4</a:t>
                      </a:r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3C3C3B"/>
                          </a:solidFill>
                          <a:latin typeface="Aptos"/>
                        </a:rPr>
                        <a:t>–</a:t>
                      </a:r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3C3C3B"/>
                          </a:solidFill>
                          <a:latin typeface="Aptos"/>
                        </a:rPr>
                        <a:t>The rows do not add to the total because the commitments interact.</a:t>
                      </a:r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</a:tr>
            </a:tbl>
          </a:graphicData>
        </a:graphic>
      </p:graphicFrame>
      <p:sp>
        <p:nvSpPr>
          <p:cNvPr id="6" name="Footnote"/>
          <p:cNvSpPr txBox="1"/>
          <p:nvPr/>
        </p:nvSpPr>
        <p:spPr>
          <a:xfrm>
            <a:off x="4498848" y="9646920"/>
            <a:ext cx="131673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919191"/>
                </a:solidFill>
                <a:latin typeface="Aptos"/>
              </a:rPr>
              <a:t>Δ = zero bid plus that commitment alone, minus the zero bid. Zero levels: municipal 0, community 0, overbuild 0%, BESS 0%, PB 1.0x, yes/no items no. Δ deposits and guarantees = extra security posted, not a PB loss. ÖSZ-6: 5 points at 2.0x (Kiírás X.4 bf, Annex 4). Brownfield (ÖSZ-7) is not offered.</a:t>
            </a:r>
          </a:p>
          <a:p>
            <a:r>
              <a:rPr sz="1100" b="0">
                <a:solidFill>
                  <a:srgbClr val="919191"/>
                </a:solidFill>
                <a:latin typeface="Aptos"/>
              </a:rPr>
              <a:t>Source: Bora_Bid_Model.xlsm, 12 Oct 2026.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498848" y="182880"/>
            <a:ext cx="12710160" cy="1097280"/>
          </a:xfrm>
        </p:spPr>
        <p:txBody>
          <a:bodyPr wrap="square"/>
          <a:lstStyle/>
          <a:p>
            <a:r>
              <a:t>At the RtB exit FEP earns €13.1m on both bids, a 1.25x MOIC; its interest claims are paid ahead of the 70/30 split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88576B7A-1C0F-D2A3-8BE9-18F63D64C45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4200188" y="10483850"/>
            <a:ext cx="4522787" cy="60166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2EEA166-2877-4493-9FAA-8D6952A82FC3}" type="slidenum">
              <a:rPr lang="en-GB" smtClean="0"/>
              <a:t>‹#›</a:t>
            </a:fld>
            <a:endParaRPr lang="en-GB"/>
          </a:p>
        </p:txBody>
      </p:sp>
      <p:graphicFrame>
        <p:nvGraphicFramePr>
          <p:cNvPr id="3" name="Navigator"/>
          <p:cNvGraphicFramePr>
            <a:graphicFrameLocks noGrp="1"/>
          </p:cNvGraphicFramePr>
          <p:nvPr/>
        </p:nvGraphicFramePr>
        <p:xfrm>
          <a:off x="0" y="0"/>
          <a:ext cx="3767328" cy="466344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767328"/>
              </a:tblGrid>
              <a:tr h="77724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3C3C3B"/>
                          </a:solidFill>
                          <a:latin typeface="Aptos"/>
                        </a:rPr>
                        <a:t>Executive summary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noFill/>
                  </a:tcPr>
                </a:tc>
              </a:tr>
              <a:tr h="77724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3C3C3B"/>
                          </a:solidFill>
                          <a:latin typeface="Aptos"/>
                        </a:rPr>
                        <a:t>Commitments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noFill/>
                  </a:tcPr>
                </a:tc>
              </a:tr>
              <a:tr h="777240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  <a:latin typeface="Aptos"/>
                        </a:rPr>
                        <a:t>Economics – RtB exit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gradFill rotWithShape="1">
                      <a:gsLst>
                        <a:gs pos="0">
                          <a:srgbClr val="00A651"/>
                        </a:gs>
                        <a:gs pos="100000">
                          <a:srgbClr val="00563C"/>
                        </a:gs>
                      </a:gsLst>
                      <a:lin scaled="0" ang="0"/>
                    </a:gra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3C3C3B"/>
                          </a:solidFill>
                          <a:latin typeface="Aptos"/>
                        </a:rPr>
                        <a:t>Funding and capex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noFill/>
                  </a:tcPr>
                </a:tc>
              </a:tr>
              <a:tr h="77724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3C3C3B"/>
                          </a:solidFill>
                          <a:latin typeface="Aptos"/>
                        </a:rPr>
                        <a:t>Economics – COD and HTM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noFill/>
                  </a:tcPr>
                </a:tc>
              </a:tr>
              <a:tr h="77724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3C3C3B"/>
                          </a:solidFill>
                          <a:latin typeface="Aptos"/>
                        </a:rPr>
                        <a:t>Risks and mitigants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4" name="Subtitle"/>
          <p:cNvSpPr txBox="1"/>
          <p:nvPr/>
        </p:nvSpPr>
        <p:spPr>
          <a:xfrm>
            <a:off x="4498848" y="1371600"/>
            <a:ext cx="13716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1">
                <a:solidFill>
                  <a:srgbClr val="3C3C3B"/>
                </a:solidFill>
                <a:latin typeface="Aptos"/>
              </a:rPr>
              <a:t>FEP keeps 55 k€ and A.RES 23 k€ per installed wind MW; at a 100 k€/MVA RtB price, FEP's profit falls to €6.1m for both bids.</a:t>
            </a:r>
          </a:p>
        </p:txBody>
      </p:sp>
      <p:graphicFrame>
        <p:nvGraphicFramePr>
          <p:cNvPr id="5" name="Table"/>
          <p:cNvGraphicFramePr>
            <a:graphicFrameLocks noGrp="1"/>
          </p:cNvGraphicFramePr>
          <p:nvPr/>
        </p:nvGraphicFramePr>
        <p:xfrm>
          <a:off x="4498848" y="2240280"/>
          <a:ext cx="9125712" cy="4325112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5102352"/>
                <a:gridCol w="822960"/>
                <a:gridCol w="1600200"/>
                <a:gridCol w="1600200"/>
              </a:tblGrid>
              <a:tr h="539496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Waterfall at the exit, 31‑Dec‑2029</a:t>
                      </a:r>
                    </a:p>
                  </a:txBody>
                  <a:tcPr marL="73152" marR="73152" marT="27432" marB="27432" anchor="ctr">
                    <a:solidFill>
                      <a:srgbClr val="00A65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Unit</a:t>
                      </a:r>
                    </a:p>
                  </a:txBody>
                  <a:tcPr marL="73152" marR="73152" marT="27432" marB="27432" anchor="ctr">
                    <a:solidFill>
                      <a:srgbClr val="00A65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Per bid</a:t>
                      </a:r>
                    </a:p>
                  </a:txBody>
                  <a:tcPr marL="73152" marR="73152" marT="27432" marB="27432" anchor="ctr">
                    <a:solidFill>
                      <a:srgbClr val="00A65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Both bids</a:t>
                      </a:r>
                    </a:p>
                  </a:txBody>
                  <a:tcPr marL="73152" marR="73152" marT="27432" marB="27432" anchor="ctr">
                    <a:solidFill>
                      <a:srgbClr val="00A651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RtB price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919191"/>
                          </a:solidFill>
                          <a:latin typeface="Aptos"/>
                        </a:rPr>
                        <a:t>€ m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15.0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30.0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Less sale costs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919191"/>
                          </a:solidFill>
                          <a:latin typeface="Aptos"/>
                        </a:rPr>
                        <a:t>€ m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(0.5)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(1.0)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Less FEP interest claims (12% deposits, 20% / 2x devex, 6% guarantees)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919191"/>
                          </a:solidFill>
                          <a:latin typeface="Aptos"/>
                        </a:rPr>
                        <a:t>€ m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(5.8)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(11.6)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Less DSA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919191"/>
                          </a:solidFill>
                          <a:latin typeface="Aptos"/>
                        </a:rPr>
                        <a:t>€ m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(1.2)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(2.4)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Distributable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919191"/>
                          </a:solidFill>
                          <a:latin typeface="Aptos"/>
                        </a:rPr>
                        <a:t>€ m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7.5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15.0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FEP net: interest claims + 70%, less FEP-borne devex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919191"/>
                          </a:solidFill>
                          <a:latin typeface="Aptos"/>
                        </a:rPr>
                        <a:t>€ m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8.4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16.7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A.RES: 30% + DSA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919191"/>
                          </a:solidFill>
                          <a:latin typeface="Aptos"/>
                        </a:rPr>
                        <a:t>€ m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3.4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6.9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Less guarantee fees, signing and DD, tax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919191"/>
                          </a:solidFill>
                          <a:latin typeface="Aptos"/>
                        </a:rPr>
                        <a:t>€ m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(1.8)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(3.6)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3C3C3B"/>
                          </a:solidFill>
                          <a:latin typeface="Aptos"/>
                        </a:rPr>
                        <a:t>FEP profit – RtB route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919191"/>
                          </a:solidFill>
                          <a:latin typeface="Aptos"/>
                        </a:rPr>
                        <a:t>€ m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3C3C3B"/>
                          </a:solidFill>
                          <a:latin typeface="Aptos"/>
                        </a:rPr>
                        <a:t>6.5</a:t>
                      </a:r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3C3C3B"/>
                          </a:solidFill>
                          <a:latin typeface="Aptos"/>
                        </a:rPr>
                        <a:t>13.1</a:t>
                      </a:r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</a:tr>
            </a:tbl>
          </a:graphicData>
        </a:graphic>
      </p:graphicFrame>
      <p:sp>
        <p:nvSpPr>
          <p:cNvPr id="6" name="Card"/>
          <p:cNvSpPr/>
          <p:nvPr/>
        </p:nvSpPr>
        <p:spPr>
          <a:xfrm>
            <a:off x="13990320" y="2240280"/>
            <a:ext cx="4224528" cy="251460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0" rIns="182880" tIns="137160"/>
          <a:lstStyle/>
          <a:p>
            <a:pPr algn="l"/>
            <a:r>
              <a:rPr sz="1600" b="1">
                <a:solidFill>
                  <a:srgbClr val="00563C"/>
                </a:solidFill>
                <a:latin typeface="Aptos"/>
              </a:rPr>
              <a:t>Cash to the exit</a:t>
            </a:r>
          </a:p>
          <a:p>
            <a:pPr algn="l">
              <a:spcBef>
                <a:spcPts val="800"/>
              </a:spcBef>
            </a:pPr>
            <a:r>
              <a:rPr sz="1300" b="1">
                <a:solidFill>
                  <a:srgbClr val="3C3C3B"/>
                </a:solidFill>
                <a:latin typeface="Aptos"/>
              </a:rPr>
              <a:t/>
            </a:r>
            <a:r>
              <a:rPr sz="1300" b="0">
                <a:solidFill>
                  <a:srgbClr val="3C3C3B"/>
                </a:solidFill>
                <a:latin typeface="Aptos"/>
              </a:rPr>
              <a:t>FEP funds the deposits, connection fees and land; the buyer reimburses €43.7m for both bids at the exit.</a:t>
            </a:r>
          </a:p>
          <a:p>
            <a:pPr algn="l">
              <a:spcBef>
                <a:spcPts val="800"/>
              </a:spcBef>
            </a:pPr>
            <a:r>
              <a:rPr sz="1300" b="1">
                <a:solidFill>
                  <a:srgbClr val="3C3C3B"/>
                </a:solidFill>
                <a:latin typeface="Aptos"/>
              </a:rPr>
              <a:t/>
            </a:r>
            <a:r>
              <a:rPr sz="1300" b="0">
                <a:solidFill>
                  <a:srgbClr val="3C3C3B"/>
                </a:solidFill>
                <a:latin typeface="Aptos"/>
              </a:rPr>
              <a:t>The largest outlay is the connection fees, €2.8m direct and €37.6m indirect, paid on 08‑Jan‑2029.</a:t>
            </a:r>
          </a:p>
          <a:p>
            <a:pPr algn="l">
              <a:spcBef>
                <a:spcPts val="800"/>
              </a:spcBef>
            </a:pPr>
            <a:r>
              <a:rPr sz="1300" b="1">
                <a:solidFill>
                  <a:srgbClr val="3C3C3B"/>
                </a:solidFill>
                <a:latin typeface="Aptos"/>
              </a:rPr>
              <a:t/>
            </a:r>
            <a:r>
              <a:rPr sz="1300" b="0">
                <a:solidFill>
                  <a:srgbClr val="3C3C3B"/>
                </a:solidFill>
                <a:latin typeface="Aptos"/>
              </a:rPr>
              <a:t>The buyer replaces the PB guarantee at the exit.</a:t>
            </a:r>
          </a:p>
        </p:txBody>
      </p:sp>
      <p:sp>
        <p:nvSpPr>
          <p:cNvPr id="7" name="Footnote"/>
          <p:cNvSpPr txBox="1"/>
          <p:nvPr/>
        </p:nvSpPr>
        <p:spPr>
          <a:xfrm>
            <a:off x="4498848" y="9646920"/>
            <a:ext cx="131673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919191"/>
                </a:solidFill>
                <a:latin typeface="Aptos"/>
              </a:rPr>
              <a:t>RtB price 150 k€/MVA × 100 MVA per bid, per the Bora scenarios meeting file (Bora!N5), confirmed 12‑Oct‑2026. Per-MW figures use 151 MW of installed wind per bid. The participation fee is not recovered.</a:t>
            </a:r>
          </a:p>
          <a:p>
            <a:r>
              <a:rPr sz="1100" b="0">
                <a:solidFill>
                  <a:srgbClr val="919191"/>
                </a:solidFill>
                <a:latin typeface="Aptos"/>
              </a:rPr>
              <a:t>Source: Bora_Bid_Model.xlsm, 12 Oct 2026.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498848" y="182880"/>
            <a:ext cx="12710160" cy="1097280"/>
          </a:xfrm>
        </p:spPr>
        <p:txBody>
          <a:bodyPr wrap="square"/>
          <a:lstStyle/>
          <a:p>
            <a:r>
              <a:t>Both bids need €140.0m of cash equity to COD and up to €14.0m of guarantees; all-in cost is 1,642 k€ per built MW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88576B7A-1C0F-D2A3-8BE9-18F63D64C45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4200188" y="10483850"/>
            <a:ext cx="4522787" cy="60166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2EEA166-2877-4493-9FAA-8D6952A82FC3}" type="slidenum">
              <a:rPr lang="en-GB" smtClean="0"/>
              <a:t>‹#›</a:t>
            </a:fld>
            <a:endParaRPr lang="en-GB"/>
          </a:p>
        </p:txBody>
      </p:sp>
      <p:graphicFrame>
        <p:nvGraphicFramePr>
          <p:cNvPr id="3" name="Navigator"/>
          <p:cNvGraphicFramePr>
            <a:graphicFrameLocks noGrp="1"/>
          </p:cNvGraphicFramePr>
          <p:nvPr/>
        </p:nvGraphicFramePr>
        <p:xfrm>
          <a:off x="0" y="0"/>
          <a:ext cx="3767328" cy="466344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767328"/>
              </a:tblGrid>
              <a:tr h="77724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3C3C3B"/>
                          </a:solidFill>
                          <a:latin typeface="Aptos"/>
                        </a:rPr>
                        <a:t>Executive summary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noFill/>
                  </a:tcPr>
                </a:tc>
              </a:tr>
              <a:tr h="77724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3C3C3B"/>
                          </a:solidFill>
                          <a:latin typeface="Aptos"/>
                        </a:rPr>
                        <a:t>Commitments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noFill/>
                  </a:tcPr>
                </a:tc>
              </a:tr>
              <a:tr h="77724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3C3C3B"/>
                          </a:solidFill>
                          <a:latin typeface="Aptos"/>
                        </a:rPr>
                        <a:t>Economics – RtB exit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noFill/>
                  </a:tcPr>
                </a:tc>
              </a:tr>
              <a:tr h="777240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  <a:latin typeface="Aptos"/>
                        </a:rPr>
                        <a:t>Funding and capex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gradFill rotWithShape="1">
                      <a:gsLst>
                        <a:gs pos="0">
                          <a:srgbClr val="00A651"/>
                        </a:gs>
                        <a:gs pos="100000">
                          <a:srgbClr val="00563C"/>
                        </a:gs>
                      </a:gsLst>
                      <a:lin scaled="0" ang="0"/>
                    </a:gra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3C3C3B"/>
                          </a:solidFill>
                          <a:latin typeface="Aptos"/>
                        </a:rPr>
                        <a:t>Economics – COD and HTM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noFill/>
                  </a:tcPr>
                </a:tc>
              </a:tr>
              <a:tr h="77724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3C3C3B"/>
                          </a:solidFill>
                          <a:latin typeface="Aptos"/>
                        </a:rPr>
                        <a:t>Risks and mitigants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4" name="Subtitle"/>
          <p:cNvSpPr txBox="1"/>
          <p:nvPr/>
        </p:nvSpPr>
        <p:spPr>
          <a:xfrm>
            <a:off x="4498848" y="1371600"/>
            <a:ext cx="13716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1">
                <a:solidFill>
                  <a:srgbClr val="3C3C3B"/>
                </a:solidFill>
                <a:latin typeface="Aptos"/>
              </a:rPr>
              <a:t>€49.9m of the cash is spent by the RtB exit on 31‑Dec‑2029; on the build route, construction equity of €71.1m follows from NTP to COD.</a:t>
            </a:r>
          </a:p>
        </p:txBody>
      </p:sp>
      <p:graphicFrame>
        <p:nvGraphicFramePr>
          <p:cNvPr id="5" name="Funding"/>
          <p:cNvGraphicFramePr>
            <a:graphicFrameLocks noGrp="1"/>
          </p:cNvGraphicFramePr>
          <p:nvPr/>
        </p:nvGraphicFramePr>
        <p:xfrm>
          <a:off x="4498848" y="2240280"/>
          <a:ext cx="8732520" cy="5148072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280160"/>
                <a:gridCol w="3703320"/>
                <a:gridCol w="1051560"/>
                <a:gridCol w="1325880"/>
                <a:gridCol w="1371600"/>
              </a:tblGrid>
              <a:tr h="539496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Date</a:t>
                      </a:r>
                    </a:p>
                  </a:txBody>
                  <a:tcPr marL="73152" marR="73152" marT="27432" marB="27432" anchor="ctr">
                    <a:solidFill>
                      <a:srgbClr val="00A65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Funding need – both bids</a:t>
                      </a:r>
                    </a:p>
                  </a:txBody>
                  <a:tcPr marL="73152" marR="73152" marT="27432" marB="27432" anchor="ctr">
                    <a:solidFill>
                      <a:srgbClr val="00A65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Cash € m</a:t>
                      </a:r>
                    </a:p>
                  </a:txBody>
                  <a:tcPr marL="73152" marR="73152" marT="27432" marB="27432" anchor="ctr">
                    <a:solidFill>
                      <a:srgbClr val="00A65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Guarantee € m</a:t>
                      </a:r>
                    </a:p>
                  </a:txBody>
                  <a:tcPr marL="73152" marR="73152" marT="27432" marB="27432" anchor="ctr">
                    <a:solidFill>
                      <a:srgbClr val="00A65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Cumulative cash € m</a:t>
                      </a:r>
                    </a:p>
                  </a:txBody>
                  <a:tcPr marL="73152" marR="73152" marT="27432" marB="27432" anchor="ctr">
                    <a:solidFill>
                      <a:srgbClr val="00A651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31‑Jul‑2026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Signing fee and DD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0.8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–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0.8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30‑Oct‑2026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Bid: participation fee (cash), bid guarantee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0.02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2.8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0.8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28‑Dec‑2026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Award: performance guarantee (bid guarantee released)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–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14.0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0.8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30‑Dec‑2026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Connection request: TSO security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2.5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–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3.3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31‑Dec‑2026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Devex, land and contingency 2026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0.4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–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3.6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31‑Dec‑2027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Devex, land and contingency 2027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1.7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–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5.4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31‑Dec‑2028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Devex, land and contingency 2028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3.6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–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8.9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08‑Jan‑2029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HCSSZ: connection fees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40.4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–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49.3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31‑Dec‑2029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Devex, land and contingency 2029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0.6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–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49.9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30‑Sep‑2031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NTP → COD: construction equity (capex, lease less debt)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71.1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–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121.0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30‑Sep‑2031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NTP → COD: debt fees (IDC is debt-funded)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5.0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–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126.0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30‑Sep‑2031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Guarantee fees to COD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4.0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–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130.0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30‑Sep‑2031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COD: municipal one-off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10.0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–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140.0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/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3C3C3B"/>
                          </a:solidFill>
                          <a:latin typeface="Aptos"/>
                        </a:rPr>
                        <a:t>Total cash equity to COD; peak guarantee</a:t>
                      </a:r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3C3C3B"/>
                          </a:solidFill>
                          <a:latin typeface="Aptos"/>
                        </a:rPr>
                        <a:t>140.0</a:t>
                      </a:r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3C3C3B"/>
                          </a:solidFill>
                          <a:latin typeface="Aptos"/>
                        </a:rPr>
                        <a:t>14.0</a:t>
                      </a:r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3C3C3B"/>
                          </a:solidFill>
                          <a:latin typeface="Aptos"/>
                        </a:rPr>
                        <a:t>–</a:t>
                      </a:r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6" name="Capex"/>
          <p:cNvGraphicFramePr>
            <a:graphicFrameLocks noGrp="1"/>
          </p:cNvGraphicFramePr>
          <p:nvPr/>
        </p:nvGraphicFramePr>
        <p:xfrm>
          <a:off x="13551408" y="2240280"/>
          <a:ext cx="4663440" cy="5148072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651760"/>
                <a:gridCol w="1005840"/>
                <a:gridCol w="1005840"/>
              </a:tblGrid>
              <a:tr h="539496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Capex to COD – both bids, 200 MW</a:t>
                      </a:r>
                    </a:p>
                  </a:txBody>
                  <a:tcPr marL="73152" marR="73152" marT="27432" marB="27432" anchor="ctr">
                    <a:solidFill>
                      <a:srgbClr val="00A65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€ m</a:t>
                      </a:r>
                    </a:p>
                  </a:txBody>
                  <a:tcPr marL="73152" marR="73152" marT="27432" marB="27432" anchor="ctr">
                    <a:solidFill>
                      <a:srgbClr val="00A65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k€/MW</a:t>
                      </a:r>
                    </a:p>
                  </a:txBody>
                  <a:tcPr marL="73152" marR="73152" marT="27432" marB="27432" anchor="ctr">
                    <a:solidFill>
                      <a:srgbClr val="00A651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Turbines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120.0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600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Installation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16.0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80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Foundations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18.0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90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Balance of plant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26.0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130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Owner's costs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8.0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40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Land, easements, pre-COD lease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4.2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21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Contingency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10.8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54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Substation and 132 kV bay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24.0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120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BESS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24.5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122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Connection fees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40.4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202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Municipal one-off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10.0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50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Development: devex, land, signing, securities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9.5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48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Financing: IDC, debt fees, guarantee fees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17.1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85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3C3C3B"/>
                          </a:solidFill>
                          <a:latin typeface="Aptos"/>
                        </a:rPr>
                        <a:t>All-in cost to COD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3C3C3B"/>
                          </a:solidFill>
                          <a:latin typeface="Aptos"/>
                        </a:rPr>
                        <a:t>328.4</a:t>
                      </a:r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3C3C3B"/>
                          </a:solidFill>
                          <a:latin typeface="Aptos"/>
                        </a:rPr>
                        <a:t>1,642</a:t>
                      </a:r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</a:tr>
            </a:tbl>
          </a:graphicData>
        </a:graphic>
      </p:graphicFrame>
      <p:sp>
        <p:nvSpPr>
          <p:cNvPr id="7" name="Footnote"/>
          <p:cNvSpPr txBox="1"/>
          <p:nvPr/>
        </p:nvSpPr>
        <p:spPr>
          <a:xfrm>
            <a:off x="4498848" y="9646920"/>
            <a:ext cx="131673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919191"/>
                </a:solidFill>
                <a:latin typeface="Aptos"/>
              </a:rPr>
              <a:t>Both bids together, base case, build route. Cash = FEP equity; guarantees = bank guarantees outstanding (peak shown), not cash. IDC is debt-funded. k€/MW on 200 MW built.</a:t>
            </a:r>
          </a:p>
          <a:p>
            <a:r>
              <a:rPr sz="1100" b="0">
                <a:solidFill>
                  <a:srgbClr val="919191"/>
                </a:solidFill>
                <a:latin typeface="Aptos"/>
              </a:rPr>
              <a:t>Source: Bora_Bid_Model.xlsm, 12 Oct 2026.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498848" y="182880"/>
            <a:ext cx="12710160" cy="1097280"/>
          </a:xfrm>
        </p:spPr>
        <p:txBody>
          <a:bodyPr wrap="square"/>
          <a:lstStyle/>
          <a:p>
            <a:r>
              <a:t>Both bids clear the 8.0% discount rate: HTM IRR 9.5% and NPV €26.7m for both bids; a sale at COD returns 37.8%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88576B7A-1C0F-D2A3-8BE9-18F63D64C45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4200188" y="10483850"/>
            <a:ext cx="4522787" cy="60166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2EEA166-2877-4493-9FAA-8D6952A82FC3}" type="slidenum">
              <a:rPr lang="en-GB" smtClean="0"/>
              <a:t>‹#›</a:t>
            </a:fld>
            <a:endParaRPr lang="en-GB"/>
          </a:p>
        </p:txBody>
      </p:sp>
      <p:graphicFrame>
        <p:nvGraphicFramePr>
          <p:cNvPr id="3" name="Navigator"/>
          <p:cNvGraphicFramePr>
            <a:graphicFrameLocks noGrp="1"/>
          </p:cNvGraphicFramePr>
          <p:nvPr/>
        </p:nvGraphicFramePr>
        <p:xfrm>
          <a:off x="0" y="0"/>
          <a:ext cx="3767328" cy="466344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767328"/>
              </a:tblGrid>
              <a:tr h="77724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3C3C3B"/>
                          </a:solidFill>
                          <a:latin typeface="Aptos"/>
                        </a:rPr>
                        <a:t>Executive summary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noFill/>
                  </a:tcPr>
                </a:tc>
              </a:tr>
              <a:tr h="77724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3C3C3B"/>
                          </a:solidFill>
                          <a:latin typeface="Aptos"/>
                        </a:rPr>
                        <a:t>Commitments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noFill/>
                  </a:tcPr>
                </a:tc>
              </a:tr>
              <a:tr h="77724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3C3C3B"/>
                          </a:solidFill>
                          <a:latin typeface="Aptos"/>
                        </a:rPr>
                        <a:t>Economics – RtB exit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noFill/>
                  </a:tcPr>
                </a:tc>
              </a:tr>
              <a:tr h="77724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3C3C3B"/>
                          </a:solidFill>
                          <a:latin typeface="Aptos"/>
                        </a:rPr>
                        <a:t>Funding and capex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noFill/>
                  </a:tcPr>
                </a:tc>
              </a:tr>
              <a:tr h="777240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  <a:latin typeface="Aptos"/>
                        </a:rPr>
                        <a:t>Economics – COD and HTM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gradFill rotWithShape="1">
                      <a:gsLst>
                        <a:gs pos="0">
                          <a:srgbClr val="00A651"/>
                        </a:gs>
                        <a:gs pos="100000">
                          <a:srgbClr val="00563C"/>
                        </a:gs>
                      </a:gsLst>
                      <a:lin scaled="0" ang="0"/>
                    </a:gra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3C3C3B"/>
                          </a:solidFill>
                          <a:latin typeface="Aptos"/>
                        </a:rPr>
                        <a:t>Risks and mitigants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4" name="Subtitle"/>
          <p:cNvSpPr txBox="1"/>
          <p:nvPr/>
        </p:nvSpPr>
        <p:spPr>
          <a:xfrm>
            <a:off x="4498848" y="1371600"/>
            <a:ext cx="13716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1">
                <a:solidFill>
                  <a:srgbClr val="3C3C3B"/>
                </a:solidFill>
                <a:latin typeface="Aptos"/>
              </a:rPr>
              <a:t>Against the zero bid, the commitments reduce FEP's NPV by €13.9m on a sale at COD and €18.1m held to maturity, per bid.</a:t>
            </a:r>
          </a:p>
        </p:txBody>
      </p:sp>
      <p:graphicFrame>
        <p:nvGraphicFramePr>
          <p:cNvPr id="5" name="Table"/>
          <p:cNvGraphicFramePr>
            <a:graphicFrameLocks noGrp="1"/>
          </p:cNvGraphicFramePr>
          <p:nvPr/>
        </p:nvGraphicFramePr>
        <p:xfrm>
          <a:off x="4498848" y="2240280"/>
          <a:ext cx="9125712" cy="236829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4005072"/>
                <a:gridCol w="822960"/>
                <a:gridCol w="1143000"/>
                <a:gridCol w="1051560"/>
                <a:gridCol w="1051560"/>
                <a:gridCol w="1051560"/>
              </a:tblGrid>
              <a:tr h="539496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Item</a:t>
                      </a:r>
                    </a:p>
                  </a:txBody>
                  <a:tcPr marL="73152" marR="73152" marT="27432" marB="27432" anchor="ctr">
                    <a:solidFill>
                      <a:srgbClr val="00A65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Unit</a:t>
                      </a:r>
                    </a:p>
                  </a:txBody>
                  <a:tcPr marL="73152" marR="73152" marT="27432" marB="27432" anchor="ctr">
                    <a:solidFill>
                      <a:srgbClr val="00A65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Zero bid, per bid</a:t>
                      </a:r>
                    </a:p>
                  </a:txBody>
                  <a:tcPr marL="73152" marR="73152" marT="27432" marB="27432" anchor="ctr">
                    <a:solidFill>
                      <a:srgbClr val="00A65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Per bid</a:t>
                      </a:r>
                    </a:p>
                  </a:txBody>
                  <a:tcPr marL="73152" marR="73152" marT="27432" marB="27432" anchor="ctr">
                    <a:solidFill>
                      <a:srgbClr val="00A65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Δ per bid</a:t>
                      </a:r>
                    </a:p>
                  </a:txBody>
                  <a:tcPr marL="73152" marR="73152" marT="27432" marB="27432" anchor="ctr">
                    <a:solidFill>
                      <a:srgbClr val="00A65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Both bids</a:t>
                      </a:r>
                    </a:p>
                  </a:txBody>
                  <a:tcPr marL="73152" marR="73152" marT="27432" marB="27432" anchor="ctr">
                    <a:solidFill>
                      <a:srgbClr val="00A651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FEP IRR – sale at COD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919191"/>
                          </a:solidFill>
                          <a:latin typeface="Aptos"/>
                        </a:rPr>
                        <a:t>% / pp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49.6%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37.8%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−11.7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–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FEP NPV – sale at COD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919191"/>
                          </a:solidFill>
                          <a:latin typeface="Aptos"/>
                        </a:rPr>
                        <a:t>€ m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44.6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30.8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(13.9)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61.5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FEP IRR – hold to maturity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919191"/>
                          </a:solidFill>
                          <a:latin typeface="Aptos"/>
                        </a:rPr>
                        <a:t>% / pp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11.9%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9.5%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−2.4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–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3C3C3B"/>
                          </a:solidFill>
                          <a:latin typeface="Aptos"/>
                        </a:rPr>
                        <a:t>FEP NPV – hold to maturity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919191"/>
                          </a:solidFill>
                          <a:latin typeface="Aptos"/>
                        </a:rPr>
                        <a:t>€ m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3C3C3B"/>
                          </a:solidFill>
                          <a:latin typeface="Aptos"/>
                        </a:rPr>
                        <a:t>31.4</a:t>
                      </a:r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3C3C3B"/>
                          </a:solidFill>
                          <a:latin typeface="Aptos"/>
                        </a:rPr>
                        <a:t>13.4</a:t>
                      </a:r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3C3C3B"/>
                          </a:solidFill>
                          <a:latin typeface="Aptos"/>
                        </a:rPr>
                        <a:t>(18.1)</a:t>
                      </a:r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3C3C3B"/>
                          </a:solidFill>
                          <a:latin typeface="Aptos"/>
                        </a:rPr>
                        <a:t>26.7</a:t>
                      </a:r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</a:tr>
            </a:tbl>
          </a:graphicData>
        </a:graphic>
      </p:graphicFrame>
      <p:sp>
        <p:nvSpPr>
          <p:cNvPr id="6" name="Card"/>
          <p:cNvSpPr/>
          <p:nvPr/>
        </p:nvSpPr>
        <p:spPr>
          <a:xfrm>
            <a:off x="13990320" y="2240280"/>
            <a:ext cx="4224528" cy="173736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0" rIns="182880" tIns="137160"/>
          <a:lstStyle/>
          <a:p>
            <a:pPr algn="l"/>
            <a:r>
              <a:rPr sz="1600" b="1">
                <a:solidFill>
                  <a:srgbClr val="00563C"/>
                </a:solidFill>
                <a:latin typeface="Aptos"/>
              </a:rPr>
              <a:t>Per bid</a:t>
            </a:r>
          </a:p>
          <a:p>
            <a:pPr algn="l">
              <a:spcBef>
                <a:spcPts val="800"/>
              </a:spcBef>
            </a:pPr>
            <a:r>
              <a:rPr sz="1300" b="1">
                <a:solidFill>
                  <a:srgbClr val="3C3C3B"/>
                </a:solidFill>
                <a:latin typeface="Aptos"/>
              </a:rPr>
              <a:t>Sale at COD: </a:t>
            </a:r>
            <a:r>
              <a:rPr sz="1300" b="0">
                <a:solidFill>
                  <a:srgbClr val="3C3C3B"/>
                </a:solidFill>
                <a:latin typeface="Aptos"/>
              </a:rPr>
              <a:t>FEP proceeds of €124.4m on a €245.0m price, a 1.78x MOIC.</a:t>
            </a:r>
          </a:p>
          <a:p>
            <a:pPr algn="l">
              <a:spcBef>
                <a:spcPts val="800"/>
              </a:spcBef>
            </a:pPr>
            <a:r>
              <a:rPr sz="1300" b="1">
                <a:solidFill>
                  <a:srgbClr val="3C3C3B"/>
                </a:solidFill>
                <a:latin typeface="Aptos"/>
              </a:rPr>
              <a:t>Hold to maturity: </a:t>
            </a:r>
            <a:r>
              <a:rPr sz="1300" b="0">
                <a:solidFill>
                  <a:srgbClr val="3C3C3B"/>
                </a:solidFill>
                <a:latin typeface="Aptos"/>
              </a:rPr>
              <a:t>4.89x MOIC; minimum DSCR 1.33x.</a:t>
            </a:r>
          </a:p>
        </p:txBody>
      </p:sp>
      <p:sp>
        <p:nvSpPr>
          <p:cNvPr id="7" name="Footnote"/>
          <p:cNvSpPr txBox="1"/>
          <p:nvPr/>
        </p:nvSpPr>
        <p:spPr>
          <a:xfrm>
            <a:off x="4498848" y="9646920"/>
            <a:ext cx="131673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919191"/>
                </a:solidFill>
                <a:latin typeface="Aptos"/>
              </a:rPr>
              <a:t>NPV at 8.0%. COD 30‑Sep‑2031, 100 MW built per bid; PPA 90 €/MWh; gearing 60.0%. HTM includes the buy-out of the developer at the RtB exit date. Funding and capex to COD are on slide 5.</a:t>
            </a:r>
          </a:p>
          <a:p>
            <a:r>
              <a:rPr sz="1100" b="0">
                <a:solidFill>
                  <a:srgbClr val="919191"/>
                </a:solidFill>
                <a:latin typeface="Aptos"/>
              </a:rPr>
              <a:t>Source: Bora_Bid_Model.xlsm, 12 Oct 2026.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498848" y="182880"/>
            <a:ext cx="12710160" cy="1097280"/>
          </a:xfrm>
        </p:spPr>
        <p:txBody>
          <a:bodyPr wrap="square"/>
          <a:lstStyle/>
          <a:p>
            <a:r>
              <a:t>Unbuilt overbuild: both bids lose €2.8m of PB and 67.5 MVA of connection right pro rata; a full call is unresolved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88576B7A-1C0F-D2A3-8BE9-18F63D64C45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4200188" y="10483850"/>
            <a:ext cx="4522787" cy="60166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2EEA166-2877-4493-9FAA-8D6952A82FC3}" type="slidenum">
              <a:rPr lang="en-GB" smtClean="0"/>
              <a:t>‹#›</a:t>
            </a:fld>
            <a:endParaRPr lang="en-GB"/>
          </a:p>
        </p:txBody>
      </p:sp>
      <p:graphicFrame>
        <p:nvGraphicFramePr>
          <p:cNvPr id="3" name="Navigator"/>
          <p:cNvGraphicFramePr>
            <a:graphicFrameLocks noGrp="1"/>
          </p:cNvGraphicFramePr>
          <p:nvPr/>
        </p:nvGraphicFramePr>
        <p:xfrm>
          <a:off x="0" y="0"/>
          <a:ext cx="3767328" cy="466344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767328"/>
              </a:tblGrid>
              <a:tr h="77724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3C3C3B"/>
                          </a:solidFill>
                          <a:latin typeface="Aptos"/>
                        </a:rPr>
                        <a:t>Executive summary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noFill/>
                  </a:tcPr>
                </a:tc>
              </a:tr>
              <a:tr h="77724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3C3C3B"/>
                          </a:solidFill>
                          <a:latin typeface="Aptos"/>
                        </a:rPr>
                        <a:t>Commitments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noFill/>
                  </a:tcPr>
                </a:tc>
              </a:tr>
              <a:tr h="77724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3C3C3B"/>
                          </a:solidFill>
                          <a:latin typeface="Aptos"/>
                        </a:rPr>
                        <a:t>Economics – RtB exit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noFill/>
                  </a:tcPr>
                </a:tc>
              </a:tr>
              <a:tr h="77724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3C3C3B"/>
                          </a:solidFill>
                          <a:latin typeface="Aptos"/>
                        </a:rPr>
                        <a:t>Funding and capex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noFill/>
                  </a:tcPr>
                </a:tc>
              </a:tr>
              <a:tr h="77724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3C3C3B"/>
                          </a:solidFill>
                          <a:latin typeface="Aptos"/>
                        </a:rPr>
                        <a:t>Economics – COD and HTM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noFill/>
                  </a:tcPr>
                </a:tc>
              </a:tr>
              <a:tr h="777240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  <a:latin typeface="Aptos"/>
                        </a:rPr>
                        <a:t>Risks and mitigants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gradFill rotWithShape="1">
                      <a:gsLst>
                        <a:gs pos="0">
                          <a:srgbClr val="00A651"/>
                        </a:gs>
                        <a:gs pos="100000">
                          <a:srgbClr val="00563C"/>
                        </a:gs>
                      </a:gsLst>
                      <a:lin scaled="0" ang="0"/>
                    </a:gradFill>
                  </a:tcPr>
                </a:tc>
              </a:tr>
            </a:tbl>
          </a:graphicData>
        </a:graphic>
      </p:graphicFrame>
      <p:sp>
        <p:nvSpPr>
          <p:cNvPr id="4" name="Subtitle"/>
          <p:cNvSpPr txBox="1"/>
          <p:nvPr/>
        </p:nvSpPr>
        <p:spPr>
          <a:xfrm>
            <a:off x="4498848" y="1371600"/>
            <a:ext cx="13716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1">
                <a:solidFill>
                  <a:srgbClr val="3C3C3B"/>
                </a:solidFill>
                <a:latin typeface="Aptos"/>
              </a:rPr>
              <a:t>The base COD and HTM returns include the pro-rata PB loss; the lost MVA, any RtB price deduction and a possible group exclusion are not in the returns.</a:t>
            </a:r>
          </a:p>
        </p:txBody>
      </p:sp>
      <p:graphicFrame>
        <p:nvGraphicFramePr>
          <p:cNvPr id="5" name="Table"/>
          <p:cNvGraphicFramePr>
            <a:graphicFrameLocks noGrp="1"/>
          </p:cNvGraphicFramePr>
          <p:nvPr/>
        </p:nvGraphicFramePr>
        <p:xfrm>
          <a:off x="4498848" y="2240280"/>
          <a:ext cx="13716000" cy="448970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4572000"/>
                <a:gridCol w="4937760"/>
                <a:gridCol w="4206240"/>
              </a:tblGrid>
              <a:tr h="539496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Risk</a:t>
                      </a:r>
                    </a:p>
                  </a:txBody>
                  <a:tcPr marL="73152" marR="73152" marT="27432" marB="27432" anchor="ctr">
                    <a:solidFill>
                      <a:srgbClr val="00A65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Exposure (per bid)</a:t>
                      </a:r>
                    </a:p>
                  </a:txBody>
                  <a:tcPr marL="73152" marR="73152" marT="27432" marB="27432" anchor="ctr">
                    <a:solidFill>
                      <a:srgbClr val="00A65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Mitigant</a:t>
                      </a:r>
                    </a:p>
                  </a:txBody>
                  <a:tcPr marL="73152" marR="73152" marT="27432" marB="27432" anchor="ctr">
                    <a:solidFill>
                      <a:srgbClr val="00A651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Overbuild not built: PB lost pro rata to the shortfall above 10% (Kiírás XII.12; GYIK Q28/30/44) – base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€1.4m, the PB on the extra MW.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PB at the 1.0x minimum. Part of the loss may be deducted from the RtB price.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Full PB call if the points-commitment rule (Kiírás XIII.17; GYIK Q72) also applies to the overbuild – unresolved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The whole PB: COD IRR 35.8%, HTM IRR 9.1%.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Downside case, not the base. PB at the minimum limits it.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3-year group exclusion (Kiírás VII.2 n; GYIK Q71)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Possible if the PB is called; unclear whether a pro-rata loss counts as a call. A call after COD would likely hit the group then holding the SPV.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Allocate it in the RtB SPA.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Connection right lost pro rata (GYIK Q28/30)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33.8 MVA, in the pro-rata reading only (GYIK Q72: a full call keeps the right). Not reflected in generation or price.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The buyer can build the overbuild (card).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ÖSZ-4 scored on installed wind (GYIK Q20)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Points fall to 80.50; returns unchanged.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Ranking risk only; the commitment is the same.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BESS valued at cost only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Its return cost (slide 3) excludes any BESS revenue or sale value.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Conservative: any BESS revenue is upside.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</a:tbl>
          </a:graphicData>
        </a:graphic>
      </p:graphicFrame>
      <p:sp>
        <p:nvSpPr>
          <p:cNvPr id="6" name="Card"/>
          <p:cNvSpPr/>
          <p:nvPr/>
        </p:nvSpPr>
        <p:spPr>
          <a:xfrm>
            <a:off x="4498848" y="7360920"/>
            <a:ext cx="13716000" cy="123444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0" rIns="182880" tIns="137160"/>
          <a:lstStyle/>
          <a:p>
            <a:pPr algn="l"/>
            <a:r>
              <a:rPr sz="1600" b="1">
                <a:solidFill>
                  <a:srgbClr val="00563C"/>
                </a:solidFill>
                <a:latin typeface="Aptos"/>
              </a:rPr>
              <a:t>Why the base does not build the overbuild</a:t>
            </a:r>
          </a:p>
          <a:p>
            <a:pPr algn="l">
              <a:spcBef>
                <a:spcPts val="800"/>
              </a:spcBef>
            </a:pPr>
            <a:r>
              <a:rPr sz="1300" b="1">
                <a:solidFill>
                  <a:srgbClr val="3C3C3B"/>
                </a:solidFill>
                <a:latin typeface="Aptos"/>
              </a:rPr>
              <a:t/>
            </a:r>
            <a:r>
              <a:rPr sz="1300" b="0">
                <a:solidFill>
                  <a:srgbClr val="3C3C3B"/>
                </a:solidFill>
                <a:latin typeface="Aptos"/>
              </a:rPr>
              <a:t>The grid connection stays at 100 MVA. Building the overbuild lifts the all-in cost to COD from €164.2m to €217.9m per bid. In that case COD IRR is 54.4% and HTM IRR is 11.5%. The build decision passes to the buyer at RtB.</a:t>
            </a:r>
          </a:p>
        </p:txBody>
      </p:sp>
      <p:sp>
        <p:nvSpPr>
          <p:cNvPr id="7" name="Footnote"/>
          <p:cNvSpPr txBox="1"/>
          <p:nvPr/>
        </p:nvSpPr>
        <p:spPr>
          <a:xfrm>
            <a:off x="4498848" y="9646920"/>
            <a:ext cx="131673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919191"/>
                </a:solidFill>
                <a:latin typeface="Aptos"/>
              </a:rPr>
              <a:t>Shortfall tested 6 months after COD. Pro rata = shortfall share × the wind PB (GYIK Q28/30). The full-call and overbuild-built figures are alternative cases.</a:t>
            </a:r>
          </a:p>
          <a:p>
            <a:r>
              <a:rPr sz="1100" b="0">
                <a:solidFill>
                  <a:srgbClr val="919191"/>
                </a:solidFill>
                <a:latin typeface="Aptos"/>
              </a:rPr>
              <a:t>Source: Bora_Bid_Model.xlsm, 12 Oct 2026.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Blank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FEP base">
  <a:themeElements>
    <a:clrScheme name="FEP">
      <a:dk1>
        <a:srgbClr val="3C3C3B"/>
      </a:dk1>
      <a:lt1>
        <a:srgbClr val="FFFFFF"/>
      </a:lt1>
      <a:dk2>
        <a:srgbClr val="0E2841"/>
      </a:dk2>
      <a:lt2>
        <a:srgbClr val="E8E8E8"/>
      </a:lt2>
      <a:accent1>
        <a:srgbClr val="00563C"/>
      </a:accent1>
      <a:accent2>
        <a:srgbClr val="00A651"/>
      </a:accent2>
      <a:accent3>
        <a:srgbClr val="799385"/>
      </a:accent3>
      <a:accent4>
        <a:srgbClr val="82CA9C"/>
      </a:accent4>
      <a:accent5>
        <a:srgbClr val="919191"/>
      </a:accent5>
      <a:accent6>
        <a:srgbClr val="CACACA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4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kumentum" ma:contentTypeID="0x010100CB25C80BA76C054AAAC0D3CDDFCEC309" ma:contentTypeVersion="14" ma:contentTypeDescription="Új dokumentum létrehozása." ma:contentTypeScope="" ma:versionID="b04c3fe5a5d8daa439e4669e310e51c5">
  <xsd:schema xmlns:xsd="http://www.w3.org/2001/XMLSchema" xmlns:xs="http://www.w3.org/2001/XMLSchema" xmlns:p="http://schemas.microsoft.com/office/2006/metadata/properties" xmlns:ns2="3ba8be79-126f-4ecc-b268-0e8a1c9d820a" xmlns:ns3="348e42aa-7502-48aa-9973-d5430de63b43" targetNamespace="http://schemas.microsoft.com/office/2006/metadata/properties" ma:root="true" ma:fieldsID="b7d65723b2fd441c2730b2f9b66bba15" ns2:_="" ns3:_="">
    <xsd:import namespace="3ba8be79-126f-4ecc-b268-0e8a1c9d820a"/>
    <xsd:import namespace="348e42aa-7502-48aa-9973-d5430de63b43"/>
    <xsd:element name="properties">
      <xsd:complexType>
        <xsd:sequence>
          <xsd:element name="documentManagement">
            <xsd:complexType>
              <xsd:all>
                <xsd:element ref="ns2:SharedWithUsers" minOccurs="0"/>
                <xsd:element ref="ns2:SharedWithDetails" minOccurs="0"/>
                <xsd:element ref="ns3:MediaServiceMetadata" minOccurs="0"/>
                <xsd:element ref="ns3:MediaServiceFastMetadata" minOccurs="0"/>
                <xsd:element ref="ns3:MediaServiceObjectDetectorVersions" minOccurs="0"/>
                <xsd:element ref="ns3:MediaServiceSearchProperties" minOccurs="0"/>
                <xsd:element ref="ns3:lcf76f155ced4ddcb4097134ff3c332f" minOccurs="0"/>
                <xsd:element ref="ns2:TaxCatchAll" minOccurs="0"/>
                <xsd:element ref="ns3:MediaServiceDateTaken" minOccurs="0"/>
                <xsd:element ref="ns3:MediaServiceGenerationTime" minOccurs="0"/>
                <xsd:element ref="ns3:MediaServiceEventHashCode" minOccurs="0"/>
                <xsd:element ref="ns3:MediaServiceOCR" minOccurs="0"/>
                <xsd:element ref="ns3:MediaServiceLocation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3ba8be79-126f-4ecc-b268-0e8a1c9d820a" elementFormDefault="qualified">
    <xsd:import namespace="http://schemas.microsoft.com/office/2006/documentManagement/types"/>
    <xsd:import namespace="http://schemas.microsoft.com/office/infopath/2007/PartnerControls"/>
    <xsd:element name="SharedWithUsers" ma:index="8" nillable="true" ma:displayName="Résztvevők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9" nillable="true" ma:displayName="Megosztva részletekkel" ma:internalName="SharedWithDetails" ma:readOnly="true">
      <xsd:simpleType>
        <xsd:restriction base="dms:Note">
          <xsd:maxLength value="255"/>
        </xsd:restriction>
      </xsd:simpleType>
    </xsd:element>
    <xsd:element name="TaxCatchAll" ma:index="16" nillable="true" ma:displayName="Taxonomy Catch All Column" ma:hidden="true" ma:list="{554c7780-c79f-4b81-a1cc-c56cb19b1b79}" ma:internalName="TaxCatchAll" ma:showField="CatchAllData" ma:web="3ba8be79-126f-4ecc-b268-0e8a1c9d820a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348e42aa-7502-48aa-9973-d5430de63b43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10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11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bjectDetectorVersions" ma:index="12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SearchProperties" ma:index="13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lcf76f155ced4ddcb4097134ff3c332f" ma:index="15" nillable="true" ma:taxonomy="true" ma:internalName="lcf76f155ced4ddcb4097134ff3c332f" ma:taxonomyFieldName="MediaServiceImageTags" ma:displayName="Képcímkék" ma:readOnly="false" ma:fieldId="{5cf76f15-5ced-4ddc-b409-7134ff3c332f}" ma:taxonomyMulti="true" ma:sspId="88080c10-e0a6-4b42-beda-2db26c8ffc26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DateTaken" ma:index="17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ServiceGenerationTime" ma:index="18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9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OCR" ma:index="20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Location" ma:index="21" nillable="true" ma:displayName="Location" ma:indexed="true" ma:internalName="MediaServiceLocation" ma:readOnly="true">
      <xsd:simpleType>
        <xsd:restriction base="dms:Text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Tartalomtípus"/>
        <xsd:element ref="dc:title" minOccurs="0" maxOccurs="1" ma:index="4" ma:displayName="Cím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lcf76f155ced4ddcb4097134ff3c332f xmlns="348e42aa-7502-48aa-9973-d5430de63b43">
      <Terms xmlns="http://schemas.microsoft.com/office/infopath/2007/PartnerControls"/>
    </lcf76f155ced4ddcb4097134ff3c332f>
    <TaxCatchAll xmlns="3ba8be79-126f-4ecc-b268-0e8a1c9d820a" xsi:nil="true"/>
  </documentManagement>
</p:properties>
</file>

<file path=customXml/itemProps1.xml><?xml version="1.0" encoding="utf-8"?>
<ds:datastoreItem xmlns:ds="http://schemas.openxmlformats.org/officeDocument/2006/customXml" ds:itemID="{0FDB0B0C-60B3-4153-B8BF-354313383EA8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315DC757-8338-4BB9-BB28-498963EEAEB2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3ba8be79-126f-4ecc-b268-0e8a1c9d820a"/>
    <ds:schemaRef ds:uri="348e42aa-7502-48aa-9973-d5430de63b43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3.xml><?xml version="1.0" encoding="utf-8"?>
<ds:datastoreItem xmlns:ds="http://schemas.openxmlformats.org/officeDocument/2006/customXml" ds:itemID="{851DE518-529C-4DF1-8960-0E6216B00ED8}">
  <ds:schemaRefs>
    <ds:schemaRef ds:uri="348e42aa-7502-48aa-9973-d5430de63b43"/>
    <ds:schemaRef ds:uri="3ba8be79-126f-4ecc-b268-0e8a1c9d820a"/>
    <ds:schemaRef ds:uri="http://purl.org/dc/dcmitype/"/>
    <ds:schemaRef ds:uri="http://purl.org/dc/elements/1.1/"/>
    <ds:schemaRef ds:uri="http://purl.org/dc/terms/"/>
    <ds:schemaRef ds:uri="http://schemas.microsoft.com/office/2006/documentManagement/types"/>
    <ds:schemaRef ds:uri="http://schemas.microsoft.com/office/2006/metadata/properties"/>
    <ds:schemaRef ds:uri="http://schemas.microsoft.com/office/infopath/2007/PartnerControls"/>
    <ds:schemaRef ds:uri="http://schemas.openxmlformats.org/package/2006/metadata/core-properties"/>
    <ds:schemaRef ds:uri="http://www.w3.org/XML/1998/namespace"/>
  </ds:schemaRefs>
</ds:datastoreItem>
</file>

<file path=docMetadata/LabelInfo.xml><?xml version="1.0" encoding="utf-8"?>
<clbl:labelList xmlns:clbl="http://schemas.microsoft.com/office/2020/mipLabelMetadata">
  <clbl:label id="{42728984-5573-4501-93e1-26196c1472d0}" enabled="0" method="" siteId="{42728984-5573-4501-93e1-26196c1472d0}" removed="1"/>
</clbl:labelList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15504</TotalTime>
  <Words>2227</Words>
  <Application>Microsoft Office PowerPoint</Application>
  <PresentationFormat>Custom</PresentationFormat>
  <Paragraphs>474</Paragraphs>
  <Slides>7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2</vt:i4>
      </vt:variant>
      <vt:variant>
        <vt:lpstr>Slide Titles</vt:lpstr>
      </vt:variant>
      <vt:variant>
        <vt:i4>7</vt:i4>
      </vt:variant>
    </vt:vector>
  </HeadingPairs>
  <TitlesOfParts>
    <vt:vector size="12" baseType="lpstr">
      <vt:lpstr>Aptos</vt:lpstr>
      <vt:lpstr>Aptos Black</vt:lpstr>
      <vt:lpstr>Arial</vt:lpstr>
      <vt:lpstr>Blank</vt:lpstr>
      <vt:lpstr>FEP base</vt:lpstr>
      <vt:lpstr>PowerPoint Presentation</vt:lpstr>
      <vt:lpstr>Technical overview and tender bid</vt:lpstr>
      <vt:lpstr>European vs Chinese turbine – sale at COD</vt:lpstr>
      <vt:lpstr>Revenue and returns by case</vt:lpstr>
      <vt:lpstr>Sensitivity – FEP IRR</vt:lpstr>
      <vt:lpstr>Sensitivity – FEP MOIC</vt:lpstr>
      <vt:lpstr>Sensitivity – all values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FEP IC template</dc:title>
  <dc:creator>FEP</dc:creator>
  <cp:lastModifiedBy>FEP</cp:lastModifiedBy>
  <cp:revision>3</cp:revision>
  <dcterms:created xsi:type="dcterms:W3CDTF">2025-05-21T13:33:01Z</dcterms:created>
  <dcterms:modified xsi:type="dcterms:W3CDTF">2026-10-09T14:02:16Z</dcterms:modified>
  <dc:subject/>
  <cp:keywords/>
  <dc:description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0x010100CB25C80BA76C054AAAC0D3CDDFCEC309</vt:lpwstr>
  </property>
  <property fmtid="{D5CDD505-2E9C-101B-9397-08002B2CF9AE}" pid="3" name="MediaServiceImageTags">
    <vt:lpwstr/>
  </property>
</Properties>
</file>