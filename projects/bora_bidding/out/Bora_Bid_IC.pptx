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4"/>
    <p:sldMasterId id="2147483676" r:id="rId5"/>
  </p:sldMasterIdLst>
  <p:notesMasterIdLst>
    <p:notesMasterId r:id="rId13"/>
  </p:notesMasterIdLst>
  <p:handoutMasterIdLst>
    <p:handoutMasterId r:id="rId14"/>
  </p:handoutMasterIdLst>
  <p:sldIdLst>
    <p:sldId id="257" r:id="rId6"/>
    <p:sldId id="258" r:id="rId12"/>
    <p:sldId id="259" r:id="rId11"/>
    <p:sldId id="260" r:id="rId10"/>
    <p:sldId id="261" r:id="rId9"/>
    <p:sldId id="262" r:id="rId8"/>
  </p:sldIdLst>
  <p:sldSz cx="20105688" cy="11310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2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CEBA77-0EB0-CD9A-B348-5737FB6F5DFF}" name="Szentirmai Dániel" initials="DS" userId="S::daniel.szentirmai@futurealgroup.com::e4a987b4-a5be-46be-85af-05dbdc723d0d" providerId="AD"/>
  <p188:author id="{C83FDAAA-8457-959D-A531-E1A9B1A8ED9F}" name="Alexander Gibbs" initials="AG" userId="S::alexander.gibbs@futurealgroup.com::45f5242f-161c-406b-bf69-4ed0d839e48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72E"/>
    <a:srgbClr val="00563C"/>
    <a:srgbClr val="E8E8E8"/>
    <a:srgbClr val="005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346" y="53"/>
      </p:cViewPr>
      <p:guideLst>
        <p:guide orient="horz" pos="3562"/>
        <p:guide pos="63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ádeczki Zalán" userId="859bb901-d59a-4d05-86af-7c7fa75f15cc" providerId="ADAL" clId="{E470E0F3-1B55-4365-AA6F-980ABE4A6DBB}"/>
    <pc:docChg chg="modSld">
      <pc:chgData name="Zádeczki Zalán" userId="859bb901-d59a-4d05-86af-7c7fa75f15cc" providerId="ADAL" clId="{E470E0F3-1B55-4365-AA6F-980ABE4A6DBB}" dt="2026-04-21T07:28:57.393" v="0" actId="1076"/>
      <pc:docMkLst>
        <pc:docMk/>
      </pc:docMkLst>
      <pc:sldChg chg="modSp mod">
        <pc:chgData name="Zádeczki Zalán" userId="859bb901-d59a-4d05-86af-7c7fa75f15cc" providerId="ADAL" clId="{E470E0F3-1B55-4365-AA6F-980ABE4A6DBB}" dt="2026-04-21T07:28:57.393" v="0" actId="1076"/>
        <pc:sldMkLst>
          <pc:docMk/>
          <pc:sldMk cId="2832106109" sldId="316"/>
        </pc:sldMkLst>
        <pc:spChg chg="mod">
          <ac:chgData name="Zádeczki Zalán" userId="859bb901-d59a-4d05-86af-7c7fa75f15cc" providerId="ADAL" clId="{E470E0F3-1B55-4365-AA6F-980ABE4A6DBB}" dt="2026-04-21T07:28:57.393" v="0" actId="1076"/>
          <ac:spMkLst>
            <pc:docMk/>
            <pc:sldMk cId="2832106109" sldId="316"/>
            <ac:spMk id="7" creationId="{9C712E98-0880-E251-D893-E63AD1472F07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C69F0A-753D-4D0A-E937-192AB0B195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5C423-415A-8E73-29C5-35785CB64A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B9B0E-0173-6448-B6CE-6FFDEF3DFC7C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D4182-9C29-5D16-7BAD-1DC5C2F06A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C83AC-DE2C-7165-9265-93700EAAB6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7E15C-B816-EE44-A0DD-18B068892E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4726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BD05-8D06-4AD0-9F7F-CE567DB23A8F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A7ABA-3AE4-43F1-8148-8F32BDF4A5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2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63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5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30D23-6C94-E7D2-E011-50938D408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3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417835"/>
            <a:ext cx="10058400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06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3">
            <a:extLst>
              <a:ext uri="{FF2B5EF4-FFF2-40B4-BE49-F238E27FC236}">
                <a16:creationId xmlns:a16="http://schemas.microsoft.com/office/drawing/2014/main" id="{C5F27261-9AF0-6EB2-713F-486F78006C7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520665" y="4942258"/>
            <a:ext cx="11583434" cy="6366298"/>
          </a:xfrm>
          <a:prstGeom prst="rect">
            <a:avLst/>
          </a:prstGeom>
        </p:spPr>
      </p:pic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530C-C9E9-8EDB-5821-11A963C1A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0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1619E1-FB93-D0B1-A562-709B3CB802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00000" y="2066114"/>
            <a:ext cx="5110181" cy="3711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20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DECA4B7-C217-E87C-BE98-ECFAC7D75F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66611" y="3014714"/>
            <a:ext cx="5110181" cy="2763837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F2B1256-E455-F14C-DA27-04643C697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58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0000" y="2106613"/>
            <a:ext cx="82908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AE3D0A3-F667-55A1-9C2D-343A97FC6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120576" y="2891632"/>
            <a:ext cx="5968799" cy="1170005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9D9EFFB-8C77-5ACF-8C26-4C9E9FE867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120576" y="4283971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EB47D1-319C-304A-3785-F8EC65694C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20576" y="5184808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DA3241-C4F1-F459-5D91-7EC5148A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33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+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828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DEB9E5-1C75-93D8-7926-E2F4E629B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91237" y="3955313"/>
            <a:ext cx="6851212" cy="4552838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E4D72A-A4C5-4CE0-1DC5-685309E6AC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2800" y="3955313"/>
            <a:ext cx="7240605" cy="4552838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444AF4A-18BD-89AF-5CAF-F8416A022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8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AC032-DF18-4A35-CA27-5654560CC0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0000" y="3121296"/>
            <a:ext cx="14595474" cy="1258199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1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C855FD-0FB1-B567-AAB2-4AAC261A6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215162"/>
            <a:ext cx="5968799" cy="574582"/>
          </a:xfrm>
          <a:prstGeom prst="rect">
            <a:avLst/>
          </a:prstGeom>
        </p:spPr>
        <p:txBody>
          <a:bodyPr/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77B3963-F925-BC86-DB81-A0E803503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72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4541138-C940-BC02-754C-BCBAFB7BDC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20101" y="2106613"/>
            <a:ext cx="8251200" cy="825023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B6016E-B0AF-721C-85CC-8DE92D8A8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0000" y="2106613"/>
            <a:ext cx="5968799" cy="45474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Font typeface="Aptos" panose="020B0004020202020204" pitchFamily="34" charset="0"/>
              <a:buNone/>
              <a:tabLst/>
              <a:defRPr sz="18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4D6315-84DC-775C-A51D-F101FDA30C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00000" y="2928235"/>
            <a:ext cx="5968799" cy="1046923"/>
          </a:xfrm>
          <a:prstGeom prst="rect">
            <a:avLst/>
          </a:prstGeom>
        </p:spPr>
        <p:txBody>
          <a:bodyPr/>
          <a:lstStyle>
            <a:lvl1pPr marL="409575" indent="-409575">
              <a:buFont typeface="Aptos" panose="020B0004020202020204" pitchFamily="34" charset="0"/>
              <a:buChar char="›"/>
              <a:tabLst/>
              <a:defRPr sz="1600" b="0" i="0">
                <a:latin typeface="Aptos" panose="020B0004020202020204" pitchFamily="34" charset="0"/>
              </a:defRPr>
            </a:lvl1pPr>
            <a:lvl2pPr marL="685800" indent="-228600">
              <a:buFont typeface="Aptos" panose="020B0004020202020204" pitchFamily="34" charset="0"/>
              <a:buChar char="›"/>
              <a:defRPr sz="2600" b="0" i="0">
                <a:latin typeface="Aptos" panose="020B0004020202020204" pitchFamily="34" charset="0"/>
              </a:defRPr>
            </a:lvl2pPr>
            <a:lvl3pPr marL="1143000" indent="-228600">
              <a:buFont typeface="Aptos" panose="020B0004020202020204" pitchFamily="34" charset="0"/>
              <a:buChar char="›"/>
              <a:defRPr/>
            </a:lvl3pPr>
            <a:lvl4pPr marL="1600200" indent="-228600">
              <a:buFont typeface="Aptos" panose="020B0004020202020204" pitchFamily="34" charset="0"/>
              <a:buChar char="›"/>
              <a:defRPr/>
            </a:lvl4pPr>
            <a:lvl5pPr marL="2057400" indent="-228600">
              <a:buFont typeface="Aptos" panose="020B0004020202020204" pitchFamily="34" charset="0"/>
              <a:buChar char="›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7649FED-5AF9-0BAF-7D1F-23B3D2CCD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71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513D7C6-6F52-D314-C456-2E4EEE9C6A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00000" y="2087563"/>
            <a:ext cx="14638605" cy="826928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0C817D-4A21-D2C8-B411-11678420F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2893" y="2624138"/>
            <a:ext cx="6659562" cy="1847850"/>
          </a:xfrm>
          <a:prstGeom prst="rect">
            <a:avLst/>
          </a:prstGeom>
          <a:gradFill>
            <a:gsLst>
              <a:gs pos="0">
                <a:schemeClr val="accent2">
                  <a:alpha val="30000"/>
                </a:schemeClr>
              </a:gs>
              <a:gs pos="100000">
                <a:schemeClr val="accent1">
                  <a:lumMod val="88000"/>
                  <a:lumOff val="12000"/>
                  <a:alpha val="30000"/>
                </a:schemeClr>
              </a:gs>
            </a:gsLst>
            <a:lin ang="21594000" scaled="0"/>
          </a:gradFill>
        </p:spPr>
        <p:txBody>
          <a:bodyPr lIns="360000" tIns="0" rIns="0" bIns="0" anchor="ctr" anchorCtr="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33254-15B8-F374-8FAC-EB824ADB8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03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58633A7-3D11-1220-3C5A-EDAB8D9145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19050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87FD6E3D-6F9F-5EA9-AE10-8A97EC5F294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16352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3" name="Picture Placeholder 19">
            <a:extLst>
              <a:ext uri="{FF2B5EF4-FFF2-40B4-BE49-F238E27FC236}">
                <a16:creationId xmlns:a16="http://schemas.microsoft.com/office/drawing/2014/main" id="{66685B75-93B7-22A6-FA43-77CE7E9B253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492389" y="260540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649F82B6-0B11-1D9B-2756-1C27FA45351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19050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5" name="Picture Placeholder 19">
            <a:extLst>
              <a:ext uri="{FF2B5EF4-FFF2-40B4-BE49-F238E27FC236}">
                <a16:creationId xmlns:a16="http://schemas.microsoft.com/office/drawing/2014/main" id="{B50884DA-261D-F296-F9FF-8870DF570BC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16352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6" name="Picture Placeholder 19">
            <a:extLst>
              <a:ext uri="{FF2B5EF4-FFF2-40B4-BE49-F238E27FC236}">
                <a16:creationId xmlns:a16="http://schemas.microsoft.com/office/drawing/2014/main" id="{16C7E976-3EF1-4ABD-DBDF-4A18754D939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92389" y="6220474"/>
            <a:ext cx="4644659" cy="2892417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pic>
        <p:nvPicPr>
          <p:cNvPr id="6" name="Picture 5" descr="A logo with green letters and a black background&#10;&#10;AI-generated content may be incorrect.">
            <a:extLst>
              <a:ext uri="{FF2B5EF4-FFF2-40B4-BE49-F238E27FC236}">
                <a16:creationId xmlns:a16="http://schemas.microsoft.com/office/drawing/2014/main" id="{CCB7FFD3-F237-D100-AD13-190911859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367250" y="-7761"/>
            <a:ext cx="2013881" cy="1378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1D0F8-2753-A3E5-3757-05F080DBEC8C}"/>
              </a:ext>
            </a:extLst>
          </p:cNvPr>
          <p:cNvSpPr txBox="1"/>
          <p:nvPr userDrawn="1"/>
        </p:nvSpPr>
        <p:spPr>
          <a:xfrm>
            <a:off x="2365513" y="5367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/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D1A1E1BD-5203-A3AC-1FCD-200DE8EC4D2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00000" y="283409"/>
            <a:ext cx="3434079" cy="79629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>
              <a:defRPr sz="3300" b="0" i="0">
                <a:latin typeface="Aptos Black" panose="020B0004020202020204" pitchFamily="34" charset="0"/>
              </a:defRPr>
            </a:lvl1pPr>
          </a:lstStyle>
          <a:p>
            <a:pPr marL="12700">
              <a:lnSpc>
                <a:spcPts val="3840"/>
              </a:lnSpc>
              <a:spcBef>
                <a:spcPts val="95"/>
              </a:spcBef>
            </a:pPr>
            <a:r>
              <a:t>Header</a:t>
            </a:r>
            <a:r>
              <a:rPr spc="-85"/>
              <a:t> </a:t>
            </a:r>
            <a:r>
              <a:t>Line</a:t>
            </a:r>
            <a:r>
              <a:rPr spc="-85"/>
              <a:t> </a:t>
            </a:r>
            <a:r>
              <a:rPr spc="-50"/>
              <a:t>1</a:t>
            </a:r>
            <a:endParaRPr lang="en-HU" spc="-50"/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6E1B915D-A732-5430-C55E-837F13D680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3709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8" name="Text Placeholder 28">
            <a:extLst>
              <a:ext uri="{FF2B5EF4-FFF2-40B4-BE49-F238E27FC236}">
                <a16:creationId xmlns:a16="http://schemas.microsoft.com/office/drawing/2014/main" id="{BB5AB633-0835-AA84-5117-DC61D0EB34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3709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2" name="Text Placeholder 28">
            <a:extLst>
              <a:ext uri="{FF2B5EF4-FFF2-40B4-BE49-F238E27FC236}">
                <a16:creationId xmlns:a16="http://schemas.microsoft.com/office/drawing/2014/main" id="{85BB3BB6-E61D-556C-8696-9480420C8E3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1639915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3" name="Text Placeholder 28">
            <a:extLst>
              <a:ext uri="{FF2B5EF4-FFF2-40B4-BE49-F238E27FC236}">
                <a16:creationId xmlns:a16="http://schemas.microsoft.com/office/drawing/2014/main" id="{ED45A816-C7D3-8E0C-0D0D-A3F78ECACAE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1639915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56F453A5-CE6D-DF7F-14CB-2D686920D7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6617268" y="5647440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33E5179F-76C1-1B0B-A97B-930D04A7D0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6617268" y="9271173"/>
            <a:ext cx="2520000" cy="2762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5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267ADC1-AF57-08DA-3461-735A01E62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420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80CFB-4B2B-A473-B8AE-23147E9EE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458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AC708B-19F4-8EF4-2753-507BDF8E8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10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7">
            <a:extLst>
              <a:ext uri="{FF2B5EF4-FFF2-40B4-BE49-F238E27FC236}">
                <a16:creationId xmlns:a16="http://schemas.microsoft.com/office/drawing/2014/main" id="{FED51FD9-DD91-984F-64F8-1561CC177398}"/>
              </a:ext>
            </a:extLst>
          </p:cNvPr>
          <p:cNvSpPr/>
          <p:nvPr userDrawn="1"/>
        </p:nvSpPr>
        <p:spPr>
          <a:xfrm>
            <a:off x="4500000" y="1413569"/>
            <a:ext cx="14659200" cy="0"/>
          </a:xfrm>
          <a:custGeom>
            <a:avLst/>
            <a:gdLst/>
            <a:ahLst/>
            <a:cxnLst/>
            <a:rect l="l" t="t" r="r" b="b"/>
            <a:pathLst>
              <a:path w="18104485">
                <a:moveTo>
                  <a:pt x="0" y="0"/>
                </a:moveTo>
                <a:lnTo>
                  <a:pt x="18104160" y="0"/>
                </a:lnTo>
              </a:path>
            </a:pathLst>
          </a:custGeom>
          <a:ln w="12700"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D5A937-B250-7022-4FC6-F9B79765E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6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E7403717-93A4-AAB0-5DA1-E3D59335FFA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94"/>
            <a:ext cx="20104099" cy="1130855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8281C5C-DD60-55B1-3FC1-4EB141D94B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3983" y="837670"/>
            <a:ext cx="8230115" cy="10470885"/>
          </a:xfrm>
          <a:prstGeom prst="rect">
            <a:avLst/>
          </a:prstGeom>
        </p:spPr>
      </p:pic>
      <p:pic>
        <p:nvPicPr>
          <p:cNvPr id="6" name="Picture 5" descr="A logo with white text&#10;&#10;AI-generated content may be incorrect.">
            <a:extLst>
              <a:ext uri="{FF2B5EF4-FFF2-40B4-BE49-F238E27FC236}">
                <a16:creationId xmlns:a16="http://schemas.microsoft.com/office/drawing/2014/main" id="{1FBC48BB-7B45-9563-3E74-6A7D75EA4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86" y="8474075"/>
            <a:ext cx="3450664" cy="2362200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34703AC2-FA13-747C-85E7-7DB5CD624568}"/>
              </a:ext>
            </a:extLst>
          </p:cNvPr>
          <p:cNvSpPr txBox="1">
            <a:spLocks/>
          </p:cNvSpPr>
          <p:nvPr/>
        </p:nvSpPr>
        <p:spPr>
          <a:xfrm>
            <a:off x="818996" y="1956921"/>
            <a:ext cx="18466105" cy="1001107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ts val="9570"/>
              </a:lnSpc>
              <a:spcBef>
                <a:spcPts val="95"/>
              </a:spcBef>
            </a:pPr>
            <a:r>
              <a:rPr lang="en-GB" sz="8250" b="1" spc="-10" noProof="0" dirty="0">
                <a:solidFill>
                  <a:srgbClr val="FFFFFF"/>
                </a:solidFill>
                <a:latin typeface="Aptos" panose="020B0004020202020204" pitchFamily="34" charset="0"/>
                <a:cs typeface="Aptos"/>
              </a:rPr>
              <a:t>Project Bora</a:t>
            </a:r>
          </a:p>
          <a:p>
            <a:pPr marL="12700">
              <a:lnSpc>
                <a:spcPts val="5600"/>
              </a:lnSpc>
              <a:spcBef>
                <a:spcPts val="95"/>
              </a:spcBef>
            </a:pPr>
            <a:r>
              <a:rPr lang="en-GB" sz="4400" b="1" spc="-10" noProof="0" dirty="0">
                <a:solidFill>
                  <a:srgbClr val="FFFFFF"/>
                </a:solidFill>
                <a:latin typeface="Aptos"/>
                <a:cs typeface="Aptos"/>
              </a:rPr>
              <a:t>BORA 1 and BORA 2 capacity bids</a:t>
            </a:r>
            <a:endParaRPr lang="en-GB" sz="5400" b="1" noProof="0" dirty="0">
              <a:latin typeface="Aptos"/>
              <a:cs typeface="Aptos"/>
            </a:endParaRPr>
          </a:p>
          <a:p>
            <a:pPr marL="12700">
              <a:lnSpc>
                <a:spcPts val="3600"/>
              </a:lnSpc>
            </a:pPr>
            <a:r>
              <a:rPr lang="en-GB" sz="2800" b="0" spc="-10" noProof="0" dirty="0">
                <a:solidFill>
                  <a:srgbClr val="FFFFFF"/>
                </a:solidFill>
                <a:latin typeface="Aptos"/>
                <a:cs typeface="Aptos"/>
              </a:rPr>
              <a:t>Approval of the tender commitments,</a:t>
            </a:r>
            <a:br/>
            <a:r>
              <a:rPr lang="en-GB" sz="2800" b="0" spc="-10" noProof="0" dirty="0">
                <a:solidFill>
                  <a:srgbClr val="FFFFFF"/>
                </a:solidFill>
                <a:latin typeface="Aptos"/>
                <a:cs typeface="Aptos"/>
              </a:rPr>
              <a:t>2 × 100 MVA, Szombathely OVIT</a:t>
            </a: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r>
              <a:rPr lang="en-GB" sz="3200" b="0" spc="-10" noProof="0" dirty="0">
                <a:solidFill>
                  <a:srgbClr val="FFFFFF"/>
                </a:solidFill>
                <a:latin typeface="Aptos"/>
                <a:cs typeface="Aptos"/>
              </a:rPr>
              <a:t>12‑Oct‑2026</a:t>
            </a: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 algn="r">
              <a:lnSpc>
                <a:spcPts val="561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 algn="r">
              <a:lnSpc>
                <a:spcPct val="150000"/>
              </a:lnSpc>
            </a:pPr>
            <a:endParaRPr lang="en-GB" sz="2800" b="1" spc="-10" noProof="0" dirty="0">
              <a:solidFill>
                <a:schemeClr val="bg1"/>
              </a:solidFill>
              <a:latin typeface="Aptos"/>
              <a:cs typeface="Aptos"/>
            </a:endParaRPr>
          </a:p>
          <a:p>
            <a:pPr marL="12700">
              <a:lnSpc>
                <a:spcPct val="15000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  <a:p>
            <a:pPr marL="12700">
              <a:lnSpc>
                <a:spcPts val="5610"/>
              </a:lnSpc>
            </a:pPr>
            <a:endParaRPr lang="en-GB" sz="4950" spc="-10" noProof="0" dirty="0">
              <a:solidFill>
                <a:srgbClr val="FFFFFF"/>
              </a:solidFill>
              <a:latin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181283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Submit both bids at 85 / 68.25 points: FEP earns €6.5m / €6.7m at the RtB exit, a 22.2% / 22.9% IRR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Commitments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RtB exit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COD and HTM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Against the zero bid, the commitments cost €0.8m / €0.7m of RtB profit and 2.4 / 1.9 pp of HTM IRR, and add €23.4m / €19.5m to the all-in commitment.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9052560" cy="339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005840"/>
                <a:gridCol w="1371600"/>
                <a:gridCol w="1371600"/>
                <a:gridCol w="137160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Zero bid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BORA 1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BORA 2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Points (EU turbine)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points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68.25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profit – RtB route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6.7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IRR – RtB route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25.8%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22.2%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22.9%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IRR – sale at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49.6%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37.8%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40.5%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IRR – hold to maturity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11.9%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9.9%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All-in commitment if built (securities, development, construction, financing)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147.8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171.2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167.3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13990320" y="2240280"/>
            <a:ext cx="4224528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Approval requested and timetable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Submit both bids by 30‑Oct‑2026: </a:t>
            </a:r>
            <a:r>
              <a:rPr sz="1300" b="0">
                <a:solidFill>
                  <a:srgbClr val="3C3C3B"/>
                </a:solidFill>
                <a:latin typeface="Aptos"/>
              </a:rPr>
              <a:t>municipal 50 k€/MW; community 3.00 / 2.01 €/MWh; overbuild 51% / 40% (not built); BESS 51% / 40% of MVA, 4 h; PB at the 1.0x minimum; partial award, shared connection, EU turbines and transformers.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Day one, at submission: </a:t>
            </a:r>
            <a:r>
              <a:rPr sz="1300" b="0">
                <a:solidFill>
                  <a:srgbClr val="3C3C3B"/>
                </a:solidFill>
                <a:latin typeface="Aptos"/>
              </a:rPr>
              <a:t>participation fee €0.008m per bid (cash) and bid guarantee €1.4m / €1.2m.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After award (13‑Dec‑2026): </a:t>
            </a:r>
            <a:r>
              <a:rPr sz="1300" b="0">
                <a:solidFill>
                  <a:srgbClr val="3C3C3B"/>
                </a:solidFill>
                <a:latin typeface="Aptos"/>
              </a:rPr>
              <a:t>PB guarantee €7.0m / €6.1m by 28‑Dec‑2026, which replaces the bid guarantee; TSO cash security €1.2m per bid by 30‑Dec‑2026.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Before submission: </a:t>
            </a:r>
            <a:r>
              <a:rPr sz="1300" b="0">
                <a:solidFill>
                  <a:srgbClr val="3C3C3B"/>
                </a:solidFill>
                <a:latin typeface="Aptos"/>
              </a:rPr>
              <a:t>legal confirmation that the two bids sit within the 100 MVA group cap per node.</a:t>
            </a:r>
          </a:p>
        </p:txBody>
      </p:sp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Post-tax, FEP share, EU turbine, base case (overbuild not built, BESS built, pro-rata PB call); RtB exit 31‑Dec‑2029. Zero bid = every commitment at its zero level.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Bora_Bid_Model.xlsm, 12 Oct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Municipal buys 20 points for 0.4 pp of HTM IRR; BESS (1.2 pp) and community (0.6 pp) carry the return cost on BORA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Commitments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RtB exit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COD and HTM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Each commitment is measured alone against the zero bid; the PB stays at the 1.0x minimum because 2.0x adds 5 points for one more PB of guarantee.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13716000" cy="4764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783080"/>
                <a:gridCol w="1097280"/>
                <a:gridCol w="1188720"/>
                <a:gridCol w="1097280"/>
                <a:gridCol w="1097280"/>
                <a:gridCol w="1417320"/>
                <a:gridCol w="320040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Commitment (B1 / B2)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Offered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Points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Δ RtB profit € 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Δ COD IRR pp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Δ HTM IRR pp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Δ deposits and guarantees € 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Logic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Municipal one-off (ÖSZ-1)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50 / 50 k€/MW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20 / 20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 / 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−1.2 / −1.2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−0.4 / −0.4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 / 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Paid at COD, after the RtB exit: no FEP cash on the RtB route.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Community contribution (ÖSZ-2)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3.00 / 2.01 €/MWh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 / 0.75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 / 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−2.6 / −1.7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−0.6 / −0.4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 / 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Operating cost after COD. At the band floor, BORA 2 earns 0.75 points.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Overbuild (ÖSZ-3)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51% / 40%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 / 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(0.5) / (0.4)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−1.1 / −0.9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−0.2 / −0.2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+1.4 / +1.1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Not built: the cost is the larger PB and its pro-rata call.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BESS power (ÖSZ-4), 4 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51% / 40% of MVA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 / 13.50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(0.4) / (0.3)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−6.5 / −5.1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−1.2 / −1.0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+2.8 / +2.2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Sized with the overbuild and built; valued at cost, with no BESS revenue.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PB multiple (ÖSZ-6)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1.0x / 1.0x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 / 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Not raised: 2.0x adds 5 points for one more PB of €7.0m / €6.1m of guarantee.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Partial award (ÖSZ-5), shared connection (ÖSZ-8), EU turbines / transformers (ÖSZ-9)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5 / 5 / 12 / 3 each bid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No cash or return impact. EU sourcing is in the base cost (turbine 600 k€/MW).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Full bid vs zero bid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85 / 68.25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(0.8) / (0.7)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−11.7 / −9.1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−2.4 / −1.9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The rows do not add to the total because the commitments interact.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Δ = zero bid plus that commitment alone, minus the zero bid. Zero levels: municipal 0, community 0, overbuild 0%, BESS 0%, PB 1.0x, yes/no items no. Δ deposits and guarantees = extra security posted, not a call. ÖSZ-6: 5 points at 2.0x (Kiírás X.4 bf, Annex 4). Brownfield (ÖSZ-7) is not offered.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Bora_Bid_Model.xlsm, 12 Oct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At the RtB exit FEP recovers its cash and earns €6.5m / €6.7m, a 1.25x / 1.26x MOIC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Commitments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Economics – RtB exit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COD and HTM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FEP funds €24.9m per bid to 31‑Dec‑2029 and carries the PB guarantee. Of the €14.5m RtB price net of sale costs, FEP takes €11.1m / €11.1m.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9015984" cy="4745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6864"/>
                <a:gridCol w="1463040"/>
                <a:gridCol w="1463040"/>
                <a:gridCol w="146304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BORA 1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BORA 2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RtB price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Receipts at the exit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32.9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32.9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Outlays: devex, land, deposits, connection fees, signing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(24.9)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(24.9)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Guarantee fees (6% carry)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(1.3)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(1.1)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Tax at the exit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(0.1)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(0.1)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profit – RtB route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6.5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6.7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profit – RtB route, low-premium case (100 k€/MVA)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Exit split – FEP: claims + 70%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 (k€/MW)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11.1 (73)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11.1 (79)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Exit split – A.RES: DSA + 30%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 (k€/MW)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3.4 (23)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3.4 (25)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Exit split – total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 (k€/MW)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14.5 (96)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14.5 (104)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13990320" y="2240280"/>
            <a:ext cx="422452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Securities to the exit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Bid guarantee </a:t>
            </a:r>
            <a:r>
              <a:rPr sz="1300" b="0">
                <a:solidFill>
                  <a:srgbClr val="3C3C3B"/>
                </a:solidFill>
                <a:latin typeface="Aptos"/>
              </a:rPr>
              <a:t>€1.4m / €1.2m, 30‑Oct‑2026 to 28‑Dec‑2026.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PB guarantee </a:t>
            </a:r>
            <a:r>
              <a:rPr sz="1300" b="0">
                <a:solidFill>
                  <a:srgbClr val="3C3C3B"/>
                </a:solidFill>
                <a:latin typeface="Aptos"/>
              </a:rPr>
              <a:t>€7.0m / €6.1m from 28‑Dec‑2026; the buyer replaces it at the exit.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Cash: </a:t>
            </a:r>
            <a:r>
              <a:rPr sz="1300" b="0">
                <a:solidFill>
                  <a:srgbClr val="3C3C3B"/>
                </a:solidFill>
                <a:latin typeface="Aptos"/>
              </a:rPr>
              <a:t>TSO security €1.2m (30‑Dec‑2026) and connection fees €1.4m + €18.8m (08‑Jan‑2029). The buyer reimburses €21.4m at the exit.</a:t>
            </a:r>
          </a:p>
        </p:txBody>
      </p:sp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RtB price 150 k€/MVA × 100 MVA, per the Bora scenarios meeting file (Bora!N5), confirmed 12‑Oct‑2026. Receipts = recoverable principal, land and claims, plus 70% of the distributable. Per-MW figures use installed wind of 151 / 140 MW. The participation fee is not recovered.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Bora_Bid_Model.xlsm, 12 Oct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All-in cost of 1,642 / 1,612 k€ per built MW against a 2,450 k€/MW COD price; HTM NPV €13.4m / €17.2m at 8.0%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Commitments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RtB exit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Economics – COD and HTM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The commitments reduce HTM NPV by €18.1m / €14.2m against the zero bid; construction is €150.9m / €148.3m of the all-in commitment.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9070847" cy="4325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2463"/>
                <a:gridCol w="822960"/>
                <a:gridCol w="914400"/>
                <a:gridCol w="914400"/>
                <a:gridCol w="914400"/>
                <a:gridCol w="896112"/>
                <a:gridCol w="896112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Zero bid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BORA 1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BORA 2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Δ B1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Δ B2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FEP NPV – sale at COD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44.6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30.8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33.6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(13.9)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(11.0)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FEP NPV – hold to maturity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31.4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13.4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17.2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(18.1)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C3C3B"/>
                          </a:solidFill>
                          <a:latin typeface="Aptos"/>
                        </a:rPr>
                        <a:t>(14.2)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All-in cost to COD per built MW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k€/MW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1,642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1,612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COD sale price per built MW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k€/MW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2,450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2,450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Securities: cash posted and guarantees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7.3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Devex, land, signing and DD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Construction capex incl. connection fees, municipal and pre-COD lease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150.9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148.3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Financing: IDC, debt fees, guarantee fees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8.5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8.2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Memo, not in the commitment: PB call, overbuild not built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19191"/>
                          </a:solidFill>
                          <a:latin typeface="Aptos"/>
                        </a:rPr>
                        <a:t>€ 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1.4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1.1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–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13990320" y="2240280"/>
            <a:ext cx="4224528" cy="1600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300" b="1">
                <a:solidFill>
                  <a:srgbClr val="3C3C3B"/>
                </a:solidFill>
                <a:latin typeface="Aptos"/>
              </a:rPr>
              <a:t>Sale at COD: </a:t>
            </a:r>
            <a:r>
              <a:rPr sz="1300" b="0">
                <a:solidFill>
                  <a:srgbClr val="3C3C3B"/>
                </a:solidFill>
                <a:latin typeface="Aptos"/>
              </a:rPr>
              <a:t>FEP proceeds of €124.4m / €127.2m on a €245.0m price, a 1.78x / 1.85x MOIC.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>Hold to maturity: </a:t>
            </a:r>
            <a:r>
              <a:rPr sz="1300" b="0">
                <a:solidFill>
                  <a:srgbClr val="3C3C3B"/>
                </a:solidFill>
                <a:latin typeface="Aptos"/>
              </a:rPr>
              <a:t>4.89x / 5.13x MOIC; minimum DSCR 1.33x / 1.37x.</a:t>
            </a:r>
          </a:p>
        </p:txBody>
      </p:sp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NPV at 8.0%. COD 30‑Sep‑2031, 100 MW built; PPA 90 €/MWh; gearing 60.0%. HTM includes the buy-out of the developer at the RtB exit date. The four breakdown lines sum to the all-in commitment on slide 2.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Bora_Bid_Model.xlsm, 12 Oct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848" y="182880"/>
            <a:ext cx="12710160" cy="1097280"/>
          </a:xfrm>
        </p:spPr>
        <p:txBody>
          <a:bodyPr wrap="square"/>
          <a:lstStyle/>
          <a:p>
            <a:r>
              <a:t>Main risk: the unbuilt overbuild – a PB call, a 3-year group exclusion and 33.8 / 28.6 MVA of connection right lost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576B7A-1C0F-D2A3-8BE9-18F63D6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200188" y="10483850"/>
            <a:ext cx="4522787" cy="601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A166-2877-4493-9FAA-8D6952A82FC3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3" name="Navigator"/>
          <p:cNvGraphicFramePr>
            <a:graphicFrameLocks noGrp="1"/>
          </p:cNvGraphicFramePr>
          <p:nvPr/>
        </p:nvGraphicFramePr>
        <p:xfrm>
          <a:off x="0" y="0"/>
          <a:ext cx="3767328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7328"/>
              </a:tblGrid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Executive summary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Commitments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RtB exit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C3C3B"/>
                          </a:solidFill>
                          <a:latin typeface="Aptos"/>
                        </a:rPr>
                        <a:t>Economics – COD and HTM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Risks and mitigants</a:t>
                      </a:r>
                    </a:p>
                  </a:txBody>
                  <a:tcPr marL="180000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3C3C3B"/>
                      </a:solidFill>
                    </a:lnT>
                    <a:lnB w="6350">
                      <a:solidFill>
                        <a:srgbClr val="3C3C3B"/>
                      </a:solidFill>
                    </a:lnB>
                    <a:gradFill rotWithShape="1">
                      <a:gsLst>
                        <a:gs pos="0">
                          <a:srgbClr val="00A651"/>
                        </a:gs>
                        <a:gs pos="100000">
                          <a:srgbClr val="00563C"/>
                        </a:gs>
                      </a:gsLst>
                      <a:lin scaled="0" ang="0"/>
                    </a:gradFill>
                  </a:tcPr>
                </a:tc>
              </a:tr>
            </a:tbl>
          </a:graphicData>
        </a:graphic>
      </p:graphicFrame>
      <p:sp>
        <p:nvSpPr>
          <p:cNvPr id="4" name="Subtitle"/>
          <p:cNvSpPr txBox="1"/>
          <p:nvPr/>
        </p:nvSpPr>
        <p:spPr>
          <a:xfrm>
            <a:off x="4498848" y="1371600"/>
            <a:ext cx="1371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C3C3B"/>
                </a:solidFill>
                <a:latin typeface="Aptos"/>
              </a:rPr>
              <a:t>The base COD and HTM returns include the pro-rata call; the lost MVA and any deduction from the RtB price are not in the returns.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498848" y="2240280"/>
          <a:ext cx="13716000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5486400"/>
                <a:gridCol w="420624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Exposure (B1 / B2)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Mitigant</a:t>
                      </a:r>
                    </a:p>
                  </a:txBody>
                  <a:tcPr marL="73152" marR="73152" marT="27432" marB="27432" anchor="ctr">
                    <a:solidFill>
                      <a:srgbClr val="00A65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PB call on the unbuilt overbuild: pro rata (Kiírás XII.12) or full (XIII.17, GYIK Q72)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Pro rata €1.4m / €1.1m (base). Full call €7.0m / €6.1m: COD IRR 35.8% / 38.7%, HTM IRR 9.1% / 9.5%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PB at the 1.0x minimum. Part of the call may be deducted from the RtB price.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3-year group exclusion (Kiírás VII.2 n, GYIK Q71)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Any PB call triggers it, the base pro-rata call included, for both bids. The call falls after COD, so it is likely to hit the group then holding the SPV.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Allocate it in the RtB SPA.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Connection right lost pro rata (Kiírás XII.12, GYIK Q28)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33.8 / 28.6 MVA; not reflected in generation or price.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The buyer can build the overbuild (card).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100 MVA group cap per node (Kiírás V.7, GYIK Q52)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Both bids are invalid if FEP, A.RES and the SPVs count as one company group.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Legal confirmation before submission.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ÖSZ-4 scored on installed wind (GYIK Q20)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Points fall to 80.50 / 63.75; returns unchanged.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Ranking risk only; the commitment is the same.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BESS valued at cost only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−6.5 / −5.1 pp of COD IRR, with no BESS revenue or sale value.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C3C3B"/>
                          </a:solidFill>
                          <a:latin typeface="Aptos"/>
                        </a:rPr>
                        <a:t>Conservative: any BESS revenue is upside.</a:t>
                      </a:r>
                    </a:p>
                  </a:txBody>
                  <a:tcPr marL="73152" marR="73152" marT="27432" marB="27432" anchor="ctr">
                    <a:noFill/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4498848" y="6812280"/>
            <a:ext cx="1371600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600" b="1">
                <a:solidFill>
                  <a:srgbClr val="00563C"/>
                </a:solidFill>
                <a:latin typeface="Aptos"/>
              </a:rPr>
              <a:t>Why the base does not build the overbuild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C3C3B"/>
                </a:solidFill>
                <a:latin typeface="Aptos"/>
              </a:rPr>
              <a:t/>
            </a:r>
            <a:r>
              <a:rPr sz="1300" b="0">
                <a:solidFill>
                  <a:srgbClr val="3C3C3B"/>
                </a:solidFill>
                <a:latin typeface="Aptos"/>
              </a:rPr>
              <a:t>The grid connection stays at 100 MVA. Building the overbuild lifts the all-in cost to COD from €164.2m / €161.2m to €217.9m / €203.3m. In that case COD IRR is 54.4% / 53.8% and HTM IRR is 11.5% / 11.6%. The build decision passes to the buyer at RtB.</a:t>
            </a:r>
          </a:p>
        </p:txBody>
      </p:sp>
      <p:sp>
        <p:nvSpPr>
          <p:cNvPr id="7" name="Footnote"/>
          <p:cNvSpPr txBox="1"/>
          <p:nvPr/>
        </p:nvSpPr>
        <p:spPr>
          <a:xfrm>
            <a:off x="4498848" y="9646920"/>
            <a:ext cx="1316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19191"/>
                </a:solidFill>
                <a:latin typeface="Aptos"/>
              </a:rPr>
              <a:t>PB call tested 6 months after COD. Pro rata = shortfall share × the wind PB (GYIK Q28/Q30). Full-call and overbuild-built figures are alternative cases.</a:t>
            </a:r>
          </a:p>
          <a:p>
            <a:r>
              <a:rPr sz="1100" b="0">
                <a:solidFill>
                  <a:srgbClr val="919191"/>
                </a:solidFill>
                <a:latin typeface="Aptos"/>
              </a:rPr>
              <a:t>Source: Bora_Bid_Model.xlsm, 12 Oct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EP base">
  <a:themeElements>
    <a:clrScheme name="FEP">
      <a:dk1>
        <a:srgbClr val="3C3C3B"/>
      </a:dk1>
      <a:lt1>
        <a:srgbClr val="FFFFFF"/>
      </a:lt1>
      <a:dk2>
        <a:srgbClr val="0E2841"/>
      </a:dk2>
      <a:lt2>
        <a:srgbClr val="E8E8E8"/>
      </a:lt2>
      <a:accent1>
        <a:srgbClr val="00563C"/>
      </a:accent1>
      <a:accent2>
        <a:srgbClr val="00A651"/>
      </a:accent2>
      <a:accent3>
        <a:srgbClr val="799385"/>
      </a:accent3>
      <a:accent4>
        <a:srgbClr val="82CA9C"/>
      </a:accent4>
      <a:accent5>
        <a:srgbClr val="919191"/>
      </a:accent5>
      <a:accent6>
        <a:srgbClr val="CACACA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B25C80BA76C054AAAC0D3CDDFCEC309" ma:contentTypeVersion="14" ma:contentTypeDescription="Új dokumentum létrehozása." ma:contentTypeScope="" ma:versionID="b04c3fe5a5d8daa439e4669e310e51c5">
  <xsd:schema xmlns:xsd="http://www.w3.org/2001/XMLSchema" xmlns:xs="http://www.w3.org/2001/XMLSchema" xmlns:p="http://schemas.microsoft.com/office/2006/metadata/properties" xmlns:ns2="3ba8be79-126f-4ecc-b268-0e8a1c9d820a" xmlns:ns3="348e42aa-7502-48aa-9973-d5430de63b43" targetNamespace="http://schemas.microsoft.com/office/2006/metadata/properties" ma:root="true" ma:fieldsID="b7d65723b2fd441c2730b2f9b66bba15" ns2:_="" ns3:_="">
    <xsd:import namespace="3ba8be79-126f-4ecc-b268-0e8a1c9d820a"/>
    <xsd:import namespace="348e42aa-7502-48aa-9973-d5430de63b4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8be79-126f-4ecc-b268-0e8a1c9d82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54c7780-c79f-4b81-a1cc-c56cb19b1b79}" ma:internalName="TaxCatchAll" ma:showField="CatchAllData" ma:web="3ba8be79-126f-4ecc-b268-0e8a1c9d82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e42aa-7502-48aa-9973-d5430de63b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Képcímkék" ma:readOnly="false" ma:fieldId="{5cf76f15-5ced-4ddc-b409-7134ff3c332f}" ma:taxonomyMulti="true" ma:sspId="88080c10-e0a6-4b42-beda-2db26c8ffc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8e42aa-7502-48aa-9973-d5430de63b43">
      <Terms xmlns="http://schemas.microsoft.com/office/infopath/2007/PartnerControls"/>
    </lcf76f155ced4ddcb4097134ff3c332f>
    <TaxCatchAll xmlns="3ba8be79-126f-4ecc-b268-0e8a1c9d820a" xsi:nil="true"/>
  </documentManagement>
</p:properties>
</file>

<file path=customXml/itemProps1.xml><?xml version="1.0" encoding="utf-8"?>
<ds:datastoreItem xmlns:ds="http://schemas.openxmlformats.org/officeDocument/2006/customXml" ds:itemID="{0FDB0B0C-60B3-4153-B8BF-354313383E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5DC757-8338-4BB9-BB28-498963EEAE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a8be79-126f-4ecc-b268-0e8a1c9d820a"/>
    <ds:schemaRef ds:uri="348e42aa-7502-48aa-9973-d5430de63b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DE518-529C-4DF1-8960-0E6216B00ED8}">
  <ds:schemaRefs>
    <ds:schemaRef ds:uri="348e42aa-7502-48aa-9973-d5430de63b43"/>
    <ds:schemaRef ds:uri="3ba8be79-126f-4ecc-b268-0e8a1c9d82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2728984-5573-4501-93e1-26196c1472d0}" enabled="0" method="" siteId="{42728984-5573-4501-93e1-26196c1472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15504</TotalTime>
  <Words>2227</Words>
  <Application>Microsoft Office PowerPoint</Application>
  <PresentationFormat>Custom</PresentationFormat>
  <Paragraphs>474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Black</vt:lpstr>
      <vt:lpstr>Arial</vt:lpstr>
      <vt:lpstr>Blank</vt:lpstr>
      <vt:lpstr>FEP base</vt:lpstr>
      <vt:lpstr>PowerPoint Presentation</vt:lpstr>
      <vt:lpstr>Technical overview and tender bid</vt:lpstr>
      <vt:lpstr>European vs Chinese turbine – sale at COD</vt:lpstr>
      <vt:lpstr>Revenue and returns by case</vt:lpstr>
      <vt:lpstr>Sensitivity – FEP IRR</vt:lpstr>
      <vt:lpstr>Sensitivity – FEP MOIC</vt:lpstr>
      <vt:lpstr>Sensitivity – all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FEP IC template</dc:title>
  <dc:creator>FEP</dc:creator>
  <cp:lastModifiedBy>FEP</cp:lastModifiedBy>
  <cp:revision>3</cp:revision>
  <dcterms:created xsi:type="dcterms:W3CDTF">2025-05-21T13:33:01Z</dcterms:created>
  <dcterms:modified xsi:type="dcterms:W3CDTF">2026-10-09T14:02:16Z</dcterms:modified>
  <dc:subject/>
  <cp:keywords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0x010100CB25C80BA76C054AAAC0D3CDDFCEC309</vt:lpwstr>
  </property>
  <property fmtid="{D5CDD505-2E9C-101B-9397-08002B2CF9AE}" pid="3" name="MediaServiceImageTags">
    <vt:lpwstr/>
  </property>
</Properties>
</file>