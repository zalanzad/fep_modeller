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Bora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BORA 1 and BORA 2 capacity bids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3600"/>
              </a:lnSpc>
            </a:pPr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Approval of the tender commitments,</a:t>
            </a:r>
            <a:br/>
            <a:r>
              <a:rPr lang="en-GB" sz="2800" b="0" spc="-10" noProof="0" dirty="0">
                <a:solidFill>
                  <a:srgbClr val="FFFFFF"/>
                </a:solidFill>
                <a:latin typeface="Aptos"/>
                <a:cs typeface="Aptos"/>
              </a:rPr>
              <a:t>2 × 100 MVA, Szombathely OVIT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12‑Oct‑2026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Submit both bids at 85 / 68.25 points: FEP earns €6.5m / €6.7m at the RtB exit, a 22.2% / 22.9% IRR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Against the zero bid, the commitments cost €0.8m / €0.7m of RtB profit and 2.4 / 1.9 pp of HTM IRR, and add €23.4m / €19.5m to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52560" cy="33924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931920"/>
                <a:gridCol w="100584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(EU turbine)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68.25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IRR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All-in commitment if built (securities, development, construction, financing)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147.8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171.2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167.3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42976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Approval requested and timetable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Submit both bids by 30‑Oct‑2026: </a:t>
            </a:r>
            <a:r>
              <a:rPr sz="1300" b="0">
                <a:solidFill>
                  <a:srgbClr val="3C3C3B"/>
                </a:solidFill>
                <a:latin typeface="Aptos"/>
              </a:rPr>
              <a:t>municipal 50 k€/MW; community 3.00 / 2.01 €/MWh; overbuild 51% / 40% (not built); BESS 51% / 40% of MVA, 4 h; PB at the 1.0x minimum; partial award, shared connection, EU turbines and transformers.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Day one, at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participation fee €0.008m per bid (cash) and bid guarantee €1.4m / €1.2m.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After award (13‑Dec‑2026): </a:t>
            </a:r>
            <a:r>
              <a:rPr sz="1300" b="0">
                <a:solidFill>
                  <a:srgbClr val="3C3C3B"/>
                </a:solidFill>
                <a:latin typeface="Aptos"/>
              </a:rPr>
              <a:t>PB guarantee €7.0m / €6.1m by 28‑Dec‑2026, which replaces the bid guarantee; TSO cash security €1.2m per bid by 30‑Dec‑2026.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Before submission: </a:t>
            </a:r>
            <a:r>
              <a:rPr sz="1300" b="0">
                <a:solidFill>
                  <a:srgbClr val="3C3C3B"/>
                </a:solidFill>
                <a:latin typeface="Aptos"/>
              </a:rPr>
              <a:t>legal confirmation that the two bids sit within the 100 MVA group cap per node.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share, EU turbine, base case (overbuild not built, BESS built, PB lost pro rata to the shortfall); RtB exit 31‑Dec‑2029. Zero bid = every commitment at its zero level.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Municipal buys 20 points for 0.4 pp of HTM IRR; BESS (1.2 pp) and community (0.6 pp) carry the return cost on BORA 1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Each commitment is measured alone against the zero bid; the PB stays at the 1.0x minimum because 2.0x adds 5 points for one more PB of guarantee.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7640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1783080"/>
                <a:gridCol w="1097280"/>
                <a:gridCol w="1188720"/>
                <a:gridCol w="1097280"/>
                <a:gridCol w="1097280"/>
                <a:gridCol w="1417320"/>
                <a:gridCol w="32004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Offered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RtB profit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COD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HTM IRR pp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deposits and guarantees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Logic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/ 50 k€/MW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 / 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−0.4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at COD, after the RtB exit: no FEP cash on the RtB route.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Community contribution (ÖSZ-2)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3.00 / 2.01 €/MWh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0.75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−2.6 / −1.7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−0.6 / −0.4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 / 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Operating cost after COD. At the band floor, BORA 2 earns 0.75 points.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(ÖSZ-3)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40%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/ 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 / (0.4)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−1.1 / −0.9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−0.2 / −0.2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+1.4 / +1.1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built: the cost is the larger PB, lost pro rata to the shortfall.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power (ÖSZ-4), 4 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51% / 40% of MVA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 / 13.50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(0.4) / (0.3)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−6.5 / −5.1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−1.2 / −1.0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+2.8 / +2.2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Sized with the overbuild and built; valued at cost,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multiple (ÖSZ-6)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/ 1.0x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raised: 2.0x adds 5 points for one more PB of €7.0m / €6.1m of guarantee.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Partial award (ÖSZ-5), shared connection (ÖSZ-8), EU turbines / transformers (ÖSZ-9)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 / 5 / 12 / 3 each bid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 cash or return impact. EU sourcing is in the base cost (turbine 600 k€/MW).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Full bid vs zero bid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 / 68.25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(0.8) / (0.7)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−11.7 / −9.1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−2.4 / −1.9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The rows do not add to the total because the commitments interact.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Δ = zero bid plus that commitment alone, minus the zero bid. Zero levels: municipal 0, community 0, overbuild 0%, BESS 0%, PB 1.0x, yes/no items no. Δ deposits and guarantees = extra security posted, not a PB loss. ÖSZ-6: 5 points at 2.0x (Kiírás X.4 bf, Annex 4). Brownfield (ÖSZ-7) is not offered.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the RtB exit FEP recovers its cash and earns €6.5m / €6.7m, a 1.25x / 1.26x MOIC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Of the €15.0m exit premium per bid, FEP nets €8.4m / €8.4m and A.RES €3.4m / €3.4m; at a 100 k€/MVA premium FEP's RtB profit falls to €3.0m / €3.2m.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125712" cy="5806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79392"/>
                <a:gridCol w="731520"/>
                <a:gridCol w="1371600"/>
                <a:gridCol w="1371600"/>
                <a:gridCol w="137160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RtB exit waterfall (paid)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Memo: buyer reimbursement (deposits, fees, land)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Exit premium (RtB price)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sale costs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(0.5)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claim 12% on deposits and connection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claim 20% / 2× on devex and land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claim 6% on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FEP interest claims, total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Less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(1.1)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Distributable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70%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FEP-borne devex principal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(5.4)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net = claims + 70% −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A.RES 30%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A.RES total = 30% + DSA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6.9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fees, signing and DD, tax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(1.8)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(1.6)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(3.4)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profit – RtB route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13.3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Securities to the exit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Bid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€1.4m / €1.2m, 30‑Oct‑2026 to 28‑Dec‑2026.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PB guarantee </a:t>
            </a:r>
            <a:r>
              <a:rPr sz="1300" b="0">
                <a:solidFill>
                  <a:srgbClr val="3C3C3B"/>
                </a:solidFill>
                <a:latin typeface="Aptos"/>
              </a:rPr>
              <a:t>€7.0m / €6.1m from 28‑Dec‑2026; the buyer replaces it at the exit.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Cash: </a:t>
            </a:r>
            <a:r>
              <a:rPr sz="1300" b="0">
                <a:solidFill>
                  <a:srgbClr val="3C3C3B"/>
                </a:solidFill>
                <a:latin typeface="Aptos"/>
              </a:rPr>
              <a:t>TSO security €1.2m (30‑Dec‑2026) and connection fees €1.4m + €18.8m (08‑Jan‑2029). The buyer reimburses deposits, fees and land at the exit (memo line).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RtB price 150 k€/MVA × 100 MVA, per the Bora scenarios meeting file (Bora!N5), confirmed 12‑Oct‑2026. Paid amounts at the RtB exit on 31‑Dec‑2029, in devex-file order. The participation fee is not recovered.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All-in cost of 1,642 / 1,612 k€ per built MW against a 2,450 k€/MW COD price; HTM NPV €13.4m / €17.2m at 8.0%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commitments reduce HTM NPV by €18.1m / €14.2m against the zero bid; construction is €150.9m / €148.3m of the all-in commitment.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070847" cy="43251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2463"/>
                <a:gridCol w="822960"/>
                <a:gridCol w="914400"/>
                <a:gridCol w="914400"/>
                <a:gridCol w="914400"/>
                <a:gridCol w="896112"/>
                <a:gridCol w="89611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Zero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BORA 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B1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Δ B2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 – sale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30.8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(13.9)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(11.0)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NPV – hold to maturity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31.4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13.4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17.2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(18.1)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(14.2)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All-in cost to COD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1,642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1,612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sale price per built 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k€/MW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Securities: cash posted and guarantees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Devex, land, signing and DD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 incl. connection fees, municipal and pre-COD lease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148.3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Financing: IDC, debt fees,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Memo, not in the commitment: PB lost pro rata, overbuild not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3990320" y="2240280"/>
            <a:ext cx="4224528" cy="1600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300" b="1">
                <a:solidFill>
                  <a:srgbClr val="3C3C3B"/>
                </a:solidFill>
                <a:latin typeface="Aptos"/>
              </a:rPr>
              <a:t>Sale at COD: </a:t>
            </a:r>
            <a:r>
              <a:rPr sz="1300" b="0">
                <a:solidFill>
                  <a:srgbClr val="3C3C3B"/>
                </a:solidFill>
                <a:latin typeface="Aptos"/>
              </a:rPr>
              <a:t>FEP proceeds of €124.4m / €127.2m on a €245.0m price, a 1.78x / 1.85x MOIC.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Hold to maturity: </a:t>
            </a:r>
            <a:r>
              <a:rPr sz="1300" b="0">
                <a:solidFill>
                  <a:srgbClr val="3C3C3B"/>
                </a:solidFill>
                <a:latin typeface="Aptos"/>
              </a:rPr>
              <a:t>4.89x / 5.13x MOIC; minimum DSCR 1.33x / 1.37x.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NPV at 8.0%. COD 30‑Sep‑2031, 100 MW built; PPA 90 €/MWh; gearing 60.0%. HTM includes the buy-out of the developer at the RtB exit date. The four breakdown lines sum to the all-in commitment on slide 2.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Unbuilt overbuild: €1.4m / €1.1m of PB and 33.8 / 28.6 MVA of connection right lost pro rata; a full call is unresolved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3886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Commitments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RtB exit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Economics – COD and HTM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base COD and HTM returns include the pro-rata PB loss; the lost MVA, any RtB price deduction and a possible group exclusion are not in the returns.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4489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572000"/>
                <a:gridCol w="4937760"/>
                <a:gridCol w="42062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Exposure (B1 / B2)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Mitigant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Overbuild not built: PB lost pro rata to the shortfall above 10% (Kiírás XII.12; GYIK Q28/30/44) – base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€1.4m / €1.1m, the PB on the extra MW.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PB at the 1.0x minimum. Part of the loss may be deducted from the RtB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 if the points-commitment rule (Kiírás XIII.17; GYIK Q72) also applies to the overbuild – unresolved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€7.0m / €6.1m: COD IRR 35.8% / 38.7%, HTM IRR 9.1% / 9.5%.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Downside case, not the base. PB at the minimum limits it.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3-year group exclusion (Kiírás VII.2 n; GYIK Q71)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Possible if the PB is called; unclear whether a pro-rata loss counts as a call. A call after COD would likely hit the group then holding the SPV.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Allocate it in the RtB SPA.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right lost pro rata (GYIK Q28/30)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33.8 / 28.6 MVA, in the pro-rata reading only (GYIK Q72: a full call keeps the right). Not reflected in generation or price.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The buyer can build the overbuild (card).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100 MVA group cap per node (Kiírás V.7; GYIK Q52)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Both bids are invalid if FEP, A.RES and the SPVs count as one company group.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Legal confirmation before submission.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scored on installed wind (GYIK Q20); BESS valued at cost only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Points 80.50 / 63.75, returns unchanged. BESS costs −6.5 / −5.1 pp of COD IRR with no BESS revenue.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Ranking risk only. Any BESS revenue is upside.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7360920"/>
            <a:ext cx="13716000" cy="1234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Why the base does not build the overbuild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/>
            </a:r>
            <a:r>
              <a:rPr sz="1300" b="0">
                <a:solidFill>
                  <a:srgbClr val="3C3C3B"/>
                </a:solidFill>
                <a:latin typeface="Aptos"/>
              </a:rPr>
              <a:t>The grid connection stays at 100 MVA. Building the overbuild lifts the all-in cost to COD from €164.2m / €161.2m to €217.9m / €203.3m. In that case COD IRR is 54.4% / 53.8% and HTM IRR is 11.5% / 11.6%. The build decision passes to the buyer at RtB.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Shortfall tested 6 months after COD. Pro rata = shortfall share × the wind PB (GYIK Q28/30). The full-call and overbuild-built figures are alternative cases.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Bora_Bid_Model.xlsm, 12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