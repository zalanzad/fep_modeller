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  <p:sldId id="263" r:id="rId7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Bora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BORA 1 and BORA 2 capacity bids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3600"/>
              </a:lnSpc>
            </a:pPr>
            <a:r>
              <a:rPr lang="en-GB" sz="2800" b="0" spc="-10" noProof="0" dirty="0">
                <a:solidFill>
                  <a:srgbClr val="FFFFFF"/>
                </a:solidFill>
                <a:latin typeface="Aptos"/>
                <a:cs typeface="Aptos"/>
              </a:rPr>
              <a:t>Approval of the tender commitments,</a:t>
            </a:r>
            <a:br/>
            <a:r>
              <a:rPr lang="en-GB" sz="2800" b="0" spc="-10" noProof="0" dirty="0">
                <a:solidFill>
                  <a:srgbClr val="FFFFFF"/>
                </a:solidFill>
                <a:latin typeface="Aptos"/>
                <a:cs typeface="Aptos"/>
              </a:rPr>
              <a:t>2 × 100 MVA, Szombathely OVIT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12‑Oct‑2026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Submit both bids with the same commitments at 85 points each: FEP earns €13.1m at the RtB exit, a 22.2% IRR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and capex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Against the zero bid, the commitments cost €0.8m of RtB profit and 3.0 pp of HTM IRR per bid, and add €31.9m per bid to the all-in commitment.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052560" cy="33924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005840"/>
                <a:gridCol w="1371600"/>
                <a:gridCol w="1371600"/>
                <a:gridCol w="13716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Zero bid, per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Both bids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Points (EU turbine)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 – RtB route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RtB route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25.8%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22.2%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sale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33.9%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hold to maturity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All-in commitment if built (securities, development, construction, financing)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147.8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179.7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3990320" y="2240280"/>
            <a:ext cx="4224528" cy="374903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Approval requested and timetable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Submit BORA 1 and BORA 2 by 30‑Oct‑2026, each with: </a:t>
            </a:r>
            <a:r>
              <a:rPr sz="1300" b="0">
                <a:solidFill>
                  <a:srgbClr val="3C3C3B"/>
                </a:solidFill>
                <a:latin typeface="Aptos"/>
              </a:rPr>
              <a:t>municipal 50 k€/MW; community 3.00 €/MWh; overbuild 51% (not built); BESS 51% of MVA, 4 h; PB at the 1.0x minimum; partial award, shared connection, EU turbines and transformers.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Day one, at submission (both bids): </a:t>
            </a:r>
            <a:r>
              <a:rPr sz="1300" b="0">
                <a:solidFill>
                  <a:srgbClr val="3C3C3B"/>
                </a:solidFill>
                <a:latin typeface="Aptos"/>
              </a:rPr>
              <a:t>participation fees €0.016m in cash and bid guarantees of €2.8m.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After award (13‑Dec‑2026), both bids: </a:t>
            </a:r>
            <a:r>
              <a:rPr sz="1300" b="0">
                <a:solidFill>
                  <a:srgbClr val="3C3C3B"/>
                </a:solidFill>
                <a:latin typeface="Aptos"/>
              </a:rPr>
              <a:t>PB guarantees of €14.0m by 28‑Dec‑2026, replacing the bid guarantees; TSO cash security of €2.5m by 30‑Dec‑2026.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share, EU turbine, base case (overbuild not built, BESS built, PB lost pro rata to the shortfall); RtB exit 31‑Dec‑2029. Zero bid = every commitment at its zero level. The two bids are identical, so IRRs are the same per bid and for both.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Municipal buys 20 points for 0.4 pp of HTM IRR; BESS (1.9 pp) and community (0.6 pp) carry the return cost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and capex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Each commitment is measured alone against the zero bid, per bid; the PB stays at the minimum because 2.0x adds 5 points for one more PB of guarantee.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4507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1371600"/>
                <a:gridCol w="1188720"/>
                <a:gridCol w="1188720"/>
                <a:gridCol w="1143000"/>
                <a:gridCol w="1143000"/>
                <a:gridCol w="1600200"/>
                <a:gridCol w="31546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 (per bid)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Offered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RtB profit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COD IRR pp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HTM IRR pp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deposits and guarantees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Logic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k€/MW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at COD, after the RtB exit: no FEP cash on the RtB route.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Community contribution (ÖSZ-2)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3.00 €/MWh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−2.6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−0.6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Operating cost after COD.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Overbuild (ÖSZ-3)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+1.4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built: the cost is the larger PB, lost pro rata to the shortfall.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power (ÖSZ-4), 4 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51% of MVA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+2.8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Sized with the overbuild and built; valued at cost, with no BESS revenue.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PB multiple (ÖSZ-6)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raised: 2.0x adds 5 points for one more PB of €7.0m of guarantee.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Partial award (ÖSZ-5), shared connection (ÖSZ-8), EU turbines / transformers (ÖSZ-9)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 / 5 / 12 / 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 cash or return impact. EU sourcing is in the base cost (turbine 600 k€/MW).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Full bid vs zero bid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(0.8)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−15.6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−3.0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The rows do not add to the total because the commitments interact.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Δ = zero bid plus that commitment alone, minus the zero bid. Zero levels: municipal 0, community 0, overbuild 0%, BESS 0%, PB 1.0x, yes/no items no. Δ deposits and guarantees = extra security posted, not a PB loss. ÖSZ-6: 5 points at 2.0x (Kiírás X.4 bf, Annex 4). Brownfield (ÖSZ-7) is not offered.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the RtB exit FEP earns €13.1m on both bids, a 1.25x MOIC; its interest claims are paid ahead of the 70/30 split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and capex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keeps 55 k€ and A.RES 23 k€ per installed wind MW; at a 100 k€/MVA RtB price, FEP's profit falls to €6.1m for both bids.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125712" cy="43251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02352"/>
                <a:gridCol w="822960"/>
                <a:gridCol w="1600200"/>
                <a:gridCol w="16002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Waterfall at the exit, 31‑Dec‑2029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Both bids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RtB price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sale costs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FEP interest claims (12% deposits, 20% / 2x devex, 6% guarantees)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(5.8)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(11.6)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DSA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(1.2)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Distributable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net: interest claims + 70%, less FEP-borne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A.RES: 30% + DSA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guarantee fees, signing and DD, tax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(1.8)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(3.6)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profit – RtB route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13.1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3990320" y="2240280"/>
            <a:ext cx="4224528" cy="2514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Cash to the exit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/>
            </a:r>
            <a:r>
              <a:rPr sz="1300" b="0">
                <a:solidFill>
                  <a:srgbClr val="3C3C3B"/>
                </a:solidFill>
                <a:latin typeface="Aptos"/>
              </a:rPr>
              <a:t>FEP funds the deposits, connection fees and land; the buyer reimburses €43.7m for both bids at the exit.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/>
            </a:r>
            <a:r>
              <a:rPr sz="1300" b="0">
                <a:solidFill>
                  <a:srgbClr val="3C3C3B"/>
                </a:solidFill>
                <a:latin typeface="Aptos"/>
              </a:rPr>
              <a:t>The largest outlay is the connection fees, €2.8m direct and €37.6m indirect, paid on 08‑Jan‑2029.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/>
            </a:r>
            <a:r>
              <a:rPr sz="1300" b="0">
                <a:solidFill>
                  <a:srgbClr val="3C3C3B"/>
                </a:solidFill>
                <a:latin typeface="Aptos"/>
              </a:rPr>
              <a:t>The buyer replaces the PB guarantee at the exit.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RtB price 150 k€/MVA × 100 MVA per bid, per the Bora scenarios meeting file (Bora!N5), confirmed 12‑Oct‑2026. Per-MW figures use 151 MW of installed wind per bid. The participation fee is not recovered.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Both bids need €146.8m of cash equity to COD and up to €14.0m of guarantees; all-in cost is 1,727 k€ per built MW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Funding and capex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€49.9m of the cash is spent by the RtB exit on 31‑Dec‑2029; on the build route, construction equity of €77.6m follows from NTP to COD.</a:t>
            </a:r>
          </a:p>
        </p:txBody>
      </p:sp>
      <p:graphicFrame>
        <p:nvGraphicFramePr>
          <p:cNvPr id="5" name="Funding"/>
          <p:cNvGraphicFramePr>
            <a:graphicFrameLocks noGrp="1"/>
          </p:cNvGraphicFramePr>
          <p:nvPr/>
        </p:nvGraphicFramePr>
        <p:xfrm>
          <a:off x="4498848" y="2240280"/>
          <a:ext cx="8732520" cy="51480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3703320"/>
                <a:gridCol w="1051560"/>
                <a:gridCol w="1325880"/>
                <a:gridCol w="13716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Date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Funding need – both bids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Cash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Guarantee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Cumulative cash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31‑Jul‑2026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Signing fee and DD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30‑Oct‑2026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Bid: participation fee (cash), bid guarantee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28‑Dec‑2026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Award: performance guarantee (bid guarantee released)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14.0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30‑Dec‑2026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request: TSO security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31‑Dec‑2026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Devex, land and contingency 2026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31‑Dec‑2027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Devex, land and contingency 2027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31‑Dec‑2028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Devex, land and contingency 2028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08‑Jan‑2029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HCSSZ: connection fees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31‑Dec‑2029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Devex, land and contingency 2029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30‑Sep‑2031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NTP → COD: construction equity (capex, lease less debt)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77.6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30‑Sep‑2031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NTP → COD: debt fees (IDC is debt-funded)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132.8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30‑Sep‑2031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 to COD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136.8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30‑Sep‑2031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COD: municipal one-off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146.8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cash equity to COD; peak guarantee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146.8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14.0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apex"/>
          <p:cNvGraphicFramePr>
            <a:graphicFrameLocks noGrp="1"/>
          </p:cNvGraphicFramePr>
          <p:nvPr/>
        </p:nvGraphicFramePr>
        <p:xfrm>
          <a:off x="13551408" y="2240280"/>
          <a:ext cx="4663440" cy="51480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005840"/>
                <a:gridCol w="10058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Capex to COD – both bids, 200 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Turbines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600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Installation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Foundations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18.0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Balance of plant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Owner's costs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Land, easements, pre-COD lease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Contingency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Substation and 132 kV bay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Development: devex, land, signing, securities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Financing: IDC, debt fees,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17.8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All-in cost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345.5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1,727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Both bids together, base case, build route. Cash = FEP equity; guarantees = bank guarantees outstanding (peak shown), not cash. IDC is debt-funded. k€/MW on 200 MW built.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Both bids clear the 8.0% discount rate: HTM IRR 8.9% and NPV €16.3m for both bids; a sale at COD returns 33.9%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and capex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Against the zero bid, the commitments reduce FEP's NPV by €18.1m on a sale at COD and €23.3m held to maturity, per bid.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125712" cy="2368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05072"/>
                <a:gridCol w="822960"/>
                <a:gridCol w="1143000"/>
                <a:gridCol w="10515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Zero bid, per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per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Both bids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sale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 /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33.9%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−15.6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 – sale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(18.1)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hold to maturity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 /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−3.0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NPV – hold to maturity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31.4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8.1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(23.3)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16.3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3990320" y="2240280"/>
            <a:ext cx="4224528" cy="1737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Per bid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Sale at COD: </a:t>
            </a:r>
            <a:r>
              <a:rPr sz="1300" b="0">
                <a:solidFill>
                  <a:srgbClr val="3C3C3B"/>
                </a:solidFill>
                <a:latin typeface="Aptos"/>
              </a:rPr>
              <a:t>FEP proceeds of €121.9m on a €245.0m price, a 1.66x MOIC.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Hold to maturity: </a:t>
            </a:r>
            <a:r>
              <a:rPr sz="1300" b="0">
                <a:solidFill>
                  <a:srgbClr val="3C3C3B"/>
                </a:solidFill>
                <a:latin typeface="Aptos"/>
              </a:rPr>
              <a:t>4.60x MOIC; minimum DSCR 1.26x.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NPV at 8.0%. COD 30‑Sep‑2031, 100 MW built per bid; PPA 90 €/MWh; gearing 60.0%. HTM includes the buy-out of the developer at the RtB exit date. Funding and capex to COD are on slide 5.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Unbuilt overbuild: both bids lose €2.8m of PB and 67.5 MVA of connection right pro rata; a full call is unresolved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and capex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base COD and HTM returns include the pro-rata PB loss; the lost MVA, any RtB price deduction and a possible group exclusion are not in the returns.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44897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0"/>
                <a:gridCol w="4937760"/>
                <a:gridCol w="42062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Risk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Exposure (per bid)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Mitigant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Overbuild not built: PB lost pro rata to the shortfall above 10% (Kiírás XII.12; GYIK Q28/30/44) – 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€1.4m, the PB on the extra MW.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PB at the 1.0x minimum. Part of the loss may be deducted from the RtB price.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PB call if the points-commitment rule (Kiírás XIII.17; GYIK Q72) also applies to the overbuild – unresolved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The whole PB: COD IRR 31.8%, HTM IRR 8.5%.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Downside case, not the base. PB at the minimum limits it.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3-year group exclusion (Kiírás VII.2 n; GYIK Q71)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Possible if the PB is called; unclear whether a pro-rata loss counts as a call. A call after COD would likely hit the group then holding the SPV.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Allocate it in the RtB SPA.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right lost pro rata (GYIK Q28/30)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33.8 MVA, in the pro-rata reading only (GYIK Q72: a full call keeps the right). Not reflected in generation or price.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The buyer can build the overbuild (card).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ÖSZ-4 scored on installed wind (GYIK Q20)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Points fall to 80.50; returns unchanged.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Ranking risk only; the commitment is the same.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valued at cost only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Its return cost (slide 3) excludes any BESS revenue or sale value.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Conservative: any BESS revenue is upside.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4498848" y="7360920"/>
            <a:ext cx="13716000" cy="1234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Why the base does not build the overbuild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/>
            </a:r>
            <a:r>
              <a:rPr sz="1300" b="0">
                <a:solidFill>
                  <a:srgbClr val="3C3C3B"/>
                </a:solidFill>
                <a:latin typeface="Aptos"/>
              </a:rPr>
              <a:t>The grid connection stays at 100 MVA. Building the overbuild lifts the all-in cost to COD from €172.7m to €226.4m per bid. In that case COD IRR is 51.4% and HTM IRR is 10.9%. The build decision passes to the buyer at RtB.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Shortfall tested 6 months after COD. Pro rata = shortfall share × the wind PB (GYIK Q28/30). The full-call and overbuild-built figures are alternative cases.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