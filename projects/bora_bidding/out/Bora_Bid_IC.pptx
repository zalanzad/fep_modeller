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77" r:id="rId4"/>
    <p:sldMasterId id="2147483676" r:id="rId5"/>
  </p:sldMasterIdLst>
  <p:notesMasterIdLst>
    <p:notesMasterId r:id="rId13"/>
  </p:notesMasterIdLst>
  <p:handoutMasterIdLst>
    <p:handoutMasterId r:id="rId14"/>
  </p:handoutMasterIdLst>
  <p:sldIdLst>
    <p:sldId id="257" r:id="rId6"/>
    <p:sldId id="258" r:id="rId12"/>
    <p:sldId id="259" r:id="rId11"/>
    <p:sldId id="260" r:id="rId10"/>
    <p:sldId id="261" r:id="rId9"/>
    <p:sldId id="262" r:id="rId8"/>
    <p:sldId id="263" r:id="rId7"/>
    <p:sldId id="264" r:id="rId21"/>
  </p:sldIdLst>
  <p:sldSz cx="20105688" cy="11310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562" userDrawn="1">
          <p15:clr>
            <a:srgbClr val="A4A3A4"/>
          </p15:clr>
        </p15:guide>
        <p15:guide id="2" pos="633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7CEBA77-0EB0-CD9A-B348-5737FB6F5DFF}" name="Szentirmai Dániel" initials="DS" userId="S::daniel.szentirmai@futurealgroup.com::e4a987b4-a5be-46be-85af-05dbdc723d0d" providerId="AD"/>
  <p188:author id="{C83FDAAA-8457-959D-A531-E1A9B1A8ED9F}" name="Alexander Gibbs" initials="AG" userId="S::alexander.gibbs@futurealgroup.com::45f5242f-161c-406b-bf69-4ed0d839e48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EA72E"/>
    <a:srgbClr val="00563C"/>
    <a:srgbClr val="E8E8E8"/>
    <a:srgbClr val="0053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3296810-A885-4BE3-A3E7-6D5BEEA58F35}" styleName="Közepesen sötét stílus 2 – 6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346" y="53"/>
      </p:cViewPr>
      <p:guideLst>
        <p:guide orient="horz" pos="3562"/>
        <p:guide pos="633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microsoft.com/office/2018/10/relationships/authors" Target="authors.xml"/><Relationship Id="rId21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ádeczki Zalán" userId="859bb901-d59a-4d05-86af-7c7fa75f15cc" providerId="ADAL" clId="{E470E0F3-1B55-4365-AA6F-980ABE4A6DBB}"/>
    <pc:docChg chg="modSld">
      <pc:chgData name="Zádeczki Zalán" userId="859bb901-d59a-4d05-86af-7c7fa75f15cc" providerId="ADAL" clId="{E470E0F3-1B55-4365-AA6F-980ABE4A6DBB}" dt="2026-04-21T07:28:57.393" v="0" actId="1076"/>
      <pc:docMkLst>
        <pc:docMk/>
      </pc:docMkLst>
      <pc:sldChg chg="modSp mod">
        <pc:chgData name="Zádeczki Zalán" userId="859bb901-d59a-4d05-86af-7c7fa75f15cc" providerId="ADAL" clId="{E470E0F3-1B55-4365-AA6F-980ABE4A6DBB}" dt="2026-04-21T07:28:57.393" v="0" actId="1076"/>
        <pc:sldMkLst>
          <pc:docMk/>
          <pc:sldMk cId="2832106109" sldId="316"/>
        </pc:sldMkLst>
        <pc:spChg chg="mod">
          <ac:chgData name="Zádeczki Zalán" userId="859bb901-d59a-4d05-86af-7c7fa75f15cc" providerId="ADAL" clId="{E470E0F3-1B55-4365-AA6F-980ABE4A6DBB}" dt="2026-04-21T07:28:57.393" v="0" actId="1076"/>
          <ac:spMkLst>
            <pc:docMk/>
            <pc:sldMk cId="2832106109" sldId="316"/>
            <ac:spMk id="7" creationId="{9C712E98-0880-E251-D893-E63AD1472F07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0C69F0A-753D-4D0A-E937-192AB0B195D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B5C423-415A-8E73-29C5-35785CB64AE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2B9B0E-0173-6448-B6CE-6FFDEF3DFC7C}" type="datetimeFigureOut">
              <a:rPr lang="hu-HU" smtClean="0"/>
              <a:t>2026. 10. 09.</a:t>
            </a:fld>
            <a:endParaRPr lang="hu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AD4182-9C29-5D16-7BAD-1DC5C2F06A4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BC83AC-DE2C-7165-9265-93700EAAB65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F7E15C-B816-EE44-A0DD-18B068892EE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47268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BDBD05-8D06-4AD0-9F7F-CE567DB23A8F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BA7ABA-3AE4-43F1-8148-8F32BDF4A57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7623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16303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856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430D23-6C94-E7D2-E011-50938D4089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03373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068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3">
            <a:extLst>
              <a:ext uri="{FF2B5EF4-FFF2-40B4-BE49-F238E27FC236}">
                <a16:creationId xmlns:a16="http://schemas.microsoft.com/office/drawing/2014/main" id="{C5F27261-9AF0-6EB2-713F-486F78006C79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520665" y="4942258"/>
            <a:ext cx="11583434" cy="6366298"/>
          </a:xfrm>
          <a:prstGeom prst="rect">
            <a:avLst/>
          </a:prstGeom>
        </p:spPr>
      </p:pic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61619E1-FB93-D0B1-A562-709B3CB802E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00000" y="2066114"/>
            <a:ext cx="5110181" cy="37112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20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DECA4B7-C217-E87C-BE98-ECFAC7D75F5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066611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DF2B1256-E455-F14C-DA27-04643C697B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9584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00000" y="2106613"/>
            <a:ext cx="82908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AE3D0A3-F667-55A1-9C2D-343A97FC6E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120576" y="2891632"/>
            <a:ext cx="5968799" cy="1170005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59D9EFFB-8C77-5ACF-8C26-4C9E9FE867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120576" y="4283971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0AEB47D1-319C-304A-3785-F8EC65694CA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120576" y="5184808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DA3241-C4F1-F459-5D91-7EC5148AD9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73350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828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291237" y="3955313"/>
            <a:ext cx="6851212" cy="4552838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7E4D72A-A4C5-4CE0-1DC5-685309E6ACC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82800" y="3955313"/>
            <a:ext cx="7240605" cy="4552838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B444AF4A-18BD-89AF-5CAF-F8416A0228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1846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2AC032-DF18-4A35-CA27-5654560CC0E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500000" y="3121296"/>
            <a:ext cx="14595474" cy="1258199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0C855FD-0FB1-B567-AAB2-4AAC261A61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215162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D77B3963-F925-BC86-DB81-A0E8035033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723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Picture Placeholder 4">
            <a:extLst>
              <a:ext uri="{FF2B5EF4-FFF2-40B4-BE49-F238E27FC236}">
                <a16:creationId xmlns:a16="http://schemas.microsoft.com/office/drawing/2014/main" id="{94541138-C940-BC02-754C-BCBAFB7BDC4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820101" y="2106613"/>
            <a:ext cx="82512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13B6016E-B0AF-721C-85CC-8DE92D8A88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106613"/>
            <a:ext cx="5968799" cy="45474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44D6315-84DC-775C-A51D-F101FDA30C8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00000" y="2928235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57649FED-5AF9-0BAF-7D1F-23B3D2CCD1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7716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C513D7C6-6F52-D314-C456-2E4EEE9C6A5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00000" y="2087563"/>
            <a:ext cx="14638605" cy="826928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50C817D-4A21-D2C8-B411-11678420F4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52893" y="2624138"/>
            <a:ext cx="6659562" cy="1847850"/>
          </a:xfrm>
          <a:prstGeom prst="rect">
            <a:avLst/>
          </a:prstGeom>
          <a:gradFill>
            <a:gsLst>
              <a:gs pos="0">
                <a:schemeClr val="accent2">
                  <a:alpha val="30000"/>
                </a:schemeClr>
              </a:gs>
              <a:gs pos="100000">
                <a:schemeClr val="accent1">
                  <a:lumMod val="88000"/>
                  <a:lumOff val="12000"/>
                  <a:alpha val="30000"/>
                </a:schemeClr>
              </a:gs>
            </a:gsLst>
            <a:lin ang="21594000" scaled="0"/>
          </a:gradFill>
        </p:spPr>
        <p:txBody>
          <a:bodyPr lIns="360000" tIns="0" rIns="0" bIns="0" anchor="ctr" anchorCtr="0"/>
          <a:lstStyle>
            <a:lvl1pPr marL="0" indent="0">
              <a:buNone/>
              <a:defRPr sz="2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 Master text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633254-15B8-F374-8FAC-EB824ADB8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030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858633A7-3D11-1220-3C5A-EDAB8D9145D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19050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2" name="Picture Placeholder 19">
            <a:extLst>
              <a:ext uri="{FF2B5EF4-FFF2-40B4-BE49-F238E27FC236}">
                <a16:creationId xmlns:a16="http://schemas.microsoft.com/office/drawing/2014/main" id="{87FD6E3D-6F9F-5EA9-AE10-8A97EC5F294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516352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3" name="Picture Placeholder 19">
            <a:extLst>
              <a:ext uri="{FF2B5EF4-FFF2-40B4-BE49-F238E27FC236}">
                <a16:creationId xmlns:a16="http://schemas.microsoft.com/office/drawing/2014/main" id="{66685B75-93B7-22A6-FA43-77CE7E9B2532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492389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4" name="Picture Placeholder 19">
            <a:extLst>
              <a:ext uri="{FF2B5EF4-FFF2-40B4-BE49-F238E27FC236}">
                <a16:creationId xmlns:a16="http://schemas.microsoft.com/office/drawing/2014/main" id="{649F82B6-0B11-1D9B-2756-1C27FA4535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519050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5" name="Picture Placeholder 19">
            <a:extLst>
              <a:ext uri="{FF2B5EF4-FFF2-40B4-BE49-F238E27FC236}">
                <a16:creationId xmlns:a16="http://schemas.microsoft.com/office/drawing/2014/main" id="{B50884DA-261D-F296-F9FF-8870DF570BC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516352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6" name="Picture Placeholder 19">
            <a:extLst>
              <a:ext uri="{FF2B5EF4-FFF2-40B4-BE49-F238E27FC236}">
                <a16:creationId xmlns:a16="http://schemas.microsoft.com/office/drawing/2014/main" id="{16C7E976-3EF1-4ABD-DBDF-4A18754D9393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4492389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6E1B915D-A732-5430-C55E-837F13D680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43709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8" name="Text Placeholder 28">
            <a:extLst>
              <a:ext uri="{FF2B5EF4-FFF2-40B4-BE49-F238E27FC236}">
                <a16:creationId xmlns:a16="http://schemas.microsoft.com/office/drawing/2014/main" id="{BB5AB633-0835-AA84-5117-DC61D0EB34FF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643709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2" name="Text Placeholder 28">
            <a:extLst>
              <a:ext uri="{FF2B5EF4-FFF2-40B4-BE49-F238E27FC236}">
                <a16:creationId xmlns:a16="http://schemas.microsoft.com/office/drawing/2014/main" id="{85BB3BB6-E61D-556C-8696-9480420C8E3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11639915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3" name="Text Placeholder 28">
            <a:extLst>
              <a:ext uri="{FF2B5EF4-FFF2-40B4-BE49-F238E27FC236}">
                <a16:creationId xmlns:a16="http://schemas.microsoft.com/office/drawing/2014/main" id="{ED45A816-C7D3-8E0C-0D0D-A3F78ECACAE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1639915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56F453A5-CE6D-DF7F-14CB-2D686920D7D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6617268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33E5179F-76C1-1B0B-A97B-930D04A7D0B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16617268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E267ADC1-AF57-08DA-3461-735A01E629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54202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8458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AC708B-19F4-8EF4-2753-507BDF8E8F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2102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8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17">
            <a:extLst>
              <a:ext uri="{FF2B5EF4-FFF2-40B4-BE49-F238E27FC236}">
                <a16:creationId xmlns:a16="http://schemas.microsoft.com/office/drawing/2014/main" id="{FED51FD9-DD91-984F-64F8-1561CC177398}"/>
              </a:ext>
            </a:extLst>
          </p:cNvPr>
          <p:cNvSpPr/>
          <p:nvPr userDrawn="1"/>
        </p:nvSpPr>
        <p:spPr>
          <a:xfrm>
            <a:off x="4500000" y="1413569"/>
            <a:ext cx="14659200" cy="0"/>
          </a:xfrm>
          <a:custGeom>
            <a:avLst/>
            <a:gdLst/>
            <a:ahLst/>
            <a:cxnLst/>
            <a:rect l="l" t="t" r="r" b="b"/>
            <a:pathLst>
              <a:path w="18104485">
                <a:moveTo>
                  <a:pt x="0" y="0"/>
                </a:moveTo>
                <a:lnTo>
                  <a:pt x="18104160" y="0"/>
                </a:lnTo>
              </a:path>
            </a:pathLst>
          </a:custGeom>
          <a:ln w="12700">
            <a:gradFill>
              <a:gsLst>
                <a:gs pos="100000">
                  <a:schemeClr val="accent1"/>
                </a:gs>
                <a:gs pos="0">
                  <a:schemeClr val="accent2"/>
                </a:gs>
              </a:gsLst>
              <a:lin ang="0" scaled="0"/>
            </a:gra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D5A937-B250-7022-4FC6-F9B79765E5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2607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>
            <a:extLst>
              <a:ext uri="{FF2B5EF4-FFF2-40B4-BE49-F238E27FC236}">
                <a16:creationId xmlns:a16="http://schemas.microsoft.com/office/drawing/2014/main" id="{E7403717-93A4-AAB0-5DA1-E3D59335FFA0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794"/>
            <a:ext cx="20104099" cy="11308556"/>
          </a:xfrm>
          <a:prstGeom prst="rect">
            <a:avLst/>
          </a:prstGeom>
        </p:spPr>
      </p:pic>
      <p:pic>
        <p:nvPicPr>
          <p:cNvPr id="5" name="object 5">
            <a:extLst>
              <a:ext uri="{FF2B5EF4-FFF2-40B4-BE49-F238E27FC236}">
                <a16:creationId xmlns:a16="http://schemas.microsoft.com/office/drawing/2014/main" id="{B8281C5C-DD60-55B1-3FC1-4EB141D94BC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873983" y="837670"/>
            <a:ext cx="8230115" cy="10470885"/>
          </a:xfrm>
          <a:prstGeom prst="rect">
            <a:avLst/>
          </a:prstGeom>
        </p:spPr>
      </p:pic>
      <p:pic>
        <p:nvPicPr>
          <p:cNvPr id="6" name="Picture 5" descr="A logo with white text&#10;&#10;AI-generated content may be incorrect.">
            <a:extLst>
              <a:ext uri="{FF2B5EF4-FFF2-40B4-BE49-F238E27FC236}">
                <a16:creationId xmlns:a16="http://schemas.microsoft.com/office/drawing/2014/main" id="{1FBC48BB-7B45-9563-3E74-6A7D75EA46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386" y="8474075"/>
            <a:ext cx="3450664" cy="2362200"/>
          </a:xfrm>
          <a:prstGeom prst="rect">
            <a:avLst/>
          </a:prstGeom>
        </p:spPr>
      </p:pic>
      <p:sp>
        <p:nvSpPr>
          <p:cNvPr id="7" name="object 16">
            <a:extLst>
              <a:ext uri="{FF2B5EF4-FFF2-40B4-BE49-F238E27FC236}">
                <a16:creationId xmlns:a16="http://schemas.microsoft.com/office/drawing/2014/main" id="{34703AC2-FA13-747C-85E7-7DB5CD624568}"/>
              </a:ext>
            </a:extLst>
          </p:cNvPr>
          <p:cNvSpPr txBox="1">
            <a:spLocks/>
          </p:cNvSpPr>
          <p:nvPr/>
        </p:nvSpPr>
        <p:spPr>
          <a:xfrm>
            <a:off x="818996" y="1956921"/>
            <a:ext cx="18466105" cy="10011074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ts val="9570"/>
              </a:lnSpc>
              <a:spcBef>
                <a:spcPts val="95"/>
              </a:spcBef>
            </a:pPr>
            <a:r>
              <a:rPr lang="en-GB" sz="8250" b="1" spc="-10" noProof="0" dirty="0">
                <a:solidFill>
                  <a:srgbClr val="FFFFFF"/>
                </a:solidFill>
                <a:latin typeface="Aptos" panose="020B0004020202020204" pitchFamily="34" charset="0"/>
                <a:cs typeface="Aptos"/>
              </a:rPr>
              <a:t>Project Bora</a:t>
            </a:r>
          </a:p>
          <a:p>
            <a:pPr marL="12700">
              <a:lnSpc>
                <a:spcPts val="5600"/>
              </a:lnSpc>
              <a:spcBef>
                <a:spcPts val="95"/>
              </a:spcBef>
            </a:pPr>
            <a:r>
              <a:rPr lang="en-GB" sz="4400" b="1" spc="-10" noProof="0" dirty="0">
                <a:solidFill>
                  <a:srgbClr val="FFFFFF"/>
                </a:solidFill>
                <a:latin typeface="Aptos"/>
                <a:cs typeface="Aptos"/>
              </a:rPr>
              <a:t>BORA 1 and BORA 2 capacity bids</a:t>
            </a:r>
            <a:endParaRPr lang="en-GB" sz="5400" b="1" noProof="0" dirty="0">
              <a:latin typeface="Aptos"/>
              <a:cs typeface="Aptos"/>
            </a:endParaRPr>
          </a:p>
          <a:p>
            <a:pPr marL="12700">
              <a:lnSpc>
                <a:spcPts val="3600"/>
              </a:lnSpc>
            </a:pPr>
            <a:r>
              <a:rPr lang="en-GB" sz="2800" b="0" spc="-10" noProof="0" dirty="0">
                <a:solidFill>
                  <a:srgbClr val="FFFFFF"/>
                </a:solidFill>
                <a:latin typeface="Aptos"/>
                <a:cs typeface="Aptos"/>
              </a:rPr>
              <a:t>Approval of the tender commitments,</a:t>
            </a:r>
            <a:br/>
            <a:r>
              <a:rPr lang="en-GB" sz="2800" b="0" spc="-10" noProof="0" dirty="0">
                <a:solidFill>
                  <a:srgbClr val="FFFFFF"/>
                </a:solidFill>
                <a:latin typeface="Aptos"/>
                <a:cs typeface="Aptos"/>
              </a:rPr>
              <a:t>2 × 100 MVA, Szombathely OVIT</a:t>
            </a: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r>
              <a:rPr lang="en-GB" sz="3200" b="0" spc="-10" noProof="0" dirty="0">
                <a:solidFill>
                  <a:srgbClr val="FFFFFF"/>
                </a:solidFill>
                <a:latin typeface="Aptos"/>
                <a:cs typeface="Aptos"/>
              </a:rPr>
              <a:t>12‑Oct‑2026</a:t>
            </a: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 algn="r">
              <a:lnSpc>
                <a:spcPts val="561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 algn="r">
              <a:lnSpc>
                <a:spcPct val="15000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>
              <a:lnSpc>
                <a:spcPct val="15000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718128318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Submit both bids with the same commitments at 85 points each: FEP earns €13.1m at the RtB exit, a 22.2% IRR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Commitments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RtB exit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and capex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COD and HTM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Against the zero bid, the commitments cost €0.8m of RtB profit and 3.0 pp of HTM IRR per bid, and add €31.9m per bid to the all-in commitment.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052560" cy="33924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005840"/>
                <a:gridCol w="1371600"/>
                <a:gridCol w="1371600"/>
                <a:gridCol w="137160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Zero bid, per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Both bids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Points (EU turbine)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 – RtB route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IRR – RtB route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25.8%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22.2%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IRR – sale at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49.6%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33.9%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IRR – hold to maturity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All-in commitment if built (securities, development, construction, financing)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147.8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179.7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359.5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3990320" y="2240280"/>
            <a:ext cx="4224528" cy="374903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Approval requested and timetable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Submit BORA 1 and BORA 2 by 30‑Oct‑2026, each with: </a:t>
            </a:r>
            <a:r>
              <a:rPr sz="1300" b="0">
                <a:solidFill>
                  <a:srgbClr val="3C3C3B"/>
                </a:solidFill>
                <a:latin typeface="Aptos"/>
              </a:rPr>
              <a:t>municipal 50 k€/MW; community 3.00 €/MWh; overbuild 51% (not built); BESS 51% of MVA, 4 h; PB at the 1.0x minimum; partial award, shared connection, EU turbines and transformers.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Day one, at submission (both bids): </a:t>
            </a:r>
            <a:r>
              <a:rPr sz="1300" b="0">
                <a:solidFill>
                  <a:srgbClr val="3C3C3B"/>
                </a:solidFill>
                <a:latin typeface="Aptos"/>
              </a:rPr>
              <a:t>participation fees €0.016m in cash and bid guarantees of €2.8m.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After award (13‑Dec‑2026), both bids: </a:t>
            </a:r>
            <a:r>
              <a:rPr sz="1300" b="0">
                <a:solidFill>
                  <a:srgbClr val="3C3C3B"/>
                </a:solidFill>
                <a:latin typeface="Aptos"/>
              </a:rPr>
              <a:t>PB guarantees of €14.0m by 28‑Dec‑2026, replacing the bid guarantees; TSO cash security of €2.5m by 30‑Dec‑2026.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Post-tax, FEP share, EU turbine, base case (overbuild not built, BESS built, PB lost pro rata to the shortfall); RtB exit 31‑Dec‑2029. Zero bid = every commitment at its zero level. The two bids are identical, so IRRs are the same per bid and for both.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Bora_Bid_Model.xlsm, 12 Oct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Municipal buys 20 points for 0.4 pp of HTM IRR; BESS (1.9 pp) and community (0.6 pp) carry the return cost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Commitments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RtB exit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and capex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COD and HTM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Each commitment is measured alone against the zero bid, per bid; the PB stays at the minimum because 2.0x adds 5 points for one more PB of guarantee.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45079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1371600"/>
                <a:gridCol w="1188720"/>
                <a:gridCol w="1188720"/>
                <a:gridCol w="1143000"/>
                <a:gridCol w="1143000"/>
                <a:gridCol w="1600200"/>
                <a:gridCol w="31546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Commitment (per bid)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Offered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Points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 RtB profit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 COD IRR pp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 HTM IRR pp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 deposits and guarantees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Logic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Municipal one-off (ÖSZ-1)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k€/MW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−1.2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−0.4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at COD, after the RtB exit: no FEP cash on the RtB route.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Community contribution (ÖSZ-2)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3.00 €/MWh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−2.6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−0.6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Operating cost after COD.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Overbuild (ÖSZ-3)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(0.5)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−0.2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+1.4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built: the cost is the larger PB, lost pro rata to the shortfall.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power (ÖSZ-4), 4 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51% of MVA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(0.4)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−10.2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−1.9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+2.8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Sized with the overbuild and built; valued at cost, with no BESS revenue.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PB multiple (ÖSZ-6)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raised: 2.0x adds 5 points for one more PB of €7.0m of guarantee.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Partial award (ÖSZ-5), shared connection (ÖSZ-8), EU turbines / transformers (ÖSZ-9)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yes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 / 5 / 12 / 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 cash or return impact. EU sourcing is in the base cost (turbine 600 k€/MW).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Full bid vs zero bid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(0.8)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−15.6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−3.0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The rows do not add to the total because the commitments interact.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Δ = zero bid plus that commitment alone, minus the zero bid. Zero levels: municipal 0, community 0, overbuild 0%, BESS 0%, PB 1.0x, yes/no items no. Δ deposits and guarantees = extra security posted, not a PB loss. ÖSZ-6: 5 points at 2.0x (Kiírás X.4 bf, Annex 4). Brownfield (ÖSZ-7) is not offered.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Bora_Bid_Model.xlsm, 12 Oct 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the RtB exit FEP earns €13.1m on both bids, a 1.25x MOIC; its interest claims are paid ahead of the 70/30 split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Commitments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Economics – RtB exit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and capex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COD and HTM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keeps 55 k€ and A.RES 23 k€ per installed wind MW; at a 100 k€/MVA RtB price, FEP's profit falls to €6.1m for both bids.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125712" cy="43251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102352"/>
                <a:gridCol w="822960"/>
                <a:gridCol w="1600200"/>
                <a:gridCol w="160020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Waterfall at the exit, 31‑Dec‑2029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Both bids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RtB price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Less sale costs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(0.5)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(1.0)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Less FEP interest claims (12% deposits, 20% / 2x devex, 6% guarantees)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(5.8)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(11.6)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Less DSA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(1.2)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(2.4)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Distributable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net: interest claims + 70%, less FEP-borne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16.7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A.RES: 30% + DSA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Less guarantee fees, signing and DD, tax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(1.8)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(3.6)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profit – RtB route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6.5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13.1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3990320" y="2240280"/>
            <a:ext cx="4224528" cy="2514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Cash to the exit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/>
            </a:r>
            <a:r>
              <a:rPr sz="1300" b="0">
                <a:solidFill>
                  <a:srgbClr val="3C3C3B"/>
                </a:solidFill>
                <a:latin typeface="Aptos"/>
              </a:rPr>
              <a:t>FEP funds the deposits, connection fees and land; the buyer reimburses €43.7m for both bids at the exit.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/>
            </a:r>
            <a:r>
              <a:rPr sz="1300" b="0">
                <a:solidFill>
                  <a:srgbClr val="3C3C3B"/>
                </a:solidFill>
                <a:latin typeface="Aptos"/>
              </a:rPr>
              <a:t>The largest outlay is the connection fees, €2.8m direct and €37.6m indirect, paid on 08‑Jan‑2029.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/>
            </a:r>
            <a:r>
              <a:rPr sz="1300" b="0">
                <a:solidFill>
                  <a:srgbClr val="3C3C3B"/>
                </a:solidFill>
                <a:latin typeface="Aptos"/>
              </a:rPr>
              <a:t>The buyer replaces the PB guarantee at the exit.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RtB price 150 k€/MVA × 100 MVA per bid, per the Bora scenarios meeting file (Bora!N5), confirmed 12‑Oct‑2026. Per-MW figures use 151 MW of installed wind per bid. The participation fee is not recovered.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Bora_Bid_Model.xlsm, 12 Oct 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Both bids need €146.8m of cash equity to COD and up to €14.0m of guarantees; all-in cost is 1,727 k€ per built MW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Commitments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RtB exit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Funding and capex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COD and HTM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€49.9m of the cash is spent by the RtB exit on 31‑Dec‑2029; on the build route, construction equity of €77.6m follows from NTP to COD.</a:t>
            </a:r>
          </a:p>
        </p:txBody>
      </p:sp>
      <p:graphicFrame>
        <p:nvGraphicFramePr>
          <p:cNvPr id="5" name="Funding"/>
          <p:cNvGraphicFramePr>
            <a:graphicFrameLocks noGrp="1"/>
          </p:cNvGraphicFramePr>
          <p:nvPr/>
        </p:nvGraphicFramePr>
        <p:xfrm>
          <a:off x="4498848" y="2240280"/>
          <a:ext cx="8732520" cy="51480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3703320"/>
                <a:gridCol w="1051560"/>
                <a:gridCol w="1325880"/>
                <a:gridCol w="137160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Date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Funding need – both bids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Cash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Guarantee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Cumulative cash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31‑Jul‑2026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Signing fee and DD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30‑Oct‑2026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Bid: participation fee (cash), bid guarantee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28‑Dec‑2026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Award: performance guarantee (bid guarantee released)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14.0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30‑Dec‑2026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request: TSO security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31‑Dec‑2026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Devex, land and contingency 2026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31‑Dec‑2027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Devex, land and contingency 2027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31‑Dec‑2028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Devex, land and contingency 2028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08‑Jan‑2029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HCSSZ: connection fees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49.3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31‑Dec‑2029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Devex, land and contingency 2029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49.9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30‑Sep‑2031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NTP → COD: construction equity (capex, lease less debt)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77.6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30‑Sep‑2031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NTP → COD: debt fees (IDC is debt-funded)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132.8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30‑Sep‑2031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Guarantee fees to COD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136.8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30‑Sep‑2031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COD: municipal one-off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146.8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cash equity to COD; peak guarantee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146.8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14.0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apex"/>
          <p:cNvGraphicFramePr>
            <a:graphicFrameLocks noGrp="1"/>
          </p:cNvGraphicFramePr>
          <p:nvPr/>
        </p:nvGraphicFramePr>
        <p:xfrm>
          <a:off x="13551408" y="2240280"/>
          <a:ext cx="4663440" cy="51480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1005840"/>
                <a:gridCol w="100584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Capex to COD – both bids, 200 MW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k€/MW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Turbines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600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Installation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16.0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Foundations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18.0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Balance of plant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Owner's costs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Land, easements, pre-COD lease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Contingency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Substation and 132 kV bay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Municipal one-off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Development: devex, land, signing, securities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Financing: IDC, debt fees, guarantee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17.8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All-in cost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345.5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1,727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Both bids together, base case, build route. Cash = FEP equity; guarantees = bank guarantees outstanding (peak shown), not cash. IDC is debt-funded. k€/MW on 200 MW built.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Bora_Bid_Model.xlsm, 12 Oct 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Both bids clear the 8.0% discount rate: HTM IRR 8.9% and NPV €16.3m for both bids; a sale at COD returns 33.9%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Commitments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RtB exit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and capex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Economics – COD and HTM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Against the zero bid, the commitments reduce FEP's NPV by €18.1m on a sale at COD and €23.3m held to maturity, per bid.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125712" cy="2368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05072"/>
                <a:gridCol w="822960"/>
                <a:gridCol w="1143000"/>
                <a:gridCol w="1051560"/>
                <a:gridCol w="1051560"/>
                <a:gridCol w="10515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Zero bid, per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 per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Both bids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IRR – sale at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 / pp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49.6%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33.9%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−15.6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 – sale at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44.6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(18.1)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53.1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IRR – hold to maturity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 / pp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−3.0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NPV – hold to maturity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31.4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8.1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(23.3)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16.3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3990320" y="2240280"/>
            <a:ext cx="4224528" cy="17373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Per bid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Sale at COD: </a:t>
            </a:r>
            <a:r>
              <a:rPr sz="1300" b="0">
                <a:solidFill>
                  <a:srgbClr val="3C3C3B"/>
                </a:solidFill>
                <a:latin typeface="Aptos"/>
              </a:rPr>
              <a:t>FEP proceeds of €121.9m on a €245.0m price, a 1.66x MOIC.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Hold to maturity: </a:t>
            </a:r>
            <a:r>
              <a:rPr sz="1300" b="0">
                <a:solidFill>
                  <a:srgbClr val="3C3C3B"/>
                </a:solidFill>
                <a:latin typeface="Aptos"/>
              </a:rPr>
              <a:t>4.60x MOIC; minimum DSCR 1.26x.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NPV at 8.0%. COD 30‑Sep‑2031, 100 MW built per bid; PPA 90 €/MWh; gearing 60.0%. HTM includes the buy-out of the developer at the RtB exit date. Funding and capex to COD are on slide 5.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Bora_Bid_Model.xlsm, 12 Oct 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Delivering nothing after award costs the full PB of €7.0m per bid but lifts HTM IRR from 8.9% to 12.1%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Commitments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RtB exit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and capex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COD and HTM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The BESS, municipal, community and EU-equipment costs fall away (€38.8m less to COD per bid); the price is €14.0m of PB called on both bids and a possible group exclusion.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125712" cy="3282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96512"/>
                <a:gridCol w="822960"/>
                <a:gridCol w="1280160"/>
                <a:gridCol w="1828800"/>
                <a:gridCol w="10972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Nothing delivered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PB called (base: pro-rata loss)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+5.6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All-in cost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172.7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134.0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(38.8)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IRR – sale at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 / pp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33.9%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+16.9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 – hold to maturity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 / pp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8.9%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12.1%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+3.2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 – hold to maturity at 8.0%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33.1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+24.9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3990320" y="2240280"/>
            <a:ext cx="4224528" cy="328269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Sanctions if nothing is delivered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Award and points stand: </a:t>
            </a:r>
            <a:r>
              <a:rPr sz="1300" b="0">
                <a:solidFill>
                  <a:srgbClr val="3C3C3B"/>
                </a:solidFill>
                <a:latin typeface="Aptos"/>
              </a:rPr>
              <a:t>the sanction falls on the PB, not on the award or the score.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Full PB call (Kiírás XIII.17; GYIK Q72): </a:t>
            </a:r>
            <a:r>
              <a:rPr sz="1300" b="0">
                <a:solidFill>
                  <a:srgbClr val="3C3C3B"/>
                </a:solidFill>
                <a:latin typeface="Aptos"/>
              </a:rPr>
              <a:t>any unproven points commitment calls the whole PB, wind and BESS.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Group exclusion (Kiírás VII.2 n; GYIK Q71): </a:t>
            </a:r>
            <a:r>
              <a:rPr sz="1300" b="0">
                <a:solidFill>
                  <a:srgbClr val="3C3C3B"/>
                </a:solidFill>
                <a:latin typeface="Aptos"/>
              </a:rPr>
              <a:t>a called PB can exclude the group from capacity tenders for three years; it hits the group holding the SPV at the time of the call.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Connection right kept (GYIK Q72): </a:t>
            </a:r>
            <a:r>
              <a:rPr sz="1300" b="0">
                <a:solidFill>
                  <a:srgbClr val="3C3C3B"/>
                </a:solidFill>
                <a:latin typeface="Aptos"/>
              </a:rPr>
              <a:t>a full call does not take the connection right.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Nothing delivered: the bid as submitted; after award no BESS, overbuild, municipal one-off or community contribution, and Chinese turbines and substation in capex. White labelling: the EU sale price at COD and the EU gearing are kept. RtB route unaffected. Base PB = pro-rata loss on the unbuilt overbuild. Zero bid for reference: COD IRR 49.6%, HTM IRR 11.9%.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Bora_Bid_Model.xlsm, 12 Oct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Unbuilt overbuild: both bids lose €2.8m of PB and 67.5 MVA of connection right pro rata; a full call is unresolved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Commitments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RtB exit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and capex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COD and HTM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The base COD and HTM returns include the pro-rata PB loss; the lost MVA, any RtB price deduction and a possible group exclusion are not in the returns.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44897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72000"/>
                <a:gridCol w="4937760"/>
                <a:gridCol w="420624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Risk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Exposure (per bid)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Mitigant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Overbuild not built: PB lost pro rata to the shortfall above 10% (Kiírás XII.12; GYIK Q28/30/44) – base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€1.4m, the PB on the extra MW.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PB at the 1.0x minimum. Part of the loss may be deducted from the RtB price.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Full PB call if the points-commitment rule (Kiírás XIII.17; GYIK Q72) also applies to the overbuild – unresolved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The whole PB: COD IRR 31.8%, HTM IRR 8.5%.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Downside case, not the base. PB at the minimum limits it.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3-year group exclusion (Kiírás VII.2 n; GYIK Q71)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Possible if the PB is called; unclear whether a pro-rata loss counts as a call. A call after COD would likely hit the group then holding the SPV.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Allocate it in the RtB SPA.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right lost pro rata (GYIK Q28/30)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33.8 MVA, in the pro-rata reading only (GYIK Q72: a full call keeps the right). Not reflected in generation or price.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The buyer can build the overbuild (card).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ÖSZ-4 scored on installed wind (GYIK Q20)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Points fall to 80.50; returns unchanged.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Ranking risk only; the commitment is the same.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valued at cost only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Its return cost (slide 3) excludes any BESS revenue or sale value.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Conservative: any BESS revenue is upside.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4498848" y="7360920"/>
            <a:ext cx="13716000" cy="1234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Why the base does not build the overbuild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/>
            </a:r>
            <a:r>
              <a:rPr sz="1300" b="0">
                <a:solidFill>
                  <a:srgbClr val="3C3C3B"/>
                </a:solidFill>
                <a:latin typeface="Aptos"/>
              </a:rPr>
              <a:t>The grid connection stays at 100 MVA. Building the overbuild lifts the all-in cost to COD from €172.7m to €226.4m per bid. In that case COD IRR is 51.4% and HTM IRR is 10.9%. The build decision passes to the buyer at RtB.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Shortfall tested 6 months after COD. Pro rata = shortfall share × the wind PB (GYIK Q28/30). The full-call and overbuild-built figures are alternative cases.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Bora_Bid_Model.xlsm, 12 Oct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FEP base">
  <a:themeElements>
    <a:clrScheme name="FEP">
      <a:dk1>
        <a:srgbClr val="3C3C3B"/>
      </a:dk1>
      <a:lt1>
        <a:srgbClr val="FFFFFF"/>
      </a:lt1>
      <a:dk2>
        <a:srgbClr val="0E2841"/>
      </a:dk2>
      <a:lt2>
        <a:srgbClr val="E8E8E8"/>
      </a:lt2>
      <a:accent1>
        <a:srgbClr val="00563C"/>
      </a:accent1>
      <a:accent2>
        <a:srgbClr val="00A651"/>
      </a:accent2>
      <a:accent3>
        <a:srgbClr val="799385"/>
      </a:accent3>
      <a:accent4>
        <a:srgbClr val="82CA9C"/>
      </a:accent4>
      <a:accent5>
        <a:srgbClr val="919191"/>
      </a:accent5>
      <a:accent6>
        <a:srgbClr val="CACACA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um" ma:contentTypeID="0x010100CB25C80BA76C054AAAC0D3CDDFCEC309" ma:contentTypeVersion="14" ma:contentTypeDescription="Új dokumentum létrehozása." ma:contentTypeScope="" ma:versionID="b04c3fe5a5d8daa439e4669e310e51c5">
  <xsd:schema xmlns:xsd="http://www.w3.org/2001/XMLSchema" xmlns:xs="http://www.w3.org/2001/XMLSchema" xmlns:p="http://schemas.microsoft.com/office/2006/metadata/properties" xmlns:ns2="3ba8be79-126f-4ecc-b268-0e8a1c9d820a" xmlns:ns3="348e42aa-7502-48aa-9973-d5430de63b43" targetNamespace="http://schemas.microsoft.com/office/2006/metadata/properties" ma:root="true" ma:fieldsID="b7d65723b2fd441c2730b2f9b66bba15" ns2:_="" ns3:_="">
    <xsd:import namespace="3ba8be79-126f-4ecc-b268-0e8a1c9d820a"/>
    <xsd:import namespace="348e42aa-7502-48aa-9973-d5430de63b43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a8be79-126f-4ecc-b268-0e8a1c9d820a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Résztvevők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Megosztva részletekkel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4c7780-c79f-4b81-a1cc-c56cb19b1b79}" ma:internalName="TaxCatchAll" ma:showField="CatchAllData" ma:web="3ba8be79-126f-4ecc-b268-0e8a1c9d820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8e42aa-7502-48aa-9973-d5430de63b4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Képcímkék" ma:readOnly="false" ma:fieldId="{5cf76f15-5ced-4ddc-b409-7134ff3c332f}" ma:taxonomyMulti="true" ma:sspId="88080c10-e0a6-4b42-beda-2db26c8ffc2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artalomtípus"/>
        <xsd:element ref="dc:title" minOccurs="0" maxOccurs="1" ma:index="4" ma:displayName="Cím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8e42aa-7502-48aa-9973-d5430de63b43">
      <Terms xmlns="http://schemas.microsoft.com/office/infopath/2007/PartnerControls"/>
    </lcf76f155ced4ddcb4097134ff3c332f>
    <TaxCatchAll xmlns="3ba8be79-126f-4ecc-b268-0e8a1c9d820a" xsi:nil="true"/>
  </documentManagement>
</p:properties>
</file>

<file path=customXml/itemProps1.xml><?xml version="1.0" encoding="utf-8"?>
<ds:datastoreItem xmlns:ds="http://schemas.openxmlformats.org/officeDocument/2006/customXml" ds:itemID="{0FDB0B0C-60B3-4153-B8BF-354313383EA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15DC757-8338-4BB9-BB28-498963EEAEB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ba8be79-126f-4ecc-b268-0e8a1c9d820a"/>
    <ds:schemaRef ds:uri="348e42aa-7502-48aa-9973-d5430de63b4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51DE518-529C-4DF1-8960-0E6216B00ED8}">
  <ds:schemaRefs>
    <ds:schemaRef ds:uri="348e42aa-7502-48aa-9973-d5430de63b43"/>
    <ds:schemaRef ds:uri="3ba8be79-126f-4ecc-b268-0e8a1c9d820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42728984-5573-4501-93e1-26196c1472d0}" enabled="0" method="" siteId="{42728984-5573-4501-93e1-26196c1472d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15504</TotalTime>
  <Words>2227</Words>
  <Application>Microsoft Office PowerPoint</Application>
  <PresentationFormat>Custom</PresentationFormat>
  <Paragraphs>474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Black</vt:lpstr>
      <vt:lpstr>Arial</vt:lpstr>
      <vt:lpstr>Blank</vt:lpstr>
      <vt:lpstr>FEP base</vt:lpstr>
      <vt:lpstr>PowerPoint Presentation</vt:lpstr>
      <vt:lpstr>Technical overview and tender bid</vt:lpstr>
      <vt:lpstr>European vs Chinese turbine – sale at COD</vt:lpstr>
      <vt:lpstr>Revenue and returns by case</vt:lpstr>
      <vt:lpstr>Sensitivity – FEP IRR</vt:lpstr>
      <vt:lpstr>Sensitivity – FEP MOIC</vt:lpstr>
      <vt:lpstr>Sensitivity – all values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FEP IC template</dc:title>
  <dc:creator>FEP</dc:creator>
  <cp:lastModifiedBy>FEP</cp:lastModifiedBy>
  <cp:revision>3</cp:revision>
  <dcterms:created xsi:type="dcterms:W3CDTF">2025-05-21T13:33:01Z</dcterms:created>
  <dcterms:modified xsi:type="dcterms:W3CDTF">2026-10-09T14:02:16Z</dcterms:modified>
  <dc:subject/>
  <cp:keywords/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0x010100CB25C80BA76C054AAAC0D3CDDFCEC309</vt:lpwstr>
  </property>
  <property fmtid="{D5CDD505-2E9C-101B-9397-08002B2CF9AE}" pid="3" name="MediaServiceImageTags">
    <vt:lpwstr/>
  </property>
</Properties>
</file>