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at 85 / 85 points: FEP earns €6.5m / €6.5m at the RtB exit, a 22.2% / 22.2%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/ €0.8m of RtB profit and 2.4 / 2.4 pp of HTM IRR, and add €23.4m / €23.4m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both bids by 30‑Oct‑2026: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/ 3.00 €/MWh; overbuild 51% / 51% (not built); BESS 51% / 51%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 €0.008m per bid (cash) and bid guarantee €1.4m / €1.4m.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 €7.0m / €7.0m by 28‑Dec‑2026, which replaces the bid guarantee; TSO cash security €1.2m per bid by 30‑Dec‑2026.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Before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legal confirmation that the two bids sit within the 100 MVA group cap per node.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 on BORA 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bid; the PB stays at the 1.0x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764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1783080"/>
                <a:gridCol w="1097280"/>
                <a:gridCol w="1188720"/>
                <a:gridCol w="1097280"/>
                <a:gridCol w="1097280"/>
                <a:gridCol w="1417320"/>
                <a:gridCol w="32004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/ 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 / 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/ 3.00 €/MWh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 / −2.6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 / −0.6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 At the band floor, BORA 2 earns 15 points.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51%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 / 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 / −1.1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 / 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 / +1.4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51%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 / 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 / −6.5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 / +2.8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/ 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/ €7.0m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 each bid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 / 85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 / (0.8)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 / −11.7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 / −2.4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recovers its cash and earns €6.5m / €6.5m, a 1.25x / 1.25x MOIC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Of the €15.0m exit premium per bid, FEP nets €8.4m / €8.4m and A.RES €3.4m / €3.4m; at a 100 k€/MVA premium FEP's RtB profit falls to €3.0m / €3.0m.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580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392"/>
                <a:gridCol w="73152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RtB exit waterfall (paid)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Memo: buyer reimbursement (deposits, fees, land)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premium (RtB price)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12% on deposits and connection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20% / 2× on devex and land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6% on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claims, total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70%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FEP-borne devex principal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net = claims + 70% −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 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A.RES total =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Securities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Bid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€1.4m / €1.4m, 30‑Oct‑2026 to 28‑Dec‑2026.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PB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€7.0m / €7.0m from 28‑Dec‑2026; the buyer replaces it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Cash: </a:t>
            </a:r>
            <a:r>
              <a:rPr sz="1300" b="0">
                <a:solidFill>
                  <a:srgbClr val="3C3C3B"/>
                </a:solidFill>
                <a:latin typeface="Aptos"/>
              </a:rPr>
              <a:t>TSO security €1.2m (30‑Dec‑2026) and connection fees €1.4m + €18.8m (08‑Jan‑2029). The buyer reimburses deposits, fees and land at the exit (memo line).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MVA, per the Bora scenarios meeting file (Bora!N5), confirmed 12‑Oct‑2026. Paid amounts at the RtB exit on 31‑Dec‑2029, in devex-file order.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All-in cost of 1,642 / 1,642 k€ per built MW against a 2,450 k€/MW COD price; HTM NPV €13.4m / €13.4m at 8.0%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commitments reduce HTM NPV by €18.1m / €18.1m against the zero bid; construction is €150.9m / €150.9m of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70847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2463"/>
                <a:gridCol w="822960"/>
                <a:gridCol w="914400"/>
                <a:gridCol w="914400"/>
                <a:gridCol w="914400"/>
                <a:gridCol w="896112"/>
                <a:gridCol w="89611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sale price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Securities: cash posted and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land, signing and DD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 incl. connection fees, municipal and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Memo, not in the commitment: PB lost pro rata, overbuild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/ €124.4m on a €245.0m price, a 1.78x / 1.78x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/ 4.89x MOIC; minimum DSCR 1.33x / 1.33x.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built; PPA 90 €/MWh; gearing 60.0%. HTM includes the buy-out of the developer at the RtB exit date. The four breakdown lines sum to the all-in commitment on slide 2.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€1.4m / €1.4m of PB and 33.8 / 33.8 MVA of connection right lost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 / €1.4m,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€7.0m / €7.0m: COD IRR 35.8% / 35.8%, HTM IRR 9.1% / 9.1%.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/ 33.8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 MVA group cap per node (Kiírás V.7; GYIK Q52)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Both bids are invalid if FEP, A.RES and the SPVs count as one company group.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Legal confirmation before submission.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Q20); 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80.50 / 80.50, returns unchanged. BESS costs −6.5 / −6.5 pp of COD IRR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only.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/ €164.2m to €217.9m / €217.9m. In that case COD IRR is 54.4% / 54.4% and HTM IRR is 11.5% / 11.5%.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