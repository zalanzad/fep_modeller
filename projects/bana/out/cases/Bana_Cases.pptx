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7" r:id="rId4"/>
    <p:sldMasterId id="2147483676" r:id="rId5"/>
  </p:sldMasterIdLst>
  <p:notesMasterIdLst>
    <p:notesMasterId r:id="rId13"/>
  </p:notesMasterIdLst>
  <p:handoutMasterIdLst>
    <p:handoutMasterId r:id="rId14"/>
  </p:handoutMasterIdLst>
  <p:sldIdLst>
    <p:sldId id="257" r:id="rId6"/>
    <p:sldId id="258" r:id="rId12"/>
    <p:sldId id="259" r:id="rId11"/>
    <p:sldId id="260" r:id="rId10"/>
    <p:sldId id="261" r:id="rId9"/>
  </p:sldIdLst>
  <p:sldSz cx="20105688" cy="113109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62" userDrawn="1">
          <p15:clr>
            <a:srgbClr val="A4A3A4"/>
          </p15:clr>
        </p15:guide>
        <p15:guide id="2" pos="63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7CEBA77-0EB0-CD9A-B348-5737FB6F5DFF}" name="Szentirmai Dániel" initials="DS" userId="S::daniel.szentirmai@futurealgroup.com::e4a987b4-a5be-46be-85af-05dbdc723d0d" providerId="AD"/>
  <p188:author id="{C83FDAAA-8457-959D-A531-E1A9B1A8ED9F}" name="Alexander Gibbs" initials="AG" userId="S::alexander.gibbs@futurealgroup.com::45f5242f-161c-406b-bf69-4ed0d839e48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A72E"/>
    <a:srgbClr val="00563C"/>
    <a:srgbClr val="E8E8E8"/>
    <a:srgbClr val="0053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Közepesen sötét stílus 2 – 6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346" y="53"/>
      </p:cViewPr>
      <p:guideLst>
        <p:guide orient="horz" pos="3562"/>
        <p:guide pos="63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ádeczki Zalán" userId="859bb901-d59a-4d05-86af-7c7fa75f15cc" providerId="ADAL" clId="{E470E0F3-1B55-4365-AA6F-980ABE4A6DBB}"/>
    <pc:docChg chg="modSld">
      <pc:chgData name="Zádeczki Zalán" userId="859bb901-d59a-4d05-86af-7c7fa75f15cc" providerId="ADAL" clId="{E470E0F3-1B55-4365-AA6F-980ABE4A6DBB}" dt="2026-04-21T07:28:57.393" v="0" actId="1076"/>
      <pc:docMkLst>
        <pc:docMk/>
      </pc:docMkLst>
      <pc:sldChg chg="modSp mod">
        <pc:chgData name="Zádeczki Zalán" userId="859bb901-d59a-4d05-86af-7c7fa75f15cc" providerId="ADAL" clId="{E470E0F3-1B55-4365-AA6F-980ABE4A6DBB}" dt="2026-04-21T07:28:57.393" v="0" actId="1076"/>
        <pc:sldMkLst>
          <pc:docMk/>
          <pc:sldMk cId="2832106109" sldId="316"/>
        </pc:sldMkLst>
        <pc:spChg chg="mod">
          <ac:chgData name="Zádeczki Zalán" userId="859bb901-d59a-4d05-86af-7c7fa75f15cc" providerId="ADAL" clId="{E470E0F3-1B55-4365-AA6F-980ABE4A6DBB}" dt="2026-04-21T07:28:57.393" v="0" actId="1076"/>
          <ac:spMkLst>
            <pc:docMk/>
            <pc:sldMk cId="2832106109" sldId="316"/>
            <ac:spMk id="7" creationId="{9C712E98-0880-E251-D893-E63AD1472F07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3C3C3B"/>
                </a:solidFill>
                <a:latin typeface="Aptos"/>
              </a:rPr>
              <a:t>FEP IRR, hold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European turbine</c:v>
                </c:pt>
              </c:strCache>
            </c:strRef>
          </c:tx>
          <c:spPr>
            <a:solidFill>
              <a:srgbClr val="00563C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Case 1</c:v>
                </c:pt>
                <c:pt idx="1">
                  <c:v>Case 2</c:v>
                </c:pt>
                <c:pt idx="2">
                  <c:v>Case 3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0.0758104971930004</c:v>
                </c:pt>
                <c:pt idx="1">
                  <c:v>0.123756147790438</c:v>
                </c:pt>
                <c:pt idx="2">
                  <c:v>0.16064879938868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Chinese turbine</c:v>
                </c:pt>
              </c:strCache>
            </c:strRef>
          </c:tx>
          <c:spPr>
            <a:solidFill>
              <a:srgbClr val="00A651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Case 1</c:v>
                </c:pt>
                <c:pt idx="1">
                  <c:v>Case 2</c:v>
                </c:pt>
                <c:pt idx="2">
                  <c:v>Case 3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0.113692971306157</c:v>
                </c:pt>
                <c:pt idx="1">
                  <c:v>0.173375118285733</c:v>
                </c:pt>
                <c:pt idx="2">
                  <c:v>0.220267856774125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/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3C3C3B"/>
          </a:solidFill>
          <a:latin typeface="Aptos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C69F0A-753D-4D0A-E937-192AB0B195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B5C423-415A-8E73-29C5-35785CB64A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B9B0E-0173-6448-B6CE-6FFDEF3DFC7C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D4182-9C29-5D16-7BAD-1DC5C2F06A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C83AC-DE2C-7165-9265-93700EAAB6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F7E15C-B816-EE44-A0DD-18B068892E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47268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DBD05-8D06-4AD0-9F7F-CE567DB23A8F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A7ABA-3AE4-43F1-8148-8F32BDF4A5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623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B80CFB-4B2B-A473-B8AE-23147E9EE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63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A530C-C9E9-8EDB-5821-11A963C1A1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0" y="3417835"/>
            <a:ext cx="10058400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5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430D23-6C94-E7D2-E011-50938D408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33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A530C-C9E9-8EDB-5821-11A963C1A1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0" y="3417835"/>
            <a:ext cx="10058400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068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3">
            <a:extLst>
              <a:ext uri="{FF2B5EF4-FFF2-40B4-BE49-F238E27FC236}">
                <a16:creationId xmlns:a16="http://schemas.microsoft.com/office/drawing/2014/main" id="{C5F27261-9AF0-6EB2-713F-486F78006C79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520665" y="4942258"/>
            <a:ext cx="11583434" cy="6366298"/>
          </a:xfrm>
          <a:prstGeom prst="rect">
            <a:avLst/>
          </a:prstGeom>
        </p:spPr>
      </p:pic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A530C-C9E9-8EDB-5821-11A963C1A1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0" y="3014714"/>
            <a:ext cx="5110181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61619E1-FB93-D0B1-A562-709B3CB802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00000" y="2066114"/>
            <a:ext cx="5110181" cy="37112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ptos" panose="020B0004020202020204" pitchFamily="34" charset="0"/>
              <a:buNone/>
              <a:tabLst/>
              <a:defRPr sz="2000" b="1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DECA4B7-C217-E87C-BE98-ECFAC7D75F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66611" y="3014714"/>
            <a:ext cx="5110181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F2B1256-E455-F14C-DA27-04643C697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58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DEB9E5-1C75-93D8-7926-E2F4E629B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0000" y="2106613"/>
            <a:ext cx="8290800" cy="825023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AE3D0A3-F667-55A1-9C2D-343A97FC6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120576" y="2891632"/>
            <a:ext cx="5968799" cy="1170005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800" b="1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9D9EFFB-8C77-5ACF-8C26-4C9E9FE867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120576" y="4283971"/>
            <a:ext cx="5968799" cy="574582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AEB47D1-319C-304A-3785-F8EC65694C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20576" y="5184808"/>
            <a:ext cx="5968799" cy="1046923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DA3241-C4F1-F459-5D91-7EC5148AD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33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+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828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DEB9E5-1C75-93D8-7926-E2F4E629B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91237" y="3955313"/>
            <a:ext cx="6851212" cy="4552838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7E4D72A-A4C5-4CE0-1DC5-685309E6AC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82800" y="3955313"/>
            <a:ext cx="7240605" cy="4552838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B444AF4A-18BD-89AF-5CAF-F8416A022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184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AC032-DF18-4A35-CA27-5654560CC0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00000" y="3121296"/>
            <a:ext cx="14595474" cy="1258199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800" b="1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C855FD-0FB1-B567-AAB2-4AAC261A61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0" y="2215162"/>
            <a:ext cx="5968799" cy="574582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77B3963-F925-BC86-DB81-A0E803503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72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94541138-C940-BC02-754C-BCBAFB7BDC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20101" y="2106613"/>
            <a:ext cx="8251200" cy="825023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3B6016E-B0AF-721C-85CC-8DE92D8A8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0" y="2106613"/>
            <a:ext cx="5968799" cy="45474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Font typeface="Aptos" panose="020B0004020202020204" pitchFamily="34" charset="0"/>
              <a:buNone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4D6315-84DC-775C-A51D-F101FDA30C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00000" y="2928235"/>
            <a:ext cx="5968799" cy="1046923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7649FED-5AF9-0BAF-7D1F-23B3D2CCD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716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513D7C6-6F52-D314-C456-2E4EEE9C6A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00000" y="2087563"/>
            <a:ext cx="14638605" cy="826928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0C817D-4A21-D2C8-B411-11678420F4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2893" y="2624138"/>
            <a:ext cx="6659562" cy="1847850"/>
          </a:xfrm>
          <a:prstGeom prst="rect">
            <a:avLst/>
          </a:prstGeom>
          <a:gradFill>
            <a:gsLst>
              <a:gs pos="0">
                <a:schemeClr val="accent2">
                  <a:alpha val="30000"/>
                </a:schemeClr>
              </a:gs>
              <a:gs pos="100000">
                <a:schemeClr val="accent1">
                  <a:lumMod val="88000"/>
                  <a:lumOff val="12000"/>
                  <a:alpha val="30000"/>
                </a:schemeClr>
              </a:gs>
            </a:gsLst>
            <a:lin ang="21594000" scaled="0"/>
          </a:gradFill>
        </p:spPr>
        <p:txBody>
          <a:bodyPr lIns="360000" tIns="0" rIns="0" bIns="0" anchor="ctr" anchorCtr="0"/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633254-15B8-F374-8FAC-EB824ADB8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030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58633A7-3D11-1220-3C5A-EDAB8D9145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19050" y="260540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2" name="Picture Placeholder 19">
            <a:extLst>
              <a:ext uri="{FF2B5EF4-FFF2-40B4-BE49-F238E27FC236}">
                <a16:creationId xmlns:a16="http://schemas.microsoft.com/office/drawing/2014/main" id="{87FD6E3D-6F9F-5EA9-AE10-8A97EC5F294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516352" y="260540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3" name="Picture Placeholder 19">
            <a:extLst>
              <a:ext uri="{FF2B5EF4-FFF2-40B4-BE49-F238E27FC236}">
                <a16:creationId xmlns:a16="http://schemas.microsoft.com/office/drawing/2014/main" id="{66685B75-93B7-22A6-FA43-77CE7E9B253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492389" y="260540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4" name="Picture Placeholder 19">
            <a:extLst>
              <a:ext uri="{FF2B5EF4-FFF2-40B4-BE49-F238E27FC236}">
                <a16:creationId xmlns:a16="http://schemas.microsoft.com/office/drawing/2014/main" id="{649F82B6-0B11-1D9B-2756-1C27FA4535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19050" y="622047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5" name="Picture Placeholder 19">
            <a:extLst>
              <a:ext uri="{FF2B5EF4-FFF2-40B4-BE49-F238E27FC236}">
                <a16:creationId xmlns:a16="http://schemas.microsoft.com/office/drawing/2014/main" id="{B50884DA-261D-F296-F9FF-8870DF570BC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516352" y="622047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6" name="Picture Placeholder 19">
            <a:extLst>
              <a:ext uri="{FF2B5EF4-FFF2-40B4-BE49-F238E27FC236}">
                <a16:creationId xmlns:a16="http://schemas.microsoft.com/office/drawing/2014/main" id="{16C7E976-3EF1-4ABD-DBDF-4A18754D939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492389" y="622047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6E1B915D-A732-5430-C55E-837F13D680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3709" y="5647440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8" name="Text Placeholder 28">
            <a:extLst>
              <a:ext uri="{FF2B5EF4-FFF2-40B4-BE49-F238E27FC236}">
                <a16:creationId xmlns:a16="http://schemas.microsoft.com/office/drawing/2014/main" id="{BB5AB633-0835-AA84-5117-DC61D0EB34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3709" y="9271173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" name="Text Placeholder 28">
            <a:extLst>
              <a:ext uri="{FF2B5EF4-FFF2-40B4-BE49-F238E27FC236}">
                <a16:creationId xmlns:a16="http://schemas.microsoft.com/office/drawing/2014/main" id="{85BB3BB6-E61D-556C-8696-9480420C8E3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1639915" y="5647440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3" name="Text Placeholder 28">
            <a:extLst>
              <a:ext uri="{FF2B5EF4-FFF2-40B4-BE49-F238E27FC236}">
                <a16:creationId xmlns:a16="http://schemas.microsoft.com/office/drawing/2014/main" id="{ED45A816-C7D3-8E0C-0D0D-A3F78ECACAE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1639915" y="9271173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56F453A5-CE6D-DF7F-14CB-2D686920D7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6617268" y="5647440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33E5179F-76C1-1B0B-A97B-930D04A7D0B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6617268" y="9271173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267ADC1-AF57-08DA-3461-735A01E62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420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B80CFB-4B2B-A473-B8AE-23147E9EE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458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AC708B-19F4-8EF4-2753-507BDF8E8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10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7">
            <a:extLst>
              <a:ext uri="{FF2B5EF4-FFF2-40B4-BE49-F238E27FC236}">
                <a16:creationId xmlns:a16="http://schemas.microsoft.com/office/drawing/2014/main" id="{FED51FD9-DD91-984F-64F8-1561CC177398}"/>
              </a:ext>
            </a:extLst>
          </p:cNvPr>
          <p:cNvSpPr/>
          <p:nvPr userDrawn="1"/>
        </p:nvSpPr>
        <p:spPr>
          <a:xfrm>
            <a:off x="4500000" y="1413569"/>
            <a:ext cx="14659200" cy="0"/>
          </a:xfrm>
          <a:custGeom>
            <a:avLst/>
            <a:gdLst/>
            <a:ahLst/>
            <a:cxnLst/>
            <a:rect l="l" t="t" r="r" b="b"/>
            <a:pathLst>
              <a:path w="18104485">
                <a:moveTo>
                  <a:pt x="0" y="0"/>
                </a:moveTo>
                <a:lnTo>
                  <a:pt x="18104160" y="0"/>
                </a:lnTo>
              </a:path>
            </a:pathLst>
          </a:custGeom>
          <a:ln w="12700">
            <a:gradFill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D5A937-B250-7022-4FC6-F9B79765E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6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E7403717-93A4-AAB0-5DA1-E3D59335FFA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794"/>
            <a:ext cx="20104099" cy="11308556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8281C5C-DD60-55B1-3FC1-4EB141D94B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3983" y="837670"/>
            <a:ext cx="8230115" cy="10470885"/>
          </a:xfrm>
          <a:prstGeom prst="rect">
            <a:avLst/>
          </a:prstGeom>
        </p:spPr>
      </p:pic>
      <p:pic>
        <p:nvPicPr>
          <p:cNvPr id="6" name="Picture 5" descr="A logo with white text&#10;&#10;AI-generated content may be incorrect.">
            <a:extLst>
              <a:ext uri="{FF2B5EF4-FFF2-40B4-BE49-F238E27FC236}">
                <a16:creationId xmlns:a16="http://schemas.microsoft.com/office/drawing/2014/main" id="{1FBC48BB-7B45-9563-3E74-6A7D75EA46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86" y="8474075"/>
            <a:ext cx="3450664" cy="2362200"/>
          </a:xfrm>
          <a:prstGeom prst="rect">
            <a:avLst/>
          </a:prstGeom>
        </p:spPr>
      </p:pic>
      <p:sp>
        <p:nvSpPr>
          <p:cNvPr id="7" name="object 16">
            <a:extLst>
              <a:ext uri="{FF2B5EF4-FFF2-40B4-BE49-F238E27FC236}">
                <a16:creationId xmlns:a16="http://schemas.microsoft.com/office/drawing/2014/main" id="{34703AC2-FA13-747C-85E7-7DB5CD624568}"/>
              </a:ext>
            </a:extLst>
          </p:cNvPr>
          <p:cNvSpPr txBox="1">
            <a:spLocks/>
          </p:cNvSpPr>
          <p:nvPr/>
        </p:nvSpPr>
        <p:spPr>
          <a:xfrm>
            <a:off x="818996" y="1956921"/>
            <a:ext cx="18466105" cy="10011074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ts val="9570"/>
              </a:lnSpc>
              <a:spcBef>
                <a:spcPts val="95"/>
              </a:spcBef>
            </a:pPr>
            <a:r>
              <a:rPr lang="en-GB" sz="8250" b="1" spc="-10" noProof="0" dirty="0">
                <a:solidFill>
                  <a:srgbClr val="FFFFFF"/>
                </a:solidFill>
                <a:latin typeface="Aptos" panose="020B0004020202020204" pitchFamily="34" charset="0"/>
                <a:cs typeface="Aptos"/>
              </a:rPr>
              <a:t>Project Bana</a:t>
            </a:r>
          </a:p>
          <a:p>
            <a:pPr marL="12700">
              <a:lnSpc>
                <a:spcPts val="5600"/>
              </a:lnSpc>
              <a:spcBef>
                <a:spcPts val="95"/>
              </a:spcBef>
            </a:pPr>
            <a:r>
              <a:rPr lang="en-GB" sz="4400" b="1" spc="-10" noProof="0" dirty="0">
                <a:solidFill>
                  <a:srgbClr val="FFFFFF"/>
                </a:solidFill>
                <a:latin typeface="Aptos"/>
                <a:cs typeface="Aptos"/>
              </a:rPr>
              <a:t>Three cases: base, zero bid and 20 %+ IRR</a:t>
            </a:r>
            <a:endParaRPr lang="en-GB" sz="5400" b="1" noProof="0" dirty="0">
              <a:latin typeface="Aptos"/>
              <a:cs typeface="Aptos"/>
            </a:endParaRPr>
          </a:p>
          <a:p>
            <a:pPr marL="12700">
              <a:lnSpc>
                <a:spcPts val="5610"/>
              </a:lnSpc>
            </a:pPr>
            <a:r>
              <a:rPr lang="en-GB" sz="3200" b="0" spc="-10" noProof="0" dirty="0">
                <a:solidFill>
                  <a:srgbClr val="FFFFFF"/>
                </a:solidFill>
                <a:latin typeface="Aptos"/>
                <a:cs typeface="Aptos"/>
              </a:rPr>
              <a:t>18 October 2026</a:t>
            </a:r>
            <a:endParaRPr lang="en-GB" sz="4950" spc="-10" noProof="0" dirty="0">
              <a:solidFill>
                <a:srgbClr val="FFFFFF"/>
              </a:solidFill>
              <a:latin typeface="Aptos"/>
              <a:cs typeface="Aptos"/>
            </a:endParaRPr>
          </a:p>
          <a:p>
            <a:pPr marL="12700" algn="r">
              <a:lnSpc>
                <a:spcPts val="5610"/>
              </a:lnSpc>
            </a:pPr>
            <a:endParaRPr lang="en-GB" sz="2800" b="1" spc="-10" noProof="0" dirty="0">
              <a:solidFill>
                <a:schemeClr val="bg1"/>
              </a:solidFill>
              <a:latin typeface="Aptos"/>
              <a:cs typeface="Aptos"/>
            </a:endParaRPr>
          </a:p>
          <a:p>
            <a:pPr marL="12700" algn="r">
              <a:lnSpc>
                <a:spcPct val="150000"/>
              </a:lnSpc>
            </a:pPr>
            <a:endParaRPr lang="en-GB" sz="2800" b="1" spc="-10" noProof="0" dirty="0">
              <a:solidFill>
                <a:schemeClr val="bg1"/>
              </a:solidFill>
              <a:latin typeface="Aptos"/>
              <a:cs typeface="Aptos"/>
            </a:endParaRPr>
          </a:p>
          <a:p>
            <a:pPr marL="12700">
              <a:lnSpc>
                <a:spcPct val="150000"/>
              </a:lnSpc>
            </a:pPr>
            <a:endParaRPr lang="en-GB" sz="4950" spc="-10" noProof="0" dirty="0">
              <a:solidFill>
                <a:srgbClr val="FFFFFF"/>
              </a:solidFill>
              <a:latin typeface="Aptos"/>
              <a:cs typeface="Aptos"/>
            </a:endParaRPr>
          </a:p>
          <a:p>
            <a:pPr marL="12700">
              <a:lnSpc>
                <a:spcPts val="5610"/>
              </a:lnSpc>
            </a:pPr>
            <a:endParaRPr lang="en-GB" sz="4950" spc="-10" noProof="0" dirty="0">
              <a:solidFill>
                <a:srgbClr val="FFFFFF"/>
              </a:solidFill>
              <a:latin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181283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Case 3 lifts the hold IRR to 22.0% with Chinese turbines (16.1% European), from 11.4% (7.6%) in the base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Assumptions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Returns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What it takes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Case 2 drops every bid commitment and assumes 2,850 h and a 100 €/MWh PPA; case 3 adds cheaper, longer debt and lower BoP capex. Both rest on a yield the data room does not yet support.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498848" y="2240280"/>
          <a:ext cx="9144000" cy="3831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731520"/>
                <a:gridCol w="1920240"/>
                <a:gridCol w="1920240"/>
                <a:gridCol w="192024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European / Chinese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Unit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Case 1: base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Case 2: zero bid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Case 3: 20 %+ IRR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Tender points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points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59.5 / 47.5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12 / 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12 / 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equity to COD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54.4 / 41.7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43.6 / 33.2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34.0 / 26.0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IRR, sale at COD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26.3% / 41.0%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31.9% / 46.1%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39.0% / 53.2%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FEP IRR, hold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7.6% / 11.4%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12.4% / 17.3%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16.1% / 22.0%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NPV, hold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(2.4) / 15.7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22.5 / 38.8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33.9 / 49.1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Minimum DSCR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1.63x / 2.15x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2.01x / 2.71x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2.21x / 3.01x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IRR chart"/>
          <p:cNvGraphicFramePr>
            <a:graphicFrameLocks noGrp="1"/>
          </p:cNvGraphicFramePr>
          <p:nvPr/>
        </p:nvGraphicFramePr>
        <p:xfrm>
          <a:off x="13898880" y="2240280"/>
          <a:ext cx="42976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ard"/>
          <p:cNvSpPr/>
          <p:nvPr/>
        </p:nvSpPr>
        <p:spPr>
          <a:xfrm>
            <a:off x="4498848" y="6309360"/>
            <a:ext cx="914400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600" b="1">
                <a:solidFill>
                  <a:srgbClr val="00563C"/>
                </a:solidFill>
                <a:latin typeface="Aptos"/>
              </a:rPr>
              <a:t>Reading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Case 2: </a:t>
            </a:r>
            <a:r>
              <a:rPr sz="1300" b="0">
                <a:solidFill>
                  <a:srgbClr val="3C3C3B"/>
                </a:solidFill>
                <a:latin typeface="Aptos"/>
              </a:rPr>
              <a:t>the upside from yield and price, with the cost saved by bidding nothing.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Case 3: </a:t>
            </a:r>
            <a:r>
              <a:rPr sz="1300" b="0">
                <a:solidFill>
                  <a:srgbClr val="3C3C3B"/>
                </a:solidFill>
                <a:latin typeface="Aptos"/>
              </a:rPr>
              <a:t>the mildest combination we found that takes the Chinese route above 20 %.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Tender: </a:t>
            </a:r>
            <a:r>
              <a:rPr sz="1300" b="0">
                <a:solidFill>
                  <a:srgbClr val="3C3C3B"/>
                </a:solidFill>
                <a:latin typeface="Aptos"/>
              </a:rPr>
              <a:t>both score 12 / 0 points against 59.5 / 47.5: the award is the main risk.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Post-tax, FEP 100 %. Cases 2-3 are stored key-assumption sets of the model; everything not listed on the next slide is as in the base.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Bana_Model_20261018.xlsm, 18 Oct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Cases 2 and 3 change the yield, the bid, the PPA and the debt; case 3 also cuts BoP capex to 300 k€/MW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Assumptions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Returns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What it takes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Everything else stays as in the base, including the turbine route, the sale price per MW and the tax.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498848" y="2240280"/>
          <a:ext cx="9509760" cy="648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/>
                <a:gridCol w="1188720"/>
                <a:gridCol w="1645920"/>
                <a:gridCol w="1645920"/>
                <a:gridCol w="1645920"/>
              </a:tblGrid>
              <a:tr h="539496"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Unit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Case 1: base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Case 2: zero bid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Case 3: 20 %+ IRR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563C"/>
                          </a:solidFill>
                          <a:latin typeface="Aptos"/>
                        </a:rPr>
                        <a:t>What changes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Net P50 hours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2,600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2,850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2,850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Overbuild / BESS committed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% of MVA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20% / 20%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Municipal one-off / community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k€/MW, €/MWh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50 / 3.0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PPA price, whole life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€/MWh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105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Gearing (debt / construction cost)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Debt tenor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years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All-in interest rate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5.0%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5.0%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4.5%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BoP and other wind capex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k€/MW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355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355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300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563C"/>
                          </a:solidFill>
                          <a:latin typeface="Aptos"/>
                        </a:rPr>
                        <a:t>Same in all three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Turbines, European / Chinese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k€/MW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950 / 500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950 / 500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950 / 500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Sale price at COD, European / Chinese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k€/MW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2,450 / 2,100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2,450 / 2,100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2,450 / 2,100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Corporate income tax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14127480" y="2240280"/>
            <a:ext cx="4069080" cy="6766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600" b="1">
                <a:solidFill>
                  <a:srgbClr val="00563C"/>
                </a:solidFill>
                <a:latin typeface="Aptos"/>
              </a:rPr>
              <a:t>Why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Yield: </a:t>
            </a:r>
            <a:r>
              <a:rPr sz="1300" b="0">
                <a:solidFill>
                  <a:srgbClr val="3C3C3B"/>
                </a:solidFill>
                <a:latin typeface="Aptos"/>
              </a:rPr>
              <a:t>2,850 h instead of 2,600; to be confirmed by the EYA, which is not in the data room.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Zero bid: </a:t>
            </a:r>
            <a:r>
              <a:rPr sz="1300" b="0">
                <a:solidFill>
                  <a:srgbClr val="3C3C3B"/>
                </a:solidFill>
                <a:latin typeface="Aptos"/>
              </a:rPr>
              <a:t>no overbuild, BESS, municipal or community payment saves capex and opex.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PPA: </a:t>
            </a:r>
            <a:r>
              <a:rPr sz="1300" b="0">
                <a:solidFill>
                  <a:srgbClr val="3C3C3B"/>
                </a:solidFill>
                <a:latin typeface="Aptos"/>
              </a:rPr>
              <a:t>COD is 2030 at the earliest, leaving two years to sign a bankable long-term PPA; Aurora is conservative and today's high prices may last longer.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Debt: </a:t>
            </a:r>
            <a:r>
              <a:rPr sz="1300" b="0">
                <a:solidFill>
                  <a:srgbClr val="3C3C3B"/>
                </a:solidFill>
                <a:latin typeface="Aptos"/>
              </a:rPr>
              <a:t>a signed long-term PPA should support more and longer debt than the banks' first view (48–58 % LTC over 12–15 years).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BoP: </a:t>
            </a:r>
            <a:r>
              <a:rPr sz="1300" b="0">
                <a:solidFill>
                  <a:srgbClr val="3C3C3B"/>
                </a:solidFill>
                <a:latin typeface="Aptos"/>
              </a:rPr>
              <a:t>a tighter BoP and installation budget; to be tested with contractors.</a:t>
            </a:r>
          </a:p>
        </p:txBody>
      </p:sp>
      <p:sp>
        <p:nvSpPr>
          <p:cNvPr id="7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Bid levers shown for the European route (the Chinese bid is the same, without the EU-turbine points). Bank terms as reported in the October 2026 meetings.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Bana_Model_20261018.xlsm, 18 Oct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Lower capex and more debt cut the equity to COD to €34.0m in case 3 (€26.0m Chinese), from €54.4m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Assumptions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Returns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What it takes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The sale at COD gains only from lower capex and more debt, because the sale price is fixed per MW; the hold gains from yield and price as well.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498848" y="2240280"/>
          <a:ext cx="13716000" cy="6684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7315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FEP, post-tax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Unit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Case 1 EU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Case 1 CN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Case 2 EU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Case 2 CN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Case 3 EU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Case 3 CN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Total uses to COD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113.4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85.1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99.7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73.7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97.1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71.0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Senior debt at COD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59.1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43.4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56.1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40.5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63.1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44.9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Debt share of construction cost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equity to COD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54.4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41.7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43.6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33.2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34.0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26.0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563C"/>
                          </a:solidFill>
                          <a:latin typeface="Aptos"/>
                        </a:rPr>
                        <a:t>Sale at COD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profit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20.2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29.4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22.3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30.8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24.9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33.5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FEP IRR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26.3%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41.0%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31.9%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46.1%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39.0%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53.2%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MOIC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1.37x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1.71x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1.51x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1.93x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1.73x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2.29x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Buyer IRR, unlevered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5.7%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8.4%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9.9%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9.0%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10.6%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563C"/>
                          </a:solidFill>
                          <a:latin typeface="Aptos"/>
                        </a:rPr>
                        <a:t>Hold to maturity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FEP IRR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7.6%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11.4%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12.4%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17.3%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16.1%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22.0%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MOIC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3.39x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4.82x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5.46x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7.68x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7.17x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10.16x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NPV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(2.4)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15.7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22.5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38.8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33.9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49.1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Minimum DSCR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1.63x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2.15x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2.01x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2.71x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2.21x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3.01x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</a:tbl>
          </a:graphicData>
        </a:graphic>
      </p:graphicFrame>
      <p:sp>
        <p:nvSpPr>
          <p:cNvPr id="6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EU = European turbines, CN = Chinese turbines. NPV at 8%. Debt is sized on the gearing; the DSCR is a floor of 1.20x and does not bind.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Bana_Model_20261018.xlsm, 18 Oct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Case 3 needs a 105 €/MWh PPA, 70% gearing over 18 years and cheaper BoP, and still leaves the European route at 16.1%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Assumptions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Returns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What it takes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Price and debt move the hold IRR most; the zero bid and the yield need checking before any of this is relied on.</a:t>
            </a:r>
          </a:p>
        </p:txBody>
      </p:sp>
      <p:sp>
        <p:nvSpPr>
          <p:cNvPr id="5" name="Card"/>
          <p:cNvSpPr/>
          <p:nvPr/>
        </p:nvSpPr>
        <p:spPr>
          <a:xfrm>
            <a:off x="4498848" y="2240280"/>
            <a:ext cx="667512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600" b="1">
                <a:solidFill>
                  <a:srgbClr val="00563C"/>
                </a:solidFill>
                <a:latin typeface="Aptos"/>
              </a:rPr>
              <a:t>What has to be true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PPA: </a:t>
            </a:r>
            <a:r>
              <a:rPr sz="1300" b="0">
                <a:solidFill>
                  <a:srgbClr val="3C3C3B"/>
                </a:solidFill>
                <a:latin typeface="Aptos"/>
              </a:rPr>
              <a:t>a bankable long-term PPA at 105 €/MWh (base 90) signed before financing.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Debt: </a:t>
            </a:r>
            <a:r>
              <a:rPr sz="1300" b="0">
                <a:solidFill>
                  <a:srgbClr val="3C3C3B"/>
                </a:solidFill>
                <a:latin typeface="Aptos"/>
              </a:rPr>
              <a:t>70% gearing over 18 years at 4.5%; the minimum DSCR is 3.01x (Chinese), so the cash flows carry it.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Capex: </a:t>
            </a:r>
            <a:r>
              <a:rPr sz="1300" b="0">
                <a:solidFill>
                  <a:srgbClr val="3C3C3B"/>
                </a:solidFill>
                <a:latin typeface="Aptos"/>
              </a:rPr>
              <a:t>BoP, installation and other wind costs at 300 k€/MW, from 355.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Yield: </a:t>
            </a:r>
            <a:r>
              <a:rPr sz="1300" b="0">
                <a:solidFill>
                  <a:srgbClr val="3C3C3B"/>
                </a:solidFill>
                <a:latin typeface="Aptos"/>
              </a:rPr>
              <a:t>2,850 h confirmed by an EYA.</a:t>
            </a:r>
          </a:p>
        </p:txBody>
      </p:sp>
      <p:sp>
        <p:nvSpPr>
          <p:cNvPr id="6" name="Card"/>
          <p:cNvSpPr/>
          <p:nvPr/>
        </p:nvSpPr>
        <p:spPr>
          <a:xfrm>
            <a:off x="11521440" y="2240280"/>
            <a:ext cx="667512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600" b="1">
                <a:solidFill>
                  <a:srgbClr val="00563C"/>
                </a:solidFill>
                <a:latin typeface="Aptos"/>
              </a:rPr>
              <a:t>Risks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Award: </a:t>
            </a:r>
            <a:r>
              <a:rPr sz="1300" b="0">
                <a:solidFill>
                  <a:srgbClr val="3C3C3B"/>
                </a:solidFill>
                <a:latin typeface="Aptos"/>
              </a:rPr>
              <a:t>the zero bid scores 12 / 0 points against 59.5 / 47.5; it may not win the connection.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Minimum payments: </a:t>
            </a:r>
            <a:r>
              <a:rPr sz="1300" b="0">
                <a:solidFill>
                  <a:srgbClr val="3C3C3B"/>
                </a:solidFill>
                <a:latin typeface="Aptos"/>
              </a:rPr>
              <a:t>a coming law may make a municipal and community minimum mandatory even for a zero bid (Kiírás footnote 1).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Banks: </a:t>
            </a:r>
            <a:r>
              <a:rPr sz="1300" b="0">
                <a:solidFill>
                  <a:srgbClr val="3C3C3B"/>
                </a:solidFill>
                <a:latin typeface="Aptos"/>
              </a:rPr>
              <a:t>both banks' first view is less debt over a shorter tenor; neither has financed a project like this.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European route: </a:t>
            </a:r>
            <a:r>
              <a:rPr sz="1300" b="0">
                <a:solidFill>
                  <a:srgbClr val="3C3C3B"/>
                </a:solidFill>
                <a:latin typeface="Aptos"/>
              </a:rPr>
              <a:t>16.1% hold IRR in case 3; reaching 20 % would also need much cheaper turbines and a higher PPA.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Sale price: </a:t>
            </a:r>
            <a:r>
              <a:rPr sz="1300" b="0">
                <a:solidFill>
                  <a:srgbClr val="3C3C3B"/>
                </a:solidFill>
                <a:latin typeface="Aptos"/>
              </a:rPr>
              <a:t>fixed per MW in all cases; a buyer would pay more for a higher PPA, which the sale IRR does not show.</a:t>
            </a:r>
          </a:p>
        </p:txBody>
      </p:sp>
      <p:sp>
        <p:nvSpPr>
          <p:cNvPr id="7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Model checks in all three cases: all pass. Cases are stored by the scenario macro with the tax solver.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Bana_Model_20261018.xlsm, 18 Oct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FEP base">
  <a:themeElements>
    <a:clrScheme name="FEP">
      <a:dk1>
        <a:srgbClr val="3C3C3B"/>
      </a:dk1>
      <a:lt1>
        <a:srgbClr val="FFFFFF"/>
      </a:lt1>
      <a:dk2>
        <a:srgbClr val="0E2841"/>
      </a:dk2>
      <a:lt2>
        <a:srgbClr val="E8E8E8"/>
      </a:lt2>
      <a:accent1>
        <a:srgbClr val="00563C"/>
      </a:accent1>
      <a:accent2>
        <a:srgbClr val="00A651"/>
      </a:accent2>
      <a:accent3>
        <a:srgbClr val="799385"/>
      </a:accent3>
      <a:accent4>
        <a:srgbClr val="82CA9C"/>
      </a:accent4>
      <a:accent5>
        <a:srgbClr val="919191"/>
      </a:accent5>
      <a:accent6>
        <a:srgbClr val="CACACA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CB25C80BA76C054AAAC0D3CDDFCEC309" ma:contentTypeVersion="14" ma:contentTypeDescription="Új dokumentum létrehozása." ma:contentTypeScope="" ma:versionID="b04c3fe5a5d8daa439e4669e310e51c5">
  <xsd:schema xmlns:xsd="http://www.w3.org/2001/XMLSchema" xmlns:xs="http://www.w3.org/2001/XMLSchema" xmlns:p="http://schemas.microsoft.com/office/2006/metadata/properties" xmlns:ns2="3ba8be79-126f-4ecc-b268-0e8a1c9d820a" xmlns:ns3="348e42aa-7502-48aa-9973-d5430de63b43" targetNamespace="http://schemas.microsoft.com/office/2006/metadata/properties" ma:root="true" ma:fieldsID="b7d65723b2fd441c2730b2f9b66bba15" ns2:_="" ns3:_="">
    <xsd:import namespace="3ba8be79-126f-4ecc-b268-0e8a1c9d820a"/>
    <xsd:import namespace="348e42aa-7502-48aa-9973-d5430de63b4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a8be79-126f-4ecc-b268-0e8a1c9d820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54c7780-c79f-4b81-a1cc-c56cb19b1b79}" ma:internalName="TaxCatchAll" ma:showField="CatchAllData" ma:web="3ba8be79-126f-4ecc-b268-0e8a1c9d82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8e42aa-7502-48aa-9973-d5430de63b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Képcímkék" ma:readOnly="false" ma:fieldId="{5cf76f15-5ced-4ddc-b409-7134ff3c332f}" ma:taxonomyMulti="true" ma:sspId="88080c10-e0a6-4b42-beda-2db26c8ffc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8e42aa-7502-48aa-9973-d5430de63b43">
      <Terms xmlns="http://schemas.microsoft.com/office/infopath/2007/PartnerControls"/>
    </lcf76f155ced4ddcb4097134ff3c332f>
    <TaxCatchAll xmlns="3ba8be79-126f-4ecc-b268-0e8a1c9d820a" xsi:nil="true"/>
  </documentManagement>
</p:properties>
</file>

<file path=customXml/itemProps1.xml><?xml version="1.0" encoding="utf-8"?>
<ds:datastoreItem xmlns:ds="http://schemas.openxmlformats.org/officeDocument/2006/customXml" ds:itemID="{0FDB0B0C-60B3-4153-B8BF-354313383E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5DC757-8338-4BB9-BB28-498963EEAE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a8be79-126f-4ecc-b268-0e8a1c9d820a"/>
    <ds:schemaRef ds:uri="348e42aa-7502-48aa-9973-d5430de63b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1DE518-529C-4DF1-8960-0E6216B00ED8}">
  <ds:schemaRefs>
    <ds:schemaRef ds:uri="348e42aa-7502-48aa-9973-d5430de63b43"/>
    <ds:schemaRef ds:uri="3ba8be79-126f-4ecc-b268-0e8a1c9d82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2728984-5573-4501-93e1-26196c1472d0}" enabled="0" method="" siteId="{42728984-5573-4501-93e1-26196c1472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15504</TotalTime>
  <Words>2227</Words>
  <Application>Microsoft Office PowerPoint</Application>
  <PresentationFormat>Custom</PresentationFormat>
  <Paragraphs>474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Black</vt:lpstr>
      <vt:lpstr>Arial</vt:lpstr>
      <vt:lpstr>Blank</vt:lpstr>
      <vt:lpstr>FEP base</vt:lpstr>
      <vt:lpstr>PowerPoint Presentation</vt:lpstr>
      <vt:lpstr>Technical overview and tender bid</vt:lpstr>
      <vt:lpstr>European vs Chinese turbine – sale at COD</vt:lpstr>
      <vt:lpstr>Revenue and returns by case</vt:lpstr>
      <vt:lpstr>Sensitivity – FEP IRR</vt:lpstr>
      <vt:lpstr>Sensitivity – FEP MOIC</vt:lpstr>
      <vt:lpstr>Sensitivity – all values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FEP IC template</dc:title>
  <dc:creator>FEP</dc:creator>
  <cp:lastModifiedBy>FEP</cp:lastModifiedBy>
  <cp:revision>3</cp:revision>
  <dcterms:created xsi:type="dcterms:W3CDTF">2025-05-21T13:33:01Z</dcterms:created>
  <dcterms:modified xsi:type="dcterms:W3CDTF">2026-10-09T14:02:16Z</dcterms:modified>
  <dc:subject/>
  <cp:keywords/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0x010100CB25C80BA76C054AAAC0D3CDDFCEC309</vt:lpwstr>
  </property>
  <property fmtid="{D5CDD505-2E9C-101B-9397-08002B2CF9AE}" pid="3" name="MediaServiceImageTags">
    <vt:lpwstr/>
  </property>
</Properties>
</file>