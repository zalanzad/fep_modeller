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  <p:sldId id="266" r:id="rId23"/>
    <p:sldId id="267" r:id="rId24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0.0758104971930004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0.113692971306157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18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7.6% / 11.4%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at 55% gearing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483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Debt: 55% of construction cost, 15-year annuity; bank feedback on slide 6.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European (€85.1m Chinese); senior debt funds 52% (51%),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= 55% of construction cost on both routes (LTC),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Hold IRR 7.6% / 11.4% at 55% gearing; 7.4% / 11.8% on Raiffeisen and 7.1% / 10.7% on UniCredit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Two bank meetings on the 50 MW wind + 10 MW BESS project; both indicative and verbal, with no commitment. The base case keeps 55% gearing.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669280"/>
                <a:gridCol w="56692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the banks said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amount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~€0.9m/MW (±10 %) on a ~€1.7m/MW wind capex estimate (ours is slightly higher); ~48–58 % LTC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LTC lower than Raiffeisen, due to the shorter tenor and higher DSCR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Repayment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15-year annuity; significant cash sweep, up to full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~12-year annuity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 on PPA revenue, 1.40x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 on PPA revenue, 1.65x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Pricing and prices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Merchant at the average of the Aurora low and central curves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 loan, margin above 2.3 %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Uncertainties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bank has financed a project like this and output starts late, so terms may move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Chinese turbines not excluded but new to both; UniCredit finances one in Romania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498848" y="5806440"/>
          <a:ext cx="13716000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9260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The model on each basis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55 % gearing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55% of cost, 15-year annuity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€0.90m/MW, 15-year, 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€0.71m/MW*, 12-year, 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Bank terms as reported in the FEP notes of the Raiffeisen and UniCredit meetings (October 2026). *UniCredit gave no amount: Raiffeisen's quantum scaled to its tenor and DSCR. Bank cases: 70% LTC cap, same 5.0% rate; stored key-assumption sets.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7.6% at a 1.63x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11.4%; debt is 55% of construction cost, a 15-year annuity.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55% of construction cost on both routes (€59.1m / €43.4m), 15-year annuity at 5.0% fixed; sizing floor 1.20x DSCR on PPA revenue, 74% / 56% of that capacity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€80.2m at 1.20x DSCR European (77% / 71% of uses); €84.7m / €77.6m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41.9% / 41.9%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Case 3 lifts the hold IRR to 22.0% with Chinese turbines (16.1% European), against 11.4% in the base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It needs a 105 €/MWh PPA, 70% gearing over 18 years at 4.5% and 300 k€/MW of BoP and other wind capex (from 355); the zero bid scores 12 / 0 points.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711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914400"/>
                <a:gridCol w="1828800"/>
                <a:gridCol w="1737360"/>
                <a:gridCol w="1737360"/>
              </a:tblGrid>
              <a:tr h="539496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 1: base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 2: 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 3: 20 %+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Assumptions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2,850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2,850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overbuild / BESS / municipal / community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/ 20% / 50 / 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price,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€/MWh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Gearing (debt / construction cost)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tenor / all-in rate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y /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 / 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BoP and other wind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355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355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Results (European / Chinese)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 / 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Total uses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113.4 / 85.1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99.7 / 73.7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97.1 / 71.0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 / 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43.6 / 33.2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34.0 / 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IRR,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 / 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31.9% / 46.1%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39.0% / 53.2%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IRR, hold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 / 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12.4% / 17.3%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16.1% / 22.0%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NPV, hold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 / 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 / 38.8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 / 49.1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 / 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2.01x / 2.71x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2.21x / 3.01x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7223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it takes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Yield: </a:t>
            </a:r>
            <a:r>
              <a:rPr sz="1300" b="0">
                <a:solidFill>
                  <a:srgbClr val="3C3C3B"/>
                </a:solidFill>
                <a:latin typeface="Aptos"/>
              </a:rPr>
              <a:t>2,850 h in cases 2-3, from 2,600; the EYA is not in the data room, so the study comes first.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Zero bid: </a:t>
            </a:r>
            <a:r>
              <a:rPr sz="1300" b="0">
                <a:solidFill>
                  <a:srgbClr val="3C3C3B"/>
                </a:solidFill>
                <a:latin typeface="Aptos"/>
              </a:rPr>
              <a:t>no overbuild, BESS, municipal or community payment: lower capex and opex, but few points, so winning the tender is the main risk; a coming law may still require minimum payments.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COD is 2030 at the earliest, leaving two years to sign a bankable long-term PPA; Aurora is conservative and today's high prices may last longer.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long PPA supports more debt for longer than the banks' first view; the DSCR stays at 3.01x (Chinese).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European route: </a:t>
            </a:r>
            <a:r>
              <a:rPr sz="1300" b="0">
                <a:solidFill>
                  <a:srgbClr val="3C3C3B"/>
                </a:solidFill>
                <a:latin typeface="Aptos"/>
              </a:rPr>
              <a:t>stays well below the Chinese one; it would also need much cheaper turbines and a higher PPA.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price is fixed per MW, so a higher PPA does not show in the sale IRR.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Cases 2-3 change only the assumptions in the table, from the base; turbine route and PB multiple unchanged. Stored by the scenario macro with the tax solver.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(5.7%) and lower yield (6.0%)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777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Three cases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6.9%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5.7% / 8.5%.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1.21x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7.1% / 10.1%.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Bana_Model_20261018.xlsm, 18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