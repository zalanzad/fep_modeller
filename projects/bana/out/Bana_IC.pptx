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7" r:id="rId4"/>
    <p:sldMasterId id="2147483676" r:id="rId5"/>
  </p:sldMasterIdLst>
  <p:notesMasterIdLst>
    <p:notesMasterId r:id="rId13"/>
  </p:notesMasterIdLst>
  <p:handoutMasterIdLst>
    <p:handoutMasterId r:id="rId14"/>
  </p:handoutMasterIdLst>
  <p:sldIdLst>
    <p:sldId id="257" r:id="rId6"/>
    <p:sldId id="258" r:id="rId12"/>
    <p:sldId id="259" r:id="rId11"/>
    <p:sldId id="260" r:id="rId10"/>
    <p:sldId id="261" r:id="rId9"/>
    <p:sldId id="262" r:id="rId8"/>
    <p:sldId id="263" r:id="rId7"/>
    <p:sldId id="264" r:id="rId21"/>
  </p:sldIdLst>
  <p:sldSz cx="20105688" cy="113109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62" userDrawn="1">
          <p15:clr>
            <a:srgbClr val="A4A3A4"/>
          </p15:clr>
        </p15:guide>
        <p15:guide id="2" pos="63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7CEBA77-0EB0-CD9A-B348-5737FB6F5DFF}" name="Szentirmai Dániel" initials="DS" userId="S::daniel.szentirmai@futurealgroup.com::e4a987b4-a5be-46be-85af-05dbdc723d0d" providerId="AD"/>
  <p188:author id="{C83FDAAA-8457-959D-A531-E1A9B1A8ED9F}" name="Alexander Gibbs" initials="AG" userId="S::alexander.gibbs@futurealgroup.com::45f5242f-161c-406b-bf69-4ed0d839e48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A72E"/>
    <a:srgbClr val="00563C"/>
    <a:srgbClr val="E8E8E8"/>
    <a:srgbClr val="0053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Közepesen sötét stílus 2 – 6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346" y="53"/>
      </p:cViewPr>
      <p:guideLst>
        <p:guide orient="horz" pos="3562"/>
        <p:guide pos="63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8/10/relationships/authors" Target="authors.xml"/><Relationship Id="rId21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ádeczki Zalán" userId="859bb901-d59a-4d05-86af-7c7fa75f15cc" providerId="ADAL" clId="{E470E0F3-1B55-4365-AA6F-980ABE4A6DBB}"/>
    <pc:docChg chg="modSld">
      <pc:chgData name="Zádeczki Zalán" userId="859bb901-d59a-4d05-86af-7c7fa75f15cc" providerId="ADAL" clId="{E470E0F3-1B55-4365-AA6F-980ABE4A6DBB}" dt="2026-04-21T07:28:57.393" v="0" actId="1076"/>
      <pc:docMkLst>
        <pc:docMk/>
      </pc:docMkLst>
      <pc:sldChg chg="modSp mod">
        <pc:chgData name="Zádeczki Zalán" userId="859bb901-d59a-4d05-86af-7c7fa75f15cc" providerId="ADAL" clId="{E470E0F3-1B55-4365-AA6F-980ABE4A6DBB}" dt="2026-04-21T07:28:57.393" v="0" actId="1076"/>
        <pc:sldMkLst>
          <pc:docMk/>
          <pc:sldMk cId="2832106109" sldId="316"/>
        </pc:sldMkLst>
        <pc:spChg chg="mod">
          <ac:chgData name="Zádeczki Zalán" userId="859bb901-d59a-4d05-86af-7c7fa75f15cc" providerId="ADAL" clId="{E470E0F3-1B55-4365-AA6F-980ABE4A6DBB}" dt="2026-04-21T07:28:57.393" v="0" actId="1076"/>
          <ac:spMkLst>
            <pc:docMk/>
            <pc:sldMk cId="2832106109" sldId="316"/>
            <ac:spMk id="7" creationId="{9C712E98-0880-E251-D893-E63AD1472F07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3C3C3B"/>
                </a:solidFill>
                <a:latin typeface="Aptos"/>
              </a:rPr>
              <a:t>FEP IRR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European turbine</c:v>
                </c:pt>
              </c:strCache>
            </c:strRef>
          </c:tx>
          <c:spPr>
            <a:solidFill>
              <a:srgbClr val="00563C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Sale at COD</c:v>
                </c:pt>
                <c:pt idx="1">
                  <c:v>Hold to maturity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0.284084033636541</c:v>
                </c:pt>
                <c:pt idx="1">
                  <c:v>0.0798286717747364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Chinese turbine</c:v>
                </c:pt>
              </c:strCache>
            </c:strRef>
          </c:tx>
          <c:spPr>
            <a:solidFill>
              <a:srgbClr val="00A651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Sale at COD</c:v>
                </c:pt>
                <c:pt idx="1">
                  <c:v>Hold to maturity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0">
                  <c:v>0.431605205102548</c:v>
                </c:pt>
                <c:pt idx="1">
                  <c:v>0.120333275856183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/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3C3C3B"/>
          </a:solidFill>
          <a:latin typeface="Aptos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C69F0A-753D-4D0A-E937-192AB0B195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B5C423-415A-8E73-29C5-35785CB64A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B9B0E-0173-6448-B6CE-6FFDEF3DFC7C}" type="datetimeFigureOut">
              <a:rPr lang="hu-HU" smtClean="0"/>
              <a:t>2026. 10. 09.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D4182-9C29-5D16-7BAD-1DC5C2F06A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BC83AC-DE2C-7165-9265-93700EAAB6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F7E15C-B816-EE44-A0DD-18B068892E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47268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DBD05-8D06-4AD0-9F7F-CE567DB23A8F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A7ABA-3AE4-43F1-8148-8F32BDF4A5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623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B80CFB-4B2B-A473-B8AE-23147E9EE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630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A530C-C9E9-8EDB-5821-11A963C1A1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000" y="3417835"/>
            <a:ext cx="10058400" cy="2763837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8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56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430D23-6C94-E7D2-E011-50938D408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337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A530C-C9E9-8EDB-5821-11A963C1A1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000" y="3417835"/>
            <a:ext cx="10058400" cy="2763837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8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068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3">
            <a:extLst>
              <a:ext uri="{FF2B5EF4-FFF2-40B4-BE49-F238E27FC236}">
                <a16:creationId xmlns:a16="http://schemas.microsoft.com/office/drawing/2014/main" id="{C5F27261-9AF0-6EB2-713F-486F78006C79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520665" y="4942258"/>
            <a:ext cx="11583434" cy="6366298"/>
          </a:xfrm>
          <a:prstGeom prst="rect">
            <a:avLst/>
          </a:prstGeom>
        </p:spPr>
      </p:pic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A530C-C9E9-8EDB-5821-11A963C1A1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000" y="3014714"/>
            <a:ext cx="5110181" cy="2763837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61619E1-FB93-D0B1-A562-709B3CB802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00000" y="2066114"/>
            <a:ext cx="5110181" cy="37112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ptos" panose="020B0004020202020204" pitchFamily="34" charset="0"/>
              <a:buNone/>
              <a:tabLst/>
              <a:defRPr sz="2000" b="1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DECA4B7-C217-E87C-BE98-ECFAC7D75F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66611" y="3014714"/>
            <a:ext cx="5110181" cy="2763837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F2B1256-E455-F14C-DA27-04643C697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9584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9DEB9E5-1C75-93D8-7926-E2F4E629B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00000" y="2106613"/>
            <a:ext cx="8290800" cy="825023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AE3D0A3-F667-55A1-9C2D-343A97FC6E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120576" y="2891632"/>
            <a:ext cx="5968799" cy="1170005"/>
          </a:xfrm>
          <a:prstGeom prst="rect">
            <a:avLst/>
          </a:prstGeom>
        </p:spPr>
        <p:txBody>
          <a:bodyPr/>
          <a:lstStyle>
            <a:lvl1pPr marL="0" indent="0">
              <a:buFont typeface="Aptos" panose="020B0004020202020204" pitchFamily="34" charset="0"/>
              <a:buNone/>
              <a:tabLst/>
              <a:defRPr sz="1800" b="1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9D9EFFB-8C77-5ACF-8C26-4C9E9FE867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120576" y="4283971"/>
            <a:ext cx="5968799" cy="574582"/>
          </a:xfrm>
          <a:prstGeom prst="rect">
            <a:avLst/>
          </a:prstGeom>
        </p:spPr>
        <p:txBody>
          <a:bodyPr/>
          <a:lstStyle>
            <a:lvl1pPr marL="0" indent="0">
              <a:buFont typeface="Aptos" panose="020B0004020202020204" pitchFamily="34" charset="0"/>
              <a:buNone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AEB47D1-319C-304A-3785-F8EC65694C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20576" y="5184808"/>
            <a:ext cx="5968799" cy="1046923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DA3241-C4F1-F459-5D91-7EC5148AD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33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+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828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9DEB9E5-1C75-93D8-7926-E2F4E629B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291237" y="3955313"/>
            <a:ext cx="6851212" cy="4552838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7E4D72A-A4C5-4CE0-1DC5-685309E6AC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82800" y="3955313"/>
            <a:ext cx="7240605" cy="4552838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B444AF4A-18BD-89AF-5CAF-F8416A022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184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2AC032-DF18-4A35-CA27-5654560CC0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00000" y="3121296"/>
            <a:ext cx="14595474" cy="1258199"/>
          </a:xfrm>
          <a:prstGeom prst="rect">
            <a:avLst/>
          </a:prstGeom>
        </p:spPr>
        <p:txBody>
          <a:bodyPr/>
          <a:lstStyle>
            <a:lvl1pPr marL="0" indent="0">
              <a:buFont typeface="Aptos" panose="020B0004020202020204" pitchFamily="34" charset="0"/>
              <a:buNone/>
              <a:tabLst/>
              <a:defRPr sz="1800" b="1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C855FD-0FB1-B567-AAB2-4AAC261A61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0" y="2215162"/>
            <a:ext cx="5968799" cy="574582"/>
          </a:xfrm>
          <a:prstGeom prst="rect">
            <a:avLst/>
          </a:prstGeom>
        </p:spPr>
        <p:txBody>
          <a:bodyPr/>
          <a:lstStyle>
            <a:lvl1pPr marL="0" indent="0">
              <a:buFont typeface="Aptos" panose="020B0004020202020204" pitchFamily="34" charset="0"/>
              <a:buNone/>
              <a:tabLst/>
              <a:defRPr sz="18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D77B3963-F925-BC86-DB81-A0E803503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72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94541138-C940-BC02-754C-BCBAFB7BDC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20101" y="2106613"/>
            <a:ext cx="8251200" cy="825023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3B6016E-B0AF-721C-85CC-8DE92D8A8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0" y="2106613"/>
            <a:ext cx="5968799" cy="45474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Font typeface="Aptos" panose="020B0004020202020204" pitchFamily="34" charset="0"/>
              <a:buNone/>
              <a:tabLst/>
              <a:defRPr sz="18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44D6315-84DC-775C-A51D-F101FDA30C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00000" y="2928235"/>
            <a:ext cx="5968799" cy="1046923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7649FED-5AF9-0BAF-7D1F-23B3D2CCD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716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513D7C6-6F52-D314-C456-2E4EEE9C6A5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00000" y="2087563"/>
            <a:ext cx="14638605" cy="826928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0C817D-4A21-D2C8-B411-11678420F4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2893" y="2624138"/>
            <a:ext cx="6659562" cy="1847850"/>
          </a:xfrm>
          <a:prstGeom prst="rect">
            <a:avLst/>
          </a:prstGeom>
          <a:gradFill>
            <a:gsLst>
              <a:gs pos="0">
                <a:schemeClr val="accent2">
                  <a:alpha val="30000"/>
                </a:schemeClr>
              </a:gs>
              <a:gs pos="100000">
                <a:schemeClr val="accent1">
                  <a:lumMod val="88000"/>
                  <a:lumOff val="12000"/>
                  <a:alpha val="30000"/>
                </a:schemeClr>
              </a:gs>
            </a:gsLst>
            <a:lin ang="21594000" scaled="0"/>
          </a:gradFill>
        </p:spPr>
        <p:txBody>
          <a:bodyPr lIns="360000" tIns="0" rIns="0" bIns="0" anchor="ctr" anchorCtr="0"/>
          <a:lstStyle>
            <a:lvl1pPr marL="0" indent="0">
              <a:buNone/>
              <a:defRPr sz="2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633254-15B8-F374-8FAC-EB824ADB8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030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858633A7-3D11-1220-3C5A-EDAB8D9145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19050" y="260540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2" name="Picture Placeholder 19">
            <a:extLst>
              <a:ext uri="{FF2B5EF4-FFF2-40B4-BE49-F238E27FC236}">
                <a16:creationId xmlns:a16="http://schemas.microsoft.com/office/drawing/2014/main" id="{87FD6E3D-6F9F-5EA9-AE10-8A97EC5F294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516352" y="260540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3" name="Picture Placeholder 19">
            <a:extLst>
              <a:ext uri="{FF2B5EF4-FFF2-40B4-BE49-F238E27FC236}">
                <a16:creationId xmlns:a16="http://schemas.microsoft.com/office/drawing/2014/main" id="{66685B75-93B7-22A6-FA43-77CE7E9B253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492389" y="260540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4" name="Picture Placeholder 19">
            <a:extLst>
              <a:ext uri="{FF2B5EF4-FFF2-40B4-BE49-F238E27FC236}">
                <a16:creationId xmlns:a16="http://schemas.microsoft.com/office/drawing/2014/main" id="{649F82B6-0B11-1D9B-2756-1C27FA4535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19050" y="622047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5" name="Picture Placeholder 19">
            <a:extLst>
              <a:ext uri="{FF2B5EF4-FFF2-40B4-BE49-F238E27FC236}">
                <a16:creationId xmlns:a16="http://schemas.microsoft.com/office/drawing/2014/main" id="{B50884DA-261D-F296-F9FF-8870DF570BC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516352" y="622047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6" name="Picture Placeholder 19">
            <a:extLst>
              <a:ext uri="{FF2B5EF4-FFF2-40B4-BE49-F238E27FC236}">
                <a16:creationId xmlns:a16="http://schemas.microsoft.com/office/drawing/2014/main" id="{16C7E976-3EF1-4ABD-DBDF-4A18754D939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492389" y="622047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6E1B915D-A732-5430-C55E-837F13D680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3709" y="5647440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8" name="Text Placeholder 28">
            <a:extLst>
              <a:ext uri="{FF2B5EF4-FFF2-40B4-BE49-F238E27FC236}">
                <a16:creationId xmlns:a16="http://schemas.microsoft.com/office/drawing/2014/main" id="{BB5AB633-0835-AA84-5117-DC61D0EB34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3709" y="9271173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2" name="Text Placeholder 28">
            <a:extLst>
              <a:ext uri="{FF2B5EF4-FFF2-40B4-BE49-F238E27FC236}">
                <a16:creationId xmlns:a16="http://schemas.microsoft.com/office/drawing/2014/main" id="{85BB3BB6-E61D-556C-8696-9480420C8E3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1639915" y="5647440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3" name="Text Placeholder 28">
            <a:extLst>
              <a:ext uri="{FF2B5EF4-FFF2-40B4-BE49-F238E27FC236}">
                <a16:creationId xmlns:a16="http://schemas.microsoft.com/office/drawing/2014/main" id="{ED45A816-C7D3-8E0C-0D0D-A3F78ECACAE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1639915" y="9271173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56F453A5-CE6D-DF7F-14CB-2D686920D7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6617268" y="5647440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33E5179F-76C1-1B0B-A97B-930D04A7D0B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6617268" y="9271173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267ADC1-AF57-08DA-3461-735A01E62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420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B80CFB-4B2B-A473-B8AE-23147E9EE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458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AC708B-19F4-8EF4-2753-507BDF8E8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10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7">
            <a:extLst>
              <a:ext uri="{FF2B5EF4-FFF2-40B4-BE49-F238E27FC236}">
                <a16:creationId xmlns:a16="http://schemas.microsoft.com/office/drawing/2014/main" id="{FED51FD9-DD91-984F-64F8-1561CC177398}"/>
              </a:ext>
            </a:extLst>
          </p:cNvPr>
          <p:cNvSpPr/>
          <p:nvPr userDrawn="1"/>
        </p:nvSpPr>
        <p:spPr>
          <a:xfrm>
            <a:off x="4500000" y="1413569"/>
            <a:ext cx="14659200" cy="0"/>
          </a:xfrm>
          <a:custGeom>
            <a:avLst/>
            <a:gdLst/>
            <a:ahLst/>
            <a:cxnLst/>
            <a:rect l="l" t="t" r="r" b="b"/>
            <a:pathLst>
              <a:path w="18104485">
                <a:moveTo>
                  <a:pt x="0" y="0"/>
                </a:moveTo>
                <a:lnTo>
                  <a:pt x="18104160" y="0"/>
                </a:lnTo>
              </a:path>
            </a:pathLst>
          </a:custGeom>
          <a:ln w="12700">
            <a:gradFill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0"/>
            </a:gra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D5A937-B250-7022-4FC6-F9B79765E5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60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E7403717-93A4-AAB0-5DA1-E3D59335FFA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794"/>
            <a:ext cx="20104099" cy="11308556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8281C5C-DD60-55B1-3FC1-4EB141D94BC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73983" y="837670"/>
            <a:ext cx="8230115" cy="10470885"/>
          </a:xfrm>
          <a:prstGeom prst="rect">
            <a:avLst/>
          </a:prstGeom>
        </p:spPr>
      </p:pic>
      <p:pic>
        <p:nvPicPr>
          <p:cNvPr id="6" name="Picture 5" descr="A logo with white text&#10;&#10;AI-generated content may be incorrect.">
            <a:extLst>
              <a:ext uri="{FF2B5EF4-FFF2-40B4-BE49-F238E27FC236}">
                <a16:creationId xmlns:a16="http://schemas.microsoft.com/office/drawing/2014/main" id="{1FBC48BB-7B45-9563-3E74-6A7D75EA46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86" y="8474075"/>
            <a:ext cx="3450664" cy="2362200"/>
          </a:xfrm>
          <a:prstGeom prst="rect">
            <a:avLst/>
          </a:prstGeom>
        </p:spPr>
      </p:pic>
      <p:sp>
        <p:nvSpPr>
          <p:cNvPr id="7" name="object 16">
            <a:extLst>
              <a:ext uri="{FF2B5EF4-FFF2-40B4-BE49-F238E27FC236}">
                <a16:creationId xmlns:a16="http://schemas.microsoft.com/office/drawing/2014/main" id="{34703AC2-FA13-747C-85E7-7DB5CD624568}"/>
              </a:ext>
            </a:extLst>
          </p:cNvPr>
          <p:cNvSpPr txBox="1">
            <a:spLocks/>
          </p:cNvSpPr>
          <p:nvPr/>
        </p:nvSpPr>
        <p:spPr>
          <a:xfrm>
            <a:off x="818996" y="1956921"/>
            <a:ext cx="18466105" cy="10011074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ts val="9570"/>
              </a:lnSpc>
              <a:spcBef>
                <a:spcPts val="95"/>
              </a:spcBef>
            </a:pPr>
            <a:r>
              <a:rPr lang="en-GB" sz="8250" b="1" spc="-10" noProof="0" dirty="0">
                <a:solidFill>
                  <a:srgbClr val="FFFFFF"/>
                </a:solidFill>
                <a:latin typeface="Aptos" panose="020B0004020202020204" pitchFamily="34" charset="0"/>
                <a:cs typeface="Aptos"/>
              </a:rPr>
              <a:t>Project Bana</a:t>
            </a:r>
          </a:p>
          <a:p>
            <a:pPr marL="12700">
              <a:lnSpc>
                <a:spcPts val="5600"/>
              </a:lnSpc>
              <a:spcBef>
                <a:spcPts val="95"/>
              </a:spcBef>
            </a:pPr>
            <a:r>
              <a:rPr lang="en-GB" sz="4400" b="1" spc="-10" noProof="0" dirty="0">
                <a:solidFill>
                  <a:srgbClr val="FFFFFF"/>
                </a:solidFill>
                <a:latin typeface="Aptos"/>
                <a:cs typeface="Aptos"/>
              </a:rPr>
              <a:t>55 MW wind development project opportunity</a:t>
            </a:r>
            <a:endParaRPr lang="en-GB" sz="5400" b="1" noProof="0" dirty="0">
              <a:latin typeface="Aptos"/>
              <a:cs typeface="Aptos"/>
            </a:endParaRPr>
          </a:p>
          <a:p>
            <a:pPr marL="12700">
              <a:lnSpc>
                <a:spcPts val="5610"/>
              </a:lnSpc>
            </a:pPr>
            <a:r>
              <a:rPr lang="en-GB" sz="3200" b="0" spc="-10" noProof="0" dirty="0">
                <a:solidFill>
                  <a:srgbClr val="FFFFFF"/>
                </a:solidFill>
                <a:latin typeface="Aptos"/>
                <a:cs typeface="Aptos"/>
              </a:rPr>
              <a:t>13 October 2026</a:t>
            </a:r>
            <a:endParaRPr lang="en-GB" sz="4950" spc="-10" noProof="0" dirty="0">
              <a:solidFill>
                <a:srgbClr val="FFFFFF"/>
              </a:solidFill>
              <a:latin typeface="Aptos"/>
              <a:cs typeface="Aptos"/>
            </a:endParaRPr>
          </a:p>
          <a:p>
            <a:pPr marL="12700" algn="r">
              <a:lnSpc>
                <a:spcPts val="5610"/>
              </a:lnSpc>
            </a:pPr>
            <a:endParaRPr lang="en-GB" sz="2800" b="1" spc="-10" noProof="0" dirty="0">
              <a:solidFill>
                <a:schemeClr val="bg1"/>
              </a:solidFill>
              <a:latin typeface="Aptos"/>
              <a:cs typeface="Aptos"/>
            </a:endParaRPr>
          </a:p>
          <a:p>
            <a:pPr marL="12700" algn="r">
              <a:lnSpc>
                <a:spcPct val="150000"/>
              </a:lnSpc>
            </a:pPr>
            <a:endParaRPr lang="en-GB" sz="2800" b="1" spc="-10" noProof="0" dirty="0">
              <a:solidFill>
                <a:schemeClr val="bg1"/>
              </a:solidFill>
              <a:latin typeface="Aptos"/>
              <a:cs typeface="Aptos"/>
            </a:endParaRPr>
          </a:p>
          <a:p>
            <a:pPr marL="12700">
              <a:lnSpc>
                <a:spcPct val="150000"/>
              </a:lnSpc>
            </a:pPr>
            <a:endParaRPr lang="en-GB" sz="4950" spc="-10" noProof="0" dirty="0">
              <a:solidFill>
                <a:srgbClr val="FFFFFF"/>
              </a:solidFill>
              <a:latin typeface="Aptos"/>
              <a:cs typeface="Aptos"/>
            </a:endParaRPr>
          </a:p>
          <a:p>
            <a:pPr marL="12700">
              <a:lnSpc>
                <a:spcPts val="5610"/>
              </a:lnSpc>
            </a:pPr>
            <a:endParaRPr lang="en-GB" sz="4950" spc="-10" noProof="0" dirty="0">
              <a:solidFill>
                <a:srgbClr val="FFFFFF"/>
              </a:solidFill>
              <a:latin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1812831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848" y="182880"/>
            <a:ext cx="12710160" cy="1097280"/>
          </a:xfrm>
        </p:spPr>
        <p:txBody>
          <a:bodyPr wrap="square"/>
          <a:lstStyle/>
          <a:p>
            <a:r>
              <a:t>At €4.50m, Bana returns 28.4% (European) / 43.2% (Chinese) on a sale at COD and 8.0% / 12.0% if held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3" name="Navigator"/>
          <p:cNvGraphicFramePr>
            <a:graphicFrameLocks noGrp="1"/>
          </p:cNvGraphicFramePr>
          <p:nvPr/>
        </p:nvGraphicFramePr>
        <p:xfrm>
          <a:off x="0" y="0"/>
          <a:ext cx="3767328" cy="5440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67328"/>
              </a:tblGrid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Executive summary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gradFill rotWithShape="1">
                      <a:gsLst>
                        <a:gs pos="0">
                          <a:srgbClr val="00A651"/>
                        </a:gs>
                        <a:gs pos="100000">
                          <a:srgbClr val="00563C"/>
                        </a:gs>
                      </a:gsLst>
                      <a:lin scaled="0" ang="0"/>
                    </a:gra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Risks and mitigants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Technical overview and tender bid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Funding to COD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Returns: sale at COD vs hold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Sale price and buyer return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Sensitivities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Subtitle"/>
          <p:cNvSpPr txBox="1"/>
          <p:nvPr/>
        </p:nvSpPr>
        <p:spPr>
          <a:xfrm>
            <a:off x="4498848" y="1371600"/>
            <a:ext cx="1371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C3C3B"/>
                </a:solidFill>
                <a:latin typeface="Aptos"/>
              </a:rPr>
              <a:t>FEP funds €53.6m of equity to COD (€40.9m Chinese) and bids 59.5 points (47.5 Chinese) into the 30 October tender; the European route needs a permit amendment.</a:t>
            </a:r>
          </a:p>
        </p:txBody>
      </p:sp>
      <p:sp>
        <p:nvSpPr>
          <p:cNvPr id="5" name="Narrative"/>
          <p:cNvSpPr txBox="1"/>
          <p:nvPr/>
        </p:nvSpPr>
        <p:spPr>
          <a:xfrm>
            <a:off x="4498848" y="2240280"/>
            <a:ext cx="6949440" cy="5751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C3C3B"/>
                </a:solidFill>
                <a:latin typeface="Aptos"/>
              </a:rPr>
              <a:t>GEI has been developing a wind project near the Huayou Cobalt plant in Bana, first as a behind-the-meter supply. It holds a building permit for 6 turbines, is close to RtB and is for sale.</a:t>
            </a:r>
          </a:p>
          <a:p>
            <a:r>
              <a:rPr sz="1600" b="0">
                <a:solidFill>
                  <a:srgbClr val="3C3C3B"/>
                </a:solidFill>
                <a:latin typeface="Aptos"/>
              </a:rPr>
              <a:t/>
            </a:r>
          </a:p>
          <a:p>
            <a:r>
              <a:rPr sz="1600" b="0">
                <a:solidFill>
                  <a:srgbClr val="3C3C3B"/>
                </a:solidFill>
                <a:latin typeface="Aptos"/>
              </a:rPr>
              <a:t>The 2026 MEKH tender offers a grid connection at the Ács Katódgyár node. GEI cannot bid, so a share deal is not feasible: a transfer of rights lets FEP bid in its own name, with closing subject to the award. All land, rights and permits move to FEP. Dentons (sell side) has issued a legal DD report and a draft transfer agreement.</a:t>
            </a:r>
          </a:p>
          <a:p>
            <a:r>
              <a:rPr sz="1600" b="0">
                <a:solidFill>
                  <a:srgbClr val="3C3C3B"/>
                </a:solidFill>
                <a:latin typeface="Aptos"/>
              </a:rPr>
              <a:t/>
            </a:r>
          </a:p>
          <a:p>
            <a:r>
              <a:rPr sz="1600" b="0">
                <a:solidFill>
                  <a:srgbClr val="3C3C3B"/>
                </a:solidFill>
                <a:latin typeface="Aptos"/>
              </a:rPr>
              <a:t>RtB is not yet reached: cable-route permits are missing, the Pér airport flight-path agreement is open and only 6 of 9 turbine positions are permitted. The permits name Goldwind turbines; another manufacturer needs a permit amendment.</a:t>
            </a:r>
          </a:p>
          <a:p>
            <a:r>
              <a:rPr sz="1600" b="0">
                <a:solidFill>
                  <a:srgbClr val="3C3C3B"/>
                </a:solidFill>
                <a:latin typeface="Aptos"/>
              </a:rPr>
              <a:t/>
            </a:r>
          </a:p>
          <a:p>
            <a:r>
              <a:rPr sz="1600" b="0">
                <a:solidFill>
                  <a:srgbClr val="3C3C3B"/>
                </a:solidFill>
                <a:latin typeface="Aptos"/>
              </a:rPr>
              <a:t>The seller asks a near-RtB price, so an RtB exit is not modelled: value comes from building and selling at COD or holding the asset.</a:t>
            </a:r>
          </a:p>
          <a:p>
            <a:r>
              <a:rPr sz="1600" b="0">
                <a:solidFill>
                  <a:srgbClr val="3C3C3B"/>
                </a:solidFill>
                <a:latin typeface="Aptos"/>
              </a:rPr>
              <a:t/>
            </a:r>
          </a:p>
          <a:p>
            <a:r>
              <a:rPr sz="1600" b="0">
                <a:solidFill>
                  <a:srgbClr val="3C3C3B"/>
                </a:solidFill>
                <a:latin typeface="Aptos"/>
              </a:rPr>
              <a:t>FEP asks the IC to approve the purchase price and to give its view on buying and developing the project.</a:t>
            </a:r>
          </a:p>
          <a:p>
            <a:r>
              <a:rPr sz="1600" b="0">
                <a:solidFill>
                  <a:srgbClr val="3C3C3B"/>
                </a:solidFill>
                <a:latin typeface="Aptos"/>
              </a:rPr>
              <a:t/>
            </a:r>
          </a:p>
          <a:p>
            <a:r>
              <a:rPr sz="1600" b="0">
                <a:solidFill>
                  <a:srgbClr val="3C3C3B"/>
                </a:solidFill>
                <a:latin typeface="Aptos"/>
              </a:rPr>
              <a:t>We are assuming a COD sale price of €2.45m/MW with EU turbines and €2.10m/MW with Chinese turbines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11750040" y="2240280"/>
          <a:ext cx="6446520" cy="6245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8920"/>
                <a:gridCol w="822960"/>
                <a:gridCol w="1417320"/>
                <a:gridCol w="1417320"/>
              </a:tblGrid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Key numbers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Unit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European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Chinese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Tender points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points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59.5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47.5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equity to COD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53.6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40.9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563C"/>
                          </a:solidFill>
                          <a:latin typeface="Aptos"/>
                        </a:rPr>
                        <a:t>Sale at COD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profit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21.9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31.1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FEP IRR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19191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28.4%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43.2%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MOIC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x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1.41x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1.76x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Buyer IRR, unlevered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5.7%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7.0%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563C"/>
                          </a:solidFill>
                          <a:latin typeface="Aptos"/>
                        </a:rPr>
                        <a:t>Hold to maturity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FEP IRR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19191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8.0%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12.0%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MOIC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x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3.37x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4.85x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NPV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(0.1)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17.7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Minimum DSCR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x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1.91x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2.53x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</a:tbl>
          </a:graphicData>
        </a:graphic>
      </p:graphicFrame>
      <p:sp>
        <p:nvSpPr>
          <p:cNvPr id="7" name="Footnote"/>
          <p:cNvSpPr txBox="1"/>
          <p:nvPr/>
        </p:nvSpPr>
        <p:spPr>
          <a:xfrm>
            <a:off x="4498848" y="964692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19191"/>
                </a:solidFill>
                <a:latin typeface="Aptos"/>
              </a:rPr>
              <a:t>Post-tax, FEP 100 %. Purchase price paid at closing (31‑Dec‑26), after the award. PPA 90 €/MWh for the whole life; NPV at 8%. Chinese = the permitted Goldwind turbines.</a:t>
            </a:r>
          </a:p>
          <a:p>
            <a:r>
              <a:rPr sz="1100" b="0">
                <a:solidFill>
                  <a:srgbClr val="919191"/>
                </a:solidFill>
                <a:latin typeface="Aptos"/>
              </a:rPr>
              <a:t>Source: Bana_Model.xlsm, 13 Oct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848" y="182880"/>
            <a:ext cx="12710160" cy="1097280"/>
          </a:xfrm>
        </p:spPr>
        <p:txBody>
          <a:bodyPr wrap="square"/>
          <a:lstStyle/>
          <a:p>
            <a:r>
              <a:t>Legal DD finds no high risks; four of the five medium risks are fixed before signing or closing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3" name="Navigator"/>
          <p:cNvGraphicFramePr>
            <a:graphicFrameLocks noGrp="1"/>
          </p:cNvGraphicFramePr>
          <p:nvPr/>
        </p:nvGraphicFramePr>
        <p:xfrm>
          <a:off x="0" y="0"/>
          <a:ext cx="3767328" cy="5440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67328"/>
              </a:tblGrid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Executive summary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Risks and mitigants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gradFill rotWithShape="1">
                      <a:gsLst>
                        <a:gs pos="0">
                          <a:srgbClr val="00A651"/>
                        </a:gs>
                        <a:gs pos="100000">
                          <a:srgbClr val="00563C"/>
                        </a:gs>
                      </a:gsLst>
                      <a:lin scaled="0" ang="0"/>
                    </a:gra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Technical overview and tender bid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Funding to COD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Returns: sale at COD vs hold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Sale price and buyer return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Sensitivities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Subtitle"/>
          <p:cNvSpPr txBox="1"/>
          <p:nvPr/>
        </p:nvSpPr>
        <p:spPr>
          <a:xfrm>
            <a:off x="4498848" y="1371600"/>
            <a:ext cx="1371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C3C3B"/>
                </a:solidFill>
                <a:latin typeface="Aptos"/>
              </a:rPr>
              <a:t>Dentons legal due diligence – no high risks, five medium and seven low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498848" y="2240280"/>
          <a:ext cx="13716000" cy="72237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5486400"/>
                <a:gridCol w="914400"/>
                <a:gridCol w="4937760"/>
              </a:tblGrid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Topic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Issue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Rating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Mitigant (DD recommendation)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</a:tr>
              <a:tr h="44561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563C"/>
                          </a:solidFill>
                          <a:latin typeface="Aptos"/>
                        </a:rPr>
                        <a:t>Permitting and energy regulatory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445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Permit transfer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Building and withdrawal permits and the environmental resolution must move to the Project Company; the law is silent, but authorities have allowed it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Seller to prepare and file the transfer applications before Closing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45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Building permit validity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Permits lapse 2 years after becoming final (first: 15 Jul 2026); repeat 2-year extensions are unclear, while grid connection may slip to Sep 2032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Apply for extensions in time so the permits stay valid until the actual grid connection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45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Withdrawal permits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Valid 4 years and not extendable; non-agricultural use must start by 2029–2030 or new permits are needed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Low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Track expiry dates and start site use within each validity period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45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Environmental resolution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Resolution assumes behind-the-meter supply with no grid feed-in; a tender award changes the activity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Low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Notify the environmental authority and confirm whether an amendment is needed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45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Airport flight procedures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Construction on 4 sites cannot start until Győr-Pér procedures are amended (agreement with ALTEO due Q4 2026, then ~9 months)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Low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Sign the tri-party agreement and complete the amendment ahead of construction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45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Turbine type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Permits specify Goldwind turbines up to 129 m hub height; a taller turbine may need an EIA, and the EU-manufacturer tender bonus is out of reach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Info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No DD recommendation; any turbine change needs a permit amendment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4561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563C"/>
                          </a:solidFill>
                          <a:latin typeface="Aptos"/>
                        </a:rPr>
                        <a:t>Real property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445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Tender land-right test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Land use agreements (ráépítési jog) do not formally meet the tender land-right rule; the bidder declares compliance under criminal liability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Before or at Signing, sign a preliminary building-right agreement on at least one plot (&gt;1 ha), assigned to the Project Company at Closing; agree the list of plots needed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45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Land right transfer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Land use rights must be transferred and re-registered plot by plot (landowner consent already given)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Seller to prepare notices and transfer documents before Closing, effective at Closing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45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Landowner rescission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RtB milestone expires Mar 2027–Jul 2028 and completion Mar 2029–Jul 2031; RtB needs a grid connection agreement only available after the tender award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Extend the milestone deadlines in the land use agreements to fit the tender timeline before Closing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45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Adjacent plots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BN-05 and BN-08 agreements also cover plots 031/4 and 039/8, which the Project does not need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Low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Terminate and deregister those rights before Closing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45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Plot 07/9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No right registered yet; plot division expected Dec 2026, final agreement due within 15 days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Low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Sign the final land use agreement and file for registration before Closing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45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Zoning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Plots 047/12 and 050 are not zoned for wind (amendment takes 4–7 months); county permit runs to 2031 (2032 if extended)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Low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Amend local regulations before the building permit applications; monitor county plan adoption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45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Municipal cooperation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Agreement expires 18 Oct 2027 unless construction starts; the seller intends to keep it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Low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3C3B"/>
                          </a:solidFill>
                          <a:latin typeface="Aptos"/>
                        </a:rPr>
                        <a:t>Extend the term and widen the scope to plots 047/12 and 050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</a:tbl>
          </a:graphicData>
        </a:graphic>
      </p:graphicFrame>
      <p:sp>
        <p:nvSpPr>
          <p:cNvPr id="6" name="Footnote"/>
          <p:cNvSpPr txBox="1"/>
          <p:nvPr/>
        </p:nvSpPr>
        <p:spPr>
          <a:xfrm>
            <a:off x="4498848" y="964692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19191"/>
                </a:solidFill>
                <a:latin typeface="Aptos"/>
              </a:rPr>
              <a:t>Ratings as assigned by Dentons; Info = for information only, not rated. Recommendations paraphrased from the report.</a:t>
            </a:r>
          </a:p>
          <a:p>
            <a:r>
              <a:rPr sz="1100" b="0">
                <a:solidFill>
                  <a:srgbClr val="919191"/>
                </a:solidFill>
                <a:latin typeface="Aptos"/>
              </a:rPr>
              <a:t>Source: Dentons, Project Bana Legal Due Diligence Report (draft, 9 October 2026).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848" y="182880"/>
            <a:ext cx="12710160" cy="1097280"/>
          </a:xfrm>
        </p:spPr>
        <p:txBody>
          <a:bodyPr wrap="square"/>
          <a:lstStyle/>
          <a:p>
            <a:r>
              <a:t>55 MW producing 139.4 GWh a year; the bid scores 59.5 points with European turbines and 47.5 with Chinese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3" name="Navigator"/>
          <p:cNvGraphicFramePr>
            <a:graphicFrameLocks noGrp="1"/>
          </p:cNvGraphicFramePr>
          <p:nvPr/>
        </p:nvGraphicFramePr>
        <p:xfrm>
          <a:off x="0" y="0"/>
          <a:ext cx="3767328" cy="5440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67328"/>
              </a:tblGrid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Executive summary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Risks and mitigants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Technical overview and tender bid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gradFill rotWithShape="1">
                      <a:gsLst>
                        <a:gs pos="0">
                          <a:srgbClr val="00A651"/>
                        </a:gs>
                        <a:gs pos="100000">
                          <a:srgbClr val="00563C"/>
                        </a:gs>
                      </a:gsLst>
                      <a:lin scaled="0" ang="0"/>
                    </a:gra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Funding to COD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Returns: sale at COD vs hold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Sale price and buyer return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Sensitivities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Subtitle"/>
          <p:cNvSpPr txBox="1"/>
          <p:nvPr/>
        </p:nvSpPr>
        <p:spPr>
          <a:xfrm>
            <a:off x="4498848" y="1371600"/>
            <a:ext cx="1371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C3C3B"/>
                </a:solidFill>
                <a:latin typeface="Aptos"/>
              </a:rPr>
              <a:t>Overbuild 20% (5 points, 55 of 60 MW built, inside the tolerance) and BESS 20% of MVA (7.5 points); European turbines add 12 points but need a permit amendment.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498848" y="2240280"/>
          <a:ext cx="7406640" cy="7196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3840480"/>
              </a:tblGrid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Item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Assumption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563C"/>
                          </a:solidFill>
                          <a:latin typeface="Aptos"/>
                        </a:rPr>
                        <a:t>Site and grid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Grid node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Ács Katódgyár (BAMO B 132.00)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Connection / wind committed / built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50 MVA / 60 MW / 55 MW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BESS committed and built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10 MW / 40 MWh at 240 k€/MW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563C"/>
                          </a:solidFill>
                          <a:latin typeface="Aptos"/>
                        </a:rPr>
                        <a:t>Energy yield and price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Net P50 equivalent hours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2,600 h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Curtailment / degradation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2.0% / 0.30% p.a.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Net generation, first full year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139.4 GWh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PPA, 100 % of output, whole life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90 €/MWh at COD, +1.0% p.a.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563C"/>
                          </a:solidFill>
                          <a:latin typeface="Aptos"/>
                        </a:rPr>
                        <a:t>Timeline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Bid / award / closing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30‑Oct‑26 / 13‑Dec‑26 / 31‑Dec‑26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NTP / COD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30‑Sep‑28 / 30‑Sep‑30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563C"/>
                          </a:solidFill>
                          <a:latin typeface="Aptos"/>
                        </a:rPr>
                        <a:t>Acquisition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Purchase price / DD / devex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€4.50m / €0.15m / €0.50m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12207240" y="2240280"/>
          <a:ext cx="5989320" cy="4928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1737360"/>
                <a:gridCol w="1051560"/>
                <a:gridCol w="1051560"/>
              </a:tblGrid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Tender bid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Commitment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European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Chinese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ÖSZ-1 municipal one-off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50 k€/MW (€2.50m)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ÖSZ-2 community contribution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3.0 €/MWh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ÖSZ-3 overbuild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20% of MVA; 10% built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ÖSZ-4 BESS power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20% of MVA, 4 h; built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7.5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7.5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ÖSZ-6 performance security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1.0x of the minimum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ÖSZ-9 European turbines ≥ 80 %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European route only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ÖSZ-5 partial award, ÖSZ-8 shared connection, ÖSZ-9 EU transformers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not offered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 / 0 / 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 / 0 / 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Total score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59.5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47.5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sp>
        <p:nvSpPr>
          <p:cNvPr id="7" name="Footnote"/>
          <p:cNvSpPr txBox="1"/>
          <p:nvPr/>
        </p:nvSpPr>
        <p:spPr>
          <a:xfrm>
            <a:off x="4498848" y="964692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19191"/>
                </a:solidFill>
                <a:latin typeface="Aptos"/>
              </a:rPr>
              <a:t>Points are the model's own score on the MEKH 2026 bands (Kiírás Annex 3-4). ÖSZ-4 is scored on net MVA (as Bora); BESS at capex only, no revenue or opex, not in the COD price. Brownfield (ÖSZ-7) is not available. Build shortfall 8.3% against the commitment, inside the 10% tolerance (GYIK 28/30). The municipal one-off is paid at COD.</a:t>
            </a:r>
          </a:p>
          <a:p>
            <a:r>
              <a:rPr sz="1100" b="0">
                <a:solidFill>
                  <a:srgbClr val="919191"/>
                </a:solidFill>
                <a:latin typeface="Aptos"/>
              </a:rPr>
              <a:t>Source: Bana_Model.xlsm, 13 Oct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848" y="182880"/>
            <a:ext cx="12710160" cy="1097280"/>
          </a:xfrm>
        </p:spPr>
        <p:txBody>
          <a:bodyPr wrap="square"/>
          <a:lstStyle/>
          <a:p>
            <a:r>
              <a:t>Uses to COD of €111.8m with European turbines (€83.4m Chinese); senior debt funds 52% (51%) and FEP the rest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3" name="Navigator"/>
          <p:cNvGraphicFramePr>
            <a:graphicFrameLocks noGrp="1"/>
          </p:cNvGraphicFramePr>
          <p:nvPr/>
        </p:nvGraphicFramePr>
        <p:xfrm>
          <a:off x="0" y="0"/>
          <a:ext cx="3767328" cy="5440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67328"/>
              </a:tblGrid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Executive summary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Risks and mitigants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Technical overview and tender bid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Funding to COD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gradFill rotWithShape="1">
                      <a:gsLst>
                        <a:gs pos="0">
                          <a:srgbClr val="00A651"/>
                        </a:gs>
                        <a:gs pos="100000">
                          <a:srgbClr val="00563C"/>
                        </a:gs>
                      </a:gsLst>
                      <a:lin scaled="0" ang="0"/>
                    </a:gra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Returns: sale at COD vs hold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Sale price and buyer return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Sensitivities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Subtitle"/>
          <p:cNvSpPr txBox="1"/>
          <p:nvPr/>
        </p:nvSpPr>
        <p:spPr>
          <a:xfrm>
            <a:off x="4498848" y="1371600"/>
            <a:ext cx="1371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C3C3B"/>
                </a:solidFill>
                <a:latin typeface="Aptos"/>
              </a:rPr>
              <a:t>A €0.44m bid guarantee at the bid; after the award a €2.22m PB guarantee and €0.62m of TSO cash; the €8.2m connection fees fall due at the HCSSZ, 08‑Jan‑29.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498848" y="2240280"/>
          <a:ext cx="7589520" cy="6071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822960"/>
                <a:gridCol w="1280160"/>
                <a:gridCol w="1280160"/>
              </a:tblGrid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Uses and sources to COD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Unit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European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Chinese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Purchase price, DD and devex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5.2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5.2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Participation fee, TSO security, guarantee fees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1.1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1.1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Construction capex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90.4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63.1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Connection fees, net of TSO security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8.2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8.2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Municipal one-off (ÖSZ-1)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Capitalised interest and debt fees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4.1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Land lease during construction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0.3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0.3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Total uses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111.8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83.4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Senior debt at COD (incl. capitalised interest)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58.1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42.5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FEP equity to COD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53.6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40.9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peak equity if held (incl. DSRA)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54.9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41.9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12435840" y="2240280"/>
          <a:ext cx="5760720" cy="4379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960120"/>
                <a:gridCol w="731520"/>
                <a:gridCol w="1965960"/>
              </a:tblGrid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Tender securities and fees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Form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What happens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Participation fee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cash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0.01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not refunded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Bid security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guarantee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0.44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released at PB posting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Performance security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guarantee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2.22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held to 31‑Mar‑33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TSO connection-request security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cash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0.62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credited to the indirect fee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Direct connection fee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cash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1.26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paid 08‑Jan‑29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Indirect connection fee, net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cash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6.89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paid 08‑Jan‑29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Guarantee fees to COD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cash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0.49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6% p.a. on guarantees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</a:tbl>
          </a:graphicData>
        </a:graphic>
      </p:graphicFrame>
      <p:sp>
        <p:nvSpPr>
          <p:cNvPr id="7" name="Footnote"/>
          <p:cNvSpPr txBox="1"/>
          <p:nvPr/>
        </p:nvSpPr>
        <p:spPr>
          <a:xfrm>
            <a:off x="4498848" y="964692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19191"/>
                </a:solidFill>
                <a:latin typeface="Aptos"/>
              </a:rPr>
              <a:t>Debt share = senior debt at COD ÷ total uses. Debt draws pro rata with construction costs at up to 55% of cost on both routes; interest capitalised to COD. Securities are the same on both routes; HUF amounts at 365 HUF/EUR.</a:t>
            </a:r>
          </a:p>
          <a:p>
            <a:r>
              <a:rPr sz="1100" b="0">
                <a:solidFill>
                  <a:srgbClr val="919191"/>
                </a:solidFill>
                <a:latin typeface="Aptos"/>
              </a:rPr>
              <a:t>Source: Bana_Model.xlsm, 13 Oct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848" y="182880"/>
            <a:ext cx="12710160" cy="1097280"/>
          </a:xfrm>
        </p:spPr>
        <p:txBody>
          <a:bodyPr wrap="square"/>
          <a:lstStyle/>
          <a:p>
            <a:r>
              <a:t>A sale at COD turns €53.6m of equity into €75.5m (1.41x); holding earns 8.0% at a 1.91x DSCR (European)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3" name="Navigator"/>
          <p:cNvGraphicFramePr>
            <a:graphicFrameLocks noGrp="1"/>
          </p:cNvGraphicFramePr>
          <p:nvPr/>
        </p:nvGraphicFramePr>
        <p:xfrm>
          <a:off x="0" y="0"/>
          <a:ext cx="3767328" cy="5440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67328"/>
              </a:tblGrid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Executive summary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Risks and mitigants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Technical overview and tender bid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Funding to COD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Returns: sale at COD vs hold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gradFill rotWithShape="1">
                      <a:gsLst>
                        <a:gs pos="0">
                          <a:srgbClr val="00A651"/>
                        </a:gs>
                        <a:gs pos="100000">
                          <a:srgbClr val="00563C"/>
                        </a:gs>
                      </a:gsLst>
                      <a:lin scaled="0" ang="0"/>
                    </a:gra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Sale price and buyer return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Sensitivities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Subtitle"/>
          <p:cNvSpPr txBox="1"/>
          <p:nvPr/>
        </p:nvSpPr>
        <p:spPr>
          <a:xfrm>
            <a:off x="4498848" y="1371600"/>
            <a:ext cx="1371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C3C3B"/>
                </a:solidFill>
                <a:latin typeface="Aptos"/>
              </a:rPr>
              <a:t>With Chinese turbines the sale returns 43.2% and the hold 12.0%; debt is capped at 55% of construction cost on both routes.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498848" y="2240280"/>
          <a:ext cx="9418320" cy="6245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3280"/>
                <a:gridCol w="731520"/>
                <a:gridCol w="1325880"/>
                <a:gridCol w="1325880"/>
                <a:gridCol w="1325880"/>
                <a:gridCol w="1325880"/>
              </a:tblGrid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FEP, post-tax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Unit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COD – European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COD – Chinese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Hold – European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Hold – Chinese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Sale price (enterprise value)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134.1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115.0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Senior debt assumed by the buyer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(58.1)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(42.5)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Net proceeds to FEP (after sale costs)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75.5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72.0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Buyer IRR, unlevered / levered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5.7% / 5.9%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7.0% / 7.5%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equity: to COD / peak if held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53.6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40.9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54.9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41.9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profit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21.9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31.1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130.2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161.3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FEP IRR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19191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28.4%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43.2%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8.0%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12.0%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MOIC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x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1.41x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1.76x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3.37x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4.85x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NPV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12.3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19.8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(0.1)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17.7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Project IRR, actual tax, before financing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7.2%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9.8%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Minimum DSCR (sculpted repayment)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x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1.91x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2.53x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Corporate income tax over the life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(23.1)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(28.5)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IRR chart"/>
          <p:cNvGraphicFramePr>
            <a:graphicFrameLocks noGrp="1"/>
          </p:cNvGraphicFramePr>
          <p:nvPr/>
        </p:nvGraphicFramePr>
        <p:xfrm>
          <a:off x="14127480" y="2240280"/>
          <a:ext cx="40690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ard"/>
          <p:cNvSpPr/>
          <p:nvPr/>
        </p:nvSpPr>
        <p:spPr>
          <a:xfrm>
            <a:off x="14127480" y="5715000"/>
            <a:ext cx="4069080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600" b="1">
                <a:solidFill>
                  <a:srgbClr val="00563C"/>
                </a:solidFill>
                <a:latin typeface="Aptos"/>
              </a:rPr>
              <a:t>Debt and tax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Debt: </a:t>
            </a:r>
            <a:r>
              <a:rPr sz="1300" b="0">
                <a:solidFill>
                  <a:srgbClr val="3C3C3B"/>
                </a:solidFill>
                <a:latin typeface="Aptos"/>
              </a:rPr>
              <a:t>1.20x target DSCR over 18 years, 5.0% fixed; sized at the lower of the DSCR capacity and 55% of cost on both routes; 63% / 47% of the DSCR capacity is used.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Tax: </a:t>
            </a:r>
            <a:r>
              <a:rPr sz="1300" b="0">
                <a:solidFill>
                  <a:srgbClr val="3C3C3B"/>
                </a:solidFill>
                <a:latin typeface="Aptos"/>
              </a:rPr>
              <a:t>CIT 15% (Pillar Two minimum), no Robin Hood tax in the base; 20-year depreciation; losses capped at 50% of the base and lapse after 5 years. Gain on the COD share sale exempt.</a:t>
            </a:r>
          </a:p>
        </p:txBody>
      </p:sp>
      <p:sp>
        <p:nvSpPr>
          <p:cNvPr id="8" name="Footnote"/>
          <p:cNvSpPr txBox="1"/>
          <p:nvPr/>
        </p:nvSpPr>
        <p:spPr>
          <a:xfrm>
            <a:off x="4498848" y="964692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19191"/>
                </a:solidFill>
                <a:latin typeface="Aptos"/>
              </a:rPr>
              <a:t>Sale price 2,450 / 2,100 k€ per built MW, less the 0.45% bottleneck loss; the buyer takes the SPV with its debt and funds the DSRA. Hold: PPA 90 €/MWh, 30-year life; DSRA of 6 months funded at COD. HIPA 2% and the innovation contribution on revenue. NPV at 8%.</a:t>
            </a:r>
          </a:p>
          <a:p>
            <a:r>
              <a:rPr sz="1100" b="0">
                <a:solidFill>
                  <a:srgbClr val="919191"/>
                </a:solidFill>
                <a:latin typeface="Aptos"/>
              </a:rPr>
              <a:t>Source: Bana_Model.xlsm, 13 Oct 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848" y="182880"/>
            <a:ext cx="12710160" cy="1097280"/>
          </a:xfrm>
        </p:spPr>
        <p:txBody>
          <a:bodyPr wrap="square"/>
          <a:lstStyle/>
          <a:p>
            <a:r>
              <a:t>At 2,450 / 2,100 k€/MW a buyer earns 5.7% / 7.0%; at the lower price 6.7% / 8.1%, but FEP's sale IRR falls to 12.1% / 29.7%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3" name="Navigator"/>
          <p:cNvGraphicFramePr>
            <a:graphicFrameLocks noGrp="1"/>
          </p:cNvGraphicFramePr>
          <p:nvPr/>
        </p:nvGraphicFramePr>
        <p:xfrm>
          <a:off x="0" y="0"/>
          <a:ext cx="3767328" cy="5440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67328"/>
              </a:tblGrid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Executive summary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Risks and mitigants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Technical overview and tender bid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Funding to COD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Returns: sale at COD vs hold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Sale price and buyer return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gradFill rotWithShape="1">
                      <a:gsLst>
                        <a:gs pos="0">
                          <a:srgbClr val="00A651"/>
                        </a:gs>
                        <a:gs pos="100000">
                          <a:srgbClr val="00563C"/>
                        </a:gs>
                      </a:gsLst>
                      <a:lin scaled="0" ang="0"/>
                    </a:gra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Sensitivities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Subtitle"/>
          <p:cNvSpPr txBox="1"/>
          <p:nvPr/>
        </p:nvSpPr>
        <p:spPr>
          <a:xfrm>
            <a:off x="4498848" y="1371600"/>
            <a:ext cx="1371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C3C3B"/>
                </a:solidFill>
                <a:latin typeface="Aptos"/>
              </a:rPr>
              <a:t>The buyer receives the same cash flows on both routes, so the higher European price lowers its return; the price per MW is an estimate, not a bid.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498848" y="2240280"/>
          <a:ext cx="13716000" cy="2185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463040"/>
                <a:gridCol w="1463040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Case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EU price k€/MW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Buyer unlevered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Buyer levered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FEP sale IRR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CN price k€/MW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Buyer unlevered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Buyer levered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FEP sale IRR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Price −10%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2,205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6.7%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7.5%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12.1%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1,890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8.1%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9.3%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29.7%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Base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2,450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5.7%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5.9%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28.4%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2,100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7.0%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7.5%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43.2%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Price +10%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2,695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4.8%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4.6%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42.2%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2,310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6.0%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6.2%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54.7%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</a:tbl>
          </a:graphicData>
        </a:graphic>
      </p:graphicFrame>
      <p:sp>
        <p:nvSpPr>
          <p:cNvPr id="6" name="Footnote"/>
          <p:cNvSpPr txBox="1"/>
          <p:nvPr/>
        </p:nvSpPr>
        <p:spPr>
          <a:xfrm>
            <a:off x="4498848" y="964692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19191"/>
                </a:solidFill>
                <a:latin typeface="Aptos"/>
              </a:rPr>
              <a:t>Buyer unlevered: pays the enterprise value at COD and receives EBITDA less tax, guarantee fees and any PB call. Buyer levered: pays the price less the senior debt, funds the DSRA and services the debt. Share deal: SPV tax, debt and depreciation continue.</a:t>
            </a:r>
          </a:p>
          <a:p>
            <a:r>
              <a:rPr sz="1100" b="0">
                <a:solidFill>
                  <a:srgbClr val="919191"/>
                </a:solidFill>
                <a:latin typeface="Aptos"/>
              </a:rPr>
              <a:t>Source: Bana_Model.xlsm, 13 Oct 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848" y="182880"/>
            <a:ext cx="12710160" cy="1097280"/>
          </a:xfrm>
        </p:spPr>
        <p:txBody>
          <a:bodyPr wrap="square"/>
          <a:lstStyle/>
          <a:p>
            <a:r>
              <a:t>A lower COD price is the largest risk to the sale (12.1%); the hold moves with yield (6.3% if lower) and PPA price (9.8% if higher)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3" name="Navigator"/>
          <p:cNvGraphicFramePr>
            <a:graphicFrameLocks noGrp="1"/>
          </p:cNvGraphicFramePr>
          <p:nvPr/>
        </p:nvGraphicFramePr>
        <p:xfrm>
          <a:off x="0" y="0"/>
          <a:ext cx="3767328" cy="5440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67328"/>
              </a:tblGrid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Executive summary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Risks and mitigants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Technical overview and tender bid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Funding to COD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Returns: sale at COD vs hold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Sale price and buyer return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Sensitivities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gradFill rotWithShape="1">
                      <a:gsLst>
                        <a:gs pos="0">
                          <a:srgbClr val="00A651"/>
                        </a:gs>
                        <a:gs pos="100000">
                          <a:srgbClr val="00563C"/>
                        </a:gs>
                      </a:gsLst>
                      <a:lin scaled="0" ang="0"/>
                    </a:gradFill>
                  </a:tcPr>
                </a:tc>
              </a:tr>
            </a:tbl>
          </a:graphicData>
        </a:graphic>
      </p:graphicFrame>
      <p:sp>
        <p:nvSpPr>
          <p:cNvPr id="4" name="Subtitle"/>
          <p:cNvSpPr txBox="1"/>
          <p:nvPr/>
        </p:nvSpPr>
        <p:spPr>
          <a:xfrm>
            <a:off x="4498848" y="1371600"/>
            <a:ext cx="1371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C3C3B"/>
                </a:solidFill>
                <a:latin typeface="Aptos"/>
              </a:rPr>
              <a:t>FEP IRR by key-assumption set, each change on its own (buyer IRR on the previous slide); the sale at COD does not depend on yield or PPA price because its price is fixed per MW.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498848" y="2240280"/>
          <a:ext cx="9418320" cy="5568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Key-assumption set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COD – EU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COD – CN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Hold – EU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Hold – CN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DSCR – EU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DSCR – CN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Base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28.4%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43.2%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8.0%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12.0%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1.91x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2.53x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COD price −10%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12.1%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29.7%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8.0%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12.0%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1.91x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2.53x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COD price +10%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42.2%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54.7%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8.0%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12.0%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1.91x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2.53x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Turbine +10%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21.2%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39.3%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7.3%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11.5%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1.82x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2.45x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Yield −10%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28.4%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43.2%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6.3%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10.1%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1.70x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2.26x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PPA +10%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28.4%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43.2%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9.8%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14.1%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2.13x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2.84x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Full PB call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25.9%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40.7%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7.7%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11.6%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1.91x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2.53x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Rate +1 pp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27.8%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42.7%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7.5%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11.6%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1.76x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2.34x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Tenor 10 years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28.4%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43.2%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7.4%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10.9%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1.25x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1.66x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Robin Hood 31%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28.4%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43.2%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6.1%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9.1%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1.76x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2.16x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CIT 9%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28.4%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43.2%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8.3%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12.5%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1.94x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2.60x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14127480" y="2240280"/>
            <a:ext cx="4069080" cy="6583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600" b="1">
                <a:solidFill>
                  <a:srgbClr val="00563C"/>
                </a:solidFill>
                <a:latin typeface="Aptos"/>
              </a:rPr>
              <a:t>What to watch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Turbine choice: </a:t>
            </a:r>
            <a:r>
              <a:rPr sz="1300" b="0">
                <a:solidFill>
                  <a:srgbClr val="3C3C3B"/>
                </a:solidFill>
                <a:latin typeface="Aptos"/>
              </a:rPr>
              <a:t>the permits name Goldwind; European turbines need a permit amendment and carry the most capex risk.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Overbuild: </a:t>
            </a:r>
            <a:r>
              <a:rPr sz="1300" b="0">
                <a:solidFill>
                  <a:srgbClr val="3C3C3B"/>
                </a:solidFill>
                <a:latin typeface="Aptos"/>
              </a:rPr>
              <a:t>55 MW built against 60 MW committed. Pro rata (GYIK 28/30) there is no PB call; if the full-call reading (GYIK 72) applies, the €2.22m PB is lost: COD IRR 25.9%, hold IRR 7.7% (European).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Robin Hood tax: </a:t>
            </a:r>
            <a:r>
              <a:rPr sz="1300" b="0">
                <a:solidFill>
                  <a:srgbClr val="3C3C3B"/>
                </a:solidFill>
                <a:latin typeface="Aptos"/>
              </a:rPr>
              <a:t>if the 31% levy applies, the hold IRR falls to 6.1% / 9.1%.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PPA: </a:t>
            </a:r>
            <a:r>
              <a:rPr sz="1300" b="0">
                <a:solidFill>
                  <a:srgbClr val="3C3C3B"/>
                </a:solidFill>
                <a:latin typeface="Aptos"/>
              </a:rPr>
              <a:t>90 €/MWh for the whole life is an assumption; no offtake is signed.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Debt: </a:t>
            </a:r>
            <a:r>
              <a:rPr sz="1300" b="0">
                <a:solidFill>
                  <a:srgbClr val="3C3C3B"/>
                </a:solidFill>
                <a:latin typeface="Aptos"/>
              </a:rPr>
              <a:t>a 10-year tenor lowers the European minimum DSCR to 1.25x and the hold IRR to 7.4%.</a:t>
            </a:r>
          </a:p>
        </p:txBody>
      </p:sp>
      <p:sp>
        <p:nvSpPr>
          <p:cNvPr id="7" name="Footnote"/>
          <p:cNvSpPr txBox="1"/>
          <p:nvPr/>
        </p:nvSpPr>
        <p:spPr>
          <a:xfrm>
            <a:off x="4498848" y="964692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19191"/>
                </a:solidFill>
                <a:latin typeface="Aptos"/>
              </a:rPr>
              <a:t>Each set changes one input, as named; tenor 10 years. Stored by the scenario macro with the tax solver; base = live model. Model checks in every set: all pass.</a:t>
            </a:r>
          </a:p>
          <a:p>
            <a:r>
              <a:rPr sz="1100" b="0">
                <a:solidFill>
                  <a:srgbClr val="919191"/>
                </a:solidFill>
                <a:latin typeface="Aptos"/>
              </a:rPr>
              <a:t>Source: Bana_Model.xlsm, 13 Oct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FEP base">
  <a:themeElements>
    <a:clrScheme name="FEP">
      <a:dk1>
        <a:srgbClr val="3C3C3B"/>
      </a:dk1>
      <a:lt1>
        <a:srgbClr val="FFFFFF"/>
      </a:lt1>
      <a:dk2>
        <a:srgbClr val="0E2841"/>
      </a:dk2>
      <a:lt2>
        <a:srgbClr val="E8E8E8"/>
      </a:lt2>
      <a:accent1>
        <a:srgbClr val="00563C"/>
      </a:accent1>
      <a:accent2>
        <a:srgbClr val="00A651"/>
      </a:accent2>
      <a:accent3>
        <a:srgbClr val="799385"/>
      </a:accent3>
      <a:accent4>
        <a:srgbClr val="82CA9C"/>
      </a:accent4>
      <a:accent5>
        <a:srgbClr val="919191"/>
      </a:accent5>
      <a:accent6>
        <a:srgbClr val="CACACA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CB25C80BA76C054AAAC0D3CDDFCEC309" ma:contentTypeVersion="14" ma:contentTypeDescription="Új dokumentum létrehozása." ma:contentTypeScope="" ma:versionID="b04c3fe5a5d8daa439e4669e310e51c5">
  <xsd:schema xmlns:xsd="http://www.w3.org/2001/XMLSchema" xmlns:xs="http://www.w3.org/2001/XMLSchema" xmlns:p="http://schemas.microsoft.com/office/2006/metadata/properties" xmlns:ns2="3ba8be79-126f-4ecc-b268-0e8a1c9d820a" xmlns:ns3="348e42aa-7502-48aa-9973-d5430de63b43" targetNamespace="http://schemas.microsoft.com/office/2006/metadata/properties" ma:root="true" ma:fieldsID="b7d65723b2fd441c2730b2f9b66bba15" ns2:_="" ns3:_="">
    <xsd:import namespace="3ba8be79-126f-4ecc-b268-0e8a1c9d820a"/>
    <xsd:import namespace="348e42aa-7502-48aa-9973-d5430de63b4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a8be79-126f-4ecc-b268-0e8a1c9d820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54c7780-c79f-4b81-a1cc-c56cb19b1b79}" ma:internalName="TaxCatchAll" ma:showField="CatchAllData" ma:web="3ba8be79-126f-4ecc-b268-0e8a1c9d82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8e42aa-7502-48aa-9973-d5430de63b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Képcímkék" ma:readOnly="false" ma:fieldId="{5cf76f15-5ced-4ddc-b409-7134ff3c332f}" ma:taxonomyMulti="true" ma:sspId="88080c10-e0a6-4b42-beda-2db26c8ffc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8e42aa-7502-48aa-9973-d5430de63b43">
      <Terms xmlns="http://schemas.microsoft.com/office/infopath/2007/PartnerControls"/>
    </lcf76f155ced4ddcb4097134ff3c332f>
    <TaxCatchAll xmlns="3ba8be79-126f-4ecc-b268-0e8a1c9d820a" xsi:nil="true"/>
  </documentManagement>
</p:properties>
</file>

<file path=customXml/itemProps1.xml><?xml version="1.0" encoding="utf-8"?>
<ds:datastoreItem xmlns:ds="http://schemas.openxmlformats.org/officeDocument/2006/customXml" ds:itemID="{0FDB0B0C-60B3-4153-B8BF-354313383EA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5DC757-8338-4BB9-BB28-498963EEAE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a8be79-126f-4ecc-b268-0e8a1c9d820a"/>
    <ds:schemaRef ds:uri="348e42aa-7502-48aa-9973-d5430de63b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1DE518-529C-4DF1-8960-0E6216B00ED8}">
  <ds:schemaRefs>
    <ds:schemaRef ds:uri="348e42aa-7502-48aa-9973-d5430de63b43"/>
    <ds:schemaRef ds:uri="3ba8be79-126f-4ecc-b268-0e8a1c9d820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2728984-5573-4501-93e1-26196c1472d0}" enabled="0" method="" siteId="{42728984-5573-4501-93e1-26196c1472d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15504</TotalTime>
  <Words>2227</Words>
  <Application>Microsoft Office PowerPoint</Application>
  <PresentationFormat>Custom</PresentationFormat>
  <Paragraphs>474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Black</vt:lpstr>
      <vt:lpstr>Arial</vt:lpstr>
      <vt:lpstr>Blank</vt:lpstr>
      <vt:lpstr>FEP base</vt:lpstr>
      <vt:lpstr>PowerPoint Presentation</vt:lpstr>
      <vt:lpstr>Technical overview and tender bid</vt:lpstr>
      <vt:lpstr>European vs Chinese turbine – sale at COD</vt:lpstr>
      <vt:lpstr>Revenue and returns by case</vt:lpstr>
      <vt:lpstr>Sensitivity – FEP IRR</vt:lpstr>
      <vt:lpstr>Sensitivity – FEP MOIC</vt:lpstr>
      <vt:lpstr>Sensitivity – all values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FEP IC template</dc:title>
  <dc:creator>FEP</dc:creator>
  <cp:lastModifiedBy>FEP</cp:lastModifiedBy>
  <cp:revision>3</cp:revision>
  <dcterms:created xsi:type="dcterms:W3CDTF">2025-05-21T13:33:01Z</dcterms:created>
  <dcterms:modified xsi:type="dcterms:W3CDTF">2026-10-09T14:02:16Z</dcterms:modified>
  <dc:subject/>
  <cp:keywords/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0x010100CB25C80BA76C054AAAC0D3CDDFCEC309</vt:lpwstr>
  </property>
  <property fmtid="{D5CDD505-2E9C-101B-9397-08002B2CF9AE}" pid="3" name="MediaServiceImageTags">
    <vt:lpwstr/>
  </property>
</Properties>
</file>