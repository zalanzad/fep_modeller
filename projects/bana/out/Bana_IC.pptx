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77" r:id="rId4"/>
    <p:sldMasterId id="2147483676" r:id="rId5"/>
  </p:sldMasterIdLst>
  <p:notesMasterIdLst>
    <p:notesMasterId r:id="rId13"/>
  </p:notesMasterIdLst>
  <p:handoutMasterIdLst>
    <p:handoutMasterId r:id="rId14"/>
  </p:handoutMasterIdLst>
  <p:sldIdLst>
    <p:sldId id="257" r:id="rId6"/>
    <p:sldId id="258" r:id="rId12"/>
    <p:sldId id="259" r:id="rId11"/>
    <p:sldId id="260" r:id="rId10"/>
    <p:sldId id="261" r:id="rId9"/>
    <p:sldId id="262" r:id="rId8"/>
    <p:sldId id="263" r:id="rId7"/>
    <p:sldId id="264" r:id="rId21"/>
    <p:sldId id="265" r:id="rId22"/>
  </p:sldIdLst>
  <p:sldSz cx="20105688" cy="11310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562" userDrawn="1">
          <p15:clr>
            <a:srgbClr val="A4A3A4"/>
          </p15:clr>
        </p15:guide>
        <p15:guide id="2" pos="63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7CEBA77-0EB0-CD9A-B348-5737FB6F5DFF}" name="Szentirmai Dániel" initials="DS" userId="S::daniel.szentirmai@futurealgroup.com::e4a987b4-a5be-46be-85af-05dbdc723d0d" providerId="AD"/>
  <p188:author id="{C83FDAAA-8457-959D-A531-E1A9B1A8ED9F}" name="Alexander Gibbs" initials="AG" userId="S::alexander.gibbs@futurealgroup.com::45f5242f-161c-406b-bf69-4ed0d839e48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EA72E"/>
    <a:srgbClr val="00563C"/>
    <a:srgbClr val="E8E8E8"/>
    <a:srgbClr val="00532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3296810-A885-4BE3-A3E7-6D5BEEA58F35}" styleName="Közepesen sötét stílus 2 – 6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346" y="53"/>
      </p:cViewPr>
      <p:guideLst>
        <p:guide orient="horz" pos="3562"/>
        <p:guide pos="633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7.xml"/><Relationship Id="rId8" Type="http://schemas.openxmlformats.org/officeDocument/2006/relationships/slide" Target="slides/slide6.xml"/><Relationship Id="rId9" Type="http://schemas.openxmlformats.org/officeDocument/2006/relationships/slide" Target="slides/slide5.xml"/><Relationship Id="rId10" Type="http://schemas.openxmlformats.org/officeDocument/2006/relationships/slide" Target="slides/slide4.xml"/><Relationship Id="rId11" Type="http://schemas.openxmlformats.org/officeDocument/2006/relationships/slide" Target="slides/slide3.xml"/><Relationship Id="rId12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handoutMaster" Target="handoutMasters/handout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Relationship Id="rId20" Type="http://schemas.microsoft.com/office/2018/10/relationships/authors" Target="authors.xml"/><Relationship Id="rId21" Type="http://schemas.openxmlformats.org/officeDocument/2006/relationships/slide" Target="slides/slide8.xml"/><Relationship Id="rId22" Type="http://schemas.openxmlformats.org/officeDocument/2006/relationships/slide" Target="slides/slide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ádeczki Zalán" userId="859bb901-d59a-4d05-86af-7c7fa75f15cc" providerId="ADAL" clId="{E470E0F3-1B55-4365-AA6F-980ABE4A6DBB}"/>
    <pc:docChg chg="modSld">
      <pc:chgData name="Zádeczki Zalán" userId="859bb901-d59a-4d05-86af-7c7fa75f15cc" providerId="ADAL" clId="{E470E0F3-1B55-4365-AA6F-980ABE4A6DBB}" dt="2026-04-21T07:28:57.393" v="0" actId="1076"/>
      <pc:docMkLst>
        <pc:docMk/>
      </pc:docMkLst>
      <pc:sldChg chg="modSp mod">
        <pc:chgData name="Zádeczki Zalán" userId="859bb901-d59a-4d05-86af-7c7fa75f15cc" providerId="ADAL" clId="{E470E0F3-1B55-4365-AA6F-980ABE4A6DBB}" dt="2026-04-21T07:28:57.393" v="0" actId="1076"/>
        <pc:sldMkLst>
          <pc:docMk/>
          <pc:sldMk cId="2832106109" sldId="316"/>
        </pc:sldMkLst>
        <pc:spChg chg="mod">
          <ac:chgData name="Zádeczki Zalán" userId="859bb901-d59a-4d05-86af-7c7fa75f15cc" providerId="ADAL" clId="{E470E0F3-1B55-4365-AA6F-980ABE4A6DBB}" dt="2026-04-21T07:28:57.393" v="0" actId="1076"/>
          <ac:spMkLst>
            <pc:docMk/>
            <pc:sldMk cId="2832106109" sldId="316"/>
            <ac:spMk id="7" creationId="{9C712E98-0880-E251-D893-E63AD1472F07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3C3C3B"/>
                </a:solidFill>
                <a:latin typeface="Aptos"/>
              </a:rPr>
              <a:t>FEP IRR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European, Raiffeisen</c:v>
                </c:pt>
              </c:strCache>
            </c:strRef>
          </c:tx>
          <c:spPr>
            <a:solidFill>
              <a:srgbClr val="00563C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Sheet1!$B$2:$B$3</c:f>
              <c:numCache>
                <c:formatCode>0.0%</c:formatCode>
                <c:ptCount val="2"/>
                <c:pt idx="0">
                  <c:v>0.248075895436541</c:v>
                </c:pt>
                <c:pt idx="1">
                  <c:v>0.0740585134078263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European, UniCredit</c:v>
                </c:pt>
              </c:strCache>
            </c:strRef>
          </c:tx>
          <c:spPr>
            <a:solidFill>
              <a:srgbClr val="00A651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Sheet1!$C$2:$C$3</c:f>
              <c:numCache>
                <c:formatCode>0.0%</c:formatCode>
                <c:ptCount val="2"/>
                <c:pt idx="0">
                  <c:v>0.23404236710695</c:v>
                </c:pt>
                <c:pt idx="1">
                  <c:v>0.0712462533399166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Chinese, Raiffeisen</c:v>
                </c:pt>
              </c:strCache>
            </c:strRef>
          </c:tx>
          <c:spPr>
            <a:solidFill>
              <a:srgbClr val="8CC63F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Sheet1!$D$2:$D$3</c:f>
              <c:numCache>
                <c:formatCode>0.0%</c:formatCode>
                <c:ptCount val="2"/>
                <c:pt idx="0">
                  <c:v>0.430590128449621</c:v>
                </c:pt>
                <c:pt idx="1">
                  <c:v>0.118465201099218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Chinese, UniCredit</c:v>
                </c:pt>
              </c:strCache>
            </c:strRef>
          </c:tx>
          <c:spPr>
            <a:solidFill>
              <a:srgbClr val="A6A6A6"/>
            </a:solidFill>
          </c:spPr>
          <c:invertIfNegative val="0"/>
          <c:cat>
            <c:strRef>
              <c:f>Sheet1!$A$2:$A$3</c:f>
              <c:strCache>
                <c:ptCount val="2"/>
                <c:pt idx="0">
                  <c:v>Sale at COD</c:v>
                </c:pt>
                <c:pt idx="1">
                  <c:v>Hold to maturity</c:v>
                </c:pt>
              </c:strCache>
            </c:strRef>
          </c:cat>
          <c:val>
            <c:numRef>
              <c:f>Sheet1!$E$2:$E$3</c:f>
              <c:numCache>
                <c:formatCode>0.0%</c:formatCode>
                <c:ptCount val="2"/>
                <c:pt idx="0">
                  <c:v>0.397063407929472</c:v>
                </c:pt>
                <c:pt idx="1">
                  <c:v>0.107429706179022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2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/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3C3C3B"/>
          </a:solidFill>
          <a:latin typeface="Aptos"/>
        </a:defRPr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0C69F0A-753D-4D0A-E937-192AB0B195D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B5C423-415A-8E73-29C5-35785CB64AE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2B9B0E-0173-6448-B6CE-6FFDEF3DFC7C}" type="datetimeFigureOut">
              <a:rPr lang="hu-HU" smtClean="0"/>
              <a:t>2026. 10. 09.</a:t>
            </a:fld>
            <a:endParaRPr lang="hu-H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AD4182-9C29-5D16-7BAD-1DC5C2F06A4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hu-H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FBC83AC-DE2C-7165-9265-93700EAAB65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0F7E15C-B816-EE44-A0DD-18B068892EE4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147268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BDBD05-8D06-4AD0-9F7F-CE567DB23A8F}" type="datetimeFigureOut">
              <a:rPr lang="en-GB" smtClean="0"/>
              <a:t>09/10/2026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ABA7ABA-3AE4-43F1-8148-8F32BDF4A57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7623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1630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856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430D23-6C94-E7D2-E011-50938D4089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03373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417835"/>
            <a:ext cx="10058400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0683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3">
            <a:extLst>
              <a:ext uri="{FF2B5EF4-FFF2-40B4-BE49-F238E27FC236}">
                <a16:creationId xmlns:a16="http://schemas.microsoft.com/office/drawing/2014/main" id="{C5F27261-9AF0-6EB2-713F-486F78006C79}"/>
              </a:ext>
            </a:extLst>
          </p:cNvPr>
          <p:cNvPicPr/>
          <p:nvPr userDrawn="1"/>
        </p:nvPicPr>
        <p:blipFill>
          <a:blip r:embed="rId2" cstate="print"/>
          <a:stretch>
            <a:fillRect/>
          </a:stretch>
        </p:blipFill>
        <p:spPr>
          <a:xfrm>
            <a:off x="8520665" y="4942258"/>
            <a:ext cx="11583434" cy="6366298"/>
          </a:xfrm>
          <a:prstGeom prst="rect">
            <a:avLst/>
          </a:prstGeom>
        </p:spPr>
      </p:pic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3A530C-C9E9-8EDB-5821-11A963C1A10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500000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61619E1-FB93-D0B1-A562-709B3CB802E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00000" y="2066114"/>
            <a:ext cx="5110181" cy="37112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20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DECA4B7-C217-E87C-BE98-ECFAC7D75F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066611" y="3014714"/>
            <a:ext cx="5110181" cy="2763837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DF2B1256-E455-F14C-DA27-04643C697B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9584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00000" y="2106613"/>
            <a:ext cx="82908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AE3D0A3-F667-55A1-9C2D-343A97FC6E3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120576" y="2891632"/>
            <a:ext cx="5968799" cy="1170005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59D9EFFB-8C77-5ACF-8C26-4C9E9FE8670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3120576" y="4283971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0AEB47D1-319C-304A-3785-F8EC65694C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120576" y="5184808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A3241-C4F1-F459-5D91-7EC5148AD9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73350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mage + tex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828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9DEB9E5-1C75-93D8-7926-E2F4E629B40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291237" y="3955313"/>
            <a:ext cx="6851212" cy="4552838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67E4D72A-A4C5-4CE0-1DC5-685309E6ACC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82800" y="3955313"/>
            <a:ext cx="7240605" cy="4552838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B444AF4A-18BD-89AF-5CAF-F8416A0228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2184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AC032-DF18-4A35-CA27-5654560CC0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00000" y="3121296"/>
            <a:ext cx="14595474" cy="1258199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1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40C855FD-0FB1-B567-AAB2-4AAC261A615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215162"/>
            <a:ext cx="5968799" cy="574582"/>
          </a:xfrm>
          <a:prstGeom prst="rect">
            <a:avLst/>
          </a:prstGeom>
        </p:spPr>
        <p:txBody>
          <a:bodyPr/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Slide Number Placeholder 1">
            <a:extLst>
              <a:ext uri="{FF2B5EF4-FFF2-40B4-BE49-F238E27FC236}">
                <a16:creationId xmlns:a16="http://schemas.microsoft.com/office/drawing/2014/main" id="{D77B3963-F925-BC86-DB81-A0E8035033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7231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tables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2" name="Picture Placeholder 4">
            <a:extLst>
              <a:ext uri="{FF2B5EF4-FFF2-40B4-BE49-F238E27FC236}">
                <a16:creationId xmlns:a16="http://schemas.microsoft.com/office/drawing/2014/main" id="{94541138-C940-BC02-754C-BCBAFB7BDC4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820101" y="2106613"/>
            <a:ext cx="8251200" cy="825023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13B6016E-B0AF-721C-85CC-8DE92D8A88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00000" y="2106613"/>
            <a:ext cx="5968799" cy="454740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Font typeface="Aptos" panose="020B0004020202020204" pitchFamily="34" charset="0"/>
              <a:buNone/>
              <a:tabLst/>
              <a:defRPr sz="18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44D6315-84DC-775C-A51D-F101FDA30C8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500000" y="2928235"/>
            <a:ext cx="5968799" cy="1046923"/>
          </a:xfrm>
          <a:prstGeom prst="rect">
            <a:avLst/>
          </a:prstGeom>
        </p:spPr>
        <p:txBody>
          <a:bodyPr/>
          <a:lstStyle>
            <a:lvl1pPr marL="409575" indent="-409575">
              <a:buFont typeface="Aptos" panose="020B0004020202020204" pitchFamily="34" charset="0"/>
              <a:buChar char="›"/>
              <a:tabLst/>
              <a:defRPr sz="1600" b="0" i="0">
                <a:latin typeface="Aptos" panose="020B0004020202020204" pitchFamily="34" charset="0"/>
              </a:defRPr>
            </a:lvl1pPr>
            <a:lvl2pPr marL="685800" indent="-228600">
              <a:buFont typeface="Aptos" panose="020B0004020202020204" pitchFamily="34" charset="0"/>
              <a:buChar char="›"/>
              <a:defRPr sz="2600" b="0" i="0">
                <a:latin typeface="Aptos" panose="020B0004020202020204" pitchFamily="34" charset="0"/>
              </a:defRPr>
            </a:lvl2pPr>
            <a:lvl3pPr marL="1143000" indent="-228600">
              <a:buFont typeface="Aptos" panose="020B0004020202020204" pitchFamily="34" charset="0"/>
              <a:buChar char="›"/>
              <a:defRPr/>
            </a:lvl3pPr>
            <a:lvl4pPr marL="1600200" indent="-228600">
              <a:buFont typeface="Aptos" panose="020B0004020202020204" pitchFamily="34" charset="0"/>
              <a:buChar char="›"/>
              <a:defRPr/>
            </a:lvl4pPr>
            <a:lvl5pPr marL="2057400" indent="-228600">
              <a:buFont typeface="Aptos" panose="020B0004020202020204" pitchFamily="34" charset="0"/>
              <a:buChar char="›"/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0"/>
            <a:endParaRPr lang="en-GB"/>
          </a:p>
          <a:p>
            <a:pPr lvl="0"/>
            <a:endParaRPr lang="en-GB"/>
          </a:p>
        </p:txBody>
      </p:sp>
      <p:sp>
        <p:nvSpPr>
          <p:cNvPr id="4" name="Slide Number Placeholder 1">
            <a:extLst>
              <a:ext uri="{FF2B5EF4-FFF2-40B4-BE49-F238E27FC236}">
                <a16:creationId xmlns:a16="http://schemas.microsoft.com/office/drawing/2014/main" id="{57649FED-5AF9-0BAF-7D1F-23B3D2CCD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7165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C513D7C6-6F52-D314-C456-2E4EEE9C6A5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500000" y="2087563"/>
            <a:ext cx="14638605" cy="826928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50C817D-4A21-D2C8-B411-11678420F4B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52893" y="2624138"/>
            <a:ext cx="6659562" cy="1847850"/>
          </a:xfrm>
          <a:prstGeom prst="rect">
            <a:avLst/>
          </a:prstGeom>
          <a:gradFill>
            <a:gsLst>
              <a:gs pos="0">
                <a:schemeClr val="accent2">
                  <a:alpha val="30000"/>
                </a:schemeClr>
              </a:gs>
              <a:gs pos="100000">
                <a:schemeClr val="accent1">
                  <a:lumMod val="88000"/>
                  <a:lumOff val="12000"/>
                  <a:alpha val="30000"/>
                </a:schemeClr>
              </a:gs>
            </a:gsLst>
            <a:lin ang="21594000" scaled="0"/>
          </a:gradFill>
        </p:spPr>
        <p:txBody>
          <a:bodyPr lIns="360000" tIns="0" rIns="0" bIns="0" anchor="ctr" anchorCtr="0"/>
          <a:lstStyle>
            <a:lvl1pPr marL="0" indent="0">
              <a:buNone/>
              <a:defRPr sz="26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 Master text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633254-15B8-F374-8FAC-EB824ADB83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030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858633A7-3D11-1220-3C5A-EDAB8D9145D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519050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2" name="Picture Placeholder 19">
            <a:extLst>
              <a:ext uri="{FF2B5EF4-FFF2-40B4-BE49-F238E27FC236}">
                <a16:creationId xmlns:a16="http://schemas.microsoft.com/office/drawing/2014/main" id="{87FD6E3D-6F9F-5EA9-AE10-8A97EC5F294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16352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3" name="Picture Placeholder 19">
            <a:extLst>
              <a:ext uri="{FF2B5EF4-FFF2-40B4-BE49-F238E27FC236}">
                <a16:creationId xmlns:a16="http://schemas.microsoft.com/office/drawing/2014/main" id="{66685B75-93B7-22A6-FA43-77CE7E9B2532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4492389" y="260540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4" name="Picture Placeholder 19">
            <a:extLst>
              <a:ext uri="{FF2B5EF4-FFF2-40B4-BE49-F238E27FC236}">
                <a16:creationId xmlns:a16="http://schemas.microsoft.com/office/drawing/2014/main" id="{649F82B6-0B11-1D9B-2756-1C27FA453518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4519050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5" name="Picture Placeholder 19">
            <a:extLst>
              <a:ext uri="{FF2B5EF4-FFF2-40B4-BE49-F238E27FC236}">
                <a16:creationId xmlns:a16="http://schemas.microsoft.com/office/drawing/2014/main" id="{B50884DA-261D-F296-F9FF-8870DF570BCB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9516352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sp>
        <p:nvSpPr>
          <p:cNvPr id="46" name="Picture Placeholder 19">
            <a:extLst>
              <a:ext uri="{FF2B5EF4-FFF2-40B4-BE49-F238E27FC236}">
                <a16:creationId xmlns:a16="http://schemas.microsoft.com/office/drawing/2014/main" id="{16C7E976-3EF1-4ABD-DBDF-4A18754D9393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4492389" y="6220474"/>
            <a:ext cx="4644659" cy="2892417"/>
          </a:xfrm>
          <a:prstGeom prst="rect">
            <a:avLst/>
          </a:prstGeom>
        </p:spPr>
        <p:txBody>
          <a:bodyPr/>
          <a:lstStyle/>
          <a:p>
            <a:endParaRPr lang="hu-HU"/>
          </a:p>
        </p:txBody>
      </p:sp>
      <p:pic>
        <p:nvPicPr>
          <p:cNvPr id="6" name="Picture 5" descr="A logo with green letters and a black background&#10;&#10;AI-generated content may be incorrect.">
            <a:extLst>
              <a:ext uri="{FF2B5EF4-FFF2-40B4-BE49-F238E27FC236}">
                <a16:creationId xmlns:a16="http://schemas.microsoft.com/office/drawing/2014/main" id="{CCB7FFD3-F237-D100-AD13-1909118597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7367250" y="-7761"/>
            <a:ext cx="2013881" cy="137863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2B1D0F8-2753-A3E5-3757-05F080DBEC8C}"/>
              </a:ext>
            </a:extLst>
          </p:cNvPr>
          <p:cNvSpPr txBox="1"/>
          <p:nvPr userDrawn="1"/>
        </p:nvSpPr>
        <p:spPr>
          <a:xfrm>
            <a:off x="2365513" y="5367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hu-HU"/>
          </a:p>
        </p:txBody>
      </p:sp>
      <p:sp>
        <p:nvSpPr>
          <p:cNvPr id="14" name="object 16">
            <a:extLst>
              <a:ext uri="{FF2B5EF4-FFF2-40B4-BE49-F238E27FC236}">
                <a16:creationId xmlns:a16="http://schemas.microsoft.com/office/drawing/2014/main" id="{D1A1E1BD-5203-A3AC-1FCD-200DE8EC4D24}"/>
              </a:ext>
            </a:extLst>
          </p:cNvPr>
          <p:cNvSpPr txBox="1">
            <a:spLocks noGrp="1"/>
          </p:cNvSpPr>
          <p:nvPr>
            <p:ph type="title" hasCustomPrompt="1"/>
          </p:nvPr>
        </p:nvSpPr>
        <p:spPr>
          <a:xfrm>
            <a:off x="4500000" y="283409"/>
            <a:ext cx="3434079" cy="796290"/>
          </a:xfrm>
          <a:prstGeom prst="rect">
            <a:avLst/>
          </a:prstGeom>
        </p:spPr>
        <p:txBody>
          <a:bodyPr vert="horz" wrap="none" lIns="0" tIns="0" rIns="0" bIns="0" rtlCol="0" anchor="ctr" anchorCtr="0">
            <a:noAutofit/>
          </a:bodyPr>
          <a:lstStyle>
            <a:lvl1pPr>
              <a:defRPr sz="3300" b="0" i="0">
                <a:latin typeface="Aptos Black" panose="020B0004020202020204" pitchFamily="34" charset="0"/>
              </a:defRPr>
            </a:lvl1pPr>
          </a:lstStyle>
          <a:p>
            <a:pPr marL="12700">
              <a:lnSpc>
                <a:spcPts val="3840"/>
              </a:lnSpc>
              <a:spcBef>
                <a:spcPts val="95"/>
              </a:spcBef>
            </a:pPr>
            <a:r>
              <a:t>Header</a:t>
            </a:r>
            <a:r>
              <a:rPr spc="-85"/>
              <a:t> </a:t>
            </a:r>
            <a:r>
              <a:t>Line</a:t>
            </a:r>
            <a:r>
              <a:rPr spc="-85"/>
              <a:t> </a:t>
            </a:r>
            <a:r>
              <a:rPr spc="-50"/>
              <a:t>1</a:t>
            </a:r>
            <a:endParaRPr lang="en-HU" spc="-50"/>
          </a:p>
        </p:txBody>
      </p:sp>
      <p:sp>
        <p:nvSpPr>
          <p:cNvPr id="30" name="Text Placeholder 28">
            <a:extLst>
              <a:ext uri="{FF2B5EF4-FFF2-40B4-BE49-F238E27FC236}">
                <a16:creationId xmlns:a16="http://schemas.microsoft.com/office/drawing/2014/main" id="{6E1B915D-A732-5430-C55E-837F13D6800E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43709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8" name="Text Placeholder 28">
            <a:extLst>
              <a:ext uri="{FF2B5EF4-FFF2-40B4-BE49-F238E27FC236}">
                <a16:creationId xmlns:a16="http://schemas.microsoft.com/office/drawing/2014/main" id="{BB5AB633-0835-AA84-5117-DC61D0EB34F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6643709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2" name="Text Placeholder 28">
            <a:extLst>
              <a:ext uri="{FF2B5EF4-FFF2-40B4-BE49-F238E27FC236}">
                <a16:creationId xmlns:a16="http://schemas.microsoft.com/office/drawing/2014/main" id="{85BB3BB6-E61D-556C-8696-9480420C8E3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11639915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3" name="Text Placeholder 28">
            <a:extLst>
              <a:ext uri="{FF2B5EF4-FFF2-40B4-BE49-F238E27FC236}">
                <a16:creationId xmlns:a16="http://schemas.microsoft.com/office/drawing/2014/main" id="{ED45A816-C7D3-8E0C-0D0D-A3F78ECACAEB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11639915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4" name="Text Placeholder 28">
            <a:extLst>
              <a:ext uri="{FF2B5EF4-FFF2-40B4-BE49-F238E27FC236}">
                <a16:creationId xmlns:a16="http://schemas.microsoft.com/office/drawing/2014/main" id="{56F453A5-CE6D-DF7F-14CB-2D686920D7DB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6617268" y="5647440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5" name="Text Placeholder 28">
            <a:extLst>
              <a:ext uri="{FF2B5EF4-FFF2-40B4-BE49-F238E27FC236}">
                <a16:creationId xmlns:a16="http://schemas.microsoft.com/office/drawing/2014/main" id="{33E5179F-76C1-1B0B-A97B-930D04A7D0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16617268" y="9271173"/>
            <a:ext cx="2520000" cy="276225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1650"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/>
              <a:t>Click to edit</a:t>
            </a:r>
          </a:p>
        </p:txBody>
      </p:sp>
      <p:sp>
        <p:nvSpPr>
          <p:cNvPr id="7" name="Slide Number Placeholder 1">
            <a:extLst>
              <a:ext uri="{FF2B5EF4-FFF2-40B4-BE49-F238E27FC236}">
                <a16:creationId xmlns:a16="http://schemas.microsoft.com/office/drawing/2014/main" id="{E267ADC1-AF57-08DA-3461-735A01E629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542029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9B80CFB-4B2B-A473-B8AE-23147E9EE5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8458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AC708B-19F4-8EF4-2753-507BDF8E8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2102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8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7">
            <a:extLst>
              <a:ext uri="{FF2B5EF4-FFF2-40B4-BE49-F238E27FC236}">
                <a16:creationId xmlns:a16="http://schemas.microsoft.com/office/drawing/2014/main" id="{FED51FD9-DD91-984F-64F8-1561CC177398}"/>
              </a:ext>
            </a:extLst>
          </p:cNvPr>
          <p:cNvSpPr/>
          <p:nvPr userDrawn="1"/>
        </p:nvSpPr>
        <p:spPr>
          <a:xfrm>
            <a:off x="4500000" y="1413569"/>
            <a:ext cx="14659200" cy="0"/>
          </a:xfrm>
          <a:custGeom>
            <a:avLst/>
            <a:gdLst/>
            <a:ahLst/>
            <a:cxnLst/>
            <a:rect l="l" t="t" r="r" b="b"/>
            <a:pathLst>
              <a:path w="18104485">
                <a:moveTo>
                  <a:pt x="0" y="0"/>
                </a:moveTo>
                <a:lnTo>
                  <a:pt x="18104160" y="0"/>
                </a:lnTo>
              </a:path>
            </a:pathLst>
          </a:custGeom>
          <a:ln w="12700">
            <a:gradFill>
              <a:gsLst>
                <a:gs pos="100000">
                  <a:schemeClr val="accent1"/>
                </a:gs>
                <a:gs pos="0">
                  <a:schemeClr val="accent2"/>
                </a:gs>
              </a:gsLst>
              <a:lin ang="0" scaled="0"/>
            </a:gra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BD5A937-B250-7022-4FC6-F9B79765E5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2607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bject 4">
            <a:extLst>
              <a:ext uri="{FF2B5EF4-FFF2-40B4-BE49-F238E27FC236}">
                <a16:creationId xmlns:a16="http://schemas.microsoft.com/office/drawing/2014/main" id="{E7403717-93A4-AAB0-5DA1-E3D59335FFA0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794"/>
            <a:ext cx="20104099" cy="11308556"/>
          </a:xfrm>
          <a:prstGeom prst="rect">
            <a:avLst/>
          </a:prstGeom>
        </p:spPr>
      </p:pic>
      <p:pic>
        <p:nvPicPr>
          <p:cNvPr id="5" name="object 5">
            <a:extLst>
              <a:ext uri="{FF2B5EF4-FFF2-40B4-BE49-F238E27FC236}">
                <a16:creationId xmlns:a16="http://schemas.microsoft.com/office/drawing/2014/main" id="{B8281C5C-DD60-55B1-3FC1-4EB141D94BC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73983" y="837670"/>
            <a:ext cx="8230115" cy="10470885"/>
          </a:xfrm>
          <a:prstGeom prst="rect">
            <a:avLst/>
          </a:prstGeom>
        </p:spPr>
      </p:pic>
      <p:pic>
        <p:nvPicPr>
          <p:cNvPr id="6" name="Picture 5" descr="A logo with white text&#10;&#10;AI-generated content may be incorrect.">
            <a:extLst>
              <a:ext uri="{FF2B5EF4-FFF2-40B4-BE49-F238E27FC236}">
                <a16:creationId xmlns:a16="http://schemas.microsoft.com/office/drawing/2014/main" id="{1FBC48BB-7B45-9563-3E74-6A7D75EA46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86" y="8474075"/>
            <a:ext cx="3450664" cy="2362200"/>
          </a:xfrm>
          <a:prstGeom prst="rect">
            <a:avLst/>
          </a:prstGeom>
        </p:spPr>
      </p:pic>
      <p:sp>
        <p:nvSpPr>
          <p:cNvPr id="7" name="object 16">
            <a:extLst>
              <a:ext uri="{FF2B5EF4-FFF2-40B4-BE49-F238E27FC236}">
                <a16:creationId xmlns:a16="http://schemas.microsoft.com/office/drawing/2014/main" id="{34703AC2-FA13-747C-85E7-7DB5CD624568}"/>
              </a:ext>
            </a:extLst>
          </p:cNvPr>
          <p:cNvSpPr txBox="1">
            <a:spLocks/>
          </p:cNvSpPr>
          <p:nvPr/>
        </p:nvSpPr>
        <p:spPr>
          <a:xfrm>
            <a:off x="818996" y="1956921"/>
            <a:ext cx="18466105" cy="10011074"/>
          </a:xfrm>
          <a:prstGeom prst="rect">
            <a:avLst/>
          </a:prstGeom>
        </p:spPr>
        <p:txBody>
          <a:bodyPr vert="horz" wrap="square" lIns="0" tIns="12065" rIns="0" bIns="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ts val="9570"/>
              </a:lnSpc>
              <a:spcBef>
                <a:spcPts val="95"/>
              </a:spcBef>
            </a:pPr>
            <a:r>
              <a:rPr lang="en-GB" sz="8250" b="1" spc="-10" noProof="0" dirty="0">
                <a:solidFill>
                  <a:srgbClr val="FFFFFF"/>
                </a:solidFill>
                <a:latin typeface="Aptos" panose="020B0004020202020204" pitchFamily="34" charset="0"/>
                <a:cs typeface="Aptos"/>
              </a:rPr>
              <a:t>Project Bana</a:t>
            </a:r>
          </a:p>
          <a:p>
            <a:pPr marL="12700">
              <a:lnSpc>
                <a:spcPts val="5600"/>
              </a:lnSpc>
              <a:spcBef>
                <a:spcPts val="95"/>
              </a:spcBef>
            </a:pPr>
            <a:r>
              <a:rPr lang="en-GB" sz="4400" b="1" spc="-10" noProof="0" dirty="0">
                <a:solidFill>
                  <a:srgbClr val="FFFFFF"/>
                </a:solidFill>
                <a:latin typeface="Aptos"/>
                <a:cs typeface="Aptos"/>
              </a:rPr>
              <a:t>55 MW wind development project opportunity</a:t>
            </a:r>
            <a:endParaRPr lang="en-GB" sz="5400" b="1" noProof="0" dirty="0"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r>
              <a:rPr lang="en-GB" sz="3200" b="0" spc="-10" noProof="0" dirty="0">
                <a:solidFill>
                  <a:srgbClr val="FFFFFF"/>
                </a:solidFill>
                <a:latin typeface="Aptos"/>
                <a:cs typeface="Aptos"/>
              </a:rPr>
              <a:t>14 October 2026</a:t>
            </a: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 algn="r">
              <a:lnSpc>
                <a:spcPts val="561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 algn="r">
              <a:lnSpc>
                <a:spcPct val="150000"/>
              </a:lnSpc>
            </a:pPr>
            <a:endParaRPr lang="en-GB" sz="2800" b="1" spc="-10" noProof="0" dirty="0">
              <a:solidFill>
                <a:schemeClr val="bg1"/>
              </a:solidFill>
              <a:latin typeface="Aptos"/>
              <a:cs typeface="Aptos"/>
            </a:endParaRPr>
          </a:p>
          <a:p>
            <a:pPr marL="12700">
              <a:lnSpc>
                <a:spcPct val="15000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  <a:p>
            <a:pPr marL="12700">
              <a:lnSpc>
                <a:spcPts val="5610"/>
              </a:lnSpc>
            </a:pPr>
            <a:endParaRPr lang="en-GB" sz="4950" spc="-10" noProof="0" dirty="0">
              <a:solidFill>
                <a:srgbClr val="FFFFFF"/>
              </a:solidFill>
              <a:latin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7181283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€4.50m, Bana returns 24.8% / 43.1% (European / Chinese) on a sale at COD and 7.4% / 11.8% if held, on Raiffeisen terms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On UniCredit terms (less debt) the sale returns 23.4% / 39.7% and the hold 7.1% / 10.7%. FEP bids 59.5 / 47.5 points into the 30 October tender; the European route needs a permit amendment.</a:t>
            </a:r>
          </a:p>
        </p:txBody>
      </p:sp>
      <p:sp>
        <p:nvSpPr>
          <p:cNvPr id="5" name="Narrative"/>
          <p:cNvSpPr txBox="1"/>
          <p:nvPr/>
        </p:nvSpPr>
        <p:spPr>
          <a:xfrm>
            <a:off x="4498848" y="2240280"/>
            <a:ext cx="6949440" cy="5751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C3C3B"/>
                </a:solidFill>
                <a:latin typeface="Aptos"/>
              </a:rPr>
              <a:t>GEI has been developing a wind project near the Huayou Cobalt plant in Bana, first as a behind-the-meter supply. It holds a building permit for 6 turbines, is close to RtB and is for sale.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2026 MEKH tender offers a grid connection at the Ács Katódgyár node. GEI cannot bid, so a share deal is not feasible: a transfer of rights lets FEP bid in its own name, with closing subject to the award. All land, rights and permits move to FEP. Dentons (sell side) has issued a legal DD report and a draft transfer agreement.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RtB is not yet reached: cable-route permits are missing, the Pér airport flight-path agreement is open and only 6 of 9 turbine positions are permitted. The permits name Goldwind turbines; another manufacturer needs a permit amendment.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The seller asks a near-RtB price, so an RtB exit is not modelled: value comes from building and selling at COD or holding the asset.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FEP asks the IC to approve the purchase price and to give its view on buying and developing the project.</a:t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/>
            </a:r>
          </a:p>
          <a:p>
            <a:r>
              <a:rPr sz="1600" b="0">
                <a:solidFill>
                  <a:srgbClr val="3C3C3B"/>
                </a:solidFill>
                <a:latin typeface="Aptos"/>
              </a:rPr>
              <a:t>We are assuming a COD sale price of €2.45m/MW with EU turbines and €2.10m/MW with Chinese turbines</a:t>
            </a:r>
          </a:p>
        </p:txBody>
      </p:sp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1750040" y="2240280"/>
          <a:ext cx="6446520" cy="67574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/>
                <a:gridCol w="640080"/>
                <a:gridCol w="960120"/>
                <a:gridCol w="960120"/>
                <a:gridCol w="960120"/>
                <a:gridCol w="96012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 numbers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Raiffeisen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Raiffeisen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UniCredit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UniCredit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Tender 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points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73.0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45.7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Sale at COD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21.6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Hold to maturity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4.59x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(6.2)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8301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Post-tax, FEP 100 %. Purchase price paid at closing (31‑Dec‑26), after the award. PPA 90 €/MWh for the whole life; NPV at 8%. Chinese = the permitted Goldwind turbines. Bank cases: Raiffeisen 0.90 and UniCredit 0.71 M€ per built MW, 15- and 12-year annuity, 1.20x and 1.30x minimum DSCR.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Legal DD finds no high risks; four of the five medium risks are fixed before signing or closing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Dentons legal due diligence – no high risks, five medium and seven low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7223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5486400"/>
                <a:gridCol w="914400"/>
                <a:gridCol w="49377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Topic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Issue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Rating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ptos"/>
                        </a:rPr>
                        <a:t>Mitigant (DD recommendation)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Permitting and energy regulatory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and withdrawal permits and the environmental resolution must move to the Project Company; the law is silent, but authorities have allowed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and file the transfer applications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Building permit validity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lapse 2 years after becoming final (first: 15 Jul 2026); repeat 2-year extensions are unclear, while grid connection may slip to Sep 2032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Apply for extensions in time so the permits stay valid until the actual grid connection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Withdrawal permits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Valid 4 years and not extendable; non-agricultural use must start by 2029–2030 or new permits are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Track expiry dates and start site use within each validity period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Environmental resolution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Resolution assumes behind-the-meter supply with no grid feed-in; a tender award changes the activity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Notify the environmental authority and confirm whether an amendment is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Airport flight procedures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Construction on 4 sites cannot start until Győr-Pér procedures are amended (agreement with ALTEO due Q4 2026, then ~9 months)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tri-party agreement and complete the amendment ahead of construction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Turbine type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Permits specify Goldwind turbines up to 129 m hub height; a taller turbine may need an EIA, and the EU-manufacturer tender bonus is out of reach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Info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DD recommendation; any turbine change needs a permit amendment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0563C"/>
                          </a:solidFill>
                          <a:latin typeface="Aptos"/>
                        </a:rPr>
                        <a:t>Real property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Tender land-right test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agreements (ráépítési jog) do not formally meet the tender land-right rule; the bidder declares compliance under criminal liability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Before or at Signing, sign a preliminary building-right agreement on at least one plot (&gt;1 ha), assigned to the Project Company at Closing; agree the list of plots needed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right transfer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 use rights must be transferred and re-registered plot by plot (landowner consent already given)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Seller to prepare notices and transfer documents before Closing, effective at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Landowner rescission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RtB milestone expires Mar 2027–Jul 2028 and completion Mar 2029–Jul 2031; RtB needs a grid connection agreement only available after the tender award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Medium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milestone deadlines in the land use agreements to fit the tender timeline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Adjacent plots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BN-05 and BN-08 agreements also cover plots 031/4 and 039/8, which the Project does not need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Terminate and deregister those rights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 07/9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No right registered yet; plot division expected Dec 2026, final agreement due within 15 days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Sign the final land use agreement and file for registration before Closing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Zoning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Plots 047/12 and 050 are not zoned for wind (amendment takes 4–7 months); county permit runs to 2031 (2032 if extended)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Amend local regulations before the building permit applications; monitor county plan adoption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45617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Municipal cooperation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Agreement expires 18 Oct 2027 unless construction starts; the seller intends to keep it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Low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3C3B"/>
                          </a:solidFill>
                          <a:latin typeface="Aptos"/>
                        </a:rPr>
                        <a:t>Extend the term and widen the scope to plots 047/12 and 050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Ratings as assigned by Dentons; Info = for information only, not rated. Recommendations paraphrased from the report.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Dentons, Project Bana Legal Due Diligence Report (draft, 9 October 2026).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55 MW producing 139.4 GWh a year; the bid scores 59.5 points with European turbines and 47.5 with Chinese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Overbuild 20% (5 points, 55 of 60 MW built, inside the tolerance) and BESS 20% of MVA (7.5 points); European turbines add 12 points but need a permit amendment.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406640" cy="7196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8404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Item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Assumption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Site and grid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Grid node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Ács Katódgyár (BAMO B 132.00)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/ wind committed /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MVA / 60 MW / 55 MW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committed and built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 MW / 40 MWh at 100 k€/MWh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Energy yield and price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P50 equivalent hours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2,600 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Curtailment / degradation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2.0% / 0.30%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generation, first full year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139.4 GWh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PPA, 100 % of output, whole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90 €/MWh at COD, +1.0% p.a.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Timeline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/ award / closing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30‑Oct‑26 / 13‑Dec‑26 / 31‑Dec‑26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NTP /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30‑Sep‑28 / 30‑Sep‑30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Acquisition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 / DD /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€4.50m / €0.15m / €0.50m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207240" y="2240280"/>
          <a:ext cx="5989320" cy="4928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48840"/>
                <a:gridCol w="1737360"/>
                <a:gridCol w="1051560"/>
                <a:gridCol w="10515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bid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Commitment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ÖSZ-1 municipal one-off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50 k€/MW (€2.50m)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ÖSZ-2 community contribution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3.0 €/MWh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ÖSZ-3 overbuild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MVA; 10%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ÖSZ-4 BESS power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20% of MVA, 4 h; built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ÖSZ-6 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1.0x of the minimum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ÖSZ-9 European turbines ≥ 80 %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European route only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ÖSZ-5 partial award, ÖSZ-8 shared connection, ÖSZ-9 EU transformers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offered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 / 0 / 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score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47.5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Points are the model's own score on the MEKH 2026 bands (Kiírás Annex 3-4). ÖSZ-4 is scored on net MVA (as Bora); BESS at capex only, no revenue or opex, not in the COD price. Brownfield (ÖSZ-7) is not available. Build shortfall 8.3% against the commitment, inside the 10% tolerance (GYIK 28/30). The municipal one-off is paid at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Uses to COD of €112.7m European (€85.5m Chinese); Raiffeisen debt funds 44% (58%), FEP the rest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 €0.44m bid guarantee at the bid; after the award a €2.22m PB guarantee and €0.62m of TSO cash; the €8.2m connection fees fall due at the HCSSZ, 08‑Jan‑29.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7589520" cy="60716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822960"/>
                <a:gridCol w="1280160"/>
                <a:gridCol w="12801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Uses and sources to COD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Purchase price, DD and devex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fee, TSO security, guarantee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Construction capex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92.0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64.7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Connection fees, net of TSO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Municipal one-off (ÖSZ-1)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Capitalised interest and debt fees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Land lease during construction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Total uses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112.7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85.5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at COD (incl. capitalised interest)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equity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peak equity if held (incl. DSRA)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Table"/>
          <p:cNvGraphicFramePr>
            <a:graphicFrameLocks noGrp="1"/>
          </p:cNvGraphicFramePr>
          <p:nvPr/>
        </p:nvGraphicFramePr>
        <p:xfrm>
          <a:off x="12435840" y="2240280"/>
          <a:ext cx="5760720" cy="4379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960120"/>
                <a:gridCol w="731520"/>
                <a:gridCol w="196596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Tender securities and fees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Form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What happens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Participation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0.01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not refunded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Bid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released at PB posting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Performance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guarantee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held to 31‑Mar‑33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TSO connection-request security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0.62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credited to the indirect fee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Direct connection fee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1.26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Indirect connection fee, net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paid 08‑Jan‑29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Guarantee fees to COD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cash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0.49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6% p.a. on guarantees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Debt share = senior debt at COD ÷ total uses. Raiffeisen: €0.90m per built wind MW on both routes; UniCredit: €0.71m (debt €39.0m / €39.0m, equity €73.0m / €45.7m). Drawn pro rata with construction costs; interest capitalised to COD. HUF amounts at 365 HUF/EUR.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sale at COD turns €63.2m of equity into €84.1m (1.33x); holding earns 7.4% at a 1.94x DSCR (European, Raiffeisen)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Chinese: sale 43.1%, hold 11.8%. On UniCredit terms debt falls from €49.5m to €39.0m and the hold earns 7.1% / 10.7%.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418320" cy="6830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83280"/>
                <a:gridCol w="731520"/>
                <a:gridCol w="1325880"/>
                <a:gridCol w="1325880"/>
                <a:gridCol w="1325880"/>
                <a:gridCol w="13258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FEP, post-tax, Raiffeisen terms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Unit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European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– Chinese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Sale price (enterprise value)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(49.5)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(49.5)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Net proceeds to FEP (after sale costs)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84.1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Buyer IRR, unlevered / levered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 / 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 / 7.6%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equity: to COD / peak if held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64.4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37.2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profit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20.9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137.3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160.4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MOIC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1.33x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3.13x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5.31x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FEP NPV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18.5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(3.7)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16.6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Project IRR, actual tax, before financing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(annuity)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Corporate income tax over the life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(24.2)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(28.3)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00563C"/>
                          </a:solidFill>
                          <a:latin typeface="Aptos"/>
                        </a:rPr>
                        <a:t>UniCredit terms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Senior debt assumed by the buyer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€ m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(39.0)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(39.0)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FEP IRR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919191"/>
                          </a:solidFill>
                          <a:latin typeface="Aptos"/>
                        </a:rPr>
                        <a:t>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Minimum DSCR (annuity)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919191"/>
                          </a:solidFill>
                          <a:latin typeface="Aptos"/>
                        </a:rPr>
                        <a:t>x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–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graphicFrame>
        <p:nvGraphicFramePr>
          <p:cNvPr id="6" name="IRR chart"/>
          <p:cNvGraphicFramePr>
            <a:graphicFrameLocks noGrp="1"/>
          </p:cNvGraphicFramePr>
          <p:nvPr/>
        </p:nvGraphicFramePr>
        <p:xfrm>
          <a:off x="14127480" y="2240280"/>
          <a:ext cx="4069080" cy="2834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Card"/>
          <p:cNvSpPr/>
          <p:nvPr/>
        </p:nvSpPr>
        <p:spPr>
          <a:xfrm>
            <a:off x="14127480" y="5212080"/>
            <a:ext cx="4069080" cy="43434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Debt and tax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Raiffeisen: </a:t>
            </a:r>
            <a:r>
              <a:rPr sz="1300" b="0">
                <a:solidFill>
                  <a:srgbClr val="3C3C3B"/>
                </a:solidFill>
                <a:latin typeface="Aptos"/>
              </a:rPr>
              <a:t>€0.90m per built MW, 15-year annuity, minimum DSCR 1.20x on PPA revenue; LTC 46% / 63%; 62% / 63% of the DSCR capacity is used.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UniCredit: </a:t>
            </a:r>
            <a:r>
              <a:rPr sz="1300" b="0">
                <a:solidFill>
                  <a:srgbClr val="3C3C3B"/>
                </a:solidFill>
                <a:latin typeface="Aptos"/>
              </a:rPr>
              <a:t>12-year annuity, minimum DSCR 1.30x, margin above 2.3 %; €0.71m per MW (Raiffeisen quantum scaled to tenor and DSCR); LTC 36% / 49%. Both 5.0% fixed.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Maximum debt, no cap (Raiffeisen tenor): </a:t>
            </a:r>
            <a:r>
              <a:rPr sz="1300" b="0">
                <a:solidFill>
                  <a:srgbClr val="3C3C3B"/>
                </a:solidFill>
                <a:latin typeface="Aptos"/>
              </a:rPr>
              <a:t>€87.4m at 1.10x / €80.1m at 1.20x DSCR European (77% / 71% of uses); €85.1m / €78.0m Chinese.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Tax: </a:t>
            </a:r>
            <a:r>
              <a:rPr sz="1300" b="0">
                <a:solidFill>
                  <a:srgbClr val="3C3C3B"/>
                </a:solidFill>
                <a:latin typeface="Aptos"/>
              </a:rPr>
              <a:t>CIT 15% (9 % + possible Pillar Two top-up); Robin Hood (31%) only as a sensitivity. 20-year depreciation; losses capped at 50%, lapse after 5 years. COD share-sale gain exempt.</a:t>
            </a:r>
          </a:p>
        </p:txBody>
      </p:sp>
      <p:sp>
        <p:nvSpPr>
          <p:cNvPr id="8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Sale price 2,450 / 2,100 k€ per built MW, less the 0.45% bottleneck loss; the buyer takes the SPV with its debt and funds the DSRA. Hold: PPA 90 €/MWh, 30-year life; DSRA of 6 months funded at COD. HIPA 2% and the innovation contribution on revenue. NPV at 8%.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At 2,450 / 2,100 k€/MW a buyer earns 5.6% / 7.0%; at the lower price 6.7% / 8.1%, but FEP's sale IRR falls to 9.6% / 28.7%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The buyer receives the same EBITDA on both routes, so the higher European price lowers its return; the price per MW is an estimate, not a bid.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716000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  <a:gridCol w="146304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EU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CN price k€/MW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unlevered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levered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FEP sale IRR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2,205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1,890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Raiffeisen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2,450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2,100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2,695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2,310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Buyer unlevered: pays the enterprise value at COD and receives EBITDA less tax, guarantee fees and any PB call. Buyer levered: pays the price less the senior debt, funds the DSRA and services the debt. Share deal: SPV tax, debt and depreciation continue; the unlevered IRR uses the SPV's actual tax. Raiffeisen debt terms.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Delivering none of the commitments keeps the 59.5 / 47.5 points and costs the €2.22m PB; sale IRR 44.9% / 44.9%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Any commitment not delivered triggers the full PB call, so once one is missed the rest can be dropped too: no overbuild, no BESS, no municipal or community payments, Chinese turbines on the European route.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13688568" cy="1673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  <a:gridCol w="1216152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Case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PB call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EU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Equity CN € m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Sale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IRR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IRR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Deliver the bid (Raiffeisen)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63.2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36.0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2.22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29.2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4498848" y="4572000"/>
            <a:ext cx="13716000" cy="1737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Before relying on it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Group exclusion: </a:t>
            </a:r>
            <a:r>
              <a:rPr sz="1300" b="0">
                <a:solidFill>
                  <a:srgbClr val="3C3C3B"/>
                </a:solidFill>
                <a:latin typeface="Aptos"/>
              </a:rPr>
              <a:t>a PB call may exclude the group from these tenders for three years.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Municipality and community: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payments are a commitment to MEKH in the bid, not a contract with them; the PB call is the sanction.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Buyer: </a:t>
            </a:r>
            <a:r>
              <a:rPr sz="1300" b="0">
                <a:solidFill>
                  <a:srgbClr val="3C3C3B"/>
                </a:solidFill>
                <a:latin typeface="Aptos"/>
              </a:rPr>
              <a:t>a buyer at COD sees the called PB and the missing commitments in its due diligence.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Reading: </a:t>
            </a:r>
            <a:r>
              <a:rPr sz="1300" b="0">
                <a:solidFill>
                  <a:srgbClr val="3C3C3B"/>
                </a:solidFill>
                <a:latin typeface="Aptos"/>
              </a:rPr>
              <a:t>the full call on any missed commitment follows Kiírás XIII.17 and GYIK 72; the pro-rata reading (GYIK 28/30) is the base.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Deliver nothing: wind 50 MW (no overbuild), no BESS, no municipal one-off or community contribution; the European route installs Chinese turbines and sells at the Chinese price. The whole PB is called 6 months after COD. Equity = FEP equity to COD.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98848" y="182880"/>
            <a:ext cx="12710160" cy="1097280"/>
          </a:xfrm>
        </p:spPr>
        <p:txBody>
          <a:bodyPr wrap="square"/>
          <a:lstStyle/>
          <a:p>
            <a:r>
              <a:t>A lower COD price hits the sale most (9.6%); Robin Hood tax (5.6%) and lower yield (5.9%) hit the hold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8576B7A-1C0F-D2A3-8BE9-18F63D64C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4200188" y="10483850"/>
            <a:ext cx="4522787" cy="6016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EEA166-2877-4493-9FAA-8D6952A82FC3}" type="slidenum">
              <a:rPr lang="en-GB" smtClean="0"/>
              <a:t>‹#›</a:t>
            </a:fld>
            <a:endParaRPr lang="en-GB"/>
          </a:p>
        </p:txBody>
      </p:sp>
      <p:graphicFrame>
        <p:nvGraphicFramePr>
          <p:cNvPr id="3" name="Navigator"/>
          <p:cNvGraphicFramePr>
            <a:graphicFrameLocks noGrp="1"/>
          </p:cNvGraphicFramePr>
          <p:nvPr/>
        </p:nvGraphicFramePr>
        <p:xfrm>
          <a:off x="0" y="0"/>
          <a:ext cx="3767328" cy="62179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67328"/>
              </a:tblGrid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Executive summary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Risks and mitigants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Technical overview and tender bid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Funding to COD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Returns: sale at COD vs hold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Sale price and buyer return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3C3C3B"/>
                          </a:solidFill>
                          <a:latin typeface="Aptos"/>
                        </a:rPr>
                        <a:t>Promise or build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noFill/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ptos"/>
                        </a:rPr>
                        <a:t>Sensitivities</a:t>
                      </a:r>
                    </a:p>
                  </a:txBody>
                  <a:tcPr marL="180000" anchor="ctr">
                    <a:lnL>
                      <a:noFill/>
                    </a:lnL>
                    <a:lnR>
                      <a:noFill/>
                    </a:lnR>
                    <a:lnT w="6350">
                      <a:solidFill>
                        <a:srgbClr val="3C3C3B"/>
                      </a:solidFill>
                    </a:lnT>
                    <a:lnB w="6350">
                      <a:solidFill>
                        <a:srgbClr val="3C3C3B"/>
                      </a:solidFill>
                    </a:lnB>
                    <a:gradFill rotWithShape="1">
                      <a:gsLst>
                        <a:gs pos="0">
                          <a:srgbClr val="00A651"/>
                        </a:gs>
                        <a:gs pos="100000">
                          <a:srgbClr val="00563C"/>
                        </a:gs>
                      </a:gsLst>
                      <a:lin scaled="0" ang="0"/>
                    </a:gradFill>
                  </a:tcPr>
                </a:tc>
              </a:tr>
            </a:tbl>
          </a:graphicData>
        </a:graphic>
      </p:graphicFrame>
      <p:sp>
        <p:nvSpPr>
          <p:cNvPr id="4" name="Subtitle"/>
          <p:cNvSpPr txBox="1"/>
          <p:nvPr/>
        </p:nvSpPr>
        <p:spPr>
          <a:xfrm>
            <a:off x="4498848" y="1371600"/>
            <a:ext cx="1371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C3C3B"/>
                </a:solidFill>
                <a:latin typeface="Aptos"/>
              </a:rPr>
              <a:t>FEP and buyer (unlevered) IRR by key-assumption set, each change on its own; the sale at COD does not depend on yield or PPA price because its price is fixed per MW.</a:t>
            </a:r>
          </a:p>
        </p:txBody>
      </p:sp>
      <p:graphicFrame>
        <p:nvGraphicFramePr>
          <p:cNvPr id="5" name="Table"/>
          <p:cNvGraphicFramePr>
            <a:graphicFrameLocks noGrp="1"/>
          </p:cNvGraphicFramePr>
          <p:nvPr/>
        </p:nvGraphicFramePr>
        <p:xfrm>
          <a:off x="4498848" y="2240280"/>
          <a:ext cx="9509760" cy="63002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  <a:gridCol w="868680"/>
              </a:tblGrid>
              <a:tr h="5394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Key-assumption set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Points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COD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Buyer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Hold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EU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ptos"/>
                        </a:rPr>
                        <a:t>DSCR CN</a:t>
                      </a:r>
                    </a:p>
                  </a:txBody>
                  <a:tcPr marL="73152" marR="73152" marT="27432" marB="27432" anchor="ctr">
                    <a:solidFill>
                      <a:srgbClr val="00A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Raiffeisen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Base: UniCredit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23.4%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39.7%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10.7%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2.08x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3C3C3B"/>
                          </a:solidFill>
                          <a:latin typeface="Aptos"/>
                        </a:rPr>
                        <a:t>2.03x</a:t>
                      </a:r>
                    </a:p>
                  </a:txBody>
                  <a:tcPr marL="73152" marR="73152" marT="27432" marB="27432" anchor="ctr">
                    <a:solidFill>
                      <a:srgbClr val="E6F4E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28.7%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COD price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55.1%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Turbine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38.5%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Yield −10%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9.9%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PPA +10%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14.0%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2.11x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PB call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22.5%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Rate +1 pp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42.4%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1.78x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Tenor 10 years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11.0%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1.40x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Robin Hood 31%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5.6%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8.9%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1.67x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1.54x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CIT 9%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1.93x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BESS 100 MWh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65.5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33.2%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6.7%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1.95x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1.89x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Promise all, deliver nothing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44.9%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7.3%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12.9%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1.96x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Full cash sweep</a:t>
                      </a:r>
                    </a:p>
                  </a:txBody>
                  <a:tcPr marL="73152" marR="73152" marT="27432" marB="27432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59.5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24.8%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43.1%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5.5%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6.9%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7.0%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10.4%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1.92x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C3C3B"/>
                          </a:solidFill>
                          <a:latin typeface="Aptos"/>
                        </a:rPr>
                        <a:t>1.87x</a:t>
                      </a:r>
                    </a:p>
                  </a:txBody>
                  <a:tcPr marL="73152" marR="73152" marT="27432" marB="27432" anchor="ctr">
                    <a:noFill/>
                  </a:tcPr>
                </a:tc>
              </a:tr>
            </a:tbl>
          </a:graphicData>
        </a:graphic>
      </p:graphicFrame>
      <p:sp>
        <p:nvSpPr>
          <p:cNvPr id="6" name="Card"/>
          <p:cNvSpPr/>
          <p:nvPr/>
        </p:nvSpPr>
        <p:spPr>
          <a:xfrm>
            <a:off x="14127480" y="2240280"/>
            <a:ext cx="4069080" cy="58521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/>
          <a:lstStyle/>
          <a:p>
            <a:pPr algn="l"/>
            <a:r>
              <a:rPr sz="1600" b="1">
                <a:solidFill>
                  <a:srgbClr val="00563C"/>
                </a:solidFill>
                <a:latin typeface="Aptos"/>
              </a:rPr>
              <a:t>What to watch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Turbine choice: </a:t>
            </a:r>
            <a:r>
              <a:rPr sz="1300" b="0">
                <a:solidFill>
                  <a:srgbClr val="3C3C3B"/>
                </a:solidFill>
                <a:latin typeface="Aptos"/>
              </a:rPr>
              <a:t>the permits name Goldwind; European turbines need a permit amendment and carry the most capex risk.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BESS 100 MWh: </a:t>
            </a:r>
            <a:r>
              <a:rPr sz="1300" b="0">
                <a:solidFill>
                  <a:srgbClr val="3C3C3B"/>
                </a:solidFill>
                <a:latin typeface="Aptos"/>
              </a:rPr>
              <a:t>65.5 points but COD IRR 17.0% and hold IRR 6.7% (European).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Robin Hood tax: </a:t>
            </a:r>
            <a:r>
              <a:rPr sz="1300" b="0">
                <a:solidFill>
                  <a:srgbClr val="3C3C3B"/>
                </a:solidFill>
                <a:latin typeface="Aptos"/>
              </a:rPr>
              <a:t>not in the base; if the 31% levy applies (its exemption covers only KÁT/METÁR plants), the hold IRR falls to 5.6% / 8.9%.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PPA: </a:t>
            </a:r>
            <a:r>
              <a:rPr sz="1300" b="0">
                <a:solidFill>
                  <a:srgbClr val="3C3C3B"/>
                </a:solidFill>
                <a:latin typeface="Aptos"/>
              </a:rPr>
              <a:t>90 €/MWh for the whole life is an assumption; no offtake is signed.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Debt: </a:t>
            </a:r>
            <a:r>
              <a:rPr sz="1300" b="0">
                <a:solidFill>
                  <a:srgbClr val="3C3C3B"/>
                </a:solidFill>
                <a:latin typeface="Aptos"/>
              </a:rPr>
              <a:t>a 10-year tenor lowers the European minimum DSCR to 1.44x and the hold IRR to 7.2%.</a:t>
            </a:r>
          </a:p>
          <a:p>
            <a:pPr algn="l">
              <a:spcBef>
                <a:spcPts val="800"/>
              </a:spcBef>
            </a:pPr>
            <a:r>
              <a:rPr sz="1300" b="1">
                <a:solidFill>
                  <a:srgbClr val="3C3C3B"/>
                </a:solidFill>
                <a:latin typeface="Aptos"/>
              </a:rPr>
              <a:t>Cash sweep: </a:t>
            </a:r>
            <a:r>
              <a:rPr sz="1300" b="0">
                <a:solidFill>
                  <a:srgbClr val="3C3C3B"/>
                </a:solidFill>
                <a:latin typeface="Aptos"/>
              </a:rPr>
              <a:t>Raiffeisen asks for a significant one, up to full; a full sweep cuts the hold IRR to 7.0% / 10.4%.</a:t>
            </a:r>
          </a:p>
        </p:txBody>
      </p:sp>
      <p:sp>
        <p:nvSpPr>
          <p:cNvPr id="7" name="Footnote"/>
          <p:cNvSpPr txBox="1"/>
          <p:nvPr/>
        </p:nvSpPr>
        <p:spPr>
          <a:xfrm>
            <a:off x="4498848" y="9646920"/>
            <a:ext cx="13167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919191"/>
                </a:solidFill>
                <a:latin typeface="Aptos"/>
              </a:rPr>
              <a:t>Each set changes only the inputs its name describes, from the Raiffeisen base; tenor 10 years. Stored by the scenario macro with the tax solver; base = live model. Model checks in every set: all pass.</a:t>
            </a:r>
          </a:p>
          <a:p>
            <a:r>
              <a:rPr sz="1100" b="0">
                <a:solidFill>
                  <a:srgbClr val="919191"/>
                </a:solidFill>
                <a:latin typeface="Aptos"/>
              </a:rPr>
              <a:t>Source: Bana_Model.xlsm, 14 Oct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FEP base">
  <a:themeElements>
    <a:clrScheme name="FEP">
      <a:dk1>
        <a:srgbClr val="3C3C3B"/>
      </a:dk1>
      <a:lt1>
        <a:srgbClr val="FFFFFF"/>
      </a:lt1>
      <a:dk2>
        <a:srgbClr val="0E2841"/>
      </a:dk2>
      <a:lt2>
        <a:srgbClr val="E8E8E8"/>
      </a:lt2>
      <a:accent1>
        <a:srgbClr val="00563C"/>
      </a:accent1>
      <a:accent2>
        <a:srgbClr val="00A651"/>
      </a:accent2>
      <a:accent3>
        <a:srgbClr val="799385"/>
      </a:accent3>
      <a:accent4>
        <a:srgbClr val="82CA9C"/>
      </a:accent4>
      <a:accent5>
        <a:srgbClr val="919191"/>
      </a:accent5>
      <a:accent6>
        <a:srgbClr val="CACACA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um" ma:contentTypeID="0x010100CB25C80BA76C054AAAC0D3CDDFCEC309" ma:contentTypeVersion="14" ma:contentTypeDescription="Új dokumentum létrehozása." ma:contentTypeScope="" ma:versionID="b04c3fe5a5d8daa439e4669e310e51c5">
  <xsd:schema xmlns:xsd="http://www.w3.org/2001/XMLSchema" xmlns:xs="http://www.w3.org/2001/XMLSchema" xmlns:p="http://schemas.microsoft.com/office/2006/metadata/properties" xmlns:ns2="3ba8be79-126f-4ecc-b268-0e8a1c9d820a" xmlns:ns3="348e42aa-7502-48aa-9973-d5430de63b43" targetNamespace="http://schemas.microsoft.com/office/2006/metadata/properties" ma:root="true" ma:fieldsID="b7d65723b2fd441c2730b2f9b66bba15" ns2:_="" ns3:_="">
    <xsd:import namespace="3ba8be79-126f-4ecc-b268-0e8a1c9d820a"/>
    <xsd:import namespace="348e42aa-7502-48aa-9973-d5430de63b43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3:MediaServiceSearchProperties" minOccurs="0"/>
                <xsd:element ref="ns3:lcf76f155ced4ddcb4097134ff3c332f" minOccurs="0"/>
                <xsd:element ref="ns2:TaxCatchAll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a8be79-126f-4ecc-b268-0e8a1c9d820a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Résztvevők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Megosztva részletekkel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554c7780-c79f-4b81-a1cc-c56cb19b1b79}" ma:internalName="TaxCatchAll" ma:showField="CatchAllData" ma:web="3ba8be79-126f-4ecc-b268-0e8a1c9d820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8e42aa-7502-48aa-9973-d5430de63b4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Képcímkék" ma:readOnly="false" ma:fieldId="{5cf76f15-5ced-4ddc-b409-7134ff3c332f}" ma:taxonomyMulti="true" ma:sspId="88080c10-e0a6-4b42-beda-2db26c8ffc2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indexed="true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artalomtípus"/>
        <xsd:element ref="dc:title" minOccurs="0" maxOccurs="1" ma:index="4" ma:displayName="Cím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8e42aa-7502-48aa-9973-d5430de63b43">
      <Terms xmlns="http://schemas.microsoft.com/office/infopath/2007/PartnerControls"/>
    </lcf76f155ced4ddcb4097134ff3c332f>
    <TaxCatchAll xmlns="3ba8be79-126f-4ecc-b268-0e8a1c9d820a" xsi:nil="true"/>
  </documentManagement>
</p:properties>
</file>

<file path=customXml/itemProps1.xml><?xml version="1.0" encoding="utf-8"?>
<ds:datastoreItem xmlns:ds="http://schemas.openxmlformats.org/officeDocument/2006/customXml" ds:itemID="{0FDB0B0C-60B3-4153-B8BF-354313383EA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5DC757-8338-4BB9-BB28-498963EEAEB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a8be79-126f-4ecc-b268-0e8a1c9d820a"/>
    <ds:schemaRef ds:uri="348e42aa-7502-48aa-9973-d5430de63b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51DE518-529C-4DF1-8960-0E6216B00ED8}">
  <ds:schemaRefs>
    <ds:schemaRef ds:uri="348e42aa-7502-48aa-9973-d5430de63b43"/>
    <ds:schemaRef ds:uri="3ba8be79-126f-4ecc-b268-0e8a1c9d820a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42728984-5573-4501-93e1-26196c1472d0}" enabled="0" method="" siteId="{42728984-5573-4501-93e1-26196c1472d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15504</TotalTime>
  <Words>2227</Words>
  <Application>Microsoft Office PowerPoint</Application>
  <PresentationFormat>Custom</PresentationFormat>
  <Paragraphs>474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Aptos Black</vt:lpstr>
      <vt:lpstr>Arial</vt:lpstr>
      <vt:lpstr>Blank</vt:lpstr>
      <vt:lpstr>FEP base</vt:lpstr>
      <vt:lpstr>PowerPoint Presentation</vt:lpstr>
      <vt:lpstr>Technical overview and tender bid</vt:lpstr>
      <vt:lpstr>European vs Chinese turbine – sale at COD</vt:lpstr>
      <vt:lpstr>Revenue and returns by case</vt:lpstr>
      <vt:lpstr>Sensitivity – FEP IRR</vt:lpstr>
      <vt:lpstr>Sensitivity – FEP MOIC</vt:lpstr>
      <vt:lpstr>Sensitivity – all values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FEP IC template</dc:title>
  <dc:creator>FEP</dc:creator>
  <cp:lastModifiedBy>FEP</cp:lastModifiedBy>
  <cp:revision>3</cp:revision>
  <dcterms:created xsi:type="dcterms:W3CDTF">2025-05-21T13:33:01Z</dcterms:created>
  <dcterms:modified xsi:type="dcterms:W3CDTF">2026-10-09T14:02:16Z</dcterms:modified>
  <dc:subject/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0x010100CB25C80BA76C054AAAC0D3CDDFCEC309</vt:lpwstr>
  </property>
  <property fmtid="{D5CDD505-2E9C-101B-9397-08002B2CF9AE}" pid="3" name="MediaServiceImageTags">
    <vt:lpwstr/>
  </property>
</Properties>
</file>