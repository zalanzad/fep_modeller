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European, Raiffeisen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0.248075895436541</c:v>
                </c:pt>
                <c:pt idx="1">
                  <c:v>0.0740585134078263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European, UniCredit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0.23404236710695</c:v>
                </c:pt>
                <c:pt idx="1">
                  <c:v>0.0712462533399166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Chinese, Raiffeisen</c:v>
                </c:pt>
              </c:strCache>
            </c:strRef>
          </c:tx>
          <c:spPr>
            <a:solidFill>
              <a:srgbClr val="8CC63F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Sheet1!$D$2:$D$3</c:f>
              <c:numCache>
                <c:formatCode>0.0%</c:formatCode>
                <c:ptCount val="2"/>
                <c:pt idx="0">
                  <c:v>0.430590128449621</c:v>
                </c:pt>
                <c:pt idx="1">
                  <c:v>0.118465201099218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Chinese, UniCredit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Sheet1!$E$2:$E$3</c:f>
              <c:numCache>
                <c:formatCode>0.0%</c:formatCode>
                <c:ptCount val="2"/>
                <c:pt idx="0">
                  <c:v>0.397063407929472</c:v>
                </c:pt>
                <c:pt idx="1">
                  <c:v>0.107429706179022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15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24.8% / 43.1% (European / Chinese) on a sale at COD and 7.4% / 11.8% if held, on Raiffeisen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On UniCredit terms (less debt) the sale returns 23.4% / 39.7% and the hold 7.1% / 10.7%. FEP bids 59.5 / 47.5 points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7574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640080"/>
                <a:gridCol w="960120"/>
                <a:gridCol w="960120"/>
                <a:gridCol w="960120"/>
                <a:gridCol w="9601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Bank cases: Raiffeisen 0.90 and UniCredit 0.71 M€ per built MW, 15- and 12-year annuity, 1.20x and 1.30x minimum DSCR.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€112.7m European (€85.5m Chinese); Raiffeisen debt funds 44% (58%),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Raiffeisen: €0.90m per built wind MW on both routes; UniCredit: €0.71m (debt €39.0m / €39.0m, equity €73.0m / €45.7m).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€63.2m of equity into €84.1m (1.33x); holding earns 7.4% at a 1.94x DSCR (European, Raiffeisen)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Chinese: sale 43.1%, hold 11.8%. On UniCredit terms debt falls from €49.5m to €39.0m and the hold earns 7.1% / 10.7%.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830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post-tax, Raiffeisen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 / 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Raiffeisen: </a:t>
            </a:r>
            <a:r>
              <a:rPr sz="1300" b="0">
                <a:solidFill>
                  <a:srgbClr val="3C3C3B"/>
                </a:solidFill>
                <a:latin typeface="Aptos"/>
              </a:rPr>
              <a:t>€0.90m per built MW, 15-year annuity, minimum DSCR 1.20x on PPA revenue; LTC 46% / 63%; 62% / 63%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UniCredit: </a:t>
            </a:r>
            <a:r>
              <a:rPr sz="1300" b="0">
                <a:solidFill>
                  <a:srgbClr val="3C3C3B"/>
                </a:solidFill>
                <a:latin typeface="Aptos"/>
              </a:rPr>
              <a:t>12-year annuity, minimum DSCR 1.30x, margin above 2.3 %; €0.71m per MW (Raiffeisen quantum scaled to tenor and DSCR); LTC 36% / 49%. Both 5.0% fixed.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 (Raiffeisen tenor):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€80.1m at 1.20x DSCR European (77% / 71% of uses); €85.1m / €78.0m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5.6% / 7.0%; at the lower price 6.7% / 8.1%, but FEP's sale IRR falls to 9.6% / 28.7%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 Raiffeisen debt terms.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44.9% / 44.9%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Deliver the bid (Raiffeisen)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(9.6%); Robin Hood tax (5.6%) and lower yield (5.9%)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300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UniCredit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17.0% and hold IRR 6.7%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5.6% / 8.9%.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1.44x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7.0% / 10.4%.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Raiffeisen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