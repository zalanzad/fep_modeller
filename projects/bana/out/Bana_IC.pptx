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C3C3B"/>
                </a:solidFill>
                <a:latin typeface="Aptos"/>
              </a:rPr>
              <a:t>FEP IRR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European turbine</c:v>
                </c:pt>
              </c:strCache>
            </c:strRef>
          </c:tx>
          <c:spPr>
            <a:solidFill>
              <a:srgbClr val="00563C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Sheet1!$B$2:$B$3</c:f>
              <c:numCache>
                <c:formatCode>0.0%</c:formatCode>
                <c:ptCount val="2"/>
                <c:pt idx="0">
                  <c:v>0.663535311491085</c:v>
                </c:pt>
                <c:pt idx="1">
                  <c:v>0.129381611423992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Chinese turbine</c:v>
                </c:pt>
              </c:strCache>
            </c:strRef>
          </c:tx>
          <c:spPr>
            <a:solidFill>
              <a:srgbClr val="00A651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Sheet1!$C$2:$C$3</c:f>
              <c:numCache>
                <c:formatCode>0.0%</c:formatCode>
                <c:ptCount val="2"/>
                <c:pt idx="0">
                  <c:v>0.518123392285528</c:v>
                </c:pt>
                <c:pt idx="1">
                  <c:v>0.134805776932951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/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3C3C3B"/>
          </a:solidFill>
          <a:latin typeface="Apto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Bana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55 MW wind development project opportunity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13 October 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€4.50m, Bana returns 66.4% (European) / 51.8% (Chinese) on a sale at COD and 12.9% / 13.5% if held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funds €23.8m of equity to COD (€29.1m Chinese) and bids 34 points (22 Chinese) into the 30 October tender; the European route needs a permit amendment.</a:t>
            </a:r>
          </a:p>
        </p:txBody>
      </p:sp>
      <p:sp>
        <p:nvSpPr>
          <p:cNvPr id="5" name="Narrative"/>
          <p:cNvSpPr txBox="1"/>
          <p:nvPr/>
        </p:nvSpPr>
        <p:spPr>
          <a:xfrm>
            <a:off x="4498848" y="2240280"/>
            <a:ext cx="6949440" cy="7223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C3C3B"/>
                </a:solidFill>
                <a:latin typeface="Aptos"/>
              </a:rPr>
              <a:t>GEI has been developing a wind project near the Huayou Cobalt plant in Bana, first as a behind-the-meter supply. It holds a building permit for 6 turbines, is close to RtB and is for sale.</a:t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>The 2026 MEKH tender offers a grid connection at the Ács Katódgyár node. GEI cannot bid, so a share deal is not feasible: a transfer of rights lets FEP bid in its own name, with closing subject to the award. All land, rights and permits move to FEP. Dentons (sell side) has issued a legal DD report and a draft transfer agreement.</a:t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>RtB is not yet reached: cable-route permits are missing, the Pér airport flight-path agreement is open and only 6 of 9 turbine positions are permitted. The permits name Goldwind turbines; another manufacturer needs a permit amendment.</a:t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>The seller asks a near-RtB price, so an RtB exit is not modelled: value comes from building and selling at COD or holding the asset.</a:t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>FEP asks the IC to approve the purchase price and to give its view on buying and developing the project.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1750040" y="2240280"/>
          <a:ext cx="6446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822960"/>
                <a:gridCol w="1417320"/>
                <a:gridCol w="141732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 numbers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Tender 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23.8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Sale at COD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66.4%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51.8%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Hold to maturity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12.9%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13.5%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6.60x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6.12x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19.6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100 %. Purchase price paid at closing (31‑Dec‑26), after the award. PPA 90 €/MWh for the whole life; NPV at 8%. Chinese = the permitted Goldwind turbines.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Legal DD finds no high risks; four of the five medium risks are fixed before signing or closing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Dentons legal due diligence – no high risks, five medium and seven low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7223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486400"/>
                <a:gridCol w="914400"/>
                <a:gridCol w="49377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Issue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Rating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Mitigant (DD recommendation)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Permitting and energy regulatory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and withdrawal permits and the environmental resolution must move to the Project Company; the law is silent, but authorities have allowed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and file the transfer applications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permit validity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lapse 2 years after becoming final (first: 15 Jul 2026); repeat 2-year extensions are unclear, while grid connection may slip to Sep 2032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Apply for extensions in time so the permits stay valid until the actual grid connection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Withdrawal permits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Valid 4 years and not extendable; non-agricultural use must start by 2029–2030 or new permits are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Track expiry dates and start site use within each validity period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Environmental resolution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Resolution assumes behind-the-meter supply with no grid feed-in; a tender award changes the activity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Notify the environmental authority and confirm whether an amendment is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Airport flight procedures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Construction on 4 sites cannot start until Győr-Pér procedures are amended (agreement with ALTEO due Q4 2026, then ~9 months)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tri-party agreement and complete the amendment ahead of construction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Turbine type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specify Goldwind turbines up to 129 m hub height; a taller turbine may need an EIA, and the EU-manufacturer tender bonus is out of reach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Info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DD recommendation; any turbine change needs a permit amendment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Real property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Tender land-right test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agreements (ráépítési jog) do not formally meet the tender land-right rule; the bidder declares compliance under criminal liability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Before or at Signing, sign a preliminary building-right agreement on at least one plot (&gt;1 ha), assigned to the Project Company at Closing; agree the list of plots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right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rights must be transferred and re-registered plot by plot (landowner consent already given)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notices and transfer documents before Closing, effective at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Landowner rescission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RtB milestone expires Mar 2027–Jul 2028 and completion Mar 2029–Jul 2031; RtB needs a grid connection agreement only available after the tender award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milestone deadlines in the land use agreements to fit the tender timeline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Adjacent plots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BN-05 and BN-08 agreements also cover plots 031/4 and 039/8, which the Project does not need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Terminate and deregister those rights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 07/9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right registered yet; plot division expected Dec 2026, final agreement due within 15 days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final land use agreement and file for registration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Zoning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Plots 047/12 and 050 are not zoned for wind (amendment takes 4–7 months); county permit runs to 2031 (2032 if extended)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Amend local regulations before the building permit applications; monitor county plan adoption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Municipal cooperation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Agreement expires 18 Oct 2027 unless construction starts; the seller intends to keep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term and widen the scope to plots 047/12 and 050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Ratings as assigned by Dentons; Info = for information only, not rated. Recommendations paraphrased from the report.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Dentons, Project Bana Legal Due Diligence Report (draft, 9 October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55 MW producing 131.9 GWh a year; the bid scores 34 points with European turbines and 22 with Chinese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bid commits 20% overbuild (60 MW, 5 points) and FEP builds 55 MW, inside the tolerance; European turbines add 12 points but need a permit amendment.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406640" cy="70774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8404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Assumption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Site and grid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Grid node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Ács Katódgyár (BAMO B 132.00)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/ wind committed /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MVA / 60 MW / 55 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Energy yield and price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P50 equivalent hours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2,460 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Curtailment / degradation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2.0% / 0.30%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generation, first full year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131.9 GWh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PPA, 100 % of output, whole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90 €/MWh at COD, +1.0%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Timeline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/ award / closing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30‑Oct‑26 / 13‑Dec‑26 / 31‑Dec‑26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/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30‑Sep‑28 / 30‑Sep‑30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Acquisition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 / DD /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€4.50m / €0.15m / €0.50m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207240" y="2240280"/>
          <a:ext cx="5989320" cy="4507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7373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ÖSZ-1 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35 k€/MW (€1.75m)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ÖSZ-2 community contribution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ÖSZ-3 overbuild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MVA; 10%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ÖSZ-6 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of the minimum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ÖSZ-9 European turbines ≥ 80 %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European route only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ÖSZ-5 partial award, ÖSZ-8 shared connection, ÖSZ-9 EU transformers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offered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score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22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Points are the model's own score on the MEKH 2026 bands (Kiírás Annex 3-4). BESS (ÖSZ-4) and brownfield (ÖSZ-7) are not available at Bana. Build shortfall 8.3% against the commitment, inside the 10% tolerance (GYIK 28/30). The municipal one-off is paid at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Uses to COD of €88.8m with European turbines (€80.8m Chinese); senior debt funds 73% (64%) and FEP the rest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 €0.33m bid guarantee at the bid; after the award a €1.67m PB guarantee and €0.62m of TSO cash; the €8.2m connection fees fall due at the HCSSZ, 08‑Jan‑29.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589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822960"/>
                <a:gridCol w="1280160"/>
                <a:gridCol w="12801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Uses and sources to COD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price, DD and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fee, TSO security,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67.8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60.7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fees, net of TSO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Capitalised interest and debt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 lease during construction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uses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88.8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80.8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 (incl. capitalised interest)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65.1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51.8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23.8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29.1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peak equity if held (incl. DSRA)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435840" y="2240280"/>
          <a:ext cx="5760720" cy="4379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960120"/>
                <a:gridCol w="731520"/>
                <a:gridCol w="19659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securities and fees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Form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refunded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released at PB posting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held to 31‑Mar‑33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TSO connection-request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credited to the indirect fee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Direct connection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Indirect connection fee, net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6% p.a. on guarantees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Debt share = senior debt at COD ÷ total uses. Debt draws pro rata with construction costs at up to 80% (European) / 70% (Chinese) of cost; interest capitalised to COD. Securities are the same on both routes; HUF amounts at 365 HUF/EUR.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sale at COD turns €23.8m of equity into €68.6m (2.89x); holding earns 12.9% at a 1.62x DSCR (European)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With Chinese turbines the sale returns 51.8% and the hold 13.5%; debt is sized at 80% / 70% of construction cost.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731520"/>
                <a:gridCol w="1325880"/>
                <a:gridCol w="1325880"/>
                <a:gridCol w="1325880"/>
                <a:gridCol w="13258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FEP, post-tax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Sale price (enterprise value)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assumed by the buyer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(65.1)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(51.8)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proceeds to FEP (after sale costs)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68.6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62.7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equity: to COD / peak if held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23.8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66.4%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51.8%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12.9%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13.5%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6.60x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6.12x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22.4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19.6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Project IRR, actual tax, before financing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(sculpted repayment)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Corporate income tax over the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(13.9)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(15.3)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IRR chart"/>
          <p:cNvGraphicFramePr>
            <a:graphicFrameLocks noGrp="1"/>
          </p:cNvGraphicFramePr>
          <p:nvPr/>
        </p:nvGraphicFramePr>
        <p:xfrm>
          <a:off x="14127480" y="2240280"/>
          <a:ext cx="406908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ard"/>
          <p:cNvSpPr/>
          <p:nvPr/>
        </p:nvSpPr>
        <p:spPr>
          <a:xfrm>
            <a:off x="14127480" y="5715000"/>
            <a:ext cx="4069080" cy="3566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Debt and tax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1.20x target DSCR over 18 years, 5.0% fixed; sized at the lower of the DSCR capacity and 80% / 70% of cost; 74% / 59% of the DSCR capacity is used.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Tax: </a:t>
            </a:r>
            <a:r>
              <a:rPr sz="1300" b="0">
                <a:solidFill>
                  <a:srgbClr val="3C3C3B"/>
                </a:solidFill>
                <a:latin typeface="Aptos"/>
              </a:rPr>
              <a:t>CIT 9%; 20-year depreciation; losses capped at 50% of the base and lapse after 5 years. Gain on the COD share sale exempt.</a:t>
            </a:r>
          </a:p>
        </p:txBody>
      </p:sp>
      <p:sp>
        <p:nvSpPr>
          <p:cNvPr id="8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Sale price 2,450 / 2,100 k€ per built MW, less the 0.45% bottleneck loss; the buyer takes the SPV with its debt and funds the DSRA. Hold: PPA 90 €/MWh, 30-year life; DSRA of 6 months funded at COD. HIPA 2% and the innovation contribution on revenue. NPV at 8%.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lower COD price is the largest risk to the sale (52.3%); yield and PPA price drive the hold (10.2% / 9.9%)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IRR by key-assumption set, each change on its own; the sale at COD does not depend on yield or PPA price because its price is fixed per MW.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4928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1143000"/>
                <a:gridCol w="1143000"/>
                <a:gridCol w="1143000"/>
                <a:gridCol w="1143000"/>
                <a:gridCol w="1143000"/>
                <a:gridCol w="11430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Key-assumption set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66.4%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51.8%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12.9%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13.5%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1.62x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2.02x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52.3%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62.3%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Yield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66.4%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66.4%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64.7%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Rate +1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51.3%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Tenor 10 years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62.8%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4127480" y="2240280"/>
            <a:ext cx="4069080" cy="4937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What to watch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Turbine choice: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permits name Goldwind; European turbines need a permit amendment and carry the most capex risk.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Overbuild: </a:t>
            </a:r>
            <a:r>
              <a:rPr sz="1300" b="0">
                <a:solidFill>
                  <a:srgbClr val="3C3C3B"/>
                </a:solidFill>
                <a:latin typeface="Aptos"/>
              </a:rPr>
              <a:t>55 MW built against 60 MW committed. Pro rata (GYIK 28/30) there is no PB call; if the full-call reading (GYIK 72) applies, the €1.67m PB is lost: COD IRR 64.7%, hold IRR 12.4% (European).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COD price: </a:t>
            </a:r>
            <a:r>
              <a:rPr sz="1300" b="0">
                <a:solidFill>
                  <a:srgbClr val="3C3C3B"/>
                </a:solidFill>
                <a:latin typeface="Aptos"/>
              </a:rPr>
              <a:t>an estimate per MW, not a bid; test it with buyers before NTP.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PPA: </a:t>
            </a:r>
            <a:r>
              <a:rPr sz="1300" b="0">
                <a:solidFill>
                  <a:srgbClr val="3C3C3B"/>
                </a:solidFill>
                <a:latin typeface="Aptos"/>
              </a:rPr>
              <a:t>90 €/MWh for the whole life is an assumption; no offtake is signed.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a 10-year tenor makes the DSCR bind and cuts the European hold IRR to 10.5%.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Each set changes one input, as named; tenor 10 years. Stored by the scenario macro with the tax solver; base = live model. Model checks in every set: all pass.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