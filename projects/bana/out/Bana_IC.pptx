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 turbine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0.624343544593479</c:v>
                </c:pt>
                <c:pt idx="1">
                  <c:v>0.119964137616349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Chinese turbine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0.47383720841244</c:v>
                </c:pt>
                <c:pt idx="1">
                  <c:v>0.12592370397166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55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13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62.4% (European) / 47.4% (Chinese) on a sale at COD and 12.0% / 12.6% if held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funds €24.6m of equity to COD (€30.2m Chinese) and bids 59.5 points (47.5 Chinese)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7223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822960"/>
                <a:gridCol w="1417320"/>
                <a:gridCol w="14173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62.4%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2.68x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6.17x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55 MW producing 131.9 GWh a year; the bid scores 59.5 points with European turbines and 47.5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Overbuild 20% (5 points, 55 of 60 MW built, inside the tolerance) and BESS 20% of MVA (7.5 points); European turbines add 12 points but need a permit amendment.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196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/ wind committed /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60 MW / 55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committed and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MW / 40 MWh at 240 k€/MW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2,460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131.9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 (€2.50m)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ÖSZ-3 overbuild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MVA; 10%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BESS power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MVA, 4 h;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ÖSZ-4 is scored on net MVA (as Bora); BESS at capex only, no revenue or opex, not in the COD price. Brownfield (ÖSZ-7) is not available. Build shortfall 8.3% against the commitment, inside the 10% tolerance (GYIK 28/30).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€92.3m with European turbines (€84.2m Chinese); senior debt funds 73% (64%) and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€0.44m bid guarantee at the bid; after the award a €2.22m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92.3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84.2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67.7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24.6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30.2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Debt draws pro rata with construction costs at up to 80% (European) / 70% (Chinese) of cost; interest capitalised to COD. Securities are the same on both routes;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€24.6m of equity into €66.0m (2.68x); holding earns 12.0% at a 1.55x DSCR (European)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With Chinese turbines the sale returns 47.4% and the hold 12.6%; debt is sized at 80% / 70% of construction cost.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(67.7)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(54.1)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148.4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62.4%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2.68x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6.17x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19.8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actual 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(sculpted repayment)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(13.4)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(14.7)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715000"/>
            <a:ext cx="4069080" cy="3566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1.20x target DSCR over 18 years, 5.0% fixed; sized at the lower of the DSCR capacity and 80% / 70% of cost; 77% / 62% of the DSCR capacity is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9%; 20-year depreciation; losses capped at 50% of the base and lapse after 5 years. Gain on the COD share sale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built MW, less the 0.45% bottleneck loss; the buyer takes the SPV with its debt and funds the DSRA.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lower COD price is the largest risk to the sale (47.7%); yield and PPA price drive the hold (9.4% / 9.1%)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IRR by key-assumption set, each change on its own;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143000"/>
                <a:gridCol w="1143000"/>
                <a:gridCol w="1143000"/>
                <a:gridCol w="1143000"/>
                <a:gridCol w="1143000"/>
                <a:gridCol w="11430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62.4%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1.55x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1.93x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32.8%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58.2%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62.4%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62.4%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60.2%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46.8%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57.7%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4937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Overbuild: </a:t>
            </a:r>
            <a:r>
              <a:rPr sz="1300" b="0">
                <a:solidFill>
                  <a:srgbClr val="3C3C3B"/>
                </a:solidFill>
                <a:latin typeface="Aptos"/>
              </a:rPr>
              <a:t>55 MW built against 60 MW committed. Pro rata (GYIK 28/30) there is no PB call; if the full-call reading (GYIK 72) applies, the €2.22m PB is lost: COD IRR 60.2%, hold IRR 11.4% (European).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COD price: </a:t>
            </a:r>
            <a:r>
              <a:rPr sz="1300" b="0">
                <a:solidFill>
                  <a:srgbClr val="3C3C3B"/>
                </a:solidFill>
                <a:latin typeface="Aptos"/>
              </a:rPr>
              <a:t>an estimate per MW, not a bid; test it with buyers before NTP.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makes the DSCR bind and cuts the European hold IRR to 9.7%.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Each set changes one input, as named; tenor 10 years. Stored by the scenario macro with the tax solver; base = live model. Model checks in every set: all pass.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