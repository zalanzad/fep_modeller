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  <p:sldId id="266" r:id="rId23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 turbine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0.2632612602034</c:v>
                </c:pt>
                <c:pt idx="1">
                  <c:v>0.0758104971930004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Chinese turbine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0.410318082809979</c:v>
                </c:pt>
                <c:pt idx="1">
                  <c:v>0.113692971306157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15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26.3% (European) / 41.0% (Chinese) on a sale at COD and 7.6% / 11.4% if held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€54.4m of equity to COD (€41.7m Chinese) at 55% gearing and bids 59.5 points (47.5 Chinese)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483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822960"/>
                <a:gridCol w="1417320"/>
                <a:gridCol w="14173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Debt: 55% of construction cost, 15-year annuity; bank feedback on slide 6.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€113.4m European (€85.1m Chinese); senior debt funds 52% (51%),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Debt = 55% of construction cost on both routes (LTC),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Hold IRR 7.6% / 11.4% at 55% gearing; 7.4% / 11.8% on Raiffeisen and 7.1% / 10.7% on UniCredit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Two bank meetings on the 50 MW wind + 10 MW BESS project; both indicative and verbal, with no commitment. The base case keeps 55% gearing.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669280"/>
                <a:gridCol w="56692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the banks said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Debt amount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~€0.9m/MW (±10 %) on a ~€1.7m/MW wind capex estimate (ours is slightly higher); ~48–58 % LTC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LTC lower than Raiffeisen, due to the shorter tenor and higher DSCR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Repayment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15-year annuity; significant cash sweep, up to full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~12-year annuity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1.20x on PPA revenue, 1.40x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 on PPA revenue, 1.65x on merchant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Pricing and prices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Merchant at the average of the Aurora low and central curves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 loan, margin above 2.3 %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Uncertainties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Neither bank has financed a project like this and output starts late, so terms may move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Chinese turbines not excluded but new to both; UniCredit finances one in Romania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4498848" y="5806440"/>
          <a:ext cx="13716000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92608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The model on each basis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Debt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55 % gearing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55% of cost, 15-year annuity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€0.90m/MW, 15-year, 1.20x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€0.71m/MW*, 12-year, 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Bank terms as reported in the FEP notes of the Raiffeisen and UniCredit meetings (October 2026). *UniCredit gave no amount: Raiffeisen's quantum scaled to its tenor and DSCR. Bank cases: 70% LTC cap, same 5.0% rate; stored key-assumption sets.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€54.4m of equity into €74.6m (1.37x); holding earns 7.6% at a 1.63x DSCR (European)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With Chinese turbines the sale returns 41.0% and the hold 11.4%; debt is 55% of construction cost, a 15-year annuity.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245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(59.1)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 / 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55% of construction cost on both routes (€59.1m / €43.4m), 15-year annuity at 5.0% fixed; sizing floor 1.20x DSCR on PPA revenue, 74% / 56% of that capacity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€80.2m at 1.20x DSCR European (77% / 71% of uses); €84.7m / €77.6m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5.7% / 7.0%; at the lower price 6.7% / 8.1%, but FEP's sale IRR falls to 9.7% / 27.4%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41.9% / 41.9%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deliver the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54.4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(9.7%); Robin Hood tax (5.7%) and lower yield (6.0%)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9951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Bank feedback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39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7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6842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52.7%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19.1%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Raiffeisen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18.1% and hold IRR 6.9%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5.7% / 8.5%.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1.21x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7.1% / 10.1%.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base (15-year tenor).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Bana_Model_20261015.xlsm, 15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