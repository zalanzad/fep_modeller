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0.xml" ContentType="application/vnd.openxmlformats-officedocument.drawingml.chart+xml"/>
  <Override PartName="/ppt/charts/chart11.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77" r:id="rId4"/>
    <p:sldMasterId id="2147483676" r:id="rId5"/>
  </p:sldMasterIdLst>
  <p:notesMasterIdLst>
    <p:notesMasterId r:id="rId13"/>
  </p:notesMasterIdLst>
  <p:handoutMasterIdLst>
    <p:handoutMasterId r:id="rId14"/>
  </p:handoutMasterIdLst>
  <p:sldIdLst>
    <p:sldId id="257" r:id="rId6"/>
    <p:sldId id="311" r:id="rId7"/>
    <p:sldId id="324" r:id="rId21"/>
    <p:sldId id="325" r:id="rId22"/>
    <p:sldId id="326" r:id="rId23"/>
    <p:sldId id="327" r:id="rId24"/>
    <p:sldId id="328" r:id="rId25"/>
    <p:sldId id="329" r:id="rId26"/>
  </p:sldIdLst>
  <p:sldSz cx="20105688" cy="113109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62" userDrawn="1">
          <p15:clr>
            <a:srgbClr val="A4A3A4"/>
          </p15:clr>
        </p15:guide>
        <p15:guide id="2" pos="633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7CEBA77-0EB0-CD9A-B348-5737FB6F5DFF}" name="Szentirmai Dániel" initials="DS" userId="S::daniel.szentirmai@futurealgroup.com::e4a987b4-a5be-46be-85af-05dbdc723d0d" providerId="AD"/>
  <p188:author id="{C83FDAAA-8457-959D-A531-E1A9B1A8ED9F}" name="Alexander Gibbs" initials="AG" userId="S::alexander.gibbs@futurealgroup.com::45f5242f-161c-406b-bf69-4ed0d839e48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A72E"/>
    <a:srgbClr val="00563C"/>
    <a:srgbClr val="E8E8E8"/>
    <a:srgbClr val="00532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3296810-A885-4BE3-A3E7-6D5BEEA58F35}" styleName="Közepesen sötét stílus 2 – 6. jelölőszín">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5" d="100"/>
          <a:sy n="55" d="100"/>
        </p:scale>
        <p:origin x="346" y="53"/>
      </p:cViewPr>
      <p:guideLst>
        <p:guide orient="horz" pos="3562"/>
        <p:guide pos="633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8/10/relationships/authors" Target="authors.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ádeczki Zalán" userId="859bb901-d59a-4d05-86af-7c7fa75f15cc" providerId="ADAL" clId="{E470E0F3-1B55-4365-AA6F-980ABE4A6DBB}"/>
    <pc:docChg chg="modSld">
      <pc:chgData name="Zádeczki Zalán" userId="859bb901-d59a-4d05-86af-7c7fa75f15cc" providerId="ADAL" clId="{E470E0F3-1B55-4365-AA6F-980ABE4A6DBB}" dt="2026-04-21T07:28:57.393" v="0" actId="1076"/>
      <pc:docMkLst>
        <pc:docMk/>
      </pc:docMkLst>
      <pc:sldChg chg="modSp mod">
        <pc:chgData name="Zádeczki Zalán" userId="859bb901-d59a-4d05-86af-7c7fa75f15cc" providerId="ADAL" clId="{E470E0F3-1B55-4365-AA6F-980ABE4A6DBB}" dt="2026-04-21T07:28:57.393" v="0" actId="1076"/>
        <pc:sldMkLst>
          <pc:docMk/>
          <pc:sldMk cId="2832106109" sldId="316"/>
        </pc:sldMkLst>
        <pc:spChg chg="mod">
          <ac:chgData name="Zádeczki Zalán" userId="859bb901-d59a-4d05-86af-7c7fa75f15cc" providerId="ADAL" clId="{E470E0F3-1B55-4365-AA6F-980ABE4A6DBB}" dt="2026-04-21T07:28:57.393" v="0" actId="1076"/>
          <ac:spMkLst>
            <pc:docMk/>
            <pc:sldMk cId="2832106109" sldId="316"/>
            <ac:spMk id="7" creationId="{9C712E98-0880-E251-D893-E63AD1472F07}"/>
          </ac:spMkLst>
        </pc:spChg>
      </pc:sldChg>
    </pc:docChg>
  </pc:docChgLst>
</pc:chgInfo>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3C3C3B"/>
                </a:solidFill>
              </a:rPr>
              <a:t>Effective RtB price and where the €30.0m premium goes (€m)</a:t>
            </a:r>
          </a:p>
        </c:rich>
      </c:tx>
      <c:layout/>
      <c:overlay val="0"/>
    </c:title>
    <c:autoTitleDeleted val="0"/>
    <c:plotArea>
      <c:barChart>
        <c:barDir val="col"/>
        <c:grouping val="stacked"/>
        <c:ser>
          <c:idx val="0"/>
          <c:order val="0"/>
          <c:tx>
            <c:strRef>
              <c:f>Sheet1!$B$1</c:f>
              <c:strCache>
                <c:ptCount val="1"/>
                <c:pt idx="0">
                  <c:v>Effective price (up to the gross premium)</c:v>
                </c:pt>
              </c:strCache>
            </c:strRef>
          </c:tx>
          <c:spPr>
            <a:solidFill>
              <a:srgbClr val="00563C"/>
            </a:solidFill>
          </c:spPr>
          <c:invertIfNegative val="0"/>
          <c:dLbls>
            <c:numFmt formatCode="#,##0.0" sourceLinked="0"/>
            <c:txPr>
              <a:bodyPr/>
              <a:lstStyle/>
              <a:p>
                <a:pPr>
                  <a:defRPr sz="120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Strategy 0 – Zero bid</c:v>
                </c:pt>
                <c:pt idx="1">
                  <c:v>Strategy 1 – Current bid</c:v>
                </c:pt>
                <c:pt idx="2">
                  <c:v>Strategy 2 – Free points</c:v>
                </c:pt>
                <c:pt idx="3">
                  <c:v>Strategy 3 – Cost-efficient ~70 pts</c:v>
                </c:pt>
                <c:pt idx="4">
                  <c:v>Strategy 4 – Maximum score</c:v>
                </c:pt>
              </c:strCache>
            </c:strRef>
          </c:cat>
          <c:val>
            <c:numRef>
              <c:f>Sheet1!$B$2:$B$6</c:f>
              <c:numCache>
                <c:formatCode>#,##0.0</c:formatCode>
                <c:ptCount val="5"/>
                <c:pt idx="0">
                  <c:v>30.0</c:v>
                </c:pt>
                <c:pt idx="1">
                  <c:v>30.0</c:v>
                </c:pt>
                <c:pt idx="2">
                  <c:v>29.863853987000606</c:v>
                </c:pt>
                <c:pt idx="3">
                  <c:v>24.312830419566282</c:v>
                </c:pt>
                <c:pt idx="4">
                  <c:v>5.7880332001607275</c:v>
                </c:pt>
              </c:numCache>
            </c:numRef>
          </c:val>
        </c:ser>
        <c:ser>
          <c:idx val="1"/>
          <c:order val="1"/>
          <c:tx>
            <c:strRef>
              <c:f>Sheet1!$C$1</c:f>
              <c:strCache>
                <c:ptCount val="1"/>
                <c:pt idx="0">
                  <c:v>Municipal</c:v>
                </c:pt>
              </c:strCache>
            </c:strRef>
          </c:tx>
          <c:spPr>
            <a:solidFill>
              <a:srgbClr val="00A651"/>
            </a:solidFill>
          </c:spPr>
          <c:invertIfNegative val="0"/>
          <c:dLbls>
            <c:numFmt formatCode="#,##0.0" sourceLinked="0"/>
            <c:txPr>
              <a:bodyPr/>
              <a:lstStyle/>
              <a:p>
                <a:pPr>
                  <a:defRPr sz="1200" b="1">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Strategy 0 – Zero bid</c:v>
                </c:pt>
                <c:pt idx="1">
                  <c:v>Strategy 1 – Current bid</c:v>
                </c:pt>
                <c:pt idx="2">
                  <c:v>Strategy 2 – Free points</c:v>
                </c:pt>
                <c:pt idx="3">
                  <c:v>Strategy 3 – Cost-efficient ~70 pts</c:v>
                </c:pt>
                <c:pt idx="4">
                  <c:v>Strategy 4 – Maximum score</c:v>
                </c:pt>
              </c:strCache>
            </c:strRef>
          </c:cat>
          <c:val>
            <c:numRef>
              <c:f>Sheet1!$C$2:$C$6</c:f>
              <c:numCache>
                <c:formatCode>#,##0.0</c:formatCode>
                <c:ptCount val="5"/>
                <c:pt idx="3">
                  <c:v>5.006439515436751</c:v>
                </c:pt>
                <c:pt idx="4">
                  <c:v>5.006439515436751</c:v>
                </c:pt>
              </c:numCache>
            </c:numRef>
          </c:val>
        </c:ser>
        <c:ser>
          <c:idx val="2"/>
          <c:order val="2"/>
          <c:tx>
            <c:strRef>
              <c:f>Sheet1!$D$1</c:f>
              <c:strCache>
                <c:ptCount val="1"/>
                <c:pt idx="0">
                  <c:v>Community</c:v>
                </c:pt>
              </c:strCache>
            </c:strRef>
          </c:tx>
          <c:spPr>
            <a:solidFill>
              <a:srgbClr val="8CC63F"/>
            </a:solidFill>
          </c:spPr>
          <c:invertIfNegative val="0"/>
          <c:dLbls>
            <c:numFmt formatCode="#,##0.0" sourceLinked="0"/>
            <c:txPr>
              <a:bodyPr/>
              <a:lstStyle/>
              <a:p>
                <a:pPr>
                  <a:defRPr sz="1200" b="1">
                    <a:solidFill>
                      <a:srgbClr val="3C3C3B"/>
                    </a:solidFill>
                  </a:defRPr>
                </a:pPr>
              </a:p>
            </c:txPr>
            <c:dLblPos val="ctr"/>
            <c:showLegendKey val="0"/>
            <c:showVal val="1"/>
            <c:showCatName val="0"/>
            <c:showSerName val="0"/>
            <c:showPercent val="0"/>
            <c:showBubbleSize val="0"/>
            <c:showLeaderLines val="1"/>
          </c:dLbls>
          <c:cat>
            <c:strRef>
              <c:f>Sheet1!$A$2:$A$6</c:f>
              <c:strCache>
                <c:ptCount val="5"/>
                <c:pt idx="0">
                  <c:v>Strategy 0 – Zero bid</c:v>
                </c:pt>
                <c:pt idx="1">
                  <c:v>Strategy 1 – Current bid</c:v>
                </c:pt>
                <c:pt idx="2">
                  <c:v>Strategy 2 – Free points</c:v>
                </c:pt>
                <c:pt idx="3">
                  <c:v>Strategy 3 – Cost-efficient ~70 pts</c:v>
                </c:pt>
                <c:pt idx="4">
                  <c:v>Strategy 4 – Maximum score</c:v>
                </c:pt>
              </c:strCache>
            </c:strRef>
          </c:cat>
          <c:val>
            <c:numRef>
              <c:f>Sheet1!$D$2:$D$6</c:f>
              <c:numCache>
                <c:formatCode>#,##0.0</c:formatCode>
                <c:ptCount val="5"/>
                <c:pt idx="4">
                  <c:v>5.635597112819491</c:v>
                </c:pt>
              </c:numCache>
            </c:numRef>
          </c:val>
        </c:ser>
        <c:ser>
          <c:idx val="3"/>
          <c:order val="3"/>
          <c:tx>
            <c:strRef>
              <c:f>Sheet1!$E$1</c:f>
              <c:strCache>
                <c:ptCount val="1"/>
                <c:pt idx="0">
                  <c:v>Battery storage</c:v>
                </c:pt>
              </c:strCache>
            </c:strRef>
          </c:tx>
          <c:spPr>
            <a:solidFill>
              <a:srgbClr val="A6A6A6"/>
            </a:solidFill>
          </c:spPr>
          <c:invertIfNegative val="0"/>
          <c:dLbls>
            <c:numFmt formatCode="#,##0.0" sourceLinked="0"/>
            <c:txPr>
              <a:bodyPr/>
              <a:lstStyle/>
              <a:p>
                <a:pPr>
                  <a:defRPr sz="1200" b="1">
                    <a:solidFill>
                      <a:srgbClr val="3C3C3B"/>
                    </a:solidFill>
                  </a:defRPr>
                </a:pPr>
              </a:p>
            </c:txPr>
            <c:dLblPos val="ctr"/>
            <c:showLegendKey val="0"/>
            <c:showVal val="1"/>
            <c:showCatName val="0"/>
            <c:showSerName val="0"/>
            <c:showPercent val="0"/>
            <c:showBubbleSize val="0"/>
            <c:showLeaderLines val="1"/>
          </c:dLbls>
          <c:cat>
            <c:strRef>
              <c:f>Sheet1!$A$2:$A$6</c:f>
              <c:strCache>
                <c:ptCount val="5"/>
                <c:pt idx="0">
                  <c:v>Strategy 0 – Zero bid</c:v>
                </c:pt>
                <c:pt idx="1">
                  <c:v>Strategy 1 – Current bid</c:v>
                </c:pt>
                <c:pt idx="2">
                  <c:v>Strategy 2 – Free points</c:v>
                </c:pt>
                <c:pt idx="3">
                  <c:v>Strategy 3 – Cost-efficient ~70 pts</c:v>
                </c:pt>
                <c:pt idx="4">
                  <c:v>Strategy 4 – Maximum score</c:v>
                </c:pt>
              </c:strCache>
            </c:strRef>
          </c:cat>
          <c:val>
            <c:numRef>
              <c:f>Sheet1!$E$2:$E$6</c:f>
              <c:numCache>
                <c:formatCode>#,##0.0</c:formatCode>
                <c:ptCount val="5"/>
                <c:pt idx="4">
                  <c:v>11.876733651275966</c:v>
                </c:pt>
              </c:numCache>
            </c:numRef>
          </c:val>
        </c:ser>
        <c:ser>
          <c:idx val="4"/>
          <c:order val="4"/>
          <c:tx>
            <c:strRef>
              <c:f>Sheet1!$F$1</c:f>
              <c:strCache>
                <c:ptCount val="1"/>
                <c:pt idx="0">
                  <c:v>Performance security</c:v>
                </c:pt>
              </c:strCache>
            </c:strRef>
          </c:tx>
          <c:spPr>
            <a:solidFill>
              <a:srgbClr val="CFE8D8"/>
            </a:solidFill>
          </c:spPr>
          <c:invertIfNegative val="0"/>
          <c:dLbls>
            <c:dLbl>
              <c:idx val="3"/>
              <c:delete val="1"/>
            </c:dLbl>
            <c:dLbl>
              <c:idx val="2"/>
              <c:delete val="1"/>
            </c:dLbl>
            <c:numFmt formatCode="#,##0.0" sourceLinked="0"/>
            <c:txPr>
              <a:bodyPr/>
              <a:lstStyle/>
              <a:p>
                <a:pPr>
                  <a:defRPr sz="1200" b="1">
                    <a:solidFill>
                      <a:srgbClr val="3C3C3B"/>
                    </a:solidFill>
                  </a:defRPr>
                </a:pPr>
              </a:p>
            </c:txPr>
            <c:dLblPos val="ctr"/>
            <c:showLegendKey val="0"/>
            <c:showVal val="1"/>
            <c:showCatName val="0"/>
            <c:showSerName val="0"/>
            <c:showPercent val="0"/>
            <c:showBubbleSize val="0"/>
            <c:showLeaderLines val="1"/>
          </c:dLbls>
          <c:cat>
            <c:strRef>
              <c:f>Sheet1!$A$2:$A$6</c:f>
              <c:strCache>
                <c:ptCount val="5"/>
                <c:pt idx="0">
                  <c:v>Strategy 0 – Zero bid</c:v>
                </c:pt>
                <c:pt idx="1">
                  <c:v>Strategy 1 – Current bid</c:v>
                </c:pt>
                <c:pt idx="2">
                  <c:v>Strategy 2 – Free points</c:v>
                </c:pt>
                <c:pt idx="3">
                  <c:v>Strategy 3 – Cost-efficient ~70 pts</c:v>
                </c:pt>
                <c:pt idx="4">
                  <c:v>Strategy 4 – Maximum score</c:v>
                </c:pt>
              </c:strCache>
            </c:strRef>
          </c:cat>
          <c:val>
            <c:numRef>
              <c:f>Sheet1!$F$2:$F$6</c:f>
              <c:numCache>
                <c:formatCode>#,##0.0</c:formatCode>
                <c:ptCount val="5"/>
                <c:pt idx="2">
                  <c:v>0.1361460129993936</c:v>
                </c:pt>
                <c:pt idx="3">
                  <c:v>0.6807300649969668</c:v>
                </c:pt>
                <c:pt idx="4">
                  <c:v>1.6931965203070618</c:v>
                </c:pt>
              </c:numCache>
            </c:numRef>
          </c:val>
        </c:ser>
        <c:ser>
          <c:idx val="5"/>
          <c:order val="5"/>
          <c:tx>
            <c:strRef>
              <c:f>Sheet1!$G$1</c:f>
              <c:strCache>
                <c:ptCount val="1"/>
                <c:pt idx="0">
                  <c:v>Saving vs current bid</c:v>
                </c:pt>
              </c:strCache>
            </c:strRef>
          </c:tx>
          <c:spPr>
            <a:solidFill>
              <a:srgbClr val="B7DEC6"/>
            </a:solidFill>
          </c:spPr>
          <c:invertIfNegative val="0"/>
          <c:dLbls>
            <c:numFmt formatCode="+#,##0.0;(#,##0.0)" sourceLinked="0"/>
            <c:txPr>
              <a:bodyPr/>
              <a:lstStyle/>
              <a:p>
                <a:pPr>
                  <a:defRPr sz="1200" b="1">
                    <a:solidFill>
                      <a:srgbClr val="3C3C3B"/>
                    </a:solidFill>
                  </a:defRPr>
                </a:pPr>
              </a:p>
            </c:txPr>
            <c:dLblPos val="ctr"/>
            <c:showLegendKey val="0"/>
            <c:showVal val="1"/>
            <c:showCatName val="0"/>
            <c:showSerName val="0"/>
            <c:showPercent val="0"/>
            <c:showBubbleSize val="0"/>
            <c:showLeaderLines val="1"/>
          </c:dLbls>
          <c:cat>
            <c:strRef>
              <c:f>Sheet1!$A$2:$A$6</c:f>
              <c:strCache>
                <c:ptCount val="5"/>
                <c:pt idx="0">
                  <c:v>Strategy 0 – Zero bid</c:v>
                </c:pt>
                <c:pt idx="1">
                  <c:v>Strategy 1 – Current bid</c:v>
                </c:pt>
                <c:pt idx="2">
                  <c:v>Strategy 2 – Free points</c:v>
                </c:pt>
                <c:pt idx="3">
                  <c:v>Strategy 3 – Cost-efficient ~70 pts</c:v>
                </c:pt>
                <c:pt idx="4">
                  <c:v>Strategy 4 – Maximum score</c:v>
                </c:pt>
              </c:strCache>
            </c:strRef>
          </c:cat>
          <c:val>
            <c:numRef>
              <c:f>Sheet1!$G$2:$G$6</c:f>
              <c:numCache>
                <c:formatCode>#,##0.0</c:formatCode>
                <c:ptCount val="5"/>
                <c:pt idx="0">
                  <c:v>28.93020075243961</c:v>
                </c:pt>
              </c:numCache>
            </c:numRef>
          </c:val>
        </c:ser>
        <c:gapWidth val="55"/>
        <c:overlap val="100"/>
        <c:axId val="-2068027336"/>
        <c:axId val="-2113994440"/>
      </c:barChart>
      <c:catAx>
        <c:axId val="-2068027336"/>
        <c:scaling>
          <c:orientation val="minMax"/>
        </c:scaling>
        <c:delete val="0"/>
        <c:axPos val="b"/>
        <c:majorTickMark val="none"/>
        <c:minorTickMark val="none"/>
        <c:tickLblPos val="nextTo"/>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60.0"/>
          <c:min val="0.0"/>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3C3C3B"/>
          </a:solidFill>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3C3C3B"/>
                </a:solidFill>
              </a:rPr>
              <a:t>FEP IRR by RtB premium</a:t>
            </a:r>
          </a:p>
        </c:rich>
      </c:tx>
      <c:layout/>
      <c:overlay val="0"/>
    </c:title>
    <c:autoTitleDeleted val="0"/>
    <c:plotArea>
      <c:barChart>
        <c:barDir val="col"/>
        <c:grouping val="clustered"/>
        <c:ser>
          <c:idx val="0"/>
          <c:order val="0"/>
          <c:tx>
            <c:strRef>
              <c:f>Sheet1!$B$1</c:f>
              <c:strCache>
                <c:ptCount val="1"/>
                <c:pt idx="0">
                  <c:v>Premium 150 k€/MW</c:v>
                </c:pt>
              </c:strCache>
            </c:strRef>
          </c:tx>
          <c:spPr>
            <a:solidFill>
              <a:srgbClr val="A6A6A6"/>
            </a:solidFill>
          </c:spPr>
          <c:invertIfNegative val="0"/>
          <c:dLbls>
            <c:numFmt formatCode="0.0%" sourceLinked="0"/>
            <c:txPr>
              <a:bodyPr/>
              <a:lstStyle/>
              <a:p>
                <a:pPr>
                  <a:defRPr sz="1200" b="0">
                    <a:solidFill>
                      <a:srgbClr val="3C3C3B"/>
                    </a:solidFill>
                  </a:defRPr>
                </a:pPr>
              </a:p>
            </c:txPr>
            <c:dLblPos val="outEnd"/>
            <c:showLegendKey val="0"/>
            <c:showVal val="1"/>
            <c:showCatName val="0"/>
            <c:showSerName val="0"/>
            <c:showPercent val="0"/>
            <c:showBubbleSize val="0"/>
            <c:showLeaderLines val="1"/>
          </c:dLbls>
          <c:cat>
            <c:strRef>
              <c:f>Sheet1!$A$2:$A$6</c:f>
              <c:strCache>
                <c:ptCount val="5"/>
                <c:pt idx="0">
                  <c:v>Strategy 0</c:v>
                </c:pt>
                <c:pt idx="1">
                  <c:v>Strategy 1</c:v>
                </c:pt>
                <c:pt idx="2">
                  <c:v>Strategy 2</c:v>
                </c:pt>
                <c:pt idx="3">
                  <c:v>Strategy 3</c:v>
                </c:pt>
                <c:pt idx="4">
                  <c:v>Strategy 4</c:v>
                </c:pt>
              </c:strCache>
            </c:strRef>
          </c:cat>
          <c:val>
            <c:numRef>
              <c:f>Sheet1!$B$2:$B$6</c:f>
              <c:numCache>
                <c:formatCode>0.0%</c:formatCode>
                <c:ptCount val="5"/>
                <c:pt idx="0">
                  <c:v>0.501558169297414</c:v>
                </c:pt>
                <c:pt idx="1">
                  <c:v>0.20894449022377323</c:v>
                </c:pt>
                <c:pt idx="2">
                  <c:v>0.2004243752726126</c:v>
                </c:pt>
                <c:pt idx="3">
                  <c:v>0.13688527561568004</c:v>
                </c:pt>
                <c:pt idx="4">
                  <c:v>-0.0749152579605665</c:v>
                </c:pt>
              </c:numCache>
            </c:numRef>
          </c:val>
        </c:ser>
        <c:ser>
          <c:idx val="1"/>
          <c:order val="1"/>
          <c:tx>
            <c:strRef>
              <c:f>Sheet1!$C$1</c:f>
              <c:strCache>
                <c:ptCount val="1"/>
                <c:pt idx="0">
                  <c:v>Premium 200 k€/MW</c:v>
                </c:pt>
              </c:strCache>
            </c:strRef>
          </c:tx>
          <c:spPr>
            <a:solidFill>
              <a:srgbClr val="8CC63F"/>
            </a:solidFill>
          </c:spPr>
          <c:invertIfNegative val="0"/>
          <c:dLbls>
            <c:numFmt formatCode="0.0%" sourceLinked="0"/>
            <c:txPr>
              <a:bodyPr/>
              <a:lstStyle/>
              <a:p>
                <a:pPr>
                  <a:defRPr sz="1200" b="0">
                    <a:solidFill>
                      <a:srgbClr val="3C3C3B"/>
                    </a:solidFill>
                  </a:defRPr>
                </a:pPr>
              </a:p>
            </c:txPr>
            <c:dLblPos val="outEnd"/>
            <c:showLegendKey val="0"/>
            <c:showVal val="1"/>
            <c:showCatName val="0"/>
            <c:showSerName val="0"/>
            <c:showPercent val="0"/>
            <c:showBubbleSize val="0"/>
            <c:showLeaderLines val="1"/>
          </c:dLbls>
          <c:cat>
            <c:strRef>
              <c:f>Sheet1!$A$2:$A$6</c:f>
              <c:strCache>
                <c:ptCount val="5"/>
                <c:pt idx="0">
                  <c:v>Strategy 0</c:v>
                </c:pt>
                <c:pt idx="1">
                  <c:v>Strategy 1</c:v>
                </c:pt>
                <c:pt idx="2">
                  <c:v>Strategy 2</c:v>
                </c:pt>
                <c:pt idx="3">
                  <c:v>Strategy 3</c:v>
                </c:pt>
                <c:pt idx="4">
                  <c:v>Strategy 4</c:v>
                </c:pt>
              </c:strCache>
            </c:strRef>
          </c:cat>
          <c:val>
            <c:numRef>
              <c:f>Sheet1!$C$2:$C$6</c:f>
              <c:numCache>
                <c:formatCode>0.0%</c:formatCode>
                <c:ptCount val="5"/>
                <c:pt idx="0">
                  <c:v>0.5788440751836618</c:v>
                </c:pt>
                <c:pt idx="1">
                  <c:v>0.2960585859849199</c:v>
                </c:pt>
                <c:pt idx="2">
                  <c:v>0.2871010500523217</c:v>
                </c:pt>
                <c:pt idx="3">
                  <c:v>0.22510032890191883</c:v>
                </c:pt>
                <c:pt idx="4">
                  <c:v>0.03170560594034647</c:v>
                </c:pt>
              </c:numCache>
            </c:numRef>
          </c:val>
        </c:ser>
        <c:ser>
          <c:idx val="2"/>
          <c:order val="2"/>
          <c:tx>
            <c:strRef>
              <c:f>Sheet1!$D$1</c:f>
              <c:strCache>
                <c:ptCount val="1"/>
                <c:pt idx="0">
                  <c:v>Premium 250 k€/MW</c:v>
                </c:pt>
              </c:strCache>
            </c:strRef>
          </c:tx>
          <c:spPr>
            <a:solidFill>
              <a:srgbClr val="00563C"/>
            </a:solidFill>
          </c:spPr>
          <c:invertIfNegative val="0"/>
          <c:dLbls>
            <c:numFmt formatCode="0.0%" sourceLinked="0"/>
            <c:txPr>
              <a:bodyPr/>
              <a:lstStyle/>
              <a:p>
                <a:pPr>
                  <a:defRPr sz="1200" b="0">
                    <a:solidFill>
                      <a:srgbClr val="3C3C3B"/>
                    </a:solidFill>
                  </a:defRPr>
                </a:pPr>
              </a:p>
            </c:txPr>
            <c:dLblPos val="outEnd"/>
            <c:showLegendKey val="0"/>
            <c:showVal val="1"/>
            <c:showCatName val="0"/>
            <c:showSerName val="0"/>
            <c:showPercent val="0"/>
            <c:showBubbleSize val="0"/>
            <c:showLeaderLines val="1"/>
          </c:dLbls>
          <c:cat>
            <c:strRef>
              <c:f>Sheet1!$A$2:$A$6</c:f>
              <c:strCache>
                <c:ptCount val="5"/>
                <c:pt idx="0">
                  <c:v>Strategy 0</c:v>
                </c:pt>
                <c:pt idx="1">
                  <c:v>Strategy 1</c:v>
                </c:pt>
                <c:pt idx="2">
                  <c:v>Strategy 2</c:v>
                </c:pt>
                <c:pt idx="3">
                  <c:v>Strategy 3</c:v>
                </c:pt>
                <c:pt idx="4">
                  <c:v>Strategy 4</c:v>
                </c:pt>
              </c:strCache>
            </c:strRef>
          </c:cat>
          <c:val>
            <c:numRef>
              <c:f>Sheet1!$D$2:$D$6</c:f>
              <c:numCache>
                <c:formatCode>0.0%</c:formatCode>
                <c:ptCount val="5"/>
                <c:pt idx="0">
                  <c:v>0.6523419127865366</c:v>
                </c:pt>
                <c:pt idx="1">
                  <c:v>0.37822666139125727</c:v>
                </c:pt>
                <c:pt idx="2">
                  <c:v>0.36885372606256916</c:v>
                </c:pt>
                <c:pt idx="3">
                  <c:v>0.3081561933111022</c:v>
                </c:pt>
                <c:pt idx="4">
                  <c:v>0.1219514301232482</c:v>
                </c:pt>
              </c:numCache>
            </c:numRef>
          </c:val>
        </c:ser>
        <c:gapWidth val="80"/>
        <c:overlap val="-10"/>
        <c:axId val="-2068027336"/>
        <c:axId val="-2113994440"/>
      </c:barChart>
      <c:catAx>
        <c:axId val="-2068027336"/>
        <c:scaling>
          <c:orientation val="minMax"/>
        </c:scaling>
        <c:delete val="0"/>
        <c:axPos val="b"/>
        <c:majorTickMark val="none"/>
        <c:minorTickMark val="none"/>
        <c:tickLblPos val="low"/>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0.75"/>
          <c:min val="-0.15"/>
        </c:scaling>
        <c:delete/>
        <c:axPos val="l"/>
        <c:majorTickMark val="out"/>
        <c:minorTickMark val="none"/>
        <c:tickLblPos val="nextTo"/>
        <c:crossAx val="-2068027336"/>
        <c:crosses val="autoZero"/>
      </c:valAx>
    </c:plotArea>
    <c:legend>
      <c:legendPos val="b"/>
      <c:overlay val="0"/>
      <c:txPr>
        <a:bodyPr/>
        <a:lstStyle/>
        <a:p>
          <a:pPr>
            <a:defRPr sz="1200"/>
          </a:pPr>
        </a:p>
      </c:txPr>
    </c:legend>
    <c:dispBlanksAs val="gap"/>
  </c:chart>
  <c:txPr>
    <a:bodyPr/>
    <a:lstStyle/>
    <a:p>
      <a:pPr>
        <a:defRPr sz="1200">
          <a:solidFill>
            <a:srgbClr val="3C3C3B"/>
          </a:solidFil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0C69F0A-753D-4D0A-E937-192AB0B195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ate Placeholder 2">
            <a:extLst>
              <a:ext uri="{FF2B5EF4-FFF2-40B4-BE49-F238E27FC236}">
                <a16:creationId xmlns:a16="http://schemas.microsoft.com/office/drawing/2014/main" id="{5CB5C423-415A-8E73-29C5-35785CB64A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22B9B0E-0173-6448-B6CE-6FFDEF3DFC7C}" type="datetimeFigureOut">
              <a:rPr lang="hu-HU" smtClean="0"/>
              <a:t>2026. 10. 09.</a:t>
            </a:fld>
            <a:endParaRPr lang="hu-HU"/>
          </a:p>
        </p:txBody>
      </p:sp>
      <p:sp>
        <p:nvSpPr>
          <p:cNvPr id="4" name="Footer Placeholder 3">
            <a:extLst>
              <a:ext uri="{FF2B5EF4-FFF2-40B4-BE49-F238E27FC236}">
                <a16:creationId xmlns:a16="http://schemas.microsoft.com/office/drawing/2014/main" id="{21AD4182-9C29-5D16-7BAD-1DC5C2F06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5" name="Slide Number Placeholder 4">
            <a:extLst>
              <a:ext uri="{FF2B5EF4-FFF2-40B4-BE49-F238E27FC236}">
                <a16:creationId xmlns:a16="http://schemas.microsoft.com/office/drawing/2014/main" id="{AFBC83AC-DE2C-7165-9265-93700EAAB6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0F7E15C-B816-EE44-A0DD-18B068892EE4}" type="slidenum">
              <a:rPr lang="hu-HU" smtClean="0"/>
              <a:t>‹#›</a:t>
            </a:fld>
            <a:endParaRPr lang="hu-HU"/>
          </a:p>
        </p:txBody>
      </p:sp>
    </p:spTree>
    <p:extLst>
      <p:ext uri="{BB962C8B-B14F-4D97-AF65-F5344CB8AC3E}">
        <p14:creationId xmlns:p14="http://schemas.microsoft.com/office/powerpoint/2010/main" val="7147268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BDBD05-8D06-4AD0-9F7F-CE567DB23A8F}" type="datetimeFigureOut">
              <a:rPr lang="en-GB" smtClean="0"/>
              <a:t>09/10/2026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BA7ABA-3AE4-43F1-8148-8F32BDF4A571}" type="slidenum">
              <a:rPr lang="en-GB" smtClean="0"/>
              <a:t>‹#›</a:t>
            </a:fld>
            <a:endParaRPr lang="en-GB"/>
          </a:p>
        </p:txBody>
      </p:sp>
    </p:spTree>
    <p:extLst>
      <p:ext uri="{BB962C8B-B14F-4D97-AF65-F5344CB8AC3E}">
        <p14:creationId xmlns:p14="http://schemas.microsoft.com/office/powerpoint/2010/main" val="3117623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B80CFB-4B2B-A473-B8AE-23147E9EE5CC}"/>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1041630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Base text">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393A530C-C9E9-8EDB-5821-11A963C1A10F}"/>
              </a:ext>
            </a:extLst>
          </p:cNvPr>
          <p:cNvSpPr>
            <a:spLocks noGrp="1"/>
          </p:cNvSpPr>
          <p:nvPr>
            <p:ph type="body" sz="quarter" idx="10"/>
          </p:nvPr>
        </p:nvSpPr>
        <p:spPr>
          <a:xfrm>
            <a:off x="4500000" y="3417835"/>
            <a:ext cx="10058400" cy="2763837"/>
          </a:xfrm>
          <a:prstGeom prst="rect">
            <a:avLst/>
          </a:prstGeom>
        </p:spPr>
        <p:txBody>
          <a:bodyPr/>
          <a:lstStyle>
            <a:lvl1pPr marL="409575" indent="-409575">
              <a:buFont typeface="Aptos" panose="020B0004020202020204" pitchFamily="34" charset="0"/>
              <a:buChar char="›"/>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Slide Number Placeholder 1">
            <a:extLst>
              <a:ext uri="{FF2B5EF4-FFF2-40B4-BE49-F238E27FC236}">
                <a16:creationId xmlns:a16="http://schemas.microsoft.com/office/drawing/2014/main" id="{88576B7A-1C0F-D2A3-8BE9-18F63D64C454}"/>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56856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2" name="Slide Number Placeholder 1">
            <a:extLst>
              <a:ext uri="{FF2B5EF4-FFF2-40B4-BE49-F238E27FC236}">
                <a16:creationId xmlns:a16="http://schemas.microsoft.com/office/drawing/2014/main" id="{94430D23-6C94-E7D2-E011-50938D4089DF}"/>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7503373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e text">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393A530C-C9E9-8EDB-5821-11A963C1A10F}"/>
              </a:ext>
            </a:extLst>
          </p:cNvPr>
          <p:cNvSpPr>
            <a:spLocks noGrp="1"/>
          </p:cNvSpPr>
          <p:nvPr>
            <p:ph type="body" sz="quarter" idx="10"/>
          </p:nvPr>
        </p:nvSpPr>
        <p:spPr>
          <a:xfrm>
            <a:off x="4500000" y="3417835"/>
            <a:ext cx="10058400" cy="2763837"/>
          </a:xfrm>
          <a:prstGeom prst="rect">
            <a:avLst/>
          </a:prstGeom>
        </p:spPr>
        <p:txBody>
          <a:bodyPr/>
          <a:lstStyle>
            <a:lvl1pPr marL="409575" indent="-409575">
              <a:buFont typeface="Aptos" panose="020B0004020202020204" pitchFamily="34" charset="0"/>
              <a:buChar char="›"/>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Slide Number Placeholder 1">
            <a:extLst>
              <a:ext uri="{FF2B5EF4-FFF2-40B4-BE49-F238E27FC236}">
                <a16:creationId xmlns:a16="http://schemas.microsoft.com/office/drawing/2014/main" id="{88576B7A-1C0F-D2A3-8BE9-18F63D64C454}"/>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3778068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e text">
    <p:spTree>
      <p:nvGrpSpPr>
        <p:cNvPr id="1" name=""/>
        <p:cNvGrpSpPr/>
        <p:nvPr/>
      </p:nvGrpSpPr>
      <p:grpSpPr>
        <a:xfrm>
          <a:off x="0" y="0"/>
          <a:ext cx="0" cy="0"/>
          <a:chOff x="0" y="0"/>
          <a:chExt cx="0" cy="0"/>
        </a:xfrm>
      </p:grpSpPr>
      <p:pic>
        <p:nvPicPr>
          <p:cNvPr id="3" name="object 23">
            <a:extLst>
              <a:ext uri="{FF2B5EF4-FFF2-40B4-BE49-F238E27FC236}">
                <a16:creationId xmlns:a16="http://schemas.microsoft.com/office/drawing/2014/main" id="{C5F27261-9AF0-6EB2-713F-486F78006C79}"/>
              </a:ext>
            </a:extLst>
          </p:cNvPr>
          <p:cNvPicPr/>
          <p:nvPr userDrawn="1"/>
        </p:nvPicPr>
        <p:blipFill>
          <a:blip r:embed="rId2" cstate="print"/>
          <a:stretch>
            <a:fillRect/>
          </a:stretch>
        </p:blipFill>
        <p:spPr>
          <a:xfrm>
            <a:off x="8520665" y="4942258"/>
            <a:ext cx="11583434" cy="6366298"/>
          </a:xfrm>
          <a:prstGeom prst="rect">
            <a:avLst/>
          </a:prstGeom>
        </p:spPr>
      </p:pic>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3"/>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393A530C-C9E9-8EDB-5821-11A963C1A10F}"/>
              </a:ext>
            </a:extLst>
          </p:cNvPr>
          <p:cNvSpPr>
            <a:spLocks noGrp="1"/>
          </p:cNvSpPr>
          <p:nvPr>
            <p:ph type="body" sz="quarter" idx="10"/>
          </p:nvPr>
        </p:nvSpPr>
        <p:spPr>
          <a:xfrm>
            <a:off x="4500000" y="3014714"/>
            <a:ext cx="5110181" cy="2763837"/>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Text Placeholder 3">
            <a:extLst>
              <a:ext uri="{FF2B5EF4-FFF2-40B4-BE49-F238E27FC236}">
                <a16:creationId xmlns:a16="http://schemas.microsoft.com/office/drawing/2014/main" id="{D61619E1-FB93-D0B1-A562-709B3CB802E7}"/>
              </a:ext>
            </a:extLst>
          </p:cNvPr>
          <p:cNvSpPr>
            <a:spLocks noGrp="1"/>
          </p:cNvSpPr>
          <p:nvPr>
            <p:ph type="body" sz="quarter" idx="11"/>
          </p:nvPr>
        </p:nvSpPr>
        <p:spPr>
          <a:xfrm>
            <a:off x="4500000" y="2066114"/>
            <a:ext cx="5110181" cy="371127"/>
          </a:xfrm>
          <a:prstGeom prst="rect">
            <a:avLst/>
          </a:prstGeom>
        </p:spPr>
        <p:txBody>
          <a:bodyPr wrap="square">
            <a:spAutoFit/>
          </a:bodyPr>
          <a:lstStyle>
            <a:lvl1pPr marL="0" indent="0">
              <a:buFont typeface="Aptos" panose="020B0004020202020204" pitchFamily="34" charset="0"/>
              <a:buNone/>
              <a:tabLst/>
              <a:defRPr sz="2000" b="1"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5" name="Text Placeholder 3">
            <a:extLst>
              <a:ext uri="{FF2B5EF4-FFF2-40B4-BE49-F238E27FC236}">
                <a16:creationId xmlns:a16="http://schemas.microsoft.com/office/drawing/2014/main" id="{BDECA4B7-C217-E87C-BE98-ECFAC7D75F5A}"/>
              </a:ext>
            </a:extLst>
          </p:cNvPr>
          <p:cNvSpPr>
            <a:spLocks noGrp="1"/>
          </p:cNvSpPr>
          <p:nvPr>
            <p:ph type="body" sz="quarter" idx="12"/>
          </p:nvPr>
        </p:nvSpPr>
        <p:spPr>
          <a:xfrm>
            <a:off x="10066611" y="3014714"/>
            <a:ext cx="5110181" cy="2763837"/>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7" name="Slide Number Placeholder 1">
            <a:extLst>
              <a:ext uri="{FF2B5EF4-FFF2-40B4-BE49-F238E27FC236}">
                <a16:creationId xmlns:a16="http://schemas.microsoft.com/office/drawing/2014/main" id="{DF2B1256-E455-F14C-DA27-04643C697B06}"/>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1829584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 text 1">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5" name="Picture Placeholder 4">
            <a:extLst>
              <a:ext uri="{FF2B5EF4-FFF2-40B4-BE49-F238E27FC236}">
                <a16:creationId xmlns:a16="http://schemas.microsoft.com/office/drawing/2014/main" id="{49DEB9E5-1C75-93D8-7926-E2F4E629B40E}"/>
              </a:ext>
            </a:extLst>
          </p:cNvPr>
          <p:cNvSpPr>
            <a:spLocks noGrp="1"/>
          </p:cNvSpPr>
          <p:nvPr>
            <p:ph type="pic" sz="quarter" idx="10"/>
          </p:nvPr>
        </p:nvSpPr>
        <p:spPr>
          <a:xfrm>
            <a:off x="4500000" y="2106613"/>
            <a:ext cx="8290800" cy="8250237"/>
          </a:xfrm>
          <a:prstGeom prst="rect">
            <a:avLst/>
          </a:prstGeom>
        </p:spPr>
        <p:txBody>
          <a:bodyPr/>
          <a:lstStyle/>
          <a:p>
            <a:endParaRPr lang="hu-HU"/>
          </a:p>
        </p:txBody>
      </p:sp>
      <p:sp>
        <p:nvSpPr>
          <p:cNvPr id="9" name="Text Placeholder 3">
            <a:extLst>
              <a:ext uri="{FF2B5EF4-FFF2-40B4-BE49-F238E27FC236}">
                <a16:creationId xmlns:a16="http://schemas.microsoft.com/office/drawing/2014/main" id="{5AE3D0A3-F667-55A1-9C2D-343A97FC6E3B}"/>
              </a:ext>
            </a:extLst>
          </p:cNvPr>
          <p:cNvSpPr>
            <a:spLocks noGrp="1"/>
          </p:cNvSpPr>
          <p:nvPr>
            <p:ph type="body" sz="quarter" idx="12"/>
          </p:nvPr>
        </p:nvSpPr>
        <p:spPr>
          <a:xfrm>
            <a:off x="13120576" y="2891632"/>
            <a:ext cx="5968799" cy="1170005"/>
          </a:xfrm>
          <a:prstGeom prst="rect">
            <a:avLst/>
          </a:prstGeom>
        </p:spPr>
        <p:txBody>
          <a:bodyPr/>
          <a:lstStyle>
            <a:lvl1pPr marL="0" indent="0">
              <a:buFont typeface="Aptos" panose="020B0004020202020204" pitchFamily="34" charset="0"/>
              <a:buNone/>
              <a:tabLst/>
              <a:defRPr sz="1800" b="1"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16" name="Text Placeholder 3">
            <a:extLst>
              <a:ext uri="{FF2B5EF4-FFF2-40B4-BE49-F238E27FC236}">
                <a16:creationId xmlns:a16="http://schemas.microsoft.com/office/drawing/2014/main" id="{59D9EFFB-8C77-5ACF-8C26-4C9E9FE8670D}"/>
              </a:ext>
            </a:extLst>
          </p:cNvPr>
          <p:cNvSpPr>
            <a:spLocks noGrp="1"/>
          </p:cNvSpPr>
          <p:nvPr>
            <p:ph type="body" sz="quarter" idx="13" hasCustomPrompt="1"/>
          </p:nvPr>
        </p:nvSpPr>
        <p:spPr>
          <a:xfrm>
            <a:off x="13120576" y="4283971"/>
            <a:ext cx="5968799" cy="574582"/>
          </a:xfrm>
          <a:prstGeom prst="rect">
            <a:avLst/>
          </a:prstGeom>
        </p:spPr>
        <p:txBody>
          <a:bodyPr/>
          <a:lstStyle>
            <a:lvl1pPr marL="0" indent="0">
              <a:buFont typeface="Aptos" panose="020B0004020202020204" pitchFamily="34" charset="0"/>
              <a:buNone/>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18" name="Text Placeholder 3">
            <a:extLst>
              <a:ext uri="{FF2B5EF4-FFF2-40B4-BE49-F238E27FC236}">
                <a16:creationId xmlns:a16="http://schemas.microsoft.com/office/drawing/2014/main" id="{0AEB47D1-319C-304A-3785-F8EC65694CA1}"/>
              </a:ext>
            </a:extLst>
          </p:cNvPr>
          <p:cNvSpPr>
            <a:spLocks noGrp="1"/>
          </p:cNvSpPr>
          <p:nvPr>
            <p:ph type="body" sz="quarter" idx="15"/>
          </p:nvPr>
        </p:nvSpPr>
        <p:spPr>
          <a:xfrm>
            <a:off x="13120576" y="5184808"/>
            <a:ext cx="5968799" cy="1046923"/>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Slide Number Placeholder 1">
            <a:extLst>
              <a:ext uri="{FF2B5EF4-FFF2-40B4-BE49-F238E27FC236}">
                <a16:creationId xmlns:a16="http://schemas.microsoft.com/office/drawing/2014/main" id="{75DA3241-C4F1-F459-5D91-7EC5148AD9FC}"/>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977335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Image + text 1">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828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5" name="Picture Placeholder 4">
            <a:extLst>
              <a:ext uri="{FF2B5EF4-FFF2-40B4-BE49-F238E27FC236}">
                <a16:creationId xmlns:a16="http://schemas.microsoft.com/office/drawing/2014/main" id="{49DEB9E5-1C75-93D8-7926-E2F4E629B40E}"/>
              </a:ext>
            </a:extLst>
          </p:cNvPr>
          <p:cNvSpPr>
            <a:spLocks noGrp="1"/>
          </p:cNvSpPr>
          <p:nvPr>
            <p:ph type="pic" sz="quarter" idx="10"/>
          </p:nvPr>
        </p:nvSpPr>
        <p:spPr>
          <a:xfrm>
            <a:off x="12291237" y="3955313"/>
            <a:ext cx="6851212" cy="4552838"/>
          </a:xfrm>
          <a:prstGeom prst="rect">
            <a:avLst/>
          </a:prstGeom>
        </p:spPr>
        <p:txBody>
          <a:bodyPr/>
          <a:lstStyle/>
          <a:p>
            <a:endParaRPr lang="hu-HU"/>
          </a:p>
        </p:txBody>
      </p:sp>
      <p:sp>
        <p:nvSpPr>
          <p:cNvPr id="2" name="Text Placeholder 3">
            <a:extLst>
              <a:ext uri="{FF2B5EF4-FFF2-40B4-BE49-F238E27FC236}">
                <a16:creationId xmlns:a16="http://schemas.microsoft.com/office/drawing/2014/main" id="{67E4D72A-A4C5-4CE0-1DC5-685309E6ACCB}"/>
              </a:ext>
            </a:extLst>
          </p:cNvPr>
          <p:cNvSpPr>
            <a:spLocks noGrp="1"/>
          </p:cNvSpPr>
          <p:nvPr>
            <p:ph type="body" sz="quarter" idx="15"/>
          </p:nvPr>
        </p:nvSpPr>
        <p:spPr>
          <a:xfrm>
            <a:off x="4582800" y="3955313"/>
            <a:ext cx="7240605" cy="4552838"/>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3" name="Slide Number Placeholder 1">
            <a:extLst>
              <a:ext uri="{FF2B5EF4-FFF2-40B4-BE49-F238E27FC236}">
                <a16:creationId xmlns:a16="http://schemas.microsoft.com/office/drawing/2014/main" id="{B444AF4A-18BD-89AF-5CAF-F8416A0228B7}"/>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492184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 tables">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4" name="Text Placeholder 3">
            <a:extLst>
              <a:ext uri="{FF2B5EF4-FFF2-40B4-BE49-F238E27FC236}">
                <a16:creationId xmlns:a16="http://schemas.microsoft.com/office/drawing/2014/main" id="{FB2AC032-DF18-4A35-CA27-5654560CC0ED}"/>
              </a:ext>
            </a:extLst>
          </p:cNvPr>
          <p:cNvSpPr>
            <a:spLocks noGrp="1"/>
          </p:cNvSpPr>
          <p:nvPr>
            <p:ph type="body" sz="quarter" idx="12"/>
          </p:nvPr>
        </p:nvSpPr>
        <p:spPr>
          <a:xfrm>
            <a:off x="4500000" y="3121296"/>
            <a:ext cx="14595474" cy="1258199"/>
          </a:xfrm>
          <a:prstGeom prst="rect">
            <a:avLst/>
          </a:prstGeom>
        </p:spPr>
        <p:txBody>
          <a:bodyPr/>
          <a:lstStyle>
            <a:lvl1pPr marL="0" indent="0">
              <a:buFont typeface="Aptos" panose="020B0004020202020204" pitchFamily="34" charset="0"/>
              <a:buNone/>
              <a:tabLst/>
              <a:defRPr sz="1800" b="1"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2" name="Text Placeholder 3">
            <a:extLst>
              <a:ext uri="{FF2B5EF4-FFF2-40B4-BE49-F238E27FC236}">
                <a16:creationId xmlns:a16="http://schemas.microsoft.com/office/drawing/2014/main" id="{40C855FD-0FB1-B567-AAB2-4AAC261A6159}"/>
              </a:ext>
            </a:extLst>
          </p:cNvPr>
          <p:cNvSpPr>
            <a:spLocks noGrp="1"/>
          </p:cNvSpPr>
          <p:nvPr>
            <p:ph type="body" sz="quarter" idx="13" hasCustomPrompt="1"/>
          </p:nvPr>
        </p:nvSpPr>
        <p:spPr>
          <a:xfrm>
            <a:off x="4500000" y="2215162"/>
            <a:ext cx="5968799" cy="574582"/>
          </a:xfrm>
          <a:prstGeom prst="rect">
            <a:avLst/>
          </a:prstGeom>
        </p:spPr>
        <p:txBody>
          <a:bodyPr/>
          <a:lstStyle>
            <a:lvl1pPr marL="0" indent="0">
              <a:buFont typeface="Aptos" panose="020B0004020202020204" pitchFamily="34" charset="0"/>
              <a:buNone/>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3" name="Slide Number Placeholder 1">
            <a:extLst>
              <a:ext uri="{FF2B5EF4-FFF2-40B4-BE49-F238E27FC236}">
                <a16:creationId xmlns:a16="http://schemas.microsoft.com/office/drawing/2014/main" id="{D77B3963-F925-BC86-DB81-A0E803503301}"/>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786723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tables + image">
    <p:spTree>
      <p:nvGrpSpPr>
        <p:cNvPr id="1" name=""/>
        <p:cNvGrpSpPr/>
        <p:nvPr/>
      </p:nvGrpSpPr>
      <p:grpSpPr>
        <a:xfrm>
          <a:off x="0" y="0"/>
          <a:ext cx="0" cy="0"/>
          <a:chOff x="0" y="0"/>
          <a:chExt cx="0" cy="0"/>
        </a:xfrm>
      </p:grpSpPr>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2" name="Picture Placeholder 4">
            <a:extLst>
              <a:ext uri="{FF2B5EF4-FFF2-40B4-BE49-F238E27FC236}">
                <a16:creationId xmlns:a16="http://schemas.microsoft.com/office/drawing/2014/main" id="{94541138-C940-BC02-754C-BCBAFB7BDC4A}"/>
              </a:ext>
            </a:extLst>
          </p:cNvPr>
          <p:cNvSpPr>
            <a:spLocks noGrp="1"/>
          </p:cNvSpPr>
          <p:nvPr>
            <p:ph type="pic" sz="quarter" idx="10"/>
          </p:nvPr>
        </p:nvSpPr>
        <p:spPr>
          <a:xfrm>
            <a:off x="10820101" y="2106613"/>
            <a:ext cx="8251200" cy="8250237"/>
          </a:xfrm>
          <a:prstGeom prst="rect">
            <a:avLst/>
          </a:prstGeom>
        </p:spPr>
        <p:txBody>
          <a:bodyPr/>
          <a:lstStyle/>
          <a:p>
            <a:endParaRPr lang="hu-HU"/>
          </a:p>
        </p:txBody>
      </p:sp>
      <p:sp>
        <p:nvSpPr>
          <p:cNvPr id="3" name="Text Placeholder 3">
            <a:extLst>
              <a:ext uri="{FF2B5EF4-FFF2-40B4-BE49-F238E27FC236}">
                <a16:creationId xmlns:a16="http://schemas.microsoft.com/office/drawing/2014/main" id="{13B6016E-B0AF-721C-85CC-8DE92D8A8875}"/>
              </a:ext>
            </a:extLst>
          </p:cNvPr>
          <p:cNvSpPr>
            <a:spLocks noGrp="1"/>
          </p:cNvSpPr>
          <p:nvPr>
            <p:ph type="body" sz="quarter" idx="13" hasCustomPrompt="1"/>
          </p:nvPr>
        </p:nvSpPr>
        <p:spPr>
          <a:xfrm>
            <a:off x="4500000" y="2106613"/>
            <a:ext cx="5968799" cy="454740"/>
          </a:xfrm>
          <a:prstGeom prst="rect">
            <a:avLst/>
          </a:prstGeom>
        </p:spPr>
        <p:txBody>
          <a:bodyPr wrap="square">
            <a:noAutofit/>
          </a:bodyPr>
          <a:lstStyle>
            <a:lvl1pPr marL="0" indent="0">
              <a:buFont typeface="Aptos" panose="020B0004020202020204" pitchFamily="34" charset="0"/>
              <a:buNone/>
              <a:tabLst/>
              <a:defRPr sz="18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p:txBody>
      </p:sp>
      <p:sp>
        <p:nvSpPr>
          <p:cNvPr id="5" name="Text Placeholder 3">
            <a:extLst>
              <a:ext uri="{FF2B5EF4-FFF2-40B4-BE49-F238E27FC236}">
                <a16:creationId xmlns:a16="http://schemas.microsoft.com/office/drawing/2014/main" id="{144D6315-84DC-775C-A51D-F101FDA30C82}"/>
              </a:ext>
            </a:extLst>
          </p:cNvPr>
          <p:cNvSpPr>
            <a:spLocks noGrp="1"/>
          </p:cNvSpPr>
          <p:nvPr>
            <p:ph type="body" sz="quarter" idx="15"/>
          </p:nvPr>
        </p:nvSpPr>
        <p:spPr>
          <a:xfrm>
            <a:off x="4500000" y="2928235"/>
            <a:ext cx="5968799" cy="1046923"/>
          </a:xfrm>
          <a:prstGeom prst="rect">
            <a:avLst/>
          </a:prstGeom>
        </p:spPr>
        <p:txBody>
          <a:bodyPr/>
          <a:lstStyle>
            <a:lvl1pPr marL="409575" indent="-409575">
              <a:buFont typeface="Aptos" panose="020B0004020202020204" pitchFamily="34" charset="0"/>
              <a:buChar char="›"/>
              <a:tabLst/>
              <a:defRPr sz="1600" b="0" i="0">
                <a:latin typeface="Aptos" panose="020B0004020202020204" pitchFamily="34" charset="0"/>
              </a:defRPr>
            </a:lvl1pPr>
            <a:lvl2pPr marL="685800" indent="-228600">
              <a:buFont typeface="Aptos" panose="020B0004020202020204" pitchFamily="34" charset="0"/>
              <a:buChar char="›"/>
              <a:defRPr sz="2600" b="0" i="0">
                <a:latin typeface="Aptos" panose="020B0004020202020204" pitchFamily="34" charset="0"/>
              </a:defRPr>
            </a:lvl2pPr>
            <a:lvl3pPr marL="1143000" indent="-228600">
              <a:buFont typeface="Aptos" panose="020B0004020202020204" pitchFamily="34" charset="0"/>
              <a:buChar char="›"/>
              <a:defRPr/>
            </a:lvl3pPr>
            <a:lvl4pPr marL="1600200" indent="-228600">
              <a:buFont typeface="Aptos" panose="020B0004020202020204" pitchFamily="34" charset="0"/>
              <a:buChar char="›"/>
              <a:defRPr/>
            </a:lvl4pPr>
            <a:lvl5pPr marL="2057400" indent="-228600">
              <a:buFont typeface="Aptos" panose="020B0004020202020204" pitchFamily="34" charset="0"/>
              <a:buChar char="›"/>
              <a:defRPr/>
            </a:lvl5pPr>
          </a:lstStyle>
          <a:p>
            <a:pPr lvl="0"/>
            <a:r>
              <a:rPr lang="en-GB"/>
              <a:t>Click to edit Master text styles</a:t>
            </a:r>
          </a:p>
          <a:p>
            <a:pPr lvl="0"/>
            <a:endParaRPr lang="en-GB"/>
          </a:p>
          <a:p>
            <a:pPr lvl="0"/>
            <a:endParaRPr lang="en-GB"/>
          </a:p>
        </p:txBody>
      </p:sp>
      <p:sp>
        <p:nvSpPr>
          <p:cNvPr id="4" name="Slide Number Placeholder 1">
            <a:extLst>
              <a:ext uri="{FF2B5EF4-FFF2-40B4-BE49-F238E27FC236}">
                <a16:creationId xmlns:a16="http://schemas.microsoft.com/office/drawing/2014/main" id="{57649FED-5AF9-0BAF-7D1F-23B3D2CCD128}"/>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997716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rge image">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C513D7C6-6F52-D314-C456-2E4EEE9C6A53}"/>
              </a:ext>
            </a:extLst>
          </p:cNvPr>
          <p:cNvSpPr>
            <a:spLocks noGrp="1"/>
          </p:cNvSpPr>
          <p:nvPr>
            <p:ph type="pic" sz="quarter" idx="11"/>
          </p:nvPr>
        </p:nvSpPr>
        <p:spPr>
          <a:xfrm>
            <a:off x="4500000" y="2087563"/>
            <a:ext cx="14638605" cy="8269287"/>
          </a:xfrm>
          <a:prstGeom prst="rect">
            <a:avLst/>
          </a:prstGeom>
        </p:spPr>
        <p:txBody>
          <a:bodyPr/>
          <a:lstStyle/>
          <a:p>
            <a:endParaRPr lang="hu-HU"/>
          </a:p>
        </p:txBody>
      </p:sp>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7" name="Text Placeholder 6">
            <a:extLst>
              <a:ext uri="{FF2B5EF4-FFF2-40B4-BE49-F238E27FC236}">
                <a16:creationId xmlns:a16="http://schemas.microsoft.com/office/drawing/2014/main" id="{550C817D-4A21-D2C8-B411-11678420F4BA}"/>
              </a:ext>
            </a:extLst>
          </p:cNvPr>
          <p:cNvSpPr>
            <a:spLocks noGrp="1"/>
          </p:cNvSpPr>
          <p:nvPr>
            <p:ph type="body" sz="quarter" idx="10"/>
          </p:nvPr>
        </p:nvSpPr>
        <p:spPr>
          <a:xfrm>
            <a:off x="5052893" y="2624138"/>
            <a:ext cx="6659562" cy="1847850"/>
          </a:xfrm>
          <a:prstGeom prst="rect">
            <a:avLst/>
          </a:prstGeom>
          <a:gradFill>
            <a:gsLst>
              <a:gs pos="0">
                <a:schemeClr val="accent2">
                  <a:alpha val="30000"/>
                </a:schemeClr>
              </a:gs>
              <a:gs pos="100000">
                <a:schemeClr val="accent1">
                  <a:lumMod val="88000"/>
                  <a:lumOff val="12000"/>
                  <a:alpha val="30000"/>
                </a:schemeClr>
              </a:gs>
            </a:gsLst>
            <a:lin ang="21594000" scaled="0"/>
          </a:gradFill>
        </p:spPr>
        <p:txBody>
          <a:bodyPr lIns="360000" tIns="0" rIns="0" bIns="0" anchor="ctr" anchorCtr="0"/>
          <a:lstStyle>
            <a:lvl1pPr marL="0" indent="0">
              <a:buNone/>
              <a:defRPr sz="26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GB"/>
              <a:t>Click to edit Master text style</a:t>
            </a:r>
          </a:p>
        </p:txBody>
      </p:sp>
      <p:sp>
        <p:nvSpPr>
          <p:cNvPr id="2" name="Slide Number Placeholder 1">
            <a:extLst>
              <a:ext uri="{FF2B5EF4-FFF2-40B4-BE49-F238E27FC236}">
                <a16:creationId xmlns:a16="http://schemas.microsoft.com/office/drawing/2014/main" id="{39633254-15B8-F374-8FAC-EB824ADB83B5}"/>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6900305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allery">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858633A7-3D11-1220-3C5A-EDAB8D9145D4}"/>
              </a:ext>
            </a:extLst>
          </p:cNvPr>
          <p:cNvSpPr>
            <a:spLocks noGrp="1"/>
          </p:cNvSpPr>
          <p:nvPr>
            <p:ph type="pic" sz="quarter" idx="10"/>
          </p:nvPr>
        </p:nvSpPr>
        <p:spPr>
          <a:xfrm>
            <a:off x="4519050" y="2605404"/>
            <a:ext cx="4644659" cy="2892417"/>
          </a:xfrm>
          <a:prstGeom prst="rect">
            <a:avLst/>
          </a:prstGeom>
        </p:spPr>
        <p:txBody>
          <a:bodyPr/>
          <a:lstStyle/>
          <a:p>
            <a:endParaRPr lang="hu-HU"/>
          </a:p>
        </p:txBody>
      </p:sp>
      <p:sp>
        <p:nvSpPr>
          <p:cNvPr id="42" name="Picture Placeholder 19">
            <a:extLst>
              <a:ext uri="{FF2B5EF4-FFF2-40B4-BE49-F238E27FC236}">
                <a16:creationId xmlns:a16="http://schemas.microsoft.com/office/drawing/2014/main" id="{87FD6E3D-6F9F-5EA9-AE10-8A97EC5F294D}"/>
              </a:ext>
            </a:extLst>
          </p:cNvPr>
          <p:cNvSpPr>
            <a:spLocks noGrp="1"/>
          </p:cNvSpPr>
          <p:nvPr>
            <p:ph type="pic" sz="quarter" idx="22"/>
          </p:nvPr>
        </p:nvSpPr>
        <p:spPr>
          <a:xfrm>
            <a:off x="9516352" y="2605404"/>
            <a:ext cx="4644659" cy="2892417"/>
          </a:xfrm>
          <a:prstGeom prst="rect">
            <a:avLst/>
          </a:prstGeom>
        </p:spPr>
        <p:txBody>
          <a:bodyPr/>
          <a:lstStyle/>
          <a:p>
            <a:endParaRPr lang="hu-HU"/>
          </a:p>
        </p:txBody>
      </p:sp>
      <p:sp>
        <p:nvSpPr>
          <p:cNvPr id="43" name="Picture Placeholder 19">
            <a:extLst>
              <a:ext uri="{FF2B5EF4-FFF2-40B4-BE49-F238E27FC236}">
                <a16:creationId xmlns:a16="http://schemas.microsoft.com/office/drawing/2014/main" id="{66685B75-93B7-22A6-FA43-77CE7E9B2532}"/>
              </a:ext>
            </a:extLst>
          </p:cNvPr>
          <p:cNvSpPr>
            <a:spLocks noGrp="1"/>
          </p:cNvSpPr>
          <p:nvPr>
            <p:ph type="pic" sz="quarter" idx="23"/>
          </p:nvPr>
        </p:nvSpPr>
        <p:spPr>
          <a:xfrm>
            <a:off x="14492389" y="2605404"/>
            <a:ext cx="4644659" cy="2892417"/>
          </a:xfrm>
          <a:prstGeom prst="rect">
            <a:avLst/>
          </a:prstGeom>
        </p:spPr>
        <p:txBody>
          <a:bodyPr/>
          <a:lstStyle/>
          <a:p>
            <a:endParaRPr lang="hu-HU"/>
          </a:p>
        </p:txBody>
      </p:sp>
      <p:sp>
        <p:nvSpPr>
          <p:cNvPr id="44" name="Picture Placeholder 19">
            <a:extLst>
              <a:ext uri="{FF2B5EF4-FFF2-40B4-BE49-F238E27FC236}">
                <a16:creationId xmlns:a16="http://schemas.microsoft.com/office/drawing/2014/main" id="{649F82B6-0B11-1D9B-2756-1C27FA453518}"/>
              </a:ext>
            </a:extLst>
          </p:cNvPr>
          <p:cNvSpPr>
            <a:spLocks noGrp="1"/>
          </p:cNvSpPr>
          <p:nvPr>
            <p:ph type="pic" sz="quarter" idx="24"/>
          </p:nvPr>
        </p:nvSpPr>
        <p:spPr>
          <a:xfrm>
            <a:off x="4519050" y="6220474"/>
            <a:ext cx="4644659" cy="2892417"/>
          </a:xfrm>
          <a:prstGeom prst="rect">
            <a:avLst/>
          </a:prstGeom>
        </p:spPr>
        <p:txBody>
          <a:bodyPr/>
          <a:lstStyle/>
          <a:p>
            <a:endParaRPr lang="hu-HU"/>
          </a:p>
        </p:txBody>
      </p:sp>
      <p:sp>
        <p:nvSpPr>
          <p:cNvPr id="45" name="Picture Placeholder 19">
            <a:extLst>
              <a:ext uri="{FF2B5EF4-FFF2-40B4-BE49-F238E27FC236}">
                <a16:creationId xmlns:a16="http://schemas.microsoft.com/office/drawing/2014/main" id="{B50884DA-261D-F296-F9FF-8870DF570BCB}"/>
              </a:ext>
            </a:extLst>
          </p:cNvPr>
          <p:cNvSpPr>
            <a:spLocks noGrp="1"/>
          </p:cNvSpPr>
          <p:nvPr>
            <p:ph type="pic" sz="quarter" idx="25"/>
          </p:nvPr>
        </p:nvSpPr>
        <p:spPr>
          <a:xfrm>
            <a:off x="9516352" y="6220474"/>
            <a:ext cx="4644659" cy="2892417"/>
          </a:xfrm>
          <a:prstGeom prst="rect">
            <a:avLst/>
          </a:prstGeom>
        </p:spPr>
        <p:txBody>
          <a:bodyPr/>
          <a:lstStyle/>
          <a:p>
            <a:endParaRPr lang="hu-HU"/>
          </a:p>
        </p:txBody>
      </p:sp>
      <p:sp>
        <p:nvSpPr>
          <p:cNvPr id="46" name="Picture Placeholder 19">
            <a:extLst>
              <a:ext uri="{FF2B5EF4-FFF2-40B4-BE49-F238E27FC236}">
                <a16:creationId xmlns:a16="http://schemas.microsoft.com/office/drawing/2014/main" id="{16C7E976-3EF1-4ABD-DBDF-4A18754D9393}"/>
              </a:ext>
            </a:extLst>
          </p:cNvPr>
          <p:cNvSpPr>
            <a:spLocks noGrp="1"/>
          </p:cNvSpPr>
          <p:nvPr>
            <p:ph type="pic" sz="quarter" idx="26"/>
          </p:nvPr>
        </p:nvSpPr>
        <p:spPr>
          <a:xfrm>
            <a:off x="14492389" y="6220474"/>
            <a:ext cx="4644659" cy="2892417"/>
          </a:xfrm>
          <a:prstGeom prst="rect">
            <a:avLst/>
          </a:prstGeom>
        </p:spPr>
        <p:txBody>
          <a:bodyPr/>
          <a:lstStyle/>
          <a:p>
            <a:endParaRPr lang="hu-HU"/>
          </a:p>
        </p:txBody>
      </p:sp>
      <p:pic>
        <p:nvPicPr>
          <p:cNvPr id="6" name="Picture 5" descr="A logo with green letters and a black background&#10;&#10;AI-generated content may be incorrect.">
            <a:extLst>
              <a:ext uri="{FF2B5EF4-FFF2-40B4-BE49-F238E27FC236}">
                <a16:creationId xmlns:a16="http://schemas.microsoft.com/office/drawing/2014/main" id="{CCB7FFD3-F237-D100-AD13-19091185976F}"/>
              </a:ext>
            </a:extLst>
          </p:cNvPr>
          <p:cNvPicPr>
            <a:picLocks noChangeAspect="1"/>
          </p:cNvPicPr>
          <p:nvPr userDrawn="1"/>
        </p:nvPicPr>
        <p:blipFill>
          <a:blip r:embed="rId2"/>
          <a:stretch>
            <a:fillRect/>
          </a:stretch>
        </p:blipFill>
        <p:spPr>
          <a:xfrm>
            <a:off x="17367250" y="-7761"/>
            <a:ext cx="2013881" cy="1378630"/>
          </a:xfrm>
          <a:prstGeom prst="rect">
            <a:avLst/>
          </a:prstGeom>
        </p:spPr>
      </p:pic>
      <p:sp>
        <p:nvSpPr>
          <p:cNvPr id="13" name="TextBox 12">
            <a:extLst>
              <a:ext uri="{FF2B5EF4-FFF2-40B4-BE49-F238E27FC236}">
                <a16:creationId xmlns:a16="http://schemas.microsoft.com/office/drawing/2014/main" id="{82B1D0F8-2753-A3E5-3757-05F080DBEC8C}"/>
              </a:ext>
            </a:extLst>
          </p:cNvPr>
          <p:cNvSpPr txBox="1"/>
          <p:nvPr userDrawn="1"/>
        </p:nvSpPr>
        <p:spPr>
          <a:xfrm>
            <a:off x="2365513" y="536713"/>
            <a:ext cx="184731" cy="369332"/>
          </a:xfrm>
          <a:prstGeom prst="rect">
            <a:avLst/>
          </a:prstGeom>
          <a:noFill/>
        </p:spPr>
        <p:txBody>
          <a:bodyPr wrap="none" rtlCol="0">
            <a:spAutoFit/>
          </a:bodyPr>
          <a:lstStyle/>
          <a:p>
            <a:endParaRPr lang="hu-HU"/>
          </a:p>
        </p:txBody>
      </p:sp>
      <p:sp>
        <p:nvSpPr>
          <p:cNvPr id="14" name="object 16">
            <a:extLst>
              <a:ext uri="{FF2B5EF4-FFF2-40B4-BE49-F238E27FC236}">
                <a16:creationId xmlns:a16="http://schemas.microsoft.com/office/drawing/2014/main" id="{D1A1E1BD-5203-A3AC-1FCD-200DE8EC4D24}"/>
              </a:ext>
            </a:extLst>
          </p:cNvPr>
          <p:cNvSpPr txBox="1">
            <a:spLocks noGrp="1"/>
          </p:cNvSpPr>
          <p:nvPr>
            <p:ph type="title" hasCustomPrompt="1"/>
          </p:nvPr>
        </p:nvSpPr>
        <p:spPr>
          <a:xfrm>
            <a:off x="4500000" y="283409"/>
            <a:ext cx="3434079" cy="796290"/>
          </a:xfrm>
          <a:prstGeom prst="rect">
            <a:avLst/>
          </a:prstGeom>
        </p:spPr>
        <p:txBody>
          <a:bodyPr vert="horz" wrap="none" lIns="0" tIns="0" rIns="0" bIns="0" rtlCol="0" anchor="ctr" anchorCtr="0">
            <a:noAutofit/>
          </a:bodyPr>
          <a:lstStyle>
            <a:lvl1pPr>
              <a:defRPr sz="3300" b="0" i="0">
                <a:latin typeface="Aptos Black" panose="020B0004020202020204" pitchFamily="34" charset="0"/>
              </a:defRPr>
            </a:lvl1pPr>
          </a:lstStyle>
          <a:p>
            <a:pPr marL="12700">
              <a:lnSpc>
                <a:spcPts val="3840"/>
              </a:lnSpc>
              <a:spcBef>
                <a:spcPts val="95"/>
              </a:spcBef>
            </a:pPr>
            <a:r>
              <a:t>Header</a:t>
            </a:r>
            <a:r>
              <a:rPr spc="-85"/>
              <a:t> </a:t>
            </a:r>
            <a:r>
              <a:t>Line</a:t>
            </a:r>
            <a:r>
              <a:rPr spc="-85"/>
              <a:t> </a:t>
            </a:r>
            <a:r>
              <a:rPr spc="-50"/>
              <a:t>1</a:t>
            </a:r>
            <a:endParaRPr lang="en-HU" spc="-50"/>
          </a:p>
        </p:txBody>
      </p:sp>
      <p:sp>
        <p:nvSpPr>
          <p:cNvPr id="30" name="Text Placeholder 28">
            <a:extLst>
              <a:ext uri="{FF2B5EF4-FFF2-40B4-BE49-F238E27FC236}">
                <a16:creationId xmlns:a16="http://schemas.microsoft.com/office/drawing/2014/main" id="{6E1B915D-A732-5430-C55E-837F13D6800E}"/>
              </a:ext>
            </a:extLst>
          </p:cNvPr>
          <p:cNvSpPr>
            <a:spLocks noGrp="1"/>
          </p:cNvSpPr>
          <p:nvPr>
            <p:ph type="body" sz="quarter" idx="16"/>
          </p:nvPr>
        </p:nvSpPr>
        <p:spPr>
          <a:xfrm>
            <a:off x="6643709" y="5647440"/>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58" name="Text Placeholder 28">
            <a:extLst>
              <a:ext uri="{FF2B5EF4-FFF2-40B4-BE49-F238E27FC236}">
                <a16:creationId xmlns:a16="http://schemas.microsoft.com/office/drawing/2014/main" id="{BB5AB633-0835-AA84-5117-DC61D0EB34FF}"/>
              </a:ext>
            </a:extLst>
          </p:cNvPr>
          <p:cNvSpPr>
            <a:spLocks noGrp="1"/>
          </p:cNvSpPr>
          <p:nvPr>
            <p:ph type="body" sz="quarter" idx="29"/>
          </p:nvPr>
        </p:nvSpPr>
        <p:spPr>
          <a:xfrm>
            <a:off x="6643709" y="9271173"/>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2" name="Text Placeholder 28">
            <a:extLst>
              <a:ext uri="{FF2B5EF4-FFF2-40B4-BE49-F238E27FC236}">
                <a16:creationId xmlns:a16="http://schemas.microsoft.com/office/drawing/2014/main" id="{85BB3BB6-E61D-556C-8696-9480420C8E37}"/>
              </a:ext>
            </a:extLst>
          </p:cNvPr>
          <p:cNvSpPr>
            <a:spLocks noGrp="1"/>
          </p:cNvSpPr>
          <p:nvPr>
            <p:ph type="body" sz="quarter" idx="30"/>
          </p:nvPr>
        </p:nvSpPr>
        <p:spPr>
          <a:xfrm>
            <a:off x="11639915" y="5647440"/>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3" name="Text Placeholder 28">
            <a:extLst>
              <a:ext uri="{FF2B5EF4-FFF2-40B4-BE49-F238E27FC236}">
                <a16:creationId xmlns:a16="http://schemas.microsoft.com/office/drawing/2014/main" id="{ED45A816-C7D3-8E0C-0D0D-A3F78ECACAEB}"/>
              </a:ext>
            </a:extLst>
          </p:cNvPr>
          <p:cNvSpPr>
            <a:spLocks noGrp="1"/>
          </p:cNvSpPr>
          <p:nvPr>
            <p:ph type="body" sz="quarter" idx="31"/>
          </p:nvPr>
        </p:nvSpPr>
        <p:spPr>
          <a:xfrm>
            <a:off x="11639915" y="9271173"/>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4" name="Text Placeholder 28">
            <a:extLst>
              <a:ext uri="{FF2B5EF4-FFF2-40B4-BE49-F238E27FC236}">
                <a16:creationId xmlns:a16="http://schemas.microsoft.com/office/drawing/2014/main" id="{56F453A5-CE6D-DF7F-14CB-2D686920D7DB}"/>
              </a:ext>
            </a:extLst>
          </p:cNvPr>
          <p:cNvSpPr>
            <a:spLocks noGrp="1"/>
          </p:cNvSpPr>
          <p:nvPr>
            <p:ph type="body" sz="quarter" idx="32"/>
          </p:nvPr>
        </p:nvSpPr>
        <p:spPr>
          <a:xfrm>
            <a:off x="16617268" y="5647440"/>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5" name="Text Placeholder 28">
            <a:extLst>
              <a:ext uri="{FF2B5EF4-FFF2-40B4-BE49-F238E27FC236}">
                <a16:creationId xmlns:a16="http://schemas.microsoft.com/office/drawing/2014/main" id="{33E5179F-76C1-1B0B-A97B-930D04A7D0B4}"/>
              </a:ext>
            </a:extLst>
          </p:cNvPr>
          <p:cNvSpPr>
            <a:spLocks noGrp="1"/>
          </p:cNvSpPr>
          <p:nvPr>
            <p:ph type="body" sz="quarter" idx="33"/>
          </p:nvPr>
        </p:nvSpPr>
        <p:spPr>
          <a:xfrm>
            <a:off x="16617268" y="9271173"/>
            <a:ext cx="2520000" cy="276225"/>
          </a:xfrm>
          <a:prstGeom prst="rect">
            <a:avLst/>
          </a:prstGeom>
        </p:spPr>
        <p:txBody>
          <a:bodyPr/>
          <a:lstStyle>
            <a:lvl1pPr marL="0" indent="0" algn="r">
              <a:buNone/>
              <a:defRPr sz="1650"/>
            </a:lvl1pPr>
            <a:lvl2pPr marL="457200" indent="0">
              <a:buNone/>
              <a:defRPr/>
            </a:lvl2pPr>
            <a:lvl3pPr marL="914400" indent="0">
              <a:buNone/>
              <a:defRPr/>
            </a:lvl3pPr>
            <a:lvl4pPr marL="1371600" indent="0">
              <a:buNone/>
              <a:defRPr/>
            </a:lvl4pPr>
            <a:lvl5pPr marL="1828800" indent="0">
              <a:buNone/>
              <a:defRPr/>
            </a:lvl5pPr>
          </a:lstStyle>
          <a:p>
            <a:pPr lvl="0"/>
            <a:r>
              <a:rPr lang="en-GB"/>
              <a:t>Click to edit</a:t>
            </a:r>
          </a:p>
        </p:txBody>
      </p:sp>
      <p:sp>
        <p:nvSpPr>
          <p:cNvPr id="7" name="Slide Number Placeholder 1">
            <a:extLst>
              <a:ext uri="{FF2B5EF4-FFF2-40B4-BE49-F238E27FC236}">
                <a16:creationId xmlns:a16="http://schemas.microsoft.com/office/drawing/2014/main" id="{E267ADC1-AF57-08DA-3461-735A01E6294A}"/>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4085420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Vertical Title and Tex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B80CFB-4B2B-A473-B8AE-23147E9EE5CC}"/>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2908458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AC708B-19F4-8EF4-2753-507BDF8E8F73}"/>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592102258"/>
      </p:ext>
    </p:extLst>
  </p:cSld>
  <p:clrMap bg1="lt1" tx1="dk1" bg2="lt2" tx2="dk2" accent1="accent1" accent2="accent2" accent3="accent3" accent4="accent4" accent5="accent5" accent6="accent6" hlink="hlink" folHlink="folHlink"/>
  <p:sldLayoutIdLst>
    <p:sldLayoutId id="2147483688" r:id="rId1"/>
    <p:sldLayoutId id="2147483698"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object 17">
            <a:extLst>
              <a:ext uri="{FF2B5EF4-FFF2-40B4-BE49-F238E27FC236}">
                <a16:creationId xmlns:a16="http://schemas.microsoft.com/office/drawing/2014/main" id="{FED51FD9-DD91-984F-64F8-1561CC177398}"/>
              </a:ext>
            </a:extLst>
          </p:cNvPr>
          <p:cNvSpPr/>
          <p:nvPr userDrawn="1"/>
        </p:nvSpPr>
        <p:spPr>
          <a:xfrm>
            <a:off x="4500000" y="1413569"/>
            <a:ext cx="14659200" cy="0"/>
          </a:xfrm>
          <a:custGeom>
            <a:avLst/>
            <a:gdLst/>
            <a:ahLst/>
            <a:cxnLst/>
            <a:rect l="l" t="t" r="r" b="b"/>
            <a:pathLst>
              <a:path w="18104485">
                <a:moveTo>
                  <a:pt x="0" y="0"/>
                </a:moveTo>
                <a:lnTo>
                  <a:pt x="18104160" y="0"/>
                </a:lnTo>
              </a:path>
            </a:pathLst>
          </a:custGeom>
          <a:ln w="12700">
            <a:gradFill>
              <a:gsLst>
                <a:gs pos="100000">
                  <a:schemeClr val="accent1"/>
                </a:gs>
                <a:gs pos="0">
                  <a:schemeClr val="accent2"/>
                </a:gs>
              </a:gsLst>
              <a:lin ang="0" scaled="0"/>
            </a:gradFill>
          </a:ln>
        </p:spPr>
        <p:txBody>
          <a:bodyPr wrap="square" lIns="0" tIns="0" rIns="0" bIns="0" rtlCol="0"/>
          <a:lstStyle/>
          <a:p>
            <a:endParaRPr/>
          </a:p>
        </p:txBody>
      </p:sp>
      <p:sp>
        <p:nvSpPr>
          <p:cNvPr id="2" name="Slide Number Placeholder 1">
            <a:extLst>
              <a:ext uri="{FF2B5EF4-FFF2-40B4-BE49-F238E27FC236}">
                <a16:creationId xmlns:a16="http://schemas.microsoft.com/office/drawing/2014/main" id="{2BD5A937-B250-7022-4FC6-F9B79765E5CB}"/>
              </a:ext>
            </a:extLst>
          </p:cNvPr>
          <p:cNvSpPr>
            <a:spLocks noGrp="1"/>
          </p:cNvSpPr>
          <p:nvPr>
            <p:ph type="sldNum" sz="quarter" idx="4"/>
          </p:nvPr>
        </p:nvSpPr>
        <p:spPr>
          <a:xfrm>
            <a:off x="14200188" y="10483850"/>
            <a:ext cx="4522787" cy="601663"/>
          </a:xfrm>
          <a:prstGeom prst="rect">
            <a:avLst/>
          </a:prstGeom>
        </p:spPr>
        <p:txBody>
          <a:bodyPr vert="horz" lIns="91440" tIns="45720" rIns="91440" bIns="45720" rtlCol="0" anchor="ctr"/>
          <a:lstStyle>
            <a:lvl1pPr algn="r">
              <a:defRPr sz="1200">
                <a:solidFill>
                  <a:schemeClr val="tx1">
                    <a:tint val="82000"/>
                  </a:schemeClr>
                </a:solidFill>
              </a:defRPr>
            </a:lvl1pPr>
          </a:lstStyle>
          <a:p>
            <a:fld id="{52EEA166-2877-4493-9FAA-8D6952A82FC3}" type="slidenum">
              <a:rPr lang="en-GB" smtClean="0"/>
              <a:t>‹#›</a:t>
            </a:fld>
            <a:endParaRPr lang="en-GB"/>
          </a:p>
        </p:txBody>
      </p:sp>
    </p:spTree>
    <p:extLst>
      <p:ext uri="{BB962C8B-B14F-4D97-AF65-F5344CB8AC3E}">
        <p14:creationId xmlns:p14="http://schemas.microsoft.com/office/powerpoint/2010/main" val="3892607441"/>
      </p:ext>
    </p:extLst>
  </p:cSld>
  <p:clrMap bg1="lt1" tx1="dk1" bg2="lt2" tx2="dk2" accent1="accent1" accent2="accent2" accent3="accent3" accent4="accent4" accent5="accent5" accent6="accent6" hlink="hlink" folHlink="folHlink"/>
  <p:sldLayoutIdLst>
    <p:sldLayoutId id="214748364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a:extLst>
              <a:ext uri="{FF2B5EF4-FFF2-40B4-BE49-F238E27FC236}">
                <a16:creationId xmlns:a16="http://schemas.microsoft.com/office/drawing/2014/main" id="{E7403717-93A4-AAB0-5DA1-E3D59335FFA0}"/>
              </a:ext>
            </a:extLst>
          </p:cNvPr>
          <p:cNvPicPr/>
          <p:nvPr/>
        </p:nvPicPr>
        <p:blipFill>
          <a:blip r:embed="rId2">
            <a:extLst>
              <a:ext uri="{28A0092B-C50C-407E-A947-70E740481C1C}">
                <a14:useLocalDpi xmlns:a14="http://schemas.microsoft.com/office/drawing/2010/main" val="0"/>
              </a:ext>
            </a:extLst>
          </a:blip>
          <a:srcRect/>
          <a:stretch/>
        </p:blipFill>
        <p:spPr>
          <a:xfrm>
            <a:off x="0" y="794"/>
            <a:ext cx="20104099" cy="11308556"/>
          </a:xfrm>
          <a:prstGeom prst="rect">
            <a:avLst/>
          </a:prstGeom>
        </p:spPr>
      </p:pic>
      <p:pic>
        <p:nvPicPr>
          <p:cNvPr id="5" name="object 5">
            <a:extLst>
              <a:ext uri="{FF2B5EF4-FFF2-40B4-BE49-F238E27FC236}">
                <a16:creationId xmlns:a16="http://schemas.microsoft.com/office/drawing/2014/main" id="{B8281C5C-DD60-55B1-3FC1-4EB141D94BC3}"/>
              </a:ext>
            </a:extLst>
          </p:cNvPr>
          <p:cNvPicPr/>
          <p:nvPr/>
        </p:nvPicPr>
        <p:blipFill>
          <a:blip r:embed="rId3" cstate="print"/>
          <a:stretch>
            <a:fillRect/>
          </a:stretch>
        </p:blipFill>
        <p:spPr>
          <a:xfrm>
            <a:off x="11873983" y="837670"/>
            <a:ext cx="8230115" cy="10470885"/>
          </a:xfrm>
          <a:prstGeom prst="rect">
            <a:avLst/>
          </a:prstGeom>
        </p:spPr>
      </p:pic>
      <p:pic>
        <p:nvPicPr>
          <p:cNvPr id="6" name="Picture 5" descr="A logo with white text&#10;&#10;AI-generated content may be incorrect.">
            <a:extLst>
              <a:ext uri="{FF2B5EF4-FFF2-40B4-BE49-F238E27FC236}">
                <a16:creationId xmlns:a16="http://schemas.microsoft.com/office/drawing/2014/main" id="{1FBC48BB-7B45-9563-3E74-6A7D75EA46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5386" y="8474075"/>
            <a:ext cx="3450664" cy="2362200"/>
          </a:xfrm>
          <a:prstGeom prst="rect">
            <a:avLst/>
          </a:prstGeom>
        </p:spPr>
      </p:pic>
      <p:sp>
        <p:nvSpPr>
          <p:cNvPr id="7" name="object 16">
            <a:extLst>
              <a:ext uri="{FF2B5EF4-FFF2-40B4-BE49-F238E27FC236}">
                <a16:creationId xmlns:a16="http://schemas.microsoft.com/office/drawing/2014/main" id="{34703AC2-FA13-747C-85E7-7DB5CD624568}"/>
              </a:ext>
            </a:extLst>
          </p:cNvPr>
          <p:cNvSpPr txBox="1">
            <a:spLocks/>
          </p:cNvSpPr>
          <p:nvPr/>
        </p:nvSpPr>
        <p:spPr>
          <a:xfrm>
            <a:off x="818996" y="1956921"/>
            <a:ext cx="18466105" cy="10011074"/>
          </a:xfrm>
          <a:prstGeom prst="rect">
            <a:avLst/>
          </a:prstGeom>
        </p:spPr>
        <p:txBody>
          <a:bodyPr vert="horz" wrap="square" lIns="0" tIns="12065"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ts val="9570"/>
              </a:lnSpc>
              <a:spcBef>
                <a:spcPts val="95"/>
              </a:spcBef>
            </a:pPr>
            <a:r>
              <a:rPr lang="en-GB" sz="8250" b="1" spc="-10" noProof="0" dirty="0">
                <a:solidFill>
                  <a:srgbClr val="FFFFFF"/>
                </a:solidFill>
                <a:latin typeface="Aptos" panose="020B0004020202020204" pitchFamily="34" charset="0"/>
                <a:cs typeface="Aptos"/>
              </a:rPr>
              <a:t>Project Bora</a:t>
            </a:r>
          </a:p>
          <a:p>
            <a:pPr marL="12700">
              <a:lnSpc>
                <a:spcPts val="5600"/>
              </a:lnSpc>
              <a:spcBef>
                <a:spcPts val="95"/>
              </a:spcBef>
            </a:pPr>
            <a:r>
              <a:rPr lang="en-GB" sz="4400" b="1" spc="-10" noProof="0" dirty="0">
                <a:solidFill>
                  <a:srgbClr val="FFFFFF"/>
                </a:solidFill>
                <a:latin typeface="Aptos"/>
                <a:cs typeface="Aptos"/>
              </a:rPr>
              <a:t>RtB exit and</a:t>
            </a:r>
            <a:br>
              <a:rPr lang="en-GB" sz="4400" b="1" spc="-10" noProof="0" dirty="0">
                <a:solidFill>
                  <a:srgbClr val="FFFFFF"/>
                </a:solidFill>
                <a:latin typeface="Aptos"/>
                <a:cs typeface="Aptos"/>
              </a:rPr>
            </a:br>
            <a:r>
              <a:rPr lang="en-GB" sz="4400" b="1" spc="-10" noProof="0" dirty="0">
                <a:solidFill>
                  <a:srgbClr val="FFFFFF"/>
                </a:solidFill>
                <a:latin typeface="Aptos"/>
                <a:cs typeface="Aptos"/>
              </a:rPr>
              <a:t>tender bid strategies</a:t>
            </a:r>
            <a:endParaRPr lang="en-GB" sz="5400" b="1" noProof="0" dirty="0">
              <a:latin typeface="Aptos"/>
              <a:cs typeface="Aptos"/>
            </a:endParaRPr>
          </a:p>
          <a:p>
            <a:pPr marL="12700">
              <a:lnSpc>
                <a:spcPts val="5610"/>
              </a:lnSpc>
            </a:pPr>
            <a:r>
              <a:rPr lang="en-GB" sz="3200" b="0" spc="-10" noProof="0" dirty="0">
                <a:solidFill>
                  <a:srgbClr val="FFFFFF"/>
                </a:solidFill>
                <a:latin typeface="Aptos"/>
                <a:cs typeface="Aptos"/>
              </a:rPr>
              <a:t>11 October 2026</a:t>
            </a:r>
            <a:endParaRPr lang="en-GB" sz="4950" spc="-10" noProof="0" dirty="0">
              <a:solidFill>
                <a:srgbClr val="FFFFFF"/>
              </a:solidFill>
              <a:latin typeface="Aptos"/>
              <a:cs typeface="Aptos"/>
            </a:endParaRPr>
          </a:p>
          <a:p>
            <a:pPr marL="12700" algn="r">
              <a:lnSpc>
                <a:spcPts val="5610"/>
              </a:lnSpc>
            </a:pPr>
            <a:endParaRPr lang="en-GB" sz="2800" b="1" spc="-10" noProof="0" dirty="0">
              <a:solidFill>
                <a:schemeClr val="bg1"/>
              </a:solidFill>
              <a:latin typeface="Aptos"/>
              <a:cs typeface="Aptos"/>
            </a:endParaRPr>
          </a:p>
          <a:p>
            <a:pPr marL="12700" algn="r">
              <a:lnSpc>
                <a:spcPct val="150000"/>
              </a:lnSpc>
            </a:pPr>
            <a:endParaRPr lang="en-GB" sz="2800" b="1" spc="-10" noProof="0" dirty="0">
              <a:solidFill>
                <a:schemeClr val="bg1"/>
              </a:solidFill>
              <a:latin typeface="Aptos"/>
              <a:cs typeface="Aptos"/>
            </a:endParaRPr>
          </a:p>
          <a:p>
            <a:pPr marL="12700">
              <a:lnSpc>
                <a:spcPct val="150000"/>
              </a:lnSpc>
            </a:pPr>
            <a:endParaRPr lang="en-GB" sz="4950" spc="-10" noProof="0" dirty="0">
              <a:solidFill>
                <a:srgbClr val="FFFFFF"/>
              </a:solidFill>
              <a:latin typeface="Aptos"/>
              <a:cs typeface="Aptos"/>
            </a:endParaRPr>
          </a:p>
          <a:p>
            <a:pPr marL="12700">
              <a:lnSpc>
                <a:spcPts val="5610"/>
              </a:lnSpc>
            </a:pPr>
            <a:endParaRPr lang="en-GB" sz="4950" spc="-10" noProof="0" dirty="0">
              <a:solidFill>
                <a:srgbClr val="FFFFFF"/>
              </a:solidFill>
              <a:latin typeface="Aptos"/>
              <a:cs typeface="Aptos"/>
            </a:endParaRPr>
          </a:p>
        </p:txBody>
      </p:sp>
    </p:spTree>
    <p:extLst>
      <p:ext uri="{BB962C8B-B14F-4D97-AF65-F5344CB8AC3E}">
        <p14:creationId xmlns:p14="http://schemas.microsoft.com/office/powerpoint/2010/main" val="718128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7F463-258D-F03A-05D0-923DF0DB8A1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15059C6-B6E5-566B-6FC9-395148B8655C}"/>
              </a:ext>
            </a:extLst>
          </p:cNvPr>
          <p:cNvSpPr>
            <a:spLocks noGrp="1"/>
          </p:cNvSpPr>
          <p:nvPr>
            <p:ph type="title"/>
          </p:nvPr>
        </p:nvSpPr>
        <p:spPr>
          <a:xfrm>
            <a:off x="4498848" y="283464"/>
            <a:ext cx="12618720" cy="795528"/>
          </a:xfrm>
        </p:spPr>
        <p:txBody>
          <a:bodyPr anchor="ctr"/>
          <a:lstStyle/>
          <a:p>
            <a:r>
              <a:rPr lang="en-GB" noProof="0" dirty="0"/>
              <a:t>Bora overview</a:t>
            </a:r>
          </a:p>
        </p:txBody>
      </p:sp>
      <p:sp>
        <p:nvSpPr>
          <p:cNvPr id="2" name="Slide Number Placeholder 1">
            <a:extLst>
              <a:ext uri="{FF2B5EF4-FFF2-40B4-BE49-F238E27FC236}">
                <a16:creationId xmlns:a16="http://schemas.microsoft.com/office/drawing/2014/main" id="{157AE5EA-3307-300B-41E7-5573CC6CCB7F}"/>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6675F5A5-39E1-1334-A3EE-0561E3BAF38F}"/>
              </a:ext>
            </a:extLst>
          </p:cNvPr>
          <p:cNvGraphicFramePr>
            <a:graphicFrameLocks noGrp="1"/>
          </p:cNvGraphicFramePr>
          <p:nvPr>
            <p:extLst>
              <p:ext uri="{D42A27DB-BD31-4B8C-83A1-F6EECF244321}">
                <p14:modId xmlns:p14="http://schemas.microsoft.com/office/powerpoint/2010/main" val="2556486462"/>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200 MVA onshore wind with battery storage – technical data and deal terms</a:t>
            </a:r>
          </a:p>
        </p:txBody>
      </p:sp>
      <p:graphicFrame>
        <p:nvGraphicFramePr>
          <p:cNvPr id="9" name="Technical table"/>
          <p:cNvGraphicFramePr>
            <a:graphicFrameLocks noGrp="1"/>
          </p:cNvGraphicFramePr>
          <p:nvPr/>
        </p:nvGraphicFramePr>
        <p:xfrm>
          <a:off x="4498848" y="1783080"/>
          <a:ext cx="7223760" cy="4526280"/>
        </p:xfrm>
        <a:graphic>
          <a:graphicData uri="http://schemas.openxmlformats.org/drawingml/2006/table">
            <a:tbl>
              <a:tblPr>
                <a:tableStyleId>{5C22544A-7EE6-4342-B048-85BDC9FD1C3A}</a:tableStyleId>
              </a:tblPr>
              <a:tblGrid>
                <a:gridCol w="3063240"/>
                <a:gridCol w="4160520"/>
              </a:tblGrid>
              <a:tr h="502920">
                <a:tc>
                  <a:txBody>
                    <a:bodyPr/>
                    <a:lstStyle/>
                    <a:p>
                      <a:pPr algn="l"/>
                      <a:r>
                        <a:rPr sz="1400" b="1" i="0">
                          <a:solidFill>
                            <a:srgbClr val="FFFFFF"/>
                          </a:solidFill>
                        </a:rPr>
                        <a:t>Item</a:t>
                      </a:r>
                    </a:p>
                  </a:txBody>
                  <a:tcPr marL="73152" marR="73152" marT="27432" marB="27432" anchor="ctr">
                    <a:solidFill>
                      <a:srgbClr val="00A651"/>
                    </a:solidFill>
                  </a:tcPr>
                </a:tc>
                <a:tc>
                  <a:txBody>
                    <a:bodyPr/>
                    <a:lstStyle/>
                    <a:p>
                      <a:pPr algn="l"/>
                      <a:r>
                        <a:rPr sz="1400" b="1" i="0">
                          <a:solidFill>
                            <a:srgbClr val="FFFFFF"/>
                          </a:solidFill>
                        </a:rPr>
                        <a:t>Assumption</a:t>
                      </a:r>
                    </a:p>
                  </a:txBody>
                  <a:tcPr marL="73152" marR="73152" marT="27432" marB="27432" anchor="ctr">
                    <a:solidFill>
                      <a:srgbClr val="00A651"/>
                    </a:solidFill>
                  </a:tcPr>
                </a:tc>
              </a:tr>
              <a:tr h="502920">
                <a:tc gridSpan="2">
                  <a:txBody>
                    <a:bodyPr/>
                    <a:lstStyle/>
                    <a:p>
                      <a:pPr algn="l"/>
                      <a:r>
                        <a:rPr sz="1300" b="1" i="0">
                          <a:solidFill>
                            <a:srgbClr val="00563C"/>
                          </a:solidFill>
                        </a:rPr>
                        <a:t>Site and grid</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r>
              <a:tr h="502920">
                <a:tc>
                  <a:txBody>
                    <a:bodyPr/>
                    <a:lstStyle/>
                    <a:p>
                      <a:pPr algn="l"/>
                      <a:r>
                        <a:rPr sz="1300" b="0" i="0">
                          <a:solidFill>
                            <a:srgbClr val="3C3C3B"/>
                          </a:solidFill>
                        </a:rPr>
                        <a:t>Grid node</a:t>
                      </a:r>
                    </a:p>
                  </a:txBody>
                  <a:tcPr marL="73152" marR="73152" marT="27432" marB="27432" anchor="ctr">
                    <a:solidFill>
                      <a:srgbClr val="F2F2F2"/>
                    </a:solidFill>
                  </a:tcPr>
                </a:tc>
                <a:tc>
                  <a:txBody>
                    <a:bodyPr/>
                    <a:lstStyle/>
                    <a:p>
                      <a:pPr algn="l"/>
                      <a:r>
                        <a:rPr sz="1300" b="0" i="0">
                          <a:solidFill>
                            <a:srgbClr val="3C3C3B"/>
                          </a:solidFill>
                        </a:rPr>
                        <a:t>Szombathely OVIT (SZHO B 132.00)</a:t>
                      </a:r>
                    </a:p>
                  </a:txBody>
                  <a:tcPr marL="73152" marR="73152" marT="27432" marB="27432" anchor="ctr">
                    <a:noFill/>
                  </a:tcPr>
                </a:tc>
              </a:tr>
              <a:tr h="502920">
                <a:tc>
                  <a:txBody>
                    <a:bodyPr/>
                    <a:lstStyle/>
                    <a:p>
                      <a:pPr algn="l"/>
                      <a:r>
                        <a:rPr sz="1300" b="0" i="0">
                          <a:solidFill>
                            <a:srgbClr val="3C3C3B"/>
                          </a:solidFill>
                        </a:rPr>
                        <a:t>Grid connection capacity</a:t>
                      </a:r>
                    </a:p>
                  </a:txBody>
                  <a:tcPr marL="73152" marR="73152" marT="27432" marB="27432" anchor="ctr">
                    <a:solidFill>
                      <a:srgbClr val="F2F2F2"/>
                    </a:solidFill>
                  </a:tcPr>
                </a:tc>
                <a:tc>
                  <a:txBody>
                    <a:bodyPr/>
                    <a:lstStyle/>
                    <a:p>
                      <a:pPr algn="l"/>
                      <a:r>
                        <a:rPr sz="1300" b="0" i="0">
                          <a:solidFill>
                            <a:srgbClr val="3C3C3B"/>
                          </a:solidFill>
                        </a:rPr>
                        <a:t>200 MVA</a:t>
                      </a:r>
                    </a:p>
                  </a:txBody>
                  <a:tcPr marL="73152" marR="73152" marT="27432" marB="27432" anchor="ctr">
                    <a:noFill/>
                  </a:tcPr>
                </a:tc>
              </a:tr>
              <a:tr h="502920">
                <a:tc>
                  <a:txBody>
                    <a:bodyPr/>
                    <a:lstStyle/>
                    <a:p>
                      <a:pPr algn="l"/>
                      <a:r>
                        <a:rPr sz="1300" b="0" i="0">
                          <a:solidFill>
                            <a:srgbClr val="3C3C3B"/>
                          </a:solidFill>
                        </a:rPr>
                        <a:t>Installed wind (Strategy 1)</a:t>
                      </a:r>
                    </a:p>
                  </a:txBody>
                  <a:tcPr marL="73152" marR="73152" marT="27432" marB="27432" anchor="ctr">
                    <a:solidFill>
                      <a:srgbClr val="F2F2F2"/>
                    </a:solidFill>
                  </a:tcPr>
                </a:tc>
                <a:tc>
                  <a:txBody>
                    <a:bodyPr/>
                    <a:lstStyle/>
                    <a:p>
                      <a:pPr algn="l"/>
                      <a:r>
                        <a:rPr sz="1300" b="0" i="0">
                          <a:solidFill>
                            <a:srgbClr val="3C3C3B"/>
                          </a:solidFill>
                        </a:rPr>
                        <a:t>261 MW (+30.5% overbuild)</a:t>
                      </a:r>
                    </a:p>
                  </a:txBody>
                  <a:tcPr marL="73152" marR="73152" marT="27432" marB="27432" anchor="ctr">
                    <a:noFill/>
                  </a:tcPr>
                </a:tc>
              </a:tr>
              <a:tr h="502920">
                <a:tc>
                  <a:txBody>
                    <a:bodyPr/>
                    <a:lstStyle/>
                    <a:p>
                      <a:pPr algn="l"/>
                      <a:r>
                        <a:rPr sz="1300" b="0" i="0">
                          <a:solidFill>
                            <a:srgbClr val="3C3C3B"/>
                          </a:solidFill>
                        </a:rPr>
                        <a:t>Battery storage (Strategy 1)</a:t>
                      </a:r>
                    </a:p>
                  </a:txBody>
                  <a:tcPr marL="73152" marR="73152" marT="27432" marB="27432" anchor="ctr">
                    <a:solidFill>
                      <a:srgbClr val="F2F2F2"/>
                    </a:solidFill>
                  </a:tcPr>
                </a:tc>
                <a:tc>
                  <a:txBody>
                    <a:bodyPr/>
                    <a:lstStyle/>
                    <a:p>
                      <a:pPr algn="l"/>
                      <a:r>
                        <a:rPr sz="1300" b="0" i="0">
                          <a:solidFill>
                            <a:srgbClr val="3C3C3B"/>
                          </a:solidFill>
                        </a:rPr>
                        <a:t>90 MW × 4 h</a:t>
                      </a:r>
                    </a:p>
                  </a:txBody>
                  <a:tcPr marL="73152" marR="73152" marT="27432" marB="27432" anchor="ctr">
                    <a:noFill/>
                  </a:tcPr>
                </a:tc>
              </a:tr>
              <a:tr h="502920">
                <a:tc gridSpan="2">
                  <a:txBody>
                    <a:bodyPr/>
                    <a:lstStyle/>
                    <a:p>
                      <a:pPr algn="l"/>
                      <a:r>
                        <a:rPr sz="1300" b="1" i="0">
                          <a:solidFill>
                            <a:srgbClr val="00563C"/>
                          </a:solidFill>
                        </a:rPr>
                        <a:t>Timeline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r>
              <a:tr h="502920">
                <a:tc>
                  <a:txBody>
                    <a:bodyPr/>
                    <a:lstStyle/>
                    <a:p>
                      <a:pPr algn="l"/>
                      <a:r>
                        <a:rPr sz="1300" b="0" i="0">
                          <a:solidFill>
                            <a:srgbClr val="3C3C3B"/>
                          </a:solidFill>
                        </a:rPr>
                        <a:t>Ready to build / RtB sale</a:t>
                      </a:r>
                    </a:p>
                  </a:txBody>
                  <a:tcPr marL="73152" marR="73152" marT="27432" marB="27432" anchor="ctr">
                    <a:solidFill>
                      <a:srgbClr val="F2F2F2"/>
                    </a:solidFill>
                  </a:tcPr>
                </a:tc>
                <a:tc>
                  <a:txBody>
                    <a:bodyPr/>
                    <a:lstStyle/>
                    <a:p>
                      <a:pPr algn="l"/>
                      <a:r>
                        <a:rPr sz="1300" b="0" i="0">
                          <a:solidFill>
                            <a:srgbClr val="3C3C3B"/>
                          </a:solidFill>
                        </a:rPr>
                        <a:t>30-Jun-29 / 31-Mar-30</a:t>
                      </a:r>
                    </a:p>
                  </a:txBody>
                  <a:tcPr marL="73152" marR="73152" marT="27432" marB="27432" anchor="ctr">
                    <a:noFill/>
                  </a:tcPr>
                </a:tc>
              </a:tr>
              <a:tr h="502920">
                <a:tc>
                  <a:txBody>
                    <a:bodyPr/>
                    <a:lstStyle/>
                    <a:p>
                      <a:pPr algn="l"/>
                      <a:r>
                        <a:rPr sz="1300" b="0" i="0">
                          <a:solidFill>
                            <a:srgbClr val="3C3C3B"/>
                          </a:solidFill>
                        </a:rPr>
                        <a:t>NTP / COD</a:t>
                      </a:r>
                    </a:p>
                  </a:txBody>
                  <a:tcPr marL="73152" marR="73152" marT="27432" marB="27432" anchor="ctr">
                    <a:solidFill>
                      <a:srgbClr val="F2F2F2"/>
                    </a:solidFill>
                  </a:tcPr>
                </a:tc>
                <a:tc>
                  <a:txBody>
                    <a:bodyPr/>
                    <a:lstStyle/>
                    <a:p>
                      <a:pPr algn="l"/>
                      <a:r>
                        <a:rPr sz="1300" b="0" i="0">
                          <a:solidFill>
                            <a:srgbClr val="3C3C3B"/>
                          </a:solidFill>
                        </a:rPr>
                        <a:t>30-Sep-29 / 30-Sep-31</a:t>
                      </a:r>
                    </a:p>
                  </a:txBody>
                  <a:tcPr marL="73152" marR="73152" marT="27432" marB="27432" anchor="ctr">
                    <a:noFill/>
                  </a:tcPr>
                </a:tc>
              </a:tr>
            </a:tbl>
          </a:graphicData>
        </a:graphic>
      </p:graphicFrame>
      <p:sp>
        <p:nvSpPr>
          <p:cNvPr id="11" name="Footnote"/>
          <p:cNvSpPr txBox="1"/>
          <p:nvPr/>
        </p:nvSpPr>
        <p:spPr>
          <a:xfrm>
            <a:off x="4498848" y="9646920"/>
            <a:ext cx="13167360" cy="640080"/>
          </a:xfrm>
          <a:prstGeom prst="rect">
            <a:avLst/>
          </a:prstGeom>
          <a:noFill/>
        </p:spPr>
        <p:txBody>
          <a:bodyPr wrap="square" lIns="0" tIns="0" rIns="0" bIns="0" anchor="t">
            <a:spAutoFit/>
          </a:bodyPr>
          <a:lstStyle/>
          <a:p>
            <a:pPr algn="l"/>
            <a:r>
              <a:rPr sz="1100" b="0">
                <a:solidFill>
                  <a:srgbClr val="919191"/>
                </a:solidFill>
              </a:rPr>
              <a:t>The RtB premium is paid on the 200 MVA connection. The sale-at-COD price is per installed MW and is reduced by the clipping estimate (Strategy 1: 4.7%). The developer success fee accrues from signing to the sale.</a:t>
            </a:r>
          </a:p>
          <a:p>
            <a:pPr algn="l"/>
            <a:r>
              <a:rPr sz="1100" b="0">
                <a:solidFill>
                  <a:srgbClr val="919191"/>
                </a:solidFill>
              </a:rPr>
              <a:t>Source: Bora IC model, 11 Oct 2026.</a:t>
            </a:r>
          </a:p>
        </p:txBody>
      </p:sp>
      <p:graphicFrame>
        <p:nvGraphicFramePr>
          <p:cNvPr id="12" name="Bid table"/>
          <p:cNvGraphicFramePr>
            <a:graphicFrameLocks noGrp="1"/>
          </p:cNvGraphicFramePr>
          <p:nvPr>
            <p:extLst>
              <p:ext uri="{D42A27DB-BD31-4B8C-83A1-F6EECF244321}">
                <p14:modId xmlns:p14="http://schemas.microsoft.com/office/powerpoint/2010/main" val="3455549885"/>
              </p:ext>
            </p:extLst>
          </p:nvPr>
        </p:nvGraphicFramePr>
        <p:xfrm>
          <a:off x="12024360" y="1783080"/>
          <a:ext cx="6172200" cy="4526280"/>
        </p:xfrm>
        <a:graphic>
          <a:graphicData uri="http://schemas.openxmlformats.org/drawingml/2006/table">
            <a:tbl>
              <a:tblPr>
                <a:tableStyleId>{5C22544A-7EE6-4342-B048-85BDC9FD1C3A}</a:tableStyleId>
              </a:tblPr>
              <a:tblGrid>
                <a:gridCol w="2697480"/>
                <a:gridCol w="3474720"/>
              </a:tblGrid>
              <a:tr h="502920">
                <a:tc>
                  <a:txBody>
                    <a:bodyPr/>
                    <a:lstStyle/>
                    <a:p>
                      <a:pPr algn="l"/>
                      <a:r>
                        <a:rPr sz="1400" b="1" i="0" dirty="0">
                          <a:solidFill>
                            <a:srgbClr val="FFFFFF"/>
                          </a:solidFill>
                        </a:rPr>
                        <a:t>Transaction structure</a:t>
                      </a:r>
                    </a:p>
                  </a:txBody>
                  <a:tcPr marL="73152" marR="73152" marT="27432" marB="27432" anchor="ctr">
                    <a:solidFill>
                      <a:srgbClr val="00A651"/>
                    </a:solidFill>
                  </a:tcPr>
                </a:tc>
                <a:tc>
                  <a:txBody>
                    <a:bodyPr/>
                    <a:lstStyle/>
                    <a:p>
                      <a:pPr algn="l"/>
                      <a:r>
                        <a:rPr sz="1400" b="1" i="0">
                          <a:solidFill>
                            <a:srgbClr val="FFFFFF"/>
                          </a:solidFill>
                        </a:rPr>
                        <a:t>Terms</a:t>
                      </a:r>
                    </a:p>
                  </a:txBody>
                  <a:tcPr marL="73152" marR="73152" marT="27432" marB="27432" anchor="ctr">
                    <a:solidFill>
                      <a:srgbClr val="00A651"/>
                    </a:solidFill>
                  </a:tcPr>
                </a:tc>
              </a:tr>
              <a:tr h="502920">
                <a:tc gridSpan="2">
                  <a:txBody>
                    <a:bodyPr/>
                    <a:lstStyle/>
                    <a:p>
                      <a:pPr algn="l"/>
                      <a:r>
                        <a:rPr sz="1300" b="1" i="0">
                          <a:solidFill>
                            <a:srgbClr val="00563C"/>
                          </a:solidFill>
                        </a:rPr>
                        <a:t>Joint venture and developer</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r>
              <a:tr h="502920">
                <a:tc>
                  <a:txBody>
                    <a:bodyPr/>
                    <a:lstStyle/>
                    <a:p>
                      <a:pPr algn="l"/>
                      <a:r>
                        <a:rPr sz="1300" b="0" i="0">
                          <a:solidFill>
                            <a:srgbClr val="3C3C3B"/>
                          </a:solidFill>
                        </a:rPr>
                        <a:t>JV with A.RES (net proceeds)</a:t>
                      </a:r>
                    </a:p>
                  </a:txBody>
                  <a:tcPr marL="73152" marR="73152" marT="27432" marB="27432" anchor="ctr">
                    <a:solidFill>
                      <a:srgbClr val="F2F2F2"/>
                    </a:solidFill>
                  </a:tcPr>
                </a:tc>
                <a:tc>
                  <a:txBody>
                    <a:bodyPr/>
                    <a:lstStyle/>
                    <a:p>
                      <a:pPr algn="l"/>
                      <a:r>
                        <a:rPr sz="1300" b="0" i="0">
                          <a:solidFill>
                            <a:srgbClr val="3C3C3B"/>
                          </a:solidFill>
                        </a:rPr>
                        <a:t>FEP 70% / A.RES 30%</a:t>
                      </a:r>
                    </a:p>
                  </a:txBody>
                  <a:tcPr marL="73152" marR="73152" marT="27432" marB="27432" anchor="ctr">
                    <a:noFill/>
                  </a:tcPr>
                </a:tc>
              </a:tr>
              <a:tr h="502920">
                <a:tc>
                  <a:txBody>
                    <a:bodyPr/>
                    <a:lstStyle/>
                    <a:p>
                      <a:pPr algn="l"/>
                      <a:r>
                        <a:rPr sz="1300" b="0" i="0">
                          <a:solidFill>
                            <a:srgbClr val="3C3C3B"/>
                          </a:solidFill>
                        </a:rPr>
                        <a:t>Developer success fee (DSA)</a:t>
                      </a:r>
                    </a:p>
                  </a:txBody>
                  <a:tcPr marL="73152" marR="73152" marT="27432" marB="27432" anchor="ctr">
                    <a:solidFill>
                      <a:srgbClr val="F2F2F2"/>
                    </a:solidFill>
                  </a:tcPr>
                </a:tc>
                <a:tc>
                  <a:txBody>
                    <a:bodyPr/>
                    <a:lstStyle/>
                    <a:p>
                      <a:pPr algn="l"/>
                      <a:r>
                        <a:rPr sz="1300" b="0" i="0">
                          <a:solidFill>
                            <a:srgbClr val="3C3C3B"/>
                          </a:solidFill>
                        </a:rPr>
                        <a:t>2.5 k€/MW p.a. on installed MW, capped at 10 k€/MW</a:t>
                      </a:r>
                    </a:p>
                  </a:txBody>
                  <a:tcPr marL="73152" marR="73152" marT="27432" marB="27432" anchor="ctr">
                    <a:noFill/>
                  </a:tcPr>
                </a:tc>
              </a:tr>
              <a:tr h="502920">
                <a:tc>
                  <a:txBody>
                    <a:bodyPr/>
                    <a:lstStyle/>
                    <a:p>
                      <a:pPr algn="l"/>
                      <a:r>
                        <a:rPr sz="1300" b="0" i="0">
                          <a:solidFill>
                            <a:srgbClr val="3C3C3B"/>
                          </a:solidFill>
                        </a:rPr>
                        <a:t>Signing fee to current owners</a:t>
                      </a:r>
                    </a:p>
                  </a:txBody>
                  <a:tcPr marL="73152" marR="73152" marT="27432" marB="27432" anchor="ctr">
                    <a:solidFill>
                      <a:srgbClr val="F2F2F2"/>
                    </a:solidFill>
                  </a:tcPr>
                </a:tc>
                <a:tc>
                  <a:txBody>
                    <a:bodyPr/>
                    <a:lstStyle/>
                    <a:p>
                      <a:pPr algn="l"/>
                      <a:r>
                        <a:rPr sz="1300" b="0" i="0">
                          <a:solidFill>
                            <a:srgbClr val="3C3C3B"/>
                          </a:solidFill>
                        </a:rPr>
                        <a:t>€0.25m</a:t>
                      </a:r>
                    </a:p>
                  </a:txBody>
                  <a:tcPr marL="73152" marR="73152" marT="27432" marB="27432" anchor="ctr">
                    <a:noFill/>
                  </a:tcPr>
                </a:tc>
              </a:tr>
              <a:tr h="502920">
                <a:tc>
                  <a:txBody>
                    <a:bodyPr/>
                    <a:lstStyle/>
                    <a:p>
                      <a:pPr algn="l"/>
                      <a:r>
                        <a:rPr sz="1300" b="0" i="0">
                          <a:solidFill>
                            <a:srgbClr val="3C3C3B"/>
                          </a:solidFill>
                        </a:rPr>
                        <a:t>Devex incl. contingency</a:t>
                      </a:r>
                    </a:p>
                  </a:txBody>
                  <a:tcPr marL="73152" marR="73152" marT="27432" marB="27432" anchor="ctr">
                    <a:solidFill>
                      <a:srgbClr val="F2F2F2"/>
                    </a:solidFill>
                  </a:tcPr>
                </a:tc>
                <a:tc>
                  <a:txBody>
                    <a:bodyPr/>
                    <a:lstStyle/>
                    <a:p>
                      <a:pPr algn="l"/>
                      <a:r>
                        <a:rPr sz="1300" b="0" i="0">
                          <a:solidFill>
                            <a:srgbClr val="3C3C3B"/>
                          </a:solidFill>
                        </a:rPr>
                        <a:t>€3.14m</a:t>
                      </a:r>
                    </a:p>
                  </a:txBody>
                  <a:tcPr marL="73152" marR="73152" marT="27432" marB="27432" anchor="ctr">
                    <a:noFill/>
                  </a:tcPr>
                </a:tc>
              </a:tr>
              <a:tr h="502920">
                <a:tc gridSpan="2">
                  <a:txBody>
                    <a:bodyPr/>
                    <a:lstStyle/>
                    <a:p>
                      <a:pPr algn="l"/>
                      <a:r>
                        <a:rPr sz="1300" b="1" i="0">
                          <a:solidFill>
                            <a:srgbClr val="00563C"/>
                          </a:solidFill>
                        </a:rPr>
                        <a:t>Exit prices</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r>
              <a:tr h="502920">
                <a:tc>
                  <a:txBody>
                    <a:bodyPr/>
                    <a:lstStyle/>
                    <a:p>
                      <a:pPr algn="l"/>
                      <a:r>
                        <a:rPr sz="1300" b="0" i="0">
                          <a:solidFill>
                            <a:srgbClr val="3C3C3B"/>
                          </a:solidFill>
                        </a:rPr>
                        <a:t>RtB premium</a:t>
                      </a:r>
                    </a:p>
                  </a:txBody>
                  <a:tcPr marL="73152" marR="73152" marT="27432" marB="27432" anchor="ctr">
                    <a:solidFill>
                      <a:srgbClr val="F2F2F2"/>
                    </a:solidFill>
                  </a:tcPr>
                </a:tc>
                <a:tc>
                  <a:txBody>
                    <a:bodyPr/>
                    <a:lstStyle/>
                    <a:p>
                      <a:pPr algn="l"/>
                      <a:r>
                        <a:rPr sz="1300" b="0" i="0">
                          <a:solidFill>
                            <a:srgbClr val="3C3C3B"/>
                          </a:solidFill>
                        </a:rPr>
                        <a:t>150 k€/MW on 200 MVA = €30.0m</a:t>
                      </a:r>
                    </a:p>
                  </a:txBody>
                  <a:tcPr marL="73152" marR="73152" marT="27432" marB="27432" anchor="ctr">
                    <a:noFill/>
                  </a:tcPr>
                </a:tc>
              </a:tr>
              <a:tr h="502920">
                <a:tc>
                  <a:txBody>
                    <a:bodyPr/>
                    <a:lstStyle/>
                    <a:p>
                      <a:pPr algn="l"/>
                      <a:r>
                        <a:rPr sz="1300" b="0" i="0">
                          <a:solidFill>
                            <a:srgbClr val="3C3C3B"/>
                          </a:solidFill>
                        </a:rPr>
                        <a:t>Sale at COD – price input</a:t>
                      </a:r>
                    </a:p>
                  </a:txBody>
                  <a:tcPr marL="73152" marR="73152" marT="27432" marB="27432" anchor="ctr">
                    <a:solidFill>
                      <a:srgbClr val="F2F2F2"/>
                    </a:solidFill>
                  </a:tcPr>
                </a:tc>
                <a:tc>
                  <a:txBody>
                    <a:bodyPr/>
                    <a:lstStyle/>
                    <a:p>
                      <a:pPr algn="l"/>
                      <a:r>
                        <a:rPr sz="1300" b="0" i="0">
                          <a:solidFill>
                            <a:srgbClr val="3C3C3B"/>
                          </a:solidFill>
                        </a:rPr>
                        <a:t>2,450 (European) / 2,100 (Chinese) k€/MW</a:t>
                      </a:r>
                    </a:p>
                  </a:txBody>
                  <a:tcPr marL="73152" marR="73152" marT="27432" marB="27432" anchor="ctr">
                    <a:noFill/>
                  </a:tcPr>
                </a:tc>
              </a:tr>
            </a:tbl>
          </a:graphicData>
        </a:graphic>
      </p:graphicFrame>
    </p:spTree>
    <p:extLst>
      <p:ext uri="{BB962C8B-B14F-4D97-AF65-F5344CB8AC3E}">
        <p14:creationId xmlns:p14="http://schemas.microsoft.com/office/powerpoint/2010/main" val="1857573276"/>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a:extLst>
              <a:ext uri="{FF2B5EF4-FFF2-40B4-BE49-F238E27FC236}">
                <a16:creationId xmlns:a16="http://schemas.microsoft.com/office/drawing/2014/main" id="{28F6220A-CA3D-C1A1-F8E0-EC3D6D749C9E}"/>
              </a:ext>
            </a:extLst>
          </p:cNvPr>
          <p:cNvSpPr>
            <a:spLocks noGrp="1"/>
          </p:cNvSpPr>
          <p:nvPr>
            <p:ph type="title"/>
          </p:nvPr>
        </p:nvSpPr>
        <p:spPr>
          <a:xfrm>
            <a:off x="4498848" y="283464"/>
            <a:ext cx="12618720" cy="795528"/>
          </a:xfrm>
        </p:spPr>
        <p:txBody>
          <a:bodyPr anchor="ctr"/>
          <a:lstStyle/>
          <a:p>
            <a:r>
              <a:rPr lang="en-GB" noProof="0" dirty="0"/>
              <a:t>Tender scoring – what can be offered and what it scores</a:t>
            </a:r>
          </a:p>
        </p:txBody>
      </p:sp>
      <p:sp>
        <p:nvSpPr>
          <p:cNvPr id="2" name="Slide Number Placeholder 1">
            <a:extLst>
              <a:ext uri="{FF2B5EF4-FFF2-40B4-BE49-F238E27FC236}">
                <a16:creationId xmlns:a16="http://schemas.microsoft.com/office/drawing/2014/main" id="{695E5A5C-46DB-BEDC-584B-134A0539A7B2}"/>
              </a:ext>
            </a:extLst>
          </p:cNvPr>
          <p:cNvSpPr>
            <a:spLocks noGrp="1"/>
          </p:cNvSpPr>
          <p:nvPr>
            <p:ph type="sldNum" sz="quarter" idx="4"/>
          </p:nvPr>
        </p:nvSpPr>
        <p:spPr/>
        <p:txBody>
          <a:bodyPr/>
          <a:lstStyle/>
          <a:p>
            <a:fld id="{52EEA166-2877-4493-9FAA-8D6952A82FC3}" type="slidenum">
              <a:rPr lang="en-GB" noProof="0" smtClean="0"/>
              <a:t>4</a:t>
            </a:fld>
            <a:endParaRPr lang="en-GB" noProof="0" dirty="0"/>
          </a:p>
        </p:txBody>
      </p:sp>
      <p:graphicFrame>
        <p:nvGraphicFramePr>
          <p:cNvPr id="14" name="Table 13">
            <a:extLst>
              <a:ext uri="{FF2B5EF4-FFF2-40B4-BE49-F238E27FC236}">
                <a16:creationId xmlns:a16="http://schemas.microsoft.com/office/drawing/2014/main" id="{93FD19EE-FC4A-32DF-6178-945B2C23B664}"/>
              </a:ext>
            </a:extLst>
          </p:cNvPr>
          <p:cNvGraphicFramePr>
            <a:graphicFrameLocks noGrp="1"/>
          </p:cNvGraphicFramePr>
          <p:nvPr>
            <p:extLst>
              <p:ext uri="{D42A27DB-BD31-4B8C-83A1-F6EECF244321}">
                <p14:modId xmlns:p14="http://schemas.microsoft.com/office/powerpoint/2010/main" val="2770148659"/>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5"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Offerable range, band thresholds and the weighted points each band adds to the 100-point total</a:t>
            </a:r>
          </a:p>
        </p:txBody>
      </p:sp>
      <p:graphicFrame>
        <p:nvGraphicFramePr>
          <p:cNvPr id="16" name="Returns table"/>
          <p:cNvGraphicFramePr>
            <a:graphicFrameLocks noGrp="1"/>
          </p:cNvGraphicFramePr>
          <p:nvPr/>
        </p:nvGraphicFramePr>
        <p:xfrm>
          <a:off x="4498848" y="1600200"/>
          <a:ext cx="13715997" cy="6528816"/>
        </p:xfrm>
        <a:graphic>
          <a:graphicData uri="http://schemas.openxmlformats.org/drawingml/2006/table">
            <a:tbl>
              <a:tblPr>
                <a:tableStyleId>{5C22544A-7EE6-4342-B048-85BDC9FD1C3A}</a:tableStyleId>
              </a:tblPr>
              <a:tblGrid>
                <a:gridCol w="3154680"/>
                <a:gridCol w="1463040"/>
                <a:gridCol w="640080"/>
                <a:gridCol w="768927"/>
                <a:gridCol w="768927"/>
                <a:gridCol w="768927"/>
                <a:gridCol w="768927"/>
                <a:gridCol w="768927"/>
                <a:gridCol w="768927"/>
                <a:gridCol w="768927"/>
                <a:gridCol w="768927"/>
                <a:gridCol w="768927"/>
                <a:gridCol w="768927"/>
                <a:gridCol w="768927"/>
              </a:tblGrid>
              <a:tr h="384048">
                <a:tc>
                  <a:txBody>
                    <a:bodyPr/>
                    <a:lstStyle/>
                    <a:p>
                      <a:pPr algn="l"/>
                      <a:r>
                        <a:rPr sz="1300" b="1" i="0">
                          <a:solidFill>
                            <a:srgbClr val="FFFFFF"/>
                          </a:solidFill>
                        </a:rPr>
                        <a:t>Criterion</a:t>
                      </a:r>
                    </a:p>
                  </a:txBody>
                  <a:tcPr marL="73152" marR="73152" marT="27432" marB="27432" anchor="ctr">
                    <a:solidFill>
                      <a:srgbClr val="00A651"/>
                    </a:solidFill>
                  </a:tcPr>
                </a:tc>
                <a:tc>
                  <a:txBody>
                    <a:bodyPr/>
                    <a:lstStyle/>
                    <a:p>
                      <a:pPr algn="l"/>
                      <a:r>
                        <a:rPr sz="1300" b="1" i="0">
                          <a:solidFill>
                            <a:srgbClr val="FFFFFF"/>
                          </a:solidFill>
                        </a:rPr>
                        <a:t>Offerable</a:t>
                      </a:r>
                    </a:p>
                  </a:txBody>
                  <a:tcPr marL="73152" marR="73152" marT="27432" marB="27432" anchor="ctr">
                    <a:solidFill>
                      <a:srgbClr val="00A651"/>
                    </a:solidFill>
                  </a:tcPr>
                </a:tc>
                <a:tc>
                  <a:txBody>
                    <a:bodyPr/>
                    <a:lstStyle/>
                    <a:p>
                      <a:pPr algn="r"/>
                      <a:r>
                        <a:rPr sz="1300" b="1" i="0">
                          <a:solidFill>
                            <a:srgbClr val="FFFFFF"/>
                          </a:solidFill>
                        </a:rPr>
                        <a:t>Max.</a:t>
                      </a:r>
                    </a:p>
                  </a:txBody>
                  <a:tcPr marL="73152" marR="73152" marT="27432" marB="27432" anchor="ctr">
                    <a:solidFill>
                      <a:srgbClr val="00A651"/>
                    </a:solidFill>
                  </a:tcPr>
                </a:tc>
                <a:tc gridSpan="11">
                  <a:txBody>
                    <a:bodyPr/>
                    <a:lstStyle/>
                    <a:p>
                      <a:pPr algn="r"/>
                      <a:r>
                        <a:rPr sz="1300" b="1" i="0">
                          <a:solidFill>
                            <a:srgbClr val="FFFFFF"/>
                          </a:solidFill>
                        </a:rPr>
                        <a:t>Thresholds → weighted points</a:t>
                      </a:r>
                    </a:p>
                  </a:txBody>
                  <a:tcPr marL="73152" marR="73152" marT="27432" marB="27432" anchor="ctr">
                    <a:solidFill>
                      <a:srgbClr val="00A651"/>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84048">
                <a:tc>
                  <a:txBody>
                    <a:bodyPr/>
                    <a:lstStyle/>
                    <a:p>
                      <a:pPr algn="l"/>
                      <a:r>
                        <a:rPr sz="1300" b="0" i="0">
                          <a:solidFill>
                            <a:srgbClr val="3C3C3B"/>
                          </a:solidFill>
                        </a:rPr>
                        <a:t>ÖSZ-1 Municipal one-off (k€/MW)</a:t>
                      </a:r>
                    </a:p>
                  </a:txBody>
                  <a:tcPr marL="73152" marR="73152" marT="27432" marB="27432" anchor="ctr">
                    <a:solidFill>
                      <a:srgbClr val="F2F2F2"/>
                    </a:solidFill>
                  </a:tcPr>
                </a:tc>
                <a:tc>
                  <a:txBody>
                    <a:bodyPr/>
                    <a:lstStyle/>
                    <a:p>
                      <a:pPr algn="l"/>
                      <a:r>
                        <a:rPr sz="1300" b="0" i="0">
                          <a:solidFill>
                            <a:srgbClr val="919191"/>
                          </a:solidFill>
                        </a:rPr>
                        <a:t>0 – 50</a:t>
                      </a:r>
                    </a:p>
                  </a:txBody>
                  <a:tcPr marL="73152" marR="73152" marT="27432" marB="27432" anchor="ctr">
                    <a:solidFill>
                      <a:srgbClr val="F2F2F2"/>
                    </a:solidFill>
                  </a:tcPr>
                </a:tc>
                <a:tc>
                  <a:txBody>
                    <a:bodyPr/>
                    <a:lstStyle/>
                    <a:p>
                      <a:pPr algn="r"/>
                      <a:r>
                        <a:rPr sz="1300" b="0" i="0">
                          <a:solidFill>
                            <a:srgbClr val="3C3C3B"/>
                          </a:solidFill>
                        </a:rPr>
                        <a:t>20</a:t>
                      </a:r>
                    </a:p>
                  </a:txBody>
                  <a:tcPr marL="73152" marR="73152" marT="27432" marB="27432" anchor="ctr">
                    <a:noFill/>
                  </a:tcPr>
                </a:tc>
                <a:tc>
                  <a:txBody>
                    <a:bodyPr/>
                    <a:lstStyle/>
                    <a:p>
                      <a:pPr algn="r"/>
                      <a:r>
                        <a:rPr sz="1300" b="0" i="0">
                          <a:solidFill>
                            <a:srgbClr val="3C3C3B"/>
                          </a:solidFill>
                        </a:rPr>
                        <a:t>&gt; 10</a:t>
                      </a:r>
                    </a:p>
                  </a:txBody>
                  <a:tcPr marL="73152" marR="73152" marT="27432" marB="27432" anchor="ctr">
                    <a:noFill/>
                  </a:tcPr>
                </a:tc>
                <a:tc>
                  <a:txBody>
                    <a:bodyPr/>
                    <a:lstStyle/>
                    <a:p>
                      <a:pPr algn="r"/>
                      <a:r>
                        <a:rPr sz="1300" b="0" i="0">
                          <a:solidFill>
                            <a:srgbClr val="3C3C3B"/>
                          </a:solidFill>
                        </a:rPr>
                        <a:t>&gt; 15</a:t>
                      </a:r>
                    </a:p>
                  </a:txBody>
                  <a:tcPr marL="73152" marR="73152" marT="27432" marB="27432" anchor="ctr">
                    <a:noFill/>
                  </a:tcPr>
                </a:tc>
                <a:tc>
                  <a:txBody>
                    <a:bodyPr/>
                    <a:lstStyle/>
                    <a:p>
                      <a:pPr algn="r"/>
                      <a:r>
                        <a:rPr sz="1300" b="0" i="0">
                          <a:solidFill>
                            <a:srgbClr val="3C3C3B"/>
                          </a:solidFill>
                        </a:rPr>
                        <a:t>&gt; 20</a:t>
                      </a:r>
                    </a:p>
                  </a:txBody>
                  <a:tcPr marL="73152" marR="73152" marT="27432" marB="27432" anchor="ctr">
                    <a:noFill/>
                  </a:tcPr>
                </a:tc>
                <a:tc>
                  <a:txBody>
                    <a:bodyPr/>
                    <a:lstStyle/>
                    <a:p>
                      <a:pPr algn="r"/>
                      <a:r>
                        <a:rPr sz="1300" b="0" i="0">
                          <a:solidFill>
                            <a:srgbClr val="3C3C3B"/>
                          </a:solidFill>
                        </a:rPr>
                        <a:t>&gt; 25</a:t>
                      </a:r>
                    </a:p>
                  </a:txBody>
                  <a:tcPr marL="73152" marR="73152" marT="27432" marB="27432" anchor="ctr">
                    <a:noFill/>
                  </a:tcPr>
                </a:tc>
                <a:tc>
                  <a:txBody>
                    <a:bodyPr/>
                    <a:lstStyle/>
                    <a:p>
                      <a:pPr algn="r"/>
                      <a:r>
                        <a:rPr sz="1300" b="0" i="0">
                          <a:solidFill>
                            <a:srgbClr val="3C3C3B"/>
                          </a:solidFill>
                        </a:rPr>
                        <a:t>&gt; 30</a:t>
                      </a:r>
                    </a:p>
                  </a:txBody>
                  <a:tcPr marL="73152" marR="73152" marT="27432" marB="27432" anchor="ctr">
                    <a:noFill/>
                  </a:tcPr>
                </a:tc>
                <a:tc>
                  <a:txBody>
                    <a:bodyPr/>
                    <a:lstStyle/>
                    <a:p>
                      <a:pPr algn="r"/>
                      <a:r>
                        <a:rPr sz="1300" b="0" i="0">
                          <a:solidFill>
                            <a:srgbClr val="3C3C3B"/>
                          </a:solidFill>
                        </a:rPr>
                        <a:t>&gt; 35</a:t>
                      </a:r>
                    </a:p>
                  </a:txBody>
                  <a:tcPr marL="73152" marR="73152" marT="27432" marB="27432" anchor="ctr">
                    <a:noFill/>
                  </a:tcPr>
                </a:tc>
                <a:tc>
                  <a:txBody>
                    <a:bodyPr/>
                    <a:lstStyle/>
                    <a:p>
                      <a:pPr algn="r"/>
                      <a:r>
                        <a:rPr sz="1300" b="0" i="0">
                          <a:solidFill>
                            <a:srgbClr val="3C3C3B"/>
                          </a:solidFill>
                        </a:rPr>
                        <a:t>&gt; 40</a:t>
                      </a:r>
                    </a:p>
                  </a:txBody>
                  <a:tcPr marL="73152" marR="73152" marT="27432" marB="27432" anchor="ctr">
                    <a:noFill/>
                  </a:tcPr>
                </a:tc>
                <a:tc>
                  <a:txBody>
                    <a:bodyPr/>
                    <a:lstStyle/>
                    <a:p>
                      <a:pPr algn="r"/>
                      <a:r>
                        <a:rPr sz="1300" b="0" i="0">
                          <a:solidFill>
                            <a:srgbClr val="3C3C3B"/>
                          </a:solidFill>
                        </a:rPr>
                        <a:t>&gt; 45</a:t>
                      </a:r>
                    </a:p>
                  </a:txBody>
                  <a:tcPr marL="73152" marR="73152" marT="27432" marB="27432" anchor="ctr">
                    <a:noFill/>
                  </a:tcPr>
                </a:tc>
                <a:tc>
                  <a:txBody>
                    <a:bodyPr/>
                    <a:lstStyle/>
                    <a:p>
                      <a:pPr algn="r"/>
                      <a:r>
                        <a:rPr sz="1300" b="0" i="0">
                          <a:solidFill>
                            <a:srgbClr val="3C3C3B"/>
                          </a:solidFill>
                        </a:rPr>
                        <a:t>≥ 50</a:t>
                      </a:r>
                    </a:p>
                  </a:txBody>
                  <a:tcPr marL="73152" marR="73152" marT="27432" marB="27432" anchor="ctr">
                    <a:noFill/>
                  </a:tcPr>
                </a:tc>
                <a:tc>
                  <a:txBody>
                    <a:bodyPr/>
                    <a:lstStyle/>
                    <a:p>
                      <a:pPr algn="r"/>
                      <a:r>
                        <a:rPr sz="1300" b="0" i="0">
                          <a:solidFill>
                            <a:srgbClr val="3C3C3B"/>
                          </a:solidFill>
                        </a:rPr>
                        <a:t/>
                      </a:r>
                    </a:p>
                  </a:txBody>
                  <a:tcPr marL="73152" marR="73152" marT="27432" marB="27432" anchor="ctr">
                    <a:noFill/>
                  </a:tcPr>
                </a:tc>
                <a:tc>
                  <a:txBody>
                    <a:bodyPr/>
                    <a:lstStyle/>
                    <a:p>
                      <a:pPr algn="r"/>
                      <a:r>
                        <a:rPr sz="1300" b="0" i="0">
                          <a:solidFill>
                            <a:srgbClr val="3C3C3B"/>
                          </a:solidFill>
                        </a:rPr>
                        <a:t/>
                      </a:r>
                    </a:p>
                  </a:txBody>
                  <a:tcPr marL="73152" marR="73152" marT="27432" marB="27432" anchor="ctr">
                    <a:noFill/>
                  </a:tcPr>
                </a:tc>
              </a:tr>
              <a:tr h="384048">
                <a:tc>
                  <a:txBody>
                    <a:bodyPr/>
                    <a:lstStyle/>
                    <a:p>
                      <a:pPr algn="l"/>
                      <a:r>
                        <a:rPr sz="1300" b="1" i="0">
                          <a:solidFill>
                            <a:srgbClr val="3C3C3B"/>
                          </a:solidFill>
                        </a:rPr>
                        <a:t>   points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2</a:t>
                      </a:r>
                    </a:p>
                  </a:txBody>
                  <a:tcPr marL="73152" marR="73152" marT="27432" marB="27432" anchor="ctr">
                    <a:solidFill>
                      <a:srgbClr val="E6F4EC"/>
                    </a:solidFill>
                  </a:tcPr>
                </a:tc>
                <a:tc>
                  <a:txBody>
                    <a:bodyPr/>
                    <a:lstStyle/>
                    <a:p>
                      <a:pPr algn="r"/>
                      <a:r>
                        <a:rPr sz="1300" b="1" i="0">
                          <a:solidFill>
                            <a:srgbClr val="3C3C3B"/>
                          </a:solidFill>
                        </a:rPr>
                        <a:t>4</a:t>
                      </a:r>
                    </a:p>
                  </a:txBody>
                  <a:tcPr marL="73152" marR="73152" marT="27432" marB="27432" anchor="ctr">
                    <a:solidFill>
                      <a:srgbClr val="E6F4EC"/>
                    </a:solidFill>
                  </a:tcPr>
                </a:tc>
                <a:tc>
                  <a:txBody>
                    <a:bodyPr/>
                    <a:lstStyle/>
                    <a:p>
                      <a:pPr algn="r"/>
                      <a:r>
                        <a:rPr sz="1300" b="1" i="0">
                          <a:solidFill>
                            <a:srgbClr val="3C3C3B"/>
                          </a:solidFill>
                        </a:rPr>
                        <a:t>6</a:t>
                      </a:r>
                    </a:p>
                  </a:txBody>
                  <a:tcPr marL="73152" marR="73152" marT="27432" marB="27432" anchor="ctr">
                    <a:solidFill>
                      <a:srgbClr val="E6F4EC"/>
                    </a:solidFill>
                  </a:tcPr>
                </a:tc>
                <a:tc>
                  <a:txBody>
                    <a:bodyPr/>
                    <a:lstStyle/>
                    <a:p>
                      <a:pPr algn="r"/>
                      <a:r>
                        <a:rPr sz="1300" b="1" i="0">
                          <a:solidFill>
                            <a:srgbClr val="3C3C3B"/>
                          </a:solidFill>
                        </a:rPr>
                        <a:t>8</a:t>
                      </a:r>
                    </a:p>
                  </a:txBody>
                  <a:tcPr marL="73152" marR="73152" marT="27432" marB="27432" anchor="ctr">
                    <a:solidFill>
                      <a:srgbClr val="E6F4EC"/>
                    </a:solidFill>
                  </a:tcPr>
                </a:tc>
                <a:tc>
                  <a:txBody>
                    <a:bodyPr/>
                    <a:lstStyle/>
                    <a:p>
                      <a:pPr algn="r"/>
                      <a:r>
                        <a:rPr sz="1300" b="1" i="0">
                          <a:solidFill>
                            <a:srgbClr val="3C3C3B"/>
                          </a:solidFill>
                        </a:rPr>
                        <a:t>11</a:t>
                      </a:r>
                    </a:p>
                  </a:txBody>
                  <a:tcPr marL="73152" marR="73152" marT="27432" marB="27432" anchor="ctr">
                    <a:solidFill>
                      <a:srgbClr val="E6F4EC"/>
                    </a:solidFill>
                  </a:tcPr>
                </a:tc>
                <a:tc>
                  <a:txBody>
                    <a:bodyPr/>
                    <a:lstStyle/>
                    <a:p>
                      <a:pPr algn="r"/>
                      <a:r>
                        <a:rPr sz="1300" b="1" i="0">
                          <a:solidFill>
                            <a:srgbClr val="3C3C3B"/>
                          </a:solidFill>
                        </a:rPr>
                        <a:t>14</a:t>
                      </a:r>
                    </a:p>
                  </a:txBody>
                  <a:tcPr marL="73152" marR="73152" marT="27432" marB="27432" anchor="ctr">
                    <a:solidFill>
                      <a:srgbClr val="E6F4EC"/>
                    </a:solidFill>
                  </a:tcPr>
                </a:tc>
                <a:tc>
                  <a:txBody>
                    <a:bodyPr/>
                    <a:lstStyle/>
                    <a:p>
                      <a:pPr algn="r"/>
                      <a:r>
                        <a:rPr sz="1300" b="1" i="0">
                          <a:solidFill>
                            <a:srgbClr val="3C3C3B"/>
                          </a:solidFill>
                        </a:rPr>
                        <a:t>16</a:t>
                      </a:r>
                    </a:p>
                  </a:txBody>
                  <a:tcPr marL="73152" marR="73152" marT="27432" marB="27432" anchor="ctr">
                    <a:solidFill>
                      <a:srgbClr val="E6F4EC"/>
                    </a:solidFill>
                  </a:tcPr>
                </a:tc>
                <a:tc>
                  <a:txBody>
                    <a:bodyPr/>
                    <a:lstStyle/>
                    <a:p>
                      <a:pPr algn="r"/>
                      <a:r>
                        <a:rPr sz="1300" b="1" i="0">
                          <a:solidFill>
                            <a:srgbClr val="3C3C3B"/>
                          </a:solidFill>
                        </a:rPr>
                        <a:t>18</a:t>
                      </a:r>
                    </a:p>
                  </a:txBody>
                  <a:tcPr marL="73152" marR="73152" marT="27432" marB="27432" anchor="ctr">
                    <a:solidFill>
                      <a:srgbClr val="E6F4EC"/>
                    </a:solidFill>
                  </a:tcPr>
                </a:tc>
                <a:tc>
                  <a:txBody>
                    <a:bodyPr/>
                    <a:lstStyle/>
                    <a:p>
                      <a:pPr algn="r"/>
                      <a:r>
                        <a:rPr sz="1300" b="1" i="0">
                          <a:solidFill>
                            <a:srgbClr val="3C3C3B"/>
                          </a:solidFill>
                        </a:rPr>
                        <a:t>20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r>
              <a:tr h="384048">
                <a:tc>
                  <a:txBody>
                    <a:bodyPr/>
                    <a:lstStyle/>
                    <a:p>
                      <a:pPr algn="l"/>
                      <a:r>
                        <a:rPr sz="1300" b="0" i="0">
                          <a:solidFill>
                            <a:srgbClr val="3C3C3B"/>
                          </a:solidFill>
                        </a:rPr>
                        <a:t>ÖSZ-2 Community (€/MWh)</a:t>
                      </a:r>
                    </a:p>
                  </a:txBody>
                  <a:tcPr marL="73152" marR="73152" marT="27432" marB="27432" anchor="ctr">
                    <a:solidFill>
                      <a:srgbClr val="F2F2F2"/>
                    </a:solidFill>
                  </a:tcPr>
                </a:tc>
                <a:tc>
                  <a:txBody>
                    <a:bodyPr/>
                    <a:lstStyle/>
                    <a:p>
                      <a:pPr algn="l"/>
                      <a:r>
                        <a:rPr sz="1300" b="0" i="0">
                          <a:solidFill>
                            <a:srgbClr val="919191"/>
                          </a:solidFill>
                        </a:rPr>
                        <a:t>0 – 3.0</a:t>
                      </a:r>
                    </a:p>
                  </a:txBody>
                  <a:tcPr marL="73152" marR="73152" marT="27432" marB="27432" anchor="ctr">
                    <a:solidFill>
                      <a:srgbClr val="F2F2F2"/>
                    </a:solidFill>
                  </a:tcPr>
                </a:tc>
                <a:tc>
                  <a:txBody>
                    <a:bodyPr/>
                    <a:lstStyle/>
                    <a:p>
                      <a:pPr algn="r"/>
                      <a:r>
                        <a:rPr sz="1300" b="0" i="0">
                          <a:solidFill>
                            <a:srgbClr val="3C3C3B"/>
                          </a:solidFill>
                        </a:rPr>
                        <a:t>15</a:t>
                      </a:r>
                    </a:p>
                  </a:txBody>
                  <a:tcPr marL="73152" marR="73152" marT="27432" marB="27432" anchor="ctr">
                    <a:noFill/>
                  </a:tcPr>
                </a:tc>
                <a:tc>
                  <a:txBody>
                    <a:bodyPr/>
                    <a:lstStyle/>
                    <a:p>
                      <a:pPr algn="r"/>
                      <a:r>
                        <a:rPr sz="1300" b="0" i="0">
                          <a:solidFill>
                            <a:srgbClr val="3C3C3B"/>
                          </a:solidFill>
                        </a:rPr>
                        <a:t>&gt; 2</a:t>
                      </a:r>
                    </a:p>
                  </a:txBody>
                  <a:tcPr marL="73152" marR="73152" marT="27432" marB="27432" anchor="ctr">
                    <a:noFill/>
                  </a:tcPr>
                </a:tc>
                <a:tc>
                  <a:txBody>
                    <a:bodyPr/>
                    <a:lstStyle/>
                    <a:p>
                      <a:pPr algn="r"/>
                      <a:r>
                        <a:rPr sz="1300" b="0" i="0">
                          <a:solidFill>
                            <a:srgbClr val="3C3C3B"/>
                          </a:solidFill>
                        </a:rPr>
                        <a:t>&gt; 2.1</a:t>
                      </a:r>
                    </a:p>
                  </a:txBody>
                  <a:tcPr marL="73152" marR="73152" marT="27432" marB="27432" anchor="ctr">
                    <a:noFill/>
                  </a:tcPr>
                </a:tc>
                <a:tc>
                  <a:txBody>
                    <a:bodyPr/>
                    <a:lstStyle/>
                    <a:p>
                      <a:pPr algn="r"/>
                      <a:r>
                        <a:rPr sz="1300" b="0" i="0">
                          <a:solidFill>
                            <a:srgbClr val="3C3C3B"/>
                          </a:solidFill>
                        </a:rPr>
                        <a:t>&gt; 2.2</a:t>
                      </a:r>
                    </a:p>
                  </a:txBody>
                  <a:tcPr marL="73152" marR="73152" marT="27432" marB="27432" anchor="ctr">
                    <a:noFill/>
                  </a:tcPr>
                </a:tc>
                <a:tc>
                  <a:txBody>
                    <a:bodyPr/>
                    <a:lstStyle/>
                    <a:p>
                      <a:pPr algn="r"/>
                      <a:r>
                        <a:rPr sz="1300" b="0" i="0">
                          <a:solidFill>
                            <a:srgbClr val="3C3C3B"/>
                          </a:solidFill>
                        </a:rPr>
                        <a:t>&gt; 2.3</a:t>
                      </a:r>
                    </a:p>
                  </a:txBody>
                  <a:tcPr marL="73152" marR="73152" marT="27432" marB="27432" anchor="ctr">
                    <a:noFill/>
                  </a:tcPr>
                </a:tc>
                <a:tc>
                  <a:txBody>
                    <a:bodyPr/>
                    <a:lstStyle/>
                    <a:p>
                      <a:pPr algn="r"/>
                      <a:r>
                        <a:rPr sz="1300" b="0" i="0">
                          <a:solidFill>
                            <a:srgbClr val="3C3C3B"/>
                          </a:solidFill>
                        </a:rPr>
                        <a:t>&gt; 2.4</a:t>
                      </a:r>
                    </a:p>
                  </a:txBody>
                  <a:tcPr marL="73152" marR="73152" marT="27432" marB="27432" anchor="ctr">
                    <a:noFill/>
                  </a:tcPr>
                </a:tc>
                <a:tc>
                  <a:txBody>
                    <a:bodyPr/>
                    <a:lstStyle/>
                    <a:p>
                      <a:pPr algn="r"/>
                      <a:r>
                        <a:rPr sz="1300" b="0" i="0">
                          <a:solidFill>
                            <a:srgbClr val="3C3C3B"/>
                          </a:solidFill>
                        </a:rPr>
                        <a:t>&gt; 2.5</a:t>
                      </a:r>
                    </a:p>
                  </a:txBody>
                  <a:tcPr marL="73152" marR="73152" marT="27432" marB="27432" anchor="ctr">
                    <a:noFill/>
                  </a:tcPr>
                </a:tc>
                <a:tc>
                  <a:txBody>
                    <a:bodyPr/>
                    <a:lstStyle/>
                    <a:p>
                      <a:pPr algn="r"/>
                      <a:r>
                        <a:rPr sz="1300" b="0" i="0">
                          <a:solidFill>
                            <a:srgbClr val="3C3C3B"/>
                          </a:solidFill>
                        </a:rPr>
                        <a:t>&gt; 2.6</a:t>
                      </a:r>
                    </a:p>
                  </a:txBody>
                  <a:tcPr marL="73152" marR="73152" marT="27432" marB="27432" anchor="ctr">
                    <a:noFill/>
                  </a:tcPr>
                </a:tc>
                <a:tc>
                  <a:txBody>
                    <a:bodyPr/>
                    <a:lstStyle/>
                    <a:p>
                      <a:pPr algn="r"/>
                      <a:r>
                        <a:rPr sz="1300" b="0" i="0">
                          <a:solidFill>
                            <a:srgbClr val="3C3C3B"/>
                          </a:solidFill>
                        </a:rPr>
                        <a:t>&gt; 2.7</a:t>
                      </a:r>
                    </a:p>
                  </a:txBody>
                  <a:tcPr marL="73152" marR="73152" marT="27432" marB="27432" anchor="ctr">
                    <a:noFill/>
                  </a:tcPr>
                </a:tc>
                <a:tc>
                  <a:txBody>
                    <a:bodyPr/>
                    <a:lstStyle/>
                    <a:p>
                      <a:pPr algn="r"/>
                      <a:r>
                        <a:rPr sz="1300" b="0" i="0">
                          <a:solidFill>
                            <a:srgbClr val="3C3C3B"/>
                          </a:solidFill>
                        </a:rPr>
                        <a:t>&gt; 2.8</a:t>
                      </a:r>
                    </a:p>
                  </a:txBody>
                  <a:tcPr marL="73152" marR="73152" marT="27432" marB="27432" anchor="ctr">
                    <a:noFill/>
                  </a:tcPr>
                </a:tc>
                <a:tc>
                  <a:txBody>
                    <a:bodyPr/>
                    <a:lstStyle/>
                    <a:p>
                      <a:pPr algn="r"/>
                      <a:r>
                        <a:rPr sz="1300" b="0" i="0">
                          <a:solidFill>
                            <a:srgbClr val="3C3C3B"/>
                          </a:solidFill>
                        </a:rPr>
                        <a:t>&gt; 2.9</a:t>
                      </a:r>
                    </a:p>
                  </a:txBody>
                  <a:tcPr marL="73152" marR="73152" marT="27432" marB="27432" anchor="ctr">
                    <a:noFill/>
                  </a:tcPr>
                </a:tc>
                <a:tc>
                  <a:txBody>
                    <a:bodyPr/>
                    <a:lstStyle/>
                    <a:p>
                      <a:pPr algn="r"/>
                      <a:r>
                        <a:rPr sz="1300" b="0" i="0">
                          <a:solidFill>
                            <a:srgbClr val="3C3C3B"/>
                          </a:solidFill>
                        </a:rPr>
                        <a:t>≥ 3</a:t>
                      </a:r>
                    </a:p>
                  </a:txBody>
                  <a:tcPr marL="73152" marR="73152" marT="27432" marB="27432" anchor="ctr">
                    <a:noFill/>
                  </a:tcPr>
                </a:tc>
              </a:tr>
              <a:tr h="384048">
                <a:tc>
                  <a:txBody>
                    <a:bodyPr/>
                    <a:lstStyle/>
                    <a:p>
                      <a:pPr algn="l"/>
                      <a:r>
                        <a:rPr sz="1300" b="1" i="0">
                          <a:solidFill>
                            <a:srgbClr val="3C3C3B"/>
                          </a:solidFill>
                        </a:rPr>
                        <a:t>   points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0.75</a:t>
                      </a:r>
                    </a:p>
                  </a:txBody>
                  <a:tcPr marL="73152" marR="73152" marT="27432" marB="27432" anchor="ctr">
                    <a:solidFill>
                      <a:srgbClr val="E6F4EC"/>
                    </a:solidFill>
                  </a:tcPr>
                </a:tc>
                <a:tc>
                  <a:txBody>
                    <a:bodyPr/>
                    <a:lstStyle/>
                    <a:p>
                      <a:pPr algn="r"/>
                      <a:r>
                        <a:rPr sz="1300" b="1" i="0">
                          <a:solidFill>
                            <a:srgbClr val="3C3C3B"/>
                          </a:solidFill>
                        </a:rPr>
                        <a:t>1.5</a:t>
                      </a:r>
                    </a:p>
                  </a:txBody>
                  <a:tcPr marL="73152" marR="73152" marT="27432" marB="27432" anchor="ctr">
                    <a:solidFill>
                      <a:srgbClr val="E6F4EC"/>
                    </a:solidFill>
                  </a:tcPr>
                </a:tc>
                <a:tc>
                  <a:txBody>
                    <a:bodyPr/>
                    <a:lstStyle/>
                    <a:p>
                      <a:pPr algn="r"/>
                      <a:r>
                        <a:rPr sz="1300" b="1" i="0">
                          <a:solidFill>
                            <a:srgbClr val="3C3C3B"/>
                          </a:solidFill>
                        </a:rPr>
                        <a:t>3</a:t>
                      </a:r>
                    </a:p>
                  </a:txBody>
                  <a:tcPr marL="73152" marR="73152" marT="27432" marB="27432" anchor="ctr">
                    <a:solidFill>
                      <a:srgbClr val="E6F4EC"/>
                    </a:solidFill>
                  </a:tcPr>
                </a:tc>
                <a:tc>
                  <a:txBody>
                    <a:bodyPr/>
                    <a:lstStyle/>
                    <a:p>
                      <a:pPr algn="r"/>
                      <a:r>
                        <a:rPr sz="1300" b="1" i="0">
                          <a:solidFill>
                            <a:srgbClr val="3C3C3B"/>
                          </a:solidFill>
                        </a:rPr>
                        <a:t>4.5</a:t>
                      </a:r>
                    </a:p>
                  </a:txBody>
                  <a:tcPr marL="73152" marR="73152" marT="27432" marB="27432" anchor="ctr">
                    <a:solidFill>
                      <a:srgbClr val="E6F4EC"/>
                    </a:solidFill>
                  </a:tcPr>
                </a:tc>
                <a:tc>
                  <a:txBody>
                    <a:bodyPr/>
                    <a:lstStyle/>
                    <a:p>
                      <a:pPr algn="r"/>
                      <a:r>
                        <a:rPr sz="1300" b="1" i="0">
                          <a:solidFill>
                            <a:srgbClr val="3C3C3B"/>
                          </a:solidFill>
                        </a:rPr>
                        <a:t>6</a:t>
                      </a:r>
                    </a:p>
                  </a:txBody>
                  <a:tcPr marL="73152" marR="73152" marT="27432" marB="27432" anchor="ctr">
                    <a:solidFill>
                      <a:srgbClr val="E6F4EC"/>
                    </a:solidFill>
                  </a:tcPr>
                </a:tc>
                <a:tc>
                  <a:txBody>
                    <a:bodyPr/>
                    <a:lstStyle/>
                    <a:p>
                      <a:pPr algn="r"/>
                      <a:r>
                        <a:rPr sz="1300" b="1" i="0">
                          <a:solidFill>
                            <a:srgbClr val="3C3C3B"/>
                          </a:solidFill>
                        </a:rPr>
                        <a:t>7.5</a:t>
                      </a:r>
                    </a:p>
                  </a:txBody>
                  <a:tcPr marL="73152" marR="73152" marT="27432" marB="27432" anchor="ctr">
                    <a:solidFill>
                      <a:srgbClr val="E6F4EC"/>
                    </a:solidFill>
                  </a:tcPr>
                </a:tc>
                <a:tc>
                  <a:txBody>
                    <a:bodyPr/>
                    <a:lstStyle/>
                    <a:p>
                      <a:pPr algn="r"/>
                      <a:r>
                        <a:rPr sz="1300" b="1" i="0">
                          <a:solidFill>
                            <a:srgbClr val="3C3C3B"/>
                          </a:solidFill>
                        </a:rPr>
                        <a:t>9</a:t>
                      </a:r>
                    </a:p>
                  </a:txBody>
                  <a:tcPr marL="73152" marR="73152" marT="27432" marB="27432" anchor="ctr">
                    <a:solidFill>
                      <a:srgbClr val="E6F4EC"/>
                    </a:solidFill>
                  </a:tcPr>
                </a:tc>
                <a:tc>
                  <a:txBody>
                    <a:bodyPr/>
                    <a:lstStyle/>
                    <a:p>
                      <a:pPr algn="r"/>
                      <a:r>
                        <a:rPr sz="1300" b="1" i="0">
                          <a:solidFill>
                            <a:srgbClr val="3C3C3B"/>
                          </a:solidFill>
                        </a:rPr>
                        <a:t>10.5</a:t>
                      </a:r>
                    </a:p>
                  </a:txBody>
                  <a:tcPr marL="73152" marR="73152" marT="27432" marB="27432" anchor="ctr">
                    <a:solidFill>
                      <a:srgbClr val="E6F4EC"/>
                    </a:solidFill>
                  </a:tcPr>
                </a:tc>
                <a:tc>
                  <a:txBody>
                    <a:bodyPr/>
                    <a:lstStyle/>
                    <a:p>
                      <a:pPr algn="r"/>
                      <a:r>
                        <a:rPr sz="1300" b="1" i="0">
                          <a:solidFill>
                            <a:srgbClr val="3C3C3B"/>
                          </a:solidFill>
                        </a:rPr>
                        <a:t>12</a:t>
                      </a:r>
                    </a:p>
                  </a:txBody>
                  <a:tcPr marL="73152" marR="73152" marT="27432" marB="27432" anchor="ctr">
                    <a:solidFill>
                      <a:srgbClr val="E6F4EC"/>
                    </a:solidFill>
                  </a:tcPr>
                </a:tc>
                <a:tc>
                  <a:txBody>
                    <a:bodyPr/>
                    <a:lstStyle/>
                    <a:p>
                      <a:pPr algn="r"/>
                      <a:r>
                        <a:rPr sz="1300" b="1" i="0">
                          <a:solidFill>
                            <a:srgbClr val="3C3C3B"/>
                          </a:solidFill>
                        </a:rPr>
                        <a:t>13.5</a:t>
                      </a:r>
                    </a:p>
                  </a:txBody>
                  <a:tcPr marL="73152" marR="73152" marT="27432" marB="27432" anchor="ctr">
                    <a:solidFill>
                      <a:srgbClr val="E6F4EC"/>
                    </a:solidFill>
                  </a:tcPr>
                </a:tc>
                <a:tc>
                  <a:txBody>
                    <a:bodyPr/>
                    <a:lstStyle/>
                    <a:p>
                      <a:pPr algn="r"/>
                      <a:r>
                        <a:rPr sz="1300" b="1" i="0">
                          <a:solidFill>
                            <a:srgbClr val="3C3C3B"/>
                          </a:solidFill>
                        </a:rPr>
                        <a:t>15</a:t>
                      </a:r>
                    </a:p>
                  </a:txBody>
                  <a:tcPr marL="73152" marR="73152" marT="27432" marB="27432" anchor="ctr">
                    <a:solidFill>
                      <a:srgbClr val="E6F4EC"/>
                    </a:solidFill>
                  </a:tcPr>
                </a:tc>
              </a:tr>
              <a:tr h="384048">
                <a:tc>
                  <a:txBody>
                    <a:bodyPr/>
                    <a:lstStyle/>
                    <a:p>
                      <a:pPr algn="l"/>
                      <a:r>
                        <a:rPr sz="1300" b="0" i="0">
                          <a:solidFill>
                            <a:srgbClr val="3C3C3B"/>
                          </a:solidFill>
                        </a:rPr>
                        <a:t>ÖSZ-3 Overbuild (% above MVA)</a:t>
                      </a:r>
                    </a:p>
                  </a:txBody>
                  <a:tcPr marL="73152" marR="73152" marT="27432" marB="27432" anchor="ctr">
                    <a:solidFill>
                      <a:srgbClr val="F2F2F2"/>
                    </a:solidFill>
                  </a:tcPr>
                </a:tc>
                <a:tc>
                  <a:txBody>
                    <a:bodyPr/>
                    <a:lstStyle/>
                    <a:p>
                      <a:pPr algn="l"/>
                      <a:r>
                        <a:rPr sz="1300" b="0" i="0">
                          <a:solidFill>
                            <a:srgbClr val="919191"/>
                          </a:solidFill>
                        </a:rPr>
                        <a:t>0 – 50+</a:t>
                      </a:r>
                    </a:p>
                  </a:txBody>
                  <a:tcPr marL="73152" marR="73152" marT="27432" marB="27432" anchor="ctr">
                    <a:solidFill>
                      <a:srgbClr val="F2F2F2"/>
                    </a:solidFill>
                  </a:tcPr>
                </a:tc>
                <a:tc>
                  <a:txBody>
                    <a:bodyPr/>
                    <a:lstStyle/>
                    <a:p>
                      <a:pPr algn="r"/>
                      <a:r>
                        <a:rPr sz="1300" b="0" i="0">
                          <a:solidFill>
                            <a:srgbClr val="3C3C3B"/>
                          </a:solidFill>
                        </a:rPr>
                        <a:t>10</a:t>
                      </a:r>
                    </a:p>
                  </a:txBody>
                  <a:tcPr marL="73152" marR="73152" marT="27432" marB="27432" anchor="ctr">
                    <a:noFill/>
                  </a:tcPr>
                </a:tc>
                <a:tc>
                  <a:txBody>
                    <a:bodyPr/>
                    <a:lstStyle/>
                    <a:p>
                      <a:pPr algn="r"/>
                      <a:r>
                        <a:rPr sz="1300" b="0" i="0">
                          <a:solidFill>
                            <a:srgbClr val="3C3C3B"/>
                          </a:solidFill>
                        </a:rPr>
                        <a:t>&gt; 2</a:t>
                      </a:r>
                    </a:p>
                  </a:txBody>
                  <a:tcPr marL="73152" marR="73152" marT="27432" marB="27432" anchor="ctr">
                    <a:noFill/>
                  </a:tcPr>
                </a:tc>
                <a:tc>
                  <a:txBody>
                    <a:bodyPr/>
                    <a:lstStyle/>
                    <a:p>
                      <a:pPr algn="r"/>
                      <a:r>
                        <a:rPr sz="1300" b="0" i="0">
                          <a:solidFill>
                            <a:srgbClr val="3C3C3B"/>
                          </a:solidFill>
                        </a:rPr>
                        <a:t>≥ 5</a:t>
                      </a:r>
                    </a:p>
                  </a:txBody>
                  <a:tcPr marL="73152" marR="73152" marT="27432" marB="27432" anchor="ctr">
                    <a:noFill/>
                  </a:tcPr>
                </a:tc>
                <a:tc>
                  <a:txBody>
                    <a:bodyPr/>
                    <a:lstStyle/>
                    <a:p>
                      <a:pPr algn="r"/>
                      <a:r>
                        <a:rPr sz="1300" b="0" i="0">
                          <a:solidFill>
                            <a:srgbClr val="3C3C3B"/>
                          </a:solidFill>
                        </a:rPr>
                        <a:t>≥ 10</a:t>
                      </a:r>
                    </a:p>
                  </a:txBody>
                  <a:tcPr marL="73152" marR="73152" marT="27432" marB="27432" anchor="ctr">
                    <a:noFill/>
                  </a:tcPr>
                </a:tc>
                <a:tc>
                  <a:txBody>
                    <a:bodyPr/>
                    <a:lstStyle/>
                    <a:p>
                      <a:pPr algn="r"/>
                      <a:r>
                        <a:rPr sz="1300" b="0" i="0">
                          <a:solidFill>
                            <a:srgbClr val="3C3C3B"/>
                          </a:solidFill>
                        </a:rPr>
                        <a:t>≥ 15</a:t>
                      </a:r>
                    </a:p>
                  </a:txBody>
                  <a:tcPr marL="73152" marR="73152" marT="27432" marB="27432" anchor="ctr">
                    <a:noFill/>
                  </a:tcPr>
                </a:tc>
                <a:tc>
                  <a:txBody>
                    <a:bodyPr/>
                    <a:lstStyle/>
                    <a:p>
                      <a:pPr algn="r"/>
                      <a:r>
                        <a:rPr sz="1300" b="0" i="0">
                          <a:solidFill>
                            <a:srgbClr val="3C3C3B"/>
                          </a:solidFill>
                        </a:rPr>
                        <a:t>≥ 20</a:t>
                      </a:r>
                    </a:p>
                  </a:txBody>
                  <a:tcPr marL="73152" marR="73152" marT="27432" marB="27432" anchor="ctr">
                    <a:noFill/>
                  </a:tcPr>
                </a:tc>
                <a:tc>
                  <a:txBody>
                    <a:bodyPr/>
                    <a:lstStyle/>
                    <a:p>
                      <a:pPr algn="r"/>
                      <a:r>
                        <a:rPr sz="1300" b="0" i="0">
                          <a:solidFill>
                            <a:srgbClr val="3C3C3B"/>
                          </a:solidFill>
                        </a:rPr>
                        <a:t>≥ 25</a:t>
                      </a:r>
                    </a:p>
                  </a:txBody>
                  <a:tcPr marL="73152" marR="73152" marT="27432" marB="27432" anchor="ctr">
                    <a:noFill/>
                  </a:tcPr>
                </a:tc>
                <a:tc>
                  <a:txBody>
                    <a:bodyPr/>
                    <a:lstStyle/>
                    <a:p>
                      <a:pPr algn="r"/>
                      <a:r>
                        <a:rPr sz="1300" b="0" i="0">
                          <a:solidFill>
                            <a:srgbClr val="3C3C3B"/>
                          </a:solidFill>
                        </a:rPr>
                        <a:t>≥ 30</a:t>
                      </a:r>
                    </a:p>
                  </a:txBody>
                  <a:tcPr marL="73152" marR="73152" marT="27432" marB="27432" anchor="ctr">
                    <a:noFill/>
                  </a:tcPr>
                </a:tc>
                <a:tc>
                  <a:txBody>
                    <a:bodyPr/>
                    <a:lstStyle/>
                    <a:p>
                      <a:pPr algn="r"/>
                      <a:r>
                        <a:rPr sz="1300" b="0" i="0">
                          <a:solidFill>
                            <a:srgbClr val="3C3C3B"/>
                          </a:solidFill>
                        </a:rPr>
                        <a:t>≥ 35</a:t>
                      </a:r>
                    </a:p>
                  </a:txBody>
                  <a:tcPr marL="73152" marR="73152" marT="27432" marB="27432" anchor="ctr">
                    <a:noFill/>
                  </a:tcPr>
                </a:tc>
                <a:tc>
                  <a:txBody>
                    <a:bodyPr/>
                    <a:lstStyle/>
                    <a:p>
                      <a:pPr algn="r"/>
                      <a:r>
                        <a:rPr sz="1300" b="0" i="0">
                          <a:solidFill>
                            <a:srgbClr val="3C3C3B"/>
                          </a:solidFill>
                        </a:rPr>
                        <a:t>≥ 40</a:t>
                      </a:r>
                    </a:p>
                  </a:txBody>
                  <a:tcPr marL="73152" marR="73152" marT="27432" marB="27432" anchor="ctr">
                    <a:noFill/>
                  </a:tcPr>
                </a:tc>
                <a:tc>
                  <a:txBody>
                    <a:bodyPr/>
                    <a:lstStyle/>
                    <a:p>
                      <a:pPr algn="r"/>
                      <a:r>
                        <a:rPr sz="1300" b="0" i="0">
                          <a:solidFill>
                            <a:srgbClr val="3C3C3B"/>
                          </a:solidFill>
                        </a:rPr>
                        <a:t>&gt; 50</a:t>
                      </a:r>
                    </a:p>
                  </a:txBody>
                  <a:tcPr marL="73152" marR="73152" marT="27432" marB="27432" anchor="ctr">
                    <a:noFill/>
                  </a:tcPr>
                </a:tc>
                <a:tc>
                  <a:txBody>
                    <a:bodyPr/>
                    <a:lstStyle/>
                    <a:p>
                      <a:pPr algn="r"/>
                      <a:r>
                        <a:rPr sz="1300" b="0" i="0">
                          <a:solidFill>
                            <a:srgbClr val="3C3C3B"/>
                          </a:solidFill>
                        </a:rPr>
                        <a:t/>
                      </a:r>
                    </a:p>
                  </a:txBody>
                  <a:tcPr marL="73152" marR="73152" marT="27432" marB="27432" anchor="ctr">
                    <a:noFill/>
                  </a:tcPr>
                </a:tc>
              </a:tr>
              <a:tr h="384048">
                <a:tc>
                  <a:txBody>
                    <a:bodyPr/>
                    <a:lstStyle/>
                    <a:p>
                      <a:pPr algn="l"/>
                      <a:r>
                        <a:rPr sz="1300" b="1" i="0">
                          <a:solidFill>
                            <a:srgbClr val="3C3C3B"/>
                          </a:solidFill>
                        </a:rPr>
                        <a:t>   points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1</a:t>
                      </a:r>
                    </a:p>
                  </a:txBody>
                  <a:tcPr marL="73152" marR="73152" marT="27432" marB="27432" anchor="ctr">
                    <a:solidFill>
                      <a:srgbClr val="E6F4EC"/>
                    </a:solidFill>
                  </a:tcPr>
                </a:tc>
                <a:tc>
                  <a:txBody>
                    <a:bodyPr/>
                    <a:lstStyle/>
                    <a:p>
                      <a:pPr algn="r"/>
                      <a:r>
                        <a:rPr sz="1300" b="1" i="0">
                          <a:solidFill>
                            <a:srgbClr val="3C3C3B"/>
                          </a:solidFill>
                        </a:rPr>
                        <a:t>2</a:t>
                      </a:r>
                    </a:p>
                  </a:txBody>
                  <a:tcPr marL="73152" marR="73152" marT="27432" marB="27432" anchor="ctr">
                    <a:solidFill>
                      <a:srgbClr val="E6F4EC"/>
                    </a:solidFill>
                  </a:tcPr>
                </a:tc>
                <a:tc>
                  <a:txBody>
                    <a:bodyPr/>
                    <a:lstStyle/>
                    <a:p>
                      <a:pPr algn="r"/>
                      <a:r>
                        <a:rPr sz="1300" b="1" i="0">
                          <a:solidFill>
                            <a:srgbClr val="3C3C3B"/>
                          </a:solidFill>
                        </a:rPr>
                        <a:t>3</a:t>
                      </a:r>
                    </a:p>
                  </a:txBody>
                  <a:tcPr marL="73152" marR="73152" marT="27432" marB="27432" anchor="ctr">
                    <a:solidFill>
                      <a:srgbClr val="E6F4EC"/>
                    </a:solidFill>
                  </a:tcPr>
                </a:tc>
                <a:tc>
                  <a:txBody>
                    <a:bodyPr/>
                    <a:lstStyle/>
                    <a:p>
                      <a:pPr algn="r"/>
                      <a:r>
                        <a:rPr sz="1300" b="1" i="0">
                          <a:solidFill>
                            <a:srgbClr val="3C3C3B"/>
                          </a:solidFill>
                        </a:rPr>
                        <a:t>4</a:t>
                      </a:r>
                    </a:p>
                  </a:txBody>
                  <a:tcPr marL="73152" marR="73152" marT="27432" marB="27432" anchor="ctr">
                    <a:solidFill>
                      <a:srgbClr val="E6F4EC"/>
                    </a:solidFill>
                  </a:tcPr>
                </a:tc>
                <a:tc>
                  <a:txBody>
                    <a:bodyPr/>
                    <a:lstStyle/>
                    <a:p>
                      <a:pPr algn="r"/>
                      <a:r>
                        <a:rPr sz="1300" b="1" i="0">
                          <a:solidFill>
                            <a:srgbClr val="3C3C3B"/>
                          </a:solidFill>
                        </a:rPr>
                        <a:t>5</a:t>
                      </a:r>
                    </a:p>
                  </a:txBody>
                  <a:tcPr marL="73152" marR="73152" marT="27432" marB="27432" anchor="ctr">
                    <a:solidFill>
                      <a:srgbClr val="E6F4EC"/>
                    </a:solidFill>
                  </a:tcPr>
                </a:tc>
                <a:tc>
                  <a:txBody>
                    <a:bodyPr/>
                    <a:lstStyle/>
                    <a:p>
                      <a:pPr algn="r"/>
                      <a:r>
                        <a:rPr sz="1300" b="1" i="0">
                          <a:solidFill>
                            <a:srgbClr val="3C3C3B"/>
                          </a:solidFill>
                        </a:rPr>
                        <a:t>6</a:t>
                      </a:r>
                    </a:p>
                  </a:txBody>
                  <a:tcPr marL="73152" marR="73152" marT="27432" marB="27432" anchor="ctr">
                    <a:solidFill>
                      <a:srgbClr val="E6F4EC"/>
                    </a:solidFill>
                  </a:tcPr>
                </a:tc>
                <a:tc>
                  <a:txBody>
                    <a:bodyPr/>
                    <a:lstStyle/>
                    <a:p>
                      <a:pPr algn="r"/>
                      <a:r>
                        <a:rPr sz="1300" b="1" i="0">
                          <a:solidFill>
                            <a:srgbClr val="3C3C3B"/>
                          </a:solidFill>
                        </a:rPr>
                        <a:t>7</a:t>
                      </a:r>
                    </a:p>
                  </a:txBody>
                  <a:tcPr marL="73152" marR="73152" marT="27432" marB="27432" anchor="ctr">
                    <a:solidFill>
                      <a:srgbClr val="E6F4EC"/>
                    </a:solidFill>
                  </a:tcPr>
                </a:tc>
                <a:tc>
                  <a:txBody>
                    <a:bodyPr/>
                    <a:lstStyle/>
                    <a:p>
                      <a:pPr algn="r"/>
                      <a:r>
                        <a:rPr sz="1300" b="1" i="0">
                          <a:solidFill>
                            <a:srgbClr val="3C3C3B"/>
                          </a:solidFill>
                        </a:rPr>
                        <a:t>8</a:t>
                      </a:r>
                    </a:p>
                  </a:txBody>
                  <a:tcPr marL="73152" marR="73152" marT="27432" marB="27432" anchor="ctr">
                    <a:solidFill>
                      <a:srgbClr val="E6F4EC"/>
                    </a:solidFill>
                  </a:tcPr>
                </a:tc>
                <a:tc>
                  <a:txBody>
                    <a:bodyPr/>
                    <a:lstStyle/>
                    <a:p>
                      <a:pPr algn="r"/>
                      <a:r>
                        <a:rPr sz="1300" b="1" i="0">
                          <a:solidFill>
                            <a:srgbClr val="3C3C3B"/>
                          </a:solidFill>
                        </a:rPr>
                        <a:t>9</a:t>
                      </a:r>
                    </a:p>
                  </a:txBody>
                  <a:tcPr marL="73152" marR="73152" marT="27432" marB="27432" anchor="ctr">
                    <a:solidFill>
                      <a:srgbClr val="E6F4EC"/>
                    </a:solidFill>
                  </a:tcPr>
                </a:tc>
                <a:tc>
                  <a:txBody>
                    <a:bodyPr/>
                    <a:lstStyle/>
                    <a:p>
                      <a:pPr algn="r"/>
                      <a:r>
                        <a:rPr sz="1300" b="1" i="0">
                          <a:solidFill>
                            <a:srgbClr val="3C3C3B"/>
                          </a:solidFill>
                        </a:rPr>
                        <a:t>10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r>
              <a:tr h="384048">
                <a:tc>
                  <a:txBody>
                    <a:bodyPr/>
                    <a:lstStyle/>
                    <a:p>
                      <a:pPr algn="l"/>
                      <a:r>
                        <a:rPr sz="1300" b="0" i="0">
                          <a:solidFill>
                            <a:srgbClr val="3C3C3B"/>
                          </a:solidFill>
                        </a:rPr>
                        <a:t>ÖSZ-4 Battery (% of wind, ≥ 4 h)</a:t>
                      </a:r>
                    </a:p>
                  </a:txBody>
                  <a:tcPr marL="73152" marR="73152" marT="27432" marB="27432" anchor="ctr">
                    <a:solidFill>
                      <a:srgbClr val="F2F2F2"/>
                    </a:solidFill>
                  </a:tcPr>
                </a:tc>
                <a:tc>
                  <a:txBody>
                    <a:bodyPr/>
                    <a:lstStyle/>
                    <a:p>
                      <a:pPr algn="l"/>
                      <a:r>
                        <a:rPr sz="1300" b="0" i="0">
                          <a:solidFill>
                            <a:srgbClr val="919191"/>
                          </a:solidFill>
                        </a:rPr>
                        <a:t>0, or 5 – 50+</a:t>
                      </a:r>
                    </a:p>
                  </a:txBody>
                  <a:tcPr marL="73152" marR="73152" marT="27432" marB="27432" anchor="ctr">
                    <a:solidFill>
                      <a:srgbClr val="F2F2F2"/>
                    </a:solidFill>
                  </a:tcPr>
                </a:tc>
                <a:tc>
                  <a:txBody>
                    <a:bodyPr/>
                    <a:lstStyle/>
                    <a:p>
                      <a:pPr algn="r"/>
                      <a:r>
                        <a:rPr sz="1300" b="0" i="0">
                          <a:solidFill>
                            <a:srgbClr val="3C3C3B"/>
                          </a:solidFill>
                        </a:rPr>
                        <a:t>15</a:t>
                      </a:r>
                    </a:p>
                  </a:txBody>
                  <a:tcPr marL="73152" marR="73152" marT="27432" marB="27432" anchor="ctr">
                    <a:noFill/>
                  </a:tcPr>
                </a:tc>
                <a:tc>
                  <a:txBody>
                    <a:bodyPr/>
                    <a:lstStyle/>
                    <a:p>
                      <a:pPr algn="r"/>
                      <a:r>
                        <a:rPr sz="1300" b="0" i="0">
                          <a:solidFill>
                            <a:srgbClr val="3C3C3B"/>
                          </a:solidFill>
                        </a:rPr>
                        <a:t>≥ 5</a:t>
                      </a:r>
                    </a:p>
                  </a:txBody>
                  <a:tcPr marL="73152" marR="73152" marT="27432" marB="27432" anchor="ctr">
                    <a:noFill/>
                  </a:tcPr>
                </a:tc>
                <a:tc>
                  <a:txBody>
                    <a:bodyPr/>
                    <a:lstStyle/>
                    <a:p>
                      <a:pPr algn="r"/>
                      <a:r>
                        <a:rPr sz="1300" b="0" i="0">
                          <a:solidFill>
                            <a:srgbClr val="3C3C3B"/>
                          </a:solidFill>
                        </a:rPr>
                        <a:t>≥ 10</a:t>
                      </a:r>
                    </a:p>
                  </a:txBody>
                  <a:tcPr marL="73152" marR="73152" marT="27432" marB="27432" anchor="ctr">
                    <a:noFill/>
                  </a:tcPr>
                </a:tc>
                <a:tc>
                  <a:txBody>
                    <a:bodyPr/>
                    <a:lstStyle/>
                    <a:p>
                      <a:pPr algn="r"/>
                      <a:r>
                        <a:rPr sz="1300" b="0" i="0">
                          <a:solidFill>
                            <a:srgbClr val="3C3C3B"/>
                          </a:solidFill>
                        </a:rPr>
                        <a:t>≥ 15</a:t>
                      </a:r>
                    </a:p>
                  </a:txBody>
                  <a:tcPr marL="73152" marR="73152" marT="27432" marB="27432" anchor="ctr">
                    <a:noFill/>
                  </a:tcPr>
                </a:tc>
                <a:tc>
                  <a:txBody>
                    <a:bodyPr/>
                    <a:lstStyle/>
                    <a:p>
                      <a:pPr algn="r"/>
                      <a:r>
                        <a:rPr sz="1300" b="0" i="0">
                          <a:solidFill>
                            <a:srgbClr val="3C3C3B"/>
                          </a:solidFill>
                        </a:rPr>
                        <a:t>≥ 20</a:t>
                      </a:r>
                    </a:p>
                  </a:txBody>
                  <a:tcPr marL="73152" marR="73152" marT="27432" marB="27432" anchor="ctr">
                    <a:noFill/>
                  </a:tcPr>
                </a:tc>
                <a:tc>
                  <a:txBody>
                    <a:bodyPr/>
                    <a:lstStyle/>
                    <a:p>
                      <a:pPr algn="r"/>
                      <a:r>
                        <a:rPr sz="1300" b="0" i="0">
                          <a:solidFill>
                            <a:srgbClr val="3C3C3B"/>
                          </a:solidFill>
                        </a:rPr>
                        <a:t>≥ 25</a:t>
                      </a:r>
                    </a:p>
                  </a:txBody>
                  <a:tcPr marL="73152" marR="73152" marT="27432" marB="27432" anchor="ctr">
                    <a:noFill/>
                  </a:tcPr>
                </a:tc>
                <a:tc>
                  <a:txBody>
                    <a:bodyPr/>
                    <a:lstStyle/>
                    <a:p>
                      <a:pPr algn="r"/>
                      <a:r>
                        <a:rPr sz="1300" b="0" i="0">
                          <a:solidFill>
                            <a:srgbClr val="3C3C3B"/>
                          </a:solidFill>
                        </a:rPr>
                        <a:t>≥ 30</a:t>
                      </a:r>
                    </a:p>
                  </a:txBody>
                  <a:tcPr marL="73152" marR="73152" marT="27432" marB="27432" anchor="ctr">
                    <a:noFill/>
                  </a:tcPr>
                </a:tc>
                <a:tc>
                  <a:txBody>
                    <a:bodyPr/>
                    <a:lstStyle/>
                    <a:p>
                      <a:pPr algn="r"/>
                      <a:r>
                        <a:rPr sz="1300" b="0" i="0">
                          <a:solidFill>
                            <a:srgbClr val="3C3C3B"/>
                          </a:solidFill>
                        </a:rPr>
                        <a:t>≥ 35</a:t>
                      </a:r>
                    </a:p>
                  </a:txBody>
                  <a:tcPr marL="73152" marR="73152" marT="27432" marB="27432" anchor="ctr">
                    <a:noFill/>
                  </a:tcPr>
                </a:tc>
                <a:tc>
                  <a:txBody>
                    <a:bodyPr/>
                    <a:lstStyle/>
                    <a:p>
                      <a:pPr algn="r"/>
                      <a:r>
                        <a:rPr sz="1300" b="0" i="0">
                          <a:solidFill>
                            <a:srgbClr val="3C3C3B"/>
                          </a:solidFill>
                        </a:rPr>
                        <a:t>≥ 40</a:t>
                      </a:r>
                    </a:p>
                  </a:txBody>
                  <a:tcPr marL="73152" marR="73152" marT="27432" marB="27432" anchor="ctr">
                    <a:noFill/>
                  </a:tcPr>
                </a:tc>
                <a:tc>
                  <a:txBody>
                    <a:bodyPr/>
                    <a:lstStyle/>
                    <a:p>
                      <a:pPr algn="r"/>
                      <a:r>
                        <a:rPr sz="1300" b="0" i="0">
                          <a:solidFill>
                            <a:srgbClr val="3C3C3B"/>
                          </a:solidFill>
                        </a:rPr>
                        <a:t>&gt; 50</a:t>
                      </a:r>
                    </a:p>
                  </a:txBody>
                  <a:tcPr marL="73152" marR="73152" marT="27432" marB="27432" anchor="ctr">
                    <a:noFill/>
                  </a:tcPr>
                </a:tc>
                <a:tc>
                  <a:txBody>
                    <a:bodyPr/>
                    <a:lstStyle/>
                    <a:p>
                      <a:pPr algn="r"/>
                      <a:r>
                        <a:rPr sz="1300" b="0" i="0">
                          <a:solidFill>
                            <a:srgbClr val="3C3C3B"/>
                          </a:solidFill>
                        </a:rPr>
                        <a:t/>
                      </a:r>
                    </a:p>
                  </a:txBody>
                  <a:tcPr marL="73152" marR="73152" marT="27432" marB="27432" anchor="ctr">
                    <a:noFill/>
                  </a:tcPr>
                </a:tc>
                <a:tc>
                  <a:txBody>
                    <a:bodyPr/>
                    <a:lstStyle/>
                    <a:p>
                      <a:pPr algn="r"/>
                      <a:r>
                        <a:rPr sz="1300" b="0" i="0">
                          <a:solidFill>
                            <a:srgbClr val="3C3C3B"/>
                          </a:solidFill>
                        </a:rPr>
                        <a:t/>
                      </a:r>
                    </a:p>
                  </a:txBody>
                  <a:tcPr marL="73152" marR="73152" marT="27432" marB="27432" anchor="ctr">
                    <a:noFill/>
                  </a:tcPr>
                </a:tc>
              </a:tr>
              <a:tr h="384048">
                <a:tc>
                  <a:txBody>
                    <a:bodyPr/>
                    <a:lstStyle/>
                    <a:p>
                      <a:pPr algn="l"/>
                      <a:r>
                        <a:rPr sz="1300" b="1" i="0">
                          <a:solidFill>
                            <a:srgbClr val="3C3C3B"/>
                          </a:solidFill>
                        </a:rPr>
                        <a:t>   points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3</a:t>
                      </a:r>
                    </a:p>
                  </a:txBody>
                  <a:tcPr marL="73152" marR="73152" marT="27432" marB="27432" anchor="ctr">
                    <a:solidFill>
                      <a:srgbClr val="E6F4EC"/>
                    </a:solidFill>
                  </a:tcPr>
                </a:tc>
                <a:tc>
                  <a:txBody>
                    <a:bodyPr/>
                    <a:lstStyle/>
                    <a:p>
                      <a:pPr algn="r"/>
                      <a:r>
                        <a:rPr sz="1300" b="1" i="0">
                          <a:solidFill>
                            <a:srgbClr val="3C3C3B"/>
                          </a:solidFill>
                        </a:rPr>
                        <a:t>4.5</a:t>
                      </a:r>
                    </a:p>
                  </a:txBody>
                  <a:tcPr marL="73152" marR="73152" marT="27432" marB="27432" anchor="ctr">
                    <a:solidFill>
                      <a:srgbClr val="E6F4EC"/>
                    </a:solidFill>
                  </a:tcPr>
                </a:tc>
                <a:tc>
                  <a:txBody>
                    <a:bodyPr/>
                    <a:lstStyle/>
                    <a:p>
                      <a:pPr algn="r"/>
                      <a:r>
                        <a:rPr sz="1300" b="1" i="0">
                          <a:solidFill>
                            <a:srgbClr val="3C3C3B"/>
                          </a:solidFill>
                        </a:rPr>
                        <a:t>6</a:t>
                      </a:r>
                    </a:p>
                  </a:txBody>
                  <a:tcPr marL="73152" marR="73152" marT="27432" marB="27432" anchor="ctr">
                    <a:solidFill>
                      <a:srgbClr val="E6F4EC"/>
                    </a:solidFill>
                  </a:tcPr>
                </a:tc>
                <a:tc>
                  <a:txBody>
                    <a:bodyPr/>
                    <a:lstStyle/>
                    <a:p>
                      <a:pPr algn="r"/>
                      <a:r>
                        <a:rPr sz="1300" b="1" i="0">
                          <a:solidFill>
                            <a:srgbClr val="3C3C3B"/>
                          </a:solidFill>
                        </a:rPr>
                        <a:t>7.5</a:t>
                      </a:r>
                    </a:p>
                  </a:txBody>
                  <a:tcPr marL="73152" marR="73152" marT="27432" marB="27432" anchor="ctr">
                    <a:solidFill>
                      <a:srgbClr val="E6F4EC"/>
                    </a:solidFill>
                  </a:tcPr>
                </a:tc>
                <a:tc>
                  <a:txBody>
                    <a:bodyPr/>
                    <a:lstStyle/>
                    <a:p>
                      <a:pPr algn="r"/>
                      <a:r>
                        <a:rPr sz="1300" b="1" i="0">
                          <a:solidFill>
                            <a:srgbClr val="3C3C3B"/>
                          </a:solidFill>
                        </a:rPr>
                        <a:t>9</a:t>
                      </a:r>
                    </a:p>
                  </a:txBody>
                  <a:tcPr marL="73152" marR="73152" marT="27432" marB="27432" anchor="ctr">
                    <a:solidFill>
                      <a:srgbClr val="E6F4EC"/>
                    </a:solidFill>
                  </a:tcPr>
                </a:tc>
                <a:tc>
                  <a:txBody>
                    <a:bodyPr/>
                    <a:lstStyle/>
                    <a:p>
                      <a:pPr algn="r"/>
                      <a:r>
                        <a:rPr sz="1300" b="1" i="0">
                          <a:solidFill>
                            <a:srgbClr val="3C3C3B"/>
                          </a:solidFill>
                        </a:rPr>
                        <a:t>10.5</a:t>
                      </a:r>
                    </a:p>
                  </a:txBody>
                  <a:tcPr marL="73152" marR="73152" marT="27432" marB="27432" anchor="ctr">
                    <a:solidFill>
                      <a:srgbClr val="E6F4EC"/>
                    </a:solidFill>
                  </a:tcPr>
                </a:tc>
                <a:tc>
                  <a:txBody>
                    <a:bodyPr/>
                    <a:lstStyle/>
                    <a:p>
                      <a:pPr algn="r"/>
                      <a:r>
                        <a:rPr sz="1300" b="1" i="0">
                          <a:solidFill>
                            <a:srgbClr val="3C3C3B"/>
                          </a:solidFill>
                        </a:rPr>
                        <a:t>12</a:t>
                      </a:r>
                    </a:p>
                  </a:txBody>
                  <a:tcPr marL="73152" marR="73152" marT="27432" marB="27432" anchor="ctr">
                    <a:solidFill>
                      <a:srgbClr val="E6F4EC"/>
                    </a:solidFill>
                  </a:tcPr>
                </a:tc>
                <a:tc>
                  <a:txBody>
                    <a:bodyPr/>
                    <a:lstStyle/>
                    <a:p>
                      <a:pPr algn="r"/>
                      <a:r>
                        <a:rPr sz="1300" b="1" i="0">
                          <a:solidFill>
                            <a:srgbClr val="3C3C3B"/>
                          </a:solidFill>
                        </a:rPr>
                        <a:t>13.5</a:t>
                      </a:r>
                    </a:p>
                  </a:txBody>
                  <a:tcPr marL="73152" marR="73152" marT="27432" marB="27432" anchor="ctr">
                    <a:solidFill>
                      <a:srgbClr val="E6F4EC"/>
                    </a:solidFill>
                  </a:tcPr>
                </a:tc>
                <a:tc>
                  <a:txBody>
                    <a:bodyPr/>
                    <a:lstStyle/>
                    <a:p>
                      <a:pPr algn="r"/>
                      <a:r>
                        <a:rPr sz="1300" b="1" i="0">
                          <a:solidFill>
                            <a:srgbClr val="3C3C3B"/>
                          </a:solidFill>
                        </a:rPr>
                        <a:t>15</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r>
              <a:tr h="384048">
                <a:tc>
                  <a:txBody>
                    <a:bodyPr/>
                    <a:lstStyle/>
                    <a:p>
                      <a:pPr algn="l"/>
                      <a:r>
                        <a:rPr sz="1300" b="0" i="0">
                          <a:solidFill>
                            <a:srgbClr val="3C3C3B"/>
                          </a:solidFill>
                        </a:rPr>
                        <a:t>ÖSZ-5 Accept partial award</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r"/>
                      <a:r>
                        <a:rPr sz="1300" b="0" i="0">
                          <a:solidFill>
                            <a:srgbClr val="3C3C3B"/>
                          </a:solidFill>
                        </a:rPr>
                        <a:t>5</a:t>
                      </a:r>
                    </a:p>
                  </a:txBody>
                  <a:tcPr marL="73152" marR="73152" marT="27432" marB="27432" anchor="ctr">
                    <a:noFill/>
                  </a:tcPr>
                </a:tc>
                <a:tc gridSpan="11">
                  <a:txBody>
                    <a:bodyPr/>
                    <a:lstStyle/>
                    <a:p>
                      <a:pPr algn="r"/>
                      <a:r>
                        <a:rPr sz="1300" b="0" i="0">
                          <a:solidFill>
                            <a:srgbClr val="3C3C3B"/>
                          </a:solidFill>
                        </a:rPr>
                        <a:t>yes → 5</a:t>
                      </a:r>
                    </a:p>
                  </a:txBody>
                  <a:tcPr marL="73152" marR="73152" marT="27432" marB="27432" anchor="ctr">
                    <a:no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84048">
                <a:tc>
                  <a:txBody>
                    <a:bodyPr/>
                    <a:lstStyle/>
                    <a:p>
                      <a:pPr algn="l"/>
                      <a:r>
                        <a:rPr sz="1300" b="0" i="0">
                          <a:solidFill>
                            <a:srgbClr val="3C3C3B"/>
                          </a:solidFill>
                        </a:rPr>
                        <a:t>ÖSZ-6 Performance security (%)</a:t>
                      </a:r>
                    </a:p>
                  </a:txBody>
                  <a:tcPr marL="73152" marR="73152" marT="27432" marB="27432" anchor="ctr">
                    <a:solidFill>
                      <a:srgbClr val="F2F2F2"/>
                    </a:solidFill>
                  </a:tcPr>
                </a:tc>
                <a:tc>
                  <a:txBody>
                    <a:bodyPr/>
                    <a:lstStyle/>
                    <a:p>
                      <a:pPr algn="l"/>
                      <a:r>
                        <a:rPr sz="1300" b="0" i="0">
                          <a:solidFill>
                            <a:srgbClr val="919191"/>
                          </a:solidFill>
                        </a:rPr>
                        <a:t>100 – 200</a:t>
                      </a:r>
                    </a:p>
                  </a:txBody>
                  <a:tcPr marL="73152" marR="73152" marT="27432" marB="27432" anchor="ctr">
                    <a:solidFill>
                      <a:srgbClr val="F2F2F2"/>
                    </a:solidFill>
                  </a:tcPr>
                </a:tc>
                <a:tc>
                  <a:txBody>
                    <a:bodyPr/>
                    <a:lstStyle/>
                    <a:p>
                      <a:pPr algn="r"/>
                      <a:r>
                        <a:rPr sz="1300" b="0" i="0">
                          <a:solidFill>
                            <a:srgbClr val="3C3C3B"/>
                          </a:solidFill>
                        </a:rPr>
                        <a:t>5</a:t>
                      </a:r>
                    </a:p>
                  </a:txBody>
                  <a:tcPr marL="73152" marR="73152" marT="27432" marB="27432" anchor="ctr">
                    <a:noFill/>
                  </a:tcPr>
                </a:tc>
                <a:tc>
                  <a:txBody>
                    <a:bodyPr/>
                    <a:lstStyle/>
                    <a:p>
                      <a:pPr algn="r"/>
                      <a:r>
                        <a:rPr sz="1300" b="0" i="0">
                          <a:solidFill>
                            <a:srgbClr val="3C3C3B"/>
                          </a:solidFill>
                        </a:rPr>
                        <a:t>&gt; 100</a:t>
                      </a:r>
                    </a:p>
                  </a:txBody>
                  <a:tcPr marL="73152" marR="73152" marT="27432" marB="27432" anchor="ctr">
                    <a:noFill/>
                  </a:tcPr>
                </a:tc>
                <a:tc>
                  <a:txBody>
                    <a:bodyPr/>
                    <a:lstStyle/>
                    <a:p>
                      <a:pPr algn="r"/>
                      <a:r>
                        <a:rPr sz="1300" b="0" i="0">
                          <a:solidFill>
                            <a:srgbClr val="3C3C3B"/>
                          </a:solidFill>
                        </a:rPr>
                        <a:t>≥ 120</a:t>
                      </a:r>
                    </a:p>
                  </a:txBody>
                  <a:tcPr marL="73152" marR="73152" marT="27432" marB="27432" anchor="ctr">
                    <a:noFill/>
                  </a:tcPr>
                </a:tc>
                <a:tc>
                  <a:txBody>
                    <a:bodyPr/>
                    <a:lstStyle/>
                    <a:p>
                      <a:pPr algn="r"/>
                      <a:r>
                        <a:rPr sz="1300" b="0" i="0">
                          <a:solidFill>
                            <a:srgbClr val="3C3C3B"/>
                          </a:solidFill>
                        </a:rPr>
                        <a:t>≥ 130</a:t>
                      </a:r>
                    </a:p>
                  </a:txBody>
                  <a:tcPr marL="73152" marR="73152" marT="27432" marB="27432" anchor="ctr">
                    <a:noFill/>
                  </a:tcPr>
                </a:tc>
                <a:tc>
                  <a:txBody>
                    <a:bodyPr/>
                    <a:lstStyle/>
                    <a:p>
                      <a:pPr algn="r"/>
                      <a:r>
                        <a:rPr sz="1300" b="0" i="0">
                          <a:solidFill>
                            <a:srgbClr val="3C3C3B"/>
                          </a:solidFill>
                        </a:rPr>
                        <a:t>≥ 140</a:t>
                      </a:r>
                    </a:p>
                  </a:txBody>
                  <a:tcPr marL="73152" marR="73152" marT="27432" marB="27432" anchor="ctr">
                    <a:noFill/>
                  </a:tcPr>
                </a:tc>
                <a:tc>
                  <a:txBody>
                    <a:bodyPr/>
                    <a:lstStyle/>
                    <a:p>
                      <a:pPr algn="r"/>
                      <a:r>
                        <a:rPr sz="1300" b="0" i="0">
                          <a:solidFill>
                            <a:srgbClr val="3C3C3B"/>
                          </a:solidFill>
                        </a:rPr>
                        <a:t>≥ 150</a:t>
                      </a:r>
                    </a:p>
                  </a:txBody>
                  <a:tcPr marL="73152" marR="73152" marT="27432" marB="27432" anchor="ctr">
                    <a:noFill/>
                  </a:tcPr>
                </a:tc>
                <a:tc>
                  <a:txBody>
                    <a:bodyPr/>
                    <a:lstStyle/>
                    <a:p>
                      <a:pPr algn="r"/>
                      <a:r>
                        <a:rPr sz="1300" b="0" i="0">
                          <a:solidFill>
                            <a:srgbClr val="3C3C3B"/>
                          </a:solidFill>
                        </a:rPr>
                        <a:t>≥ 160</a:t>
                      </a:r>
                    </a:p>
                  </a:txBody>
                  <a:tcPr marL="73152" marR="73152" marT="27432" marB="27432" anchor="ctr">
                    <a:noFill/>
                  </a:tcPr>
                </a:tc>
                <a:tc>
                  <a:txBody>
                    <a:bodyPr/>
                    <a:lstStyle/>
                    <a:p>
                      <a:pPr algn="r"/>
                      <a:r>
                        <a:rPr sz="1300" b="0" i="0">
                          <a:solidFill>
                            <a:srgbClr val="3C3C3B"/>
                          </a:solidFill>
                        </a:rPr>
                        <a:t>≥ 170</a:t>
                      </a:r>
                    </a:p>
                  </a:txBody>
                  <a:tcPr marL="73152" marR="73152" marT="27432" marB="27432" anchor="ctr">
                    <a:noFill/>
                  </a:tcPr>
                </a:tc>
                <a:tc>
                  <a:txBody>
                    <a:bodyPr/>
                    <a:lstStyle/>
                    <a:p>
                      <a:pPr algn="r"/>
                      <a:r>
                        <a:rPr sz="1300" b="0" i="0">
                          <a:solidFill>
                            <a:srgbClr val="3C3C3B"/>
                          </a:solidFill>
                        </a:rPr>
                        <a:t>≥ 180</a:t>
                      </a:r>
                    </a:p>
                  </a:txBody>
                  <a:tcPr marL="73152" marR="73152" marT="27432" marB="27432" anchor="ctr">
                    <a:noFill/>
                  </a:tcPr>
                </a:tc>
                <a:tc>
                  <a:txBody>
                    <a:bodyPr/>
                    <a:lstStyle/>
                    <a:p>
                      <a:pPr algn="r"/>
                      <a:r>
                        <a:rPr sz="1300" b="0" i="0">
                          <a:solidFill>
                            <a:srgbClr val="3C3C3B"/>
                          </a:solidFill>
                        </a:rPr>
                        <a:t>≥ 190</a:t>
                      </a:r>
                    </a:p>
                  </a:txBody>
                  <a:tcPr marL="73152" marR="73152" marT="27432" marB="27432" anchor="ctr">
                    <a:noFill/>
                  </a:tcPr>
                </a:tc>
                <a:tc>
                  <a:txBody>
                    <a:bodyPr/>
                    <a:lstStyle/>
                    <a:p>
                      <a:pPr algn="r"/>
                      <a:r>
                        <a:rPr sz="1300" b="0" i="0">
                          <a:solidFill>
                            <a:srgbClr val="3C3C3B"/>
                          </a:solidFill>
                        </a:rPr>
                        <a:t>≥ 200</a:t>
                      </a:r>
                    </a:p>
                  </a:txBody>
                  <a:tcPr marL="73152" marR="73152" marT="27432" marB="27432" anchor="ctr">
                    <a:noFill/>
                  </a:tcPr>
                </a:tc>
                <a:tc>
                  <a:txBody>
                    <a:bodyPr/>
                    <a:lstStyle/>
                    <a:p>
                      <a:pPr algn="r"/>
                      <a:r>
                        <a:rPr sz="1300" b="0" i="0">
                          <a:solidFill>
                            <a:srgbClr val="3C3C3B"/>
                          </a:solidFill>
                        </a:rPr>
                        <a:t/>
                      </a:r>
                    </a:p>
                  </a:txBody>
                  <a:tcPr marL="73152" marR="73152" marT="27432" marB="27432" anchor="ctr">
                    <a:noFill/>
                  </a:tcPr>
                </a:tc>
              </a:tr>
              <a:tr h="384048">
                <a:tc>
                  <a:txBody>
                    <a:bodyPr/>
                    <a:lstStyle/>
                    <a:p>
                      <a:pPr algn="l"/>
                      <a:r>
                        <a:rPr sz="1300" b="1" i="0">
                          <a:solidFill>
                            <a:srgbClr val="3C3C3B"/>
                          </a:solidFill>
                        </a:rPr>
                        <a:t>   points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0.5</a:t>
                      </a:r>
                    </a:p>
                  </a:txBody>
                  <a:tcPr marL="73152" marR="73152" marT="27432" marB="27432" anchor="ctr">
                    <a:solidFill>
                      <a:srgbClr val="E6F4EC"/>
                    </a:solidFill>
                  </a:tcPr>
                </a:tc>
                <a:tc>
                  <a:txBody>
                    <a:bodyPr/>
                    <a:lstStyle/>
                    <a:p>
                      <a:pPr algn="r"/>
                      <a:r>
                        <a:rPr sz="1300" b="1" i="0">
                          <a:solidFill>
                            <a:srgbClr val="3C3C3B"/>
                          </a:solidFill>
                        </a:rPr>
                        <a:t>1</a:t>
                      </a:r>
                    </a:p>
                  </a:txBody>
                  <a:tcPr marL="73152" marR="73152" marT="27432" marB="27432" anchor="ctr">
                    <a:solidFill>
                      <a:srgbClr val="E6F4EC"/>
                    </a:solidFill>
                  </a:tcPr>
                </a:tc>
                <a:tc>
                  <a:txBody>
                    <a:bodyPr/>
                    <a:lstStyle/>
                    <a:p>
                      <a:pPr algn="r"/>
                      <a:r>
                        <a:rPr sz="1300" b="1" i="0">
                          <a:solidFill>
                            <a:srgbClr val="3C3C3B"/>
                          </a:solidFill>
                        </a:rPr>
                        <a:t>1.5</a:t>
                      </a:r>
                    </a:p>
                  </a:txBody>
                  <a:tcPr marL="73152" marR="73152" marT="27432" marB="27432" anchor="ctr">
                    <a:solidFill>
                      <a:srgbClr val="E6F4EC"/>
                    </a:solidFill>
                  </a:tcPr>
                </a:tc>
                <a:tc>
                  <a:txBody>
                    <a:bodyPr/>
                    <a:lstStyle/>
                    <a:p>
                      <a:pPr algn="r"/>
                      <a:r>
                        <a:rPr sz="1300" b="1" i="0">
                          <a:solidFill>
                            <a:srgbClr val="3C3C3B"/>
                          </a:solidFill>
                        </a:rPr>
                        <a:t>2</a:t>
                      </a:r>
                    </a:p>
                  </a:txBody>
                  <a:tcPr marL="73152" marR="73152" marT="27432" marB="27432" anchor="ctr">
                    <a:solidFill>
                      <a:srgbClr val="E6F4EC"/>
                    </a:solidFill>
                  </a:tcPr>
                </a:tc>
                <a:tc>
                  <a:txBody>
                    <a:bodyPr/>
                    <a:lstStyle/>
                    <a:p>
                      <a:pPr algn="r"/>
                      <a:r>
                        <a:rPr sz="1300" b="1" i="0">
                          <a:solidFill>
                            <a:srgbClr val="3C3C3B"/>
                          </a:solidFill>
                        </a:rPr>
                        <a:t>2.5</a:t>
                      </a:r>
                    </a:p>
                  </a:txBody>
                  <a:tcPr marL="73152" marR="73152" marT="27432" marB="27432" anchor="ctr">
                    <a:solidFill>
                      <a:srgbClr val="E6F4EC"/>
                    </a:solidFill>
                  </a:tcPr>
                </a:tc>
                <a:tc>
                  <a:txBody>
                    <a:bodyPr/>
                    <a:lstStyle/>
                    <a:p>
                      <a:pPr algn="r"/>
                      <a:r>
                        <a:rPr sz="1300" b="1" i="0">
                          <a:solidFill>
                            <a:srgbClr val="3C3C3B"/>
                          </a:solidFill>
                        </a:rPr>
                        <a:t>3</a:t>
                      </a:r>
                    </a:p>
                  </a:txBody>
                  <a:tcPr marL="73152" marR="73152" marT="27432" marB="27432" anchor="ctr">
                    <a:solidFill>
                      <a:srgbClr val="E6F4EC"/>
                    </a:solidFill>
                  </a:tcPr>
                </a:tc>
                <a:tc>
                  <a:txBody>
                    <a:bodyPr/>
                    <a:lstStyle/>
                    <a:p>
                      <a:pPr algn="r"/>
                      <a:r>
                        <a:rPr sz="1300" b="1" i="0">
                          <a:solidFill>
                            <a:srgbClr val="3C3C3B"/>
                          </a:solidFill>
                        </a:rPr>
                        <a:t>3.5</a:t>
                      </a:r>
                    </a:p>
                  </a:txBody>
                  <a:tcPr marL="73152" marR="73152" marT="27432" marB="27432" anchor="ctr">
                    <a:solidFill>
                      <a:srgbClr val="E6F4EC"/>
                    </a:solidFill>
                  </a:tcPr>
                </a:tc>
                <a:tc>
                  <a:txBody>
                    <a:bodyPr/>
                    <a:lstStyle/>
                    <a:p>
                      <a:pPr algn="r"/>
                      <a:r>
                        <a:rPr sz="1300" b="1" i="0">
                          <a:solidFill>
                            <a:srgbClr val="3C3C3B"/>
                          </a:solidFill>
                        </a:rPr>
                        <a:t>4</a:t>
                      </a:r>
                    </a:p>
                  </a:txBody>
                  <a:tcPr marL="73152" marR="73152" marT="27432" marB="27432" anchor="ctr">
                    <a:solidFill>
                      <a:srgbClr val="E6F4EC"/>
                    </a:solidFill>
                  </a:tcPr>
                </a:tc>
                <a:tc>
                  <a:txBody>
                    <a:bodyPr/>
                    <a:lstStyle/>
                    <a:p>
                      <a:pPr algn="r"/>
                      <a:r>
                        <a:rPr sz="1300" b="1" i="0">
                          <a:solidFill>
                            <a:srgbClr val="3C3C3B"/>
                          </a:solidFill>
                        </a:rPr>
                        <a:t>4.5</a:t>
                      </a:r>
                    </a:p>
                  </a:txBody>
                  <a:tcPr marL="73152" marR="73152" marT="27432" marB="27432" anchor="ctr">
                    <a:solidFill>
                      <a:srgbClr val="E6F4EC"/>
                    </a:solidFill>
                  </a:tcPr>
                </a:tc>
                <a:tc>
                  <a:txBody>
                    <a:bodyPr/>
                    <a:lstStyle/>
                    <a:p>
                      <a:pPr algn="r"/>
                      <a:r>
                        <a:rPr sz="1300" b="1" i="0">
                          <a:solidFill>
                            <a:srgbClr val="3C3C3B"/>
                          </a:solidFill>
                        </a:rPr>
                        <a:t>5</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r>
              <a:tr h="384048">
                <a:tc>
                  <a:txBody>
                    <a:bodyPr/>
                    <a:lstStyle/>
                    <a:p>
                      <a:pPr algn="l"/>
                      <a:r>
                        <a:rPr sz="1300" b="0" i="0">
                          <a:solidFill>
                            <a:srgbClr val="3C3C3B"/>
                          </a:solidFill>
                        </a:rPr>
                        <a:t>ÖSZ-7 Brownfield site (≥ 70 %)</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r"/>
                      <a:r>
                        <a:rPr sz="1300" b="0" i="0">
                          <a:solidFill>
                            <a:srgbClr val="3C3C3B"/>
                          </a:solidFill>
                        </a:rPr>
                        <a:t>10</a:t>
                      </a:r>
                    </a:p>
                  </a:txBody>
                  <a:tcPr marL="73152" marR="73152" marT="27432" marB="27432" anchor="ctr">
                    <a:noFill/>
                  </a:tcPr>
                </a:tc>
                <a:tc gridSpan="11">
                  <a:txBody>
                    <a:bodyPr/>
                    <a:lstStyle/>
                    <a:p>
                      <a:pPr algn="r"/>
                      <a:r>
                        <a:rPr sz="1300" b="0" i="0">
                          <a:solidFill>
                            <a:srgbClr val="3C3C3B"/>
                          </a:solidFill>
                        </a:rPr>
                        <a:t>yes → 10 – not available at this node</a:t>
                      </a:r>
                    </a:p>
                  </a:txBody>
                  <a:tcPr marL="73152" marR="73152" marT="27432" marB="27432" anchor="ctr">
                    <a:no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84048">
                <a:tc>
                  <a:txBody>
                    <a:bodyPr/>
                    <a:lstStyle/>
                    <a:p>
                      <a:pPr algn="l"/>
                      <a:r>
                        <a:rPr sz="1300" b="0" i="0">
                          <a:solidFill>
                            <a:srgbClr val="3C3C3B"/>
                          </a:solidFill>
                        </a:rPr>
                        <a:t>ÖSZ-8 Shared connection</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r"/>
                      <a:r>
                        <a:rPr sz="1300" b="0" i="0">
                          <a:solidFill>
                            <a:srgbClr val="3C3C3B"/>
                          </a:solidFill>
                        </a:rPr>
                        <a:t>5</a:t>
                      </a:r>
                    </a:p>
                  </a:txBody>
                  <a:tcPr marL="73152" marR="73152" marT="27432" marB="27432" anchor="ctr">
                    <a:noFill/>
                  </a:tcPr>
                </a:tc>
                <a:tc gridSpan="11">
                  <a:txBody>
                    <a:bodyPr/>
                    <a:lstStyle/>
                    <a:p>
                      <a:pPr algn="r"/>
                      <a:r>
                        <a:rPr sz="1300" b="0" i="0">
                          <a:solidFill>
                            <a:srgbClr val="3C3C3B"/>
                          </a:solidFill>
                        </a:rPr>
                        <a:t>yes → 5</a:t>
                      </a:r>
                    </a:p>
                  </a:txBody>
                  <a:tcPr marL="73152" marR="73152" marT="27432" marB="27432" anchor="ctr">
                    <a:no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84048">
                <a:tc>
                  <a:txBody>
                    <a:bodyPr/>
                    <a:lstStyle/>
                    <a:p>
                      <a:pPr algn="l"/>
                      <a:r>
                        <a:rPr sz="1300" b="0" i="0">
                          <a:solidFill>
                            <a:srgbClr val="3C3C3B"/>
                          </a:solidFill>
                        </a:rPr>
                        <a:t>ÖSZ-9a EU-made turbines</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r"/>
                      <a:r>
                        <a:rPr sz="1300" b="0" i="0">
                          <a:solidFill>
                            <a:srgbClr val="3C3C3B"/>
                          </a:solidFill>
                        </a:rPr>
                        <a:t>12</a:t>
                      </a:r>
                    </a:p>
                  </a:txBody>
                  <a:tcPr marL="73152" marR="73152" marT="27432" marB="27432" anchor="ctr">
                    <a:noFill/>
                  </a:tcPr>
                </a:tc>
                <a:tc gridSpan="11">
                  <a:txBody>
                    <a:bodyPr/>
                    <a:lstStyle/>
                    <a:p>
                      <a:pPr algn="r"/>
                      <a:r>
                        <a:rPr sz="1300" b="0" i="0">
                          <a:solidFill>
                            <a:srgbClr val="3C3C3B"/>
                          </a:solidFill>
                        </a:rPr>
                        <a:t>yes → 12 – European-turbine routes</a:t>
                      </a:r>
                    </a:p>
                  </a:txBody>
                  <a:tcPr marL="73152" marR="73152" marT="27432" marB="27432" anchor="ctr">
                    <a:no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84048">
                <a:tc>
                  <a:txBody>
                    <a:bodyPr/>
                    <a:lstStyle/>
                    <a:p>
                      <a:pPr algn="l"/>
                      <a:r>
                        <a:rPr sz="1300" b="0" i="0">
                          <a:solidFill>
                            <a:srgbClr val="3C3C3B"/>
                          </a:solidFill>
                        </a:rPr>
                        <a:t>ÖSZ-9b EU-made transformer</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r"/>
                      <a:r>
                        <a:rPr sz="1300" b="0" i="0">
                          <a:solidFill>
                            <a:srgbClr val="3C3C3B"/>
                          </a:solidFill>
                        </a:rPr>
                        <a:t>3</a:t>
                      </a:r>
                    </a:p>
                  </a:txBody>
                  <a:tcPr marL="73152" marR="73152" marT="27432" marB="27432" anchor="ctr">
                    <a:noFill/>
                  </a:tcPr>
                </a:tc>
                <a:tc gridSpan="11">
                  <a:txBody>
                    <a:bodyPr/>
                    <a:lstStyle/>
                    <a:p>
                      <a:pPr algn="r"/>
                      <a:r>
                        <a:rPr sz="1300" b="0" i="0">
                          <a:solidFill>
                            <a:srgbClr val="3C3C3B"/>
                          </a:solidFill>
                        </a:rPr>
                        <a:t>yes → 3 – European-turbine routes</a:t>
                      </a:r>
                    </a:p>
                  </a:txBody>
                  <a:tcPr marL="73152" marR="73152" marT="27432" marB="27432" anchor="ctr">
                    <a:no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84048">
                <a:tc>
                  <a:txBody>
                    <a:bodyPr/>
                    <a:lstStyle/>
                    <a:p>
                      <a:pPr algn="l"/>
                      <a:r>
                        <a:rPr sz="1300" b="1" i="0">
                          <a:solidFill>
                            <a:srgbClr val="3C3C3B"/>
                          </a:solidFill>
                        </a:rPr>
                        <a:t>Total</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100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r>
            </a:tbl>
          </a:graphicData>
        </a:graphic>
      </p:graphicFrame>
      <p:sp>
        <p:nvSpPr>
          <p:cNvPr id="20" name="Footnote"/>
          <p:cNvSpPr txBox="1"/>
          <p:nvPr/>
        </p:nvSpPr>
        <p:spPr>
          <a:xfrm>
            <a:off x="4498848" y="9875520"/>
            <a:ext cx="13167360" cy="640080"/>
          </a:xfrm>
          <a:prstGeom prst="rect">
            <a:avLst/>
          </a:prstGeom>
          <a:noFill/>
        </p:spPr>
        <p:txBody>
          <a:bodyPr wrap="square" lIns="0" tIns="0" rIns="0" bIns="0" anchor="t">
            <a:spAutoFit/>
          </a:bodyPr>
          <a:lstStyle/>
          <a:p>
            <a:pPr algn="l"/>
            <a:r>
              <a:rPr sz="1100" b="0">
                <a:solidFill>
                  <a:srgbClr val="919191"/>
                </a:solidFill>
              </a:rPr>
              <a:t>A commitment below the first band scores 0 and keeps the bid valid; the only validity rule is installed wind at least equal to the connection MVA. Battery points need at least 4 hours and no more battery MW than wind MW. Performance security is a percentage of the tender minimum. EU-equipment points count on the European-turbine routes only.</a:t>
            </a:r>
          </a:p>
          <a:p>
            <a:pPr algn="l"/>
            <a:r>
              <a:rPr sz="1100" b="0">
                <a:solidFill>
                  <a:srgbClr val="919191"/>
                </a:solidFill>
              </a:rPr>
              <a:t>Source: Bora IC model, 11 Oct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a:extLst>
              <a:ext uri="{FF2B5EF4-FFF2-40B4-BE49-F238E27FC236}">
                <a16:creationId xmlns:a16="http://schemas.microsoft.com/office/drawing/2014/main" id="{28F6220A-CA3D-C1A1-F8E0-EC3D6D749C9E}"/>
              </a:ext>
            </a:extLst>
          </p:cNvPr>
          <p:cNvSpPr>
            <a:spLocks noGrp="1"/>
          </p:cNvSpPr>
          <p:nvPr>
            <p:ph type="title"/>
          </p:nvPr>
        </p:nvSpPr>
        <p:spPr>
          <a:xfrm>
            <a:off x="4498848" y="283464"/>
            <a:ext cx="12618720" cy="795528"/>
          </a:xfrm>
        </p:spPr>
        <p:txBody>
          <a:bodyPr anchor="ctr"/>
          <a:lstStyle/>
          <a:p>
            <a:r>
              <a:rPr lang="en-GB" noProof="0" dirty="0"/>
              <a:t>Tender strategies</a:t>
            </a:r>
          </a:p>
        </p:txBody>
      </p:sp>
      <p:sp>
        <p:nvSpPr>
          <p:cNvPr id="2" name="Slide Number Placeholder 1">
            <a:extLst>
              <a:ext uri="{FF2B5EF4-FFF2-40B4-BE49-F238E27FC236}">
                <a16:creationId xmlns:a16="http://schemas.microsoft.com/office/drawing/2014/main" id="{695E5A5C-46DB-BEDC-584B-134A0539A7B2}"/>
              </a:ext>
            </a:extLst>
          </p:cNvPr>
          <p:cNvSpPr>
            <a:spLocks noGrp="1"/>
          </p:cNvSpPr>
          <p:nvPr>
            <p:ph type="sldNum" sz="quarter" idx="4"/>
          </p:nvPr>
        </p:nvSpPr>
        <p:spPr/>
        <p:txBody>
          <a:bodyPr/>
          <a:lstStyle/>
          <a:p>
            <a:fld id="{52EEA166-2877-4493-9FAA-8D6952A82FC3}" type="slidenum">
              <a:rPr lang="en-GB" noProof="0" smtClean="0"/>
              <a:t>4</a:t>
            </a:fld>
            <a:endParaRPr lang="en-GB" noProof="0" dirty="0"/>
          </a:p>
        </p:txBody>
      </p:sp>
      <p:graphicFrame>
        <p:nvGraphicFramePr>
          <p:cNvPr id="14" name="Table 13">
            <a:extLst>
              <a:ext uri="{FF2B5EF4-FFF2-40B4-BE49-F238E27FC236}">
                <a16:creationId xmlns:a16="http://schemas.microsoft.com/office/drawing/2014/main" id="{93FD19EE-FC4A-32DF-6178-945B2C23B664}"/>
              </a:ext>
            </a:extLst>
          </p:cNvPr>
          <p:cNvGraphicFramePr>
            <a:graphicFrameLocks noGrp="1"/>
          </p:cNvGraphicFramePr>
          <p:nvPr>
            <p:extLst>
              <p:ext uri="{D42A27DB-BD31-4B8C-83A1-F6EECF244321}">
                <p14:modId xmlns:p14="http://schemas.microsoft.com/office/powerpoint/2010/main" val="2770148659"/>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5"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Commitment and points per criterion for the five bids, with the offerable range and maximum points</a:t>
            </a:r>
          </a:p>
        </p:txBody>
      </p:sp>
      <p:graphicFrame>
        <p:nvGraphicFramePr>
          <p:cNvPr id="16" name="Returns table"/>
          <p:cNvGraphicFramePr>
            <a:graphicFrameLocks noGrp="1"/>
          </p:cNvGraphicFramePr>
          <p:nvPr/>
        </p:nvGraphicFramePr>
        <p:xfrm>
          <a:off x="4498848" y="1600200"/>
          <a:ext cx="13716000" cy="6181344"/>
        </p:xfrm>
        <a:graphic>
          <a:graphicData uri="http://schemas.openxmlformats.org/drawingml/2006/table">
            <a:tbl>
              <a:tblPr>
                <a:tableStyleId>{5C22544A-7EE6-4342-B048-85BDC9FD1C3A}</a:tableStyleId>
              </a:tblPr>
              <a:tblGrid>
                <a:gridCol w="2587752"/>
                <a:gridCol w="868680"/>
                <a:gridCol w="566928"/>
                <a:gridCol w="1298448"/>
                <a:gridCol w="640080"/>
                <a:gridCol w="1298448"/>
                <a:gridCol w="640080"/>
                <a:gridCol w="1298448"/>
                <a:gridCol w="640080"/>
                <a:gridCol w="1298448"/>
                <a:gridCol w="640080"/>
                <a:gridCol w="1298448"/>
                <a:gridCol w="640080"/>
              </a:tblGrid>
              <a:tr h="475488">
                <a:tc>
                  <a:txBody>
                    <a:bodyPr/>
                    <a:lstStyle/>
                    <a:p>
                      <a:pPr algn="l"/>
                      <a:r>
                        <a:rPr/>
                        <a:t/>
                      </a:r>
                      <a:endParaRPr/>
                    </a:p>
                  </a:txBody>
                  <a:tcPr marL="73152" marR="73152" marT="27432" marB="27432" anchor="ctr">
                    <a:noFill/>
                  </a:tcPr>
                </a:tc>
                <a:tc>
                  <a:txBody>
                    <a:bodyPr/>
                    <a:lstStyle/>
                    <a:p>
                      <a:pPr algn="l"/>
                      <a:r>
                        <a:rPr/>
                        <a:t/>
                      </a:r>
                      <a:endParaRPr/>
                    </a:p>
                  </a:txBody>
                  <a:tcPr marL="73152" marR="73152" marT="27432" marB="27432" anchor="ctr">
                    <a:noFill/>
                  </a:tcPr>
                </a:tc>
                <a:tc>
                  <a:txBody>
                    <a:bodyPr/>
                    <a:lstStyle/>
                    <a:p>
                      <a:pPr algn="l"/>
                      <a:r>
                        <a:rPr/>
                        <a:t/>
                      </a:r>
                      <a:endParaRPr/>
                    </a:p>
                  </a:txBody>
                  <a:tcPr marL="73152" marR="73152" marT="27432" marB="27432" anchor="ctr">
                    <a:noFill/>
                  </a:tcPr>
                </a:tc>
                <a:tc gridSpan="2">
                  <a:txBody>
                    <a:bodyPr/>
                    <a:lstStyle/>
                    <a:p>
                      <a:pPr algn="l"/>
                      <a:r>
                        <a:rPr sz="1400" b="1" i="0">
                          <a:solidFill>
                            <a:srgbClr val="FFFFFF"/>
                          </a:solidFill>
                        </a:rPr>
                        <a:t>Strategy 0 – Zero bid</a:t>
                      </a:r>
                    </a:p>
                  </a:txBody>
                  <a:tcPr marL="73152" marR="73152" marT="27432" marB="27432" anchor="ctr">
                    <a:solidFill>
                      <a:srgbClr val="00563C"/>
                    </a:solidFill>
                  </a:tcPr>
                </a:tc>
                <a:tc hMerge="1">
                  <a:txBody>
                    <a:bodyPr/>
                    <a:lstStyle/>
                    <a:p>
                      <a:endParaRPr/>
                    </a:p>
                  </a:txBody>
                  <a:tcPr/>
                </a:tc>
                <a:tc gridSpan="2">
                  <a:txBody>
                    <a:bodyPr/>
                    <a:lstStyle/>
                    <a:p>
                      <a:pPr algn="l"/>
                      <a:r>
                        <a:rPr sz="1400" b="1" i="0">
                          <a:solidFill>
                            <a:srgbClr val="FFFFFF"/>
                          </a:solidFill>
                        </a:rPr>
                        <a:t>Strategy 1 – Current bid</a:t>
                      </a:r>
                    </a:p>
                  </a:txBody>
                  <a:tcPr marL="73152" marR="73152" marT="27432" marB="27432" anchor="ctr">
                    <a:solidFill>
                      <a:srgbClr val="00563C"/>
                    </a:solidFill>
                  </a:tcPr>
                </a:tc>
                <a:tc hMerge="1">
                  <a:txBody>
                    <a:bodyPr/>
                    <a:lstStyle/>
                    <a:p>
                      <a:endParaRPr/>
                    </a:p>
                  </a:txBody>
                  <a:tcPr/>
                </a:tc>
                <a:tc gridSpan="2">
                  <a:txBody>
                    <a:bodyPr/>
                    <a:lstStyle/>
                    <a:p>
                      <a:pPr algn="l"/>
                      <a:r>
                        <a:rPr sz="1400" b="1" i="0">
                          <a:solidFill>
                            <a:srgbClr val="FFFFFF"/>
                          </a:solidFill>
                        </a:rPr>
                        <a:t>Strategy 2 – Free points</a:t>
                      </a:r>
                    </a:p>
                  </a:txBody>
                  <a:tcPr marL="73152" marR="73152" marT="27432" marB="27432" anchor="ctr">
                    <a:solidFill>
                      <a:srgbClr val="00563C"/>
                    </a:solidFill>
                  </a:tcPr>
                </a:tc>
                <a:tc hMerge="1">
                  <a:txBody>
                    <a:bodyPr/>
                    <a:lstStyle/>
                    <a:p>
                      <a:endParaRPr/>
                    </a:p>
                  </a:txBody>
                  <a:tcPr/>
                </a:tc>
                <a:tc gridSpan="2">
                  <a:txBody>
                    <a:bodyPr/>
                    <a:lstStyle/>
                    <a:p>
                      <a:pPr algn="l"/>
                      <a:r>
                        <a:rPr sz="1400" b="1" i="0">
                          <a:solidFill>
                            <a:srgbClr val="FFFFFF"/>
                          </a:solidFill>
                        </a:rPr>
                        <a:t>Strategy 3 – Cost-efficient ~70 pts</a:t>
                      </a:r>
                    </a:p>
                  </a:txBody>
                  <a:tcPr marL="73152" marR="73152" marT="27432" marB="27432" anchor="ctr">
                    <a:solidFill>
                      <a:srgbClr val="00563C"/>
                    </a:solidFill>
                  </a:tcPr>
                </a:tc>
                <a:tc hMerge="1">
                  <a:txBody>
                    <a:bodyPr/>
                    <a:lstStyle/>
                    <a:p>
                      <a:endParaRPr/>
                    </a:p>
                  </a:txBody>
                  <a:tcPr/>
                </a:tc>
                <a:tc gridSpan="2">
                  <a:txBody>
                    <a:bodyPr/>
                    <a:lstStyle/>
                    <a:p>
                      <a:pPr algn="l"/>
                      <a:r>
                        <a:rPr sz="1400" b="1" i="0">
                          <a:solidFill>
                            <a:srgbClr val="FFFFFF"/>
                          </a:solidFill>
                        </a:rPr>
                        <a:t>Strategy 4 – Maximum score</a:t>
                      </a:r>
                    </a:p>
                  </a:txBody>
                  <a:tcPr marL="73152" marR="73152" marT="27432" marB="27432" anchor="ctr">
                    <a:solidFill>
                      <a:srgbClr val="00563C"/>
                    </a:solidFill>
                  </a:tcPr>
                </a:tc>
                <a:tc hMerge="1">
                  <a:txBody>
                    <a:bodyPr/>
                    <a:lstStyle/>
                    <a:p>
                      <a:endParaRPr/>
                    </a:p>
                  </a:txBody>
                  <a:tcPr/>
                </a:tc>
              </a:tr>
              <a:tr h="475488">
                <a:tc>
                  <a:txBody>
                    <a:bodyPr/>
                    <a:lstStyle/>
                    <a:p>
                      <a:pPr algn="l"/>
                      <a:r>
                        <a:rPr sz="1300" b="1" i="0">
                          <a:solidFill>
                            <a:srgbClr val="FFFFFF"/>
                          </a:solidFill>
                        </a:rPr>
                        <a:t>Criterion</a:t>
                      </a:r>
                    </a:p>
                  </a:txBody>
                  <a:tcPr marL="73152" marR="73152" marT="27432" marB="27432" anchor="ctr">
                    <a:solidFill>
                      <a:srgbClr val="00A651"/>
                    </a:solidFill>
                  </a:tcPr>
                </a:tc>
                <a:tc>
                  <a:txBody>
                    <a:bodyPr/>
                    <a:lstStyle/>
                    <a:p>
                      <a:pPr algn="l"/>
                      <a:r>
                        <a:rPr sz="1300" b="1" i="0">
                          <a:solidFill>
                            <a:srgbClr val="FFFFFF"/>
                          </a:solidFill>
                        </a:rPr>
                        <a:t>Range</a:t>
                      </a:r>
                    </a:p>
                  </a:txBody>
                  <a:tcPr marL="73152" marR="73152" marT="27432" marB="27432" anchor="ctr">
                    <a:solidFill>
                      <a:srgbClr val="00A651"/>
                    </a:solidFill>
                  </a:tcPr>
                </a:tc>
                <a:tc>
                  <a:txBody>
                    <a:bodyPr/>
                    <a:lstStyle/>
                    <a:p>
                      <a:pPr algn="l"/>
                      <a:r>
                        <a:rPr sz="1300" b="1" i="0">
                          <a:solidFill>
                            <a:srgbClr val="FFFFFF"/>
                          </a:solidFill>
                        </a:rPr>
                        <a:t>Max</a:t>
                      </a:r>
                    </a:p>
                  </a:txBody>
                  <a:tcPr marL="73152" marR="73152" marT="27432" marB="27432" anchor="ctr">
                    <a:solidFill>
                      <a:srgbClr val="00A651"/>
                    </a:solidFill>
                  </a:tcPr>
                </a:tc>
                <a:tc>
                  <a:txBody>
                    <a:bodyPr/>
                    <a:lstStyle/>
                    <a:p>
                      <a:pPr algn="r"/>
                      <a:r>
                        <a:rPr sz="1300" b="1" i="0">
                          <a:solidFill>
                            <a:srgbClr val="FFFFFF"/>
                          </a:solidFill>
                        </a:rPr>
                        <a:t>Offer</a:t>
                      </a:r>
                    </a:p>
                  </a:txBody>
                  <a:tcPr marL="73152" marR="73152" marT="27432" marB="27432" anchor="ctr">
                    <a:solidFill>
                      <a:srgbClr val="00A651"/>
                    </a:solidFill>
                  </a:tcPr>
                </a:tc>
                <a:tc>
                  <a:txBody>
                    <a:bodyPr/>
                    <a:lstStyle/>
                    <a:p>
                      <a:pPr algn="r"/>
                      <a:r>
                        <a:rPr sz="1300" b="1" i="0">
                          <a:solidFill>
                            <a:srgbClr val="FFFFFF"/>
                          </a:solidFill>
                        </a:rPr>
                        <a:t>Pts</a:t>
                      </a:r>
                    </a:p>
                  </a:txBody>
                  <a:tcPr marL="73152" marR="73152" marT="27432" marB="27432" anchor="ctr">
                    <a:solidFill>
                      <a:srgbClr val="00A651"/>
                    </a:solidFill>
                  </a:tcPr>
                </a:tc>
                <a:tc>
                  <a:txBody>
                    <a:bodyPr/>
                    <a:lstStyle/>
                    <a:p>
                      <a:pPr algn="r"/>
                      <a:r>
                        <a:rPr sz="1300" b="1" i="0">
                          <a:solidFill>
                            <a:srgbClr val="FFFFFF"/>
                          </a:solidFill>
                        </a:rPr>
                        <a:t>Offer</a:t>
                      </a:r>
                    </a:p>
                  </a:txBody>
                  <a:tcPr marL="73152" marR="73152" marT="27432" marB="27432" anchor="ctr">
                    <a:solidFill>
                      <a:srgbClr val="00A651"/>
                    </a:solidFill>
                  </a:tcPr>
                </a:tc>
                <a:tc>
                  <a:txBody>
                    <a:bodyPr/>
                    <a:lstStyle/>
                    <a:p>
                      <a:pPr algn="r"/>
                      <a:r>
                        <a:rPr sz="1300" b="1" i="0">
                          <a:solidFill>
                            <a:srgbClr val="FFFFFF"/>
                          </a:solidFill>
                        </a:rPr>
                        <a:t>Pts</a:t>
                      </a:r>
                    </a:p>
                  </a:txBody>
                  <a:tcPr marL="73152" marR="73152" marT="27432" marB="27432" anchor="ctr">
                    <a:solidFill>
                      <a:srgbClr val="00A651"/>
                    </a:solidFill>
                  </a:tcPr>
                </a:tc>
                <a:tc>
                  <a:txBody>
                    <a:bodyPr/>
                    <a:lstStyle/>
                    <a:p>
                      <a:pPr algn="r"/>
                      <a:r>
                        <a:rPr sz="1300" b="1" i="0">
                          <a:solidFill>
                            <a:srgbClr val="FFFFFF"/>
                          </a:solidFill>
                        </a:rPr>
                        <a:t>Offer</a:t>
                      </a:r>
                    </a:p>
                  </a:txBody>
                  <a:tcPr marL="73152" marR="73152" marT="27432" marB="27432" anchor="ctr">
                    <a:solidFill>
                      <a:srgbClr val="00A651"/>
                    </a:solidFill>
                  </a:tcPr>
                </a:tc>
                <a:tc>
                  <a:txBody>
                    <a:bodyPr/>
                    <a:lstStyle/>
                    <a:p>
                      <a:pPr algn="r"/>
                      <a:r>
                        <a:rPr sz="1300" b="1" i="0">
                          <a:solidFill>
                            <a:srgbClr val="FFFFFF"/>
                          </a:solidFill>
                        </a:rPr>
                        <a:t>Pts</a:t>
                      </a:r>
                    </a:p>
                  </a:txBody>
                  <a:tcPr marL="73152" marR="73152" marT="27432" marB="27432" anchor="ctr">
                    <a:solidFill>
                      <a:srgbClr val="00A651"/>
                    </a:solidFill>
                  </a:tcPr>
                </a:tc>
                <a:tc>
                  <a:txBody>
                    <a:bodyPr/>
                    <a:lstStyle/>
                    <a:p>
                      <a:pPr algn="r"/>
                      <a:r>
                        <a:rPr sz="1300" b="1" i="0">
                          <a:solidFill>
                            <a:srgbClr val="FFFFFF"/>
                          </a:solidFill>
                        </a:rPr>
                        <a:t>Offer</a:t>
                      </a:r>
                    </a:p>
                  </a:txBody>
                  <a:tcPr marL="73152" marR="73152" marT="27432" marB="27432" anchor="ctr">
                    <a:solidFill>
                      <a:srgbClr val="00A651"/>
                    </a:solidFill>
                  </a:tcPr>
                </a:tc>
                <a:tc>
                  <a:txBody>
                    <a:bodyPr/>
                    <a:lstStyle/>
                    <a:p>
                      <a:pPr algn="r"/>
                      <a:r>
                        <a:rPr sz="1300" b="1" i="0">
                          <a:solidFill>
                            <a:srgbClr val="FFFFFF"/>
                          </a:solidFill>
                        </a:rPr>
                        <a:t>Pts</a:t>
                      </a:r>
                    </a:p>
                  </a:txBody>
                  <a:tcPr marL="73152" marR="73152" marT="27432" marB="27432" anchor="ctr">
                    <a:solidFill>
                      <a:srgbClr val="00A651"/>
                    </a:solidFill>
                  </a:tcPr>
                </a:tc>
                <a:tc>
                  <a:txBody>
                    <a:bodyPr/>
                    <a:lstStyle/>
                    <a:p>
                      <a:pPr algn="r"/>
                      <a:r>
                        <a:rPr sz="1300" b="1" i="0">
                          <a:solidFill>
                            <a:srgbClr val="FFFFFF"/>
                          </a:solidFill>
                        </a:rPr>
                        <a:t>Offer</a:t>
                      </a:r>
                    </a:p>
                  </a:txBody>
                  <a:tcPr marL="73152" marR="73152" marT="27432" marB="27432" anchor="ctr">
                    <a:solidFill>
                      <a:srgbClr val="00A651"/>
                    </a:solidFill>
                  </a:tcPr>
                </a:tc>
                <a:tc>
                  <a:txBody>
                    <a:bodyPr/>
                    <a:lstStyle/>
                    <a:p>
                      <a:pPr algn="r"/>
                      <a:r>
                        <a:rPr sz="1300" b="1" i="0">
                          <a:solidFill>
                            <a:srgbClr val="FFFFFF"/>
                          </a:solidFill>
                        </a:rPr>
                        <a:t>Pts</a:t>
                      </a:r>
                    </a:p>
                  </a:txBody>
                  <a:tcPr marL="73152" marR="73152" marT="27432" marB="27432" anchor="ctr">
                    <a:solidFill>
                      <a:srgbClr val="00A651"/>
                    </a:solidFill>
                  </a:tcPr>
                </a:tc>
              </a:tr>
              <a:tr h="475488">
                <a:tc>
                  <a:txBody>
                    <a:bodyPr/>
                    <a:lstStyle/>
                    <a:p>
                      <a:pPr algn="l"/>
                      <a:r>
                        <a:rPr sz="1300" b="0" i="0">
                          <a:solidFill>
                            <a:srgbClr val="3C3C3B"/>
                          </a:solidFill>
                        </a:rPr>
                        <a:t>ÖSZ-1 Municipal (k€/MW)</a:t>
                      </a:r>
                    </a:p>
                  </a:txBody>
                  <a:tcPr marL="73152" marR="73152" marT="27432" marB="27432" anchor="ctr">
                    <a:solidFill>
                      <a:srgbClr val="F2F2F2"/>
                    </a:solidFill>
                  </a:tcPr>
                </a:tc>
                <a:tc>
                  <a:txBody>
                    <a:bodyPr/>
                    <a:lstStyle/>
                    <a:p>
                      <a:pPr algn="l"/>
                      <a:r>
                        <a:rPr sz="1300" b="0" i="0">
                          <a:solidFill>
                            <a:srgbClr val="919191"/>
                          </a:solidFill>
                        </a:rPr>
                        <a:t>0 – 50</a:t>
                      </a:r>
                    </a:p>
                  </a:txBody>
                  <a:tcPr marL="73152" marR="73152" marT="27432" marB="27432" anchor="ctr">
                    <a:solidFill>
                      <a:srgbClr val="F2F2F2"/>
                    </a:solidFill>
                  </a:tcPr>
                </a:tc>
                <a:tc>
                  <a:txBody>
                    <a:bodyPr/>
                    <a:lstStyle/>
                    <a:p>
                      <a:pPr algn="l"/>
                      <a:r>
                        <a:rPr sz="1300" b="0" i="0">
                          <a:solidFill>
                            <a:srgbClr val="919191"/>
                          </a:solidFill>
                        </a:rPr>
                        <a:t>20</a:t>
                      </a:r>
                    </a:p>
                  </a:txBody>
                  <a:tcPr marL="73152" marR="73152" marT="27432" marB="27432" anchor="ctr">
                    <a:solidFill>
                      <a:srgbClr val="F2F2F2"/>
                    </a:solidFill>
                  </a:tcPr>
                </a:tc>
                <a:tc>
                  <a:txBody>
                    <a:bodyPr/>
                    <a:lstStyle/>
                    <a:p>
                      <a:pPr algn="r"/>
                      <a:r>
                        <a:rPr sz="1300" b="0" i="0">
                          <a:solidFill>
                            <a:srgbClr val="3C3C3B"/>
                          </a:solidFill>
                        </a:rPr>
                        <a:t>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20</a:t>
                      </a:r>
                    </a:p>
                  </a:txBody>
                  <a:tcPr marL="73152" marR="73152" marT="27432" marB="27432" anchor="ctr">
                    <a:noFill/>
                  </a:tcPr>
                </a:tc>
                <a:tc>
                  <a:txBody>
                    <a:bodyPr/>
                    <a:lstStyle/>
                    <a:p>
                      <a:pPr algn="r"/>
                      <a:r>
                        <a:rPr sz="1300" b="0" i="0">
                          <a:solidFill>
                            <a:srgbClr val="3C3C3B"/>
                          </a:solidFill>
                        </a:rPr>
                        <a:t>4.0</a:t>
                      </a:r>
                    </a:p>
                  </a:txBody>
                  <a:tcPr marL="73152" marR="73152" marT="27432" marB="27432" anchor="ctr">
                    <a:noFill/>
                  </a:tcPr>
                </a:tc>
                <a:tc>
                  <a:txBody>
                    <a:bodyPr/>
                    <a:lstStyle/>
                    <a:p>
                      <a:pPr algn="r"/>
                      <a:r>
                        <a:rPr sz="1300" b="0" i="0">
                          <a:solidFill>
                            <a:srgbClr val="3C3C3B"/>
                          </a:solidFill>
                        </a:rPr>
                        <a:t>20</a:t>
                      </a:r>
                    </a:p>
                  </a:txBody>
                  <a:tcPr marL="73152" marR="73152" marT="27432" marB="27432" anchor="ctr">
                    <a:noFill/>
                  </a:tcPr>
                </a:tc>
                <a:tc>
                  <a:txBody>
                    <a:bodyPr/>
                    <a:lstStyle/>
                    <a:p>
                      <a:pPr algn="r"/>
                      <a:r>
                        <a:rPr sz="1300" b="0" i="0">
                          <a:solidFill>
                            <a:srgbClr val="3C3C3B"/>
                          </a:solidFill>
                        </a:rPr>
                        <a:t>4.0</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20.0</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20.0</a:t>
                      </a:r>
                    </a:p>
                  </a:txBody>
                  <a:tcPr marL="73152" marR="73152" marT="27432" marB="27432" anchor="ctr">
                    <a:noFill/>
                  </a:tcPr>
                </a:tc>
              </a:tr>
              <a:tr h="475488">
                <a:tc>
                  <a:txBody>
                    <a:bodyPr/>
                    <a:lstStyle/>
                    <a:p>
                      <a:pPr algn="l"/>
                      <a:r>
                        <a:rPr sz="1300" b="0" i="0">
                          <a:solidFill>
                            <a:srgbClr val="3C3C3B"/>
                          </a:solidFill>
                        </a:rPr>
                        <a:t>ÖSZ-2 Community (€/MWh)</a:t>
                      </a:r>
                    </a:p>
                  </a:txBody>
                  <a:tcPr marL="73152" marR="73152" marT="27432" marB="27432" anchor="ctr">
                    <a:solidFill>
                      <a:srgbClr val="F2F2F2"/>
                    </a:solidFill>
                  </a:tcPr>
                </a:tc>
                <a:tc>
                  <a:txBody>
                    <a:bodyPr/>
                    <a:lstStyle/>
                    <a:p>
                      <a:pPr algn="l"/>
                      <a:r>
                        <a:rPr sz="1300" b="0" i="0">
                          <a:solidFill>
                            <a:srgbClr val="919191"/>
                          </a:solidFill>
                        </a:rPr>
                        <a:t>0 – 3.0</a:t>
                      </a:r>
                    </a:p>
                  </a:txBody>
                  <a:tcPr marL="73152" marR="73152" marT="27432" marB="27432" anchor="ctr">
                    <a:solidFill>
                      <a:srgbClr val="F2F2F2"/>
                    </a:solidFill>
                  </a:tcPr>
                </a:tc>
                <a:tc>
                  <a:txBody>
                    <a:bodyPr/>
                    <a:lstStyle/>
                    <a:p>
                      <a:pPr algn="l"/>
                      <a:r>
                        <a:rPr sz="1300" b="0" i="0">
                          <a:solidFill>
                            <a:srgbClr val="919191"/>
                          </a:solidFill>
                        </a:rPr>
                        <a:t>15</a:t>
                      </a:r>
                    </a:p>
                  </a:txBody>
                  <a:tcPr marL="73152" marR="73152" marT="27432" marB="27432" anchor="ctr">
                    <a:solidFill>
                      <a:srgbClr val="F2F2F2"/>
                    </a:solid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2.0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2.0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2.0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3.0</a:t>
                      </a:r>
                    </a:p>
                  </a:txBody>
                  <a:tcPr marL="73152" marR="73152" marT="27432" marB="27432" anchor="ctr">
                    <a:noFill/>
                  </a:tcPr>
                </a:tc>
                <a:tc>
                  <a:txBody>
                    <a:bodyPr/>
                    <a:lstStyle/>
                    <a:p>
                      <a:pPr algn="r"/>
                      <a:r>
                        <a:rPr sz="1300" b="0" i="0">
                          <a:solidFill>
                            <a:srgbClr val="3C3C3B"/>
                          </a:solidFill>
                        </a:rPr>
                        <a:t>15.0</a:t>
                      </a:r>
                    </a:p>
                  </a:txBody>
                  <a:tcPr marL="73152" marR="73152" marT="27432" marB="27432" anchor="ctr">
                    <a:noFill/>
                  </a:tcPr>
                </a:tc>
              </a:tr>
              <a:tr h="475488">
                <a:tc>
                  <a:txBody>
                    <a:bodyPr/>
                    <a:lstStyle/>
                    <a:p>
                      <a:pPr algn="l"/>
                      <a:r>
                        <a:rPr sz="1300" b="0" i="0">
                          <a:solidFill>
                            <a:srgbClr val="3C3C3B"/>
                          </a:solidFill>
                        </a:rPr>
                        <a:t>ÖSZ-3 Overbuild (%)</a:t>
                      </a:r>
                    </a:p>
                  </a:txBody>
                  <a:tcPr marL="73152" marR="73152" marT="27432" marB="27432" anchor="ctr">
                    <a:solidFill>
                      <a:srgbClr val="F2F2F2"/>
                    </a:solidFill>
                  </a:tcPr>
                </a:tc>
                <a:tc>
                  <a:txBody>
                    <a:bodyPr/>
                    <a:lstStyle/>
                    <a:p>
                      <a:pPr algn="l"/>
                      <a:r>
                        <a:rPr sz="1300" b="0" i="0">
                          <a:solidFill>
                            <a:srgbClr val="919191"/>
                          </a:solidFill>
                        </a:rPr>
                        <a:t>0 – 50+</a:t>
                      </a:r>
                    </a:p>
                  </a:txBody>
                  <a:tcPr marL="73152" marR="73152" marT="27432" marB="27432" anchor="ctr">
                    <a:solidFill>
                      <a:srgbClr val="F2F2F2"/>
                    </a:solidFill>
                  </a:tcPr>
                </a:tc>
                <a:tc>
                  <a:txBody>
                    <a:bodyPr/>
                    <a:lstStyle/>
                    <a:p>
                      <a:pPr algn="l"/>
                      <a:r>
                        <a:rPr sz="1300" b="0" i="0">
                          <a:solidFill>
                            <a:srgbClr val="919191"/>
                          </a:solidFill>
                        </a:rPr>
                        <a:t>10</a:t>
                      </a:r>
                    </a:p>
                  </a:txBody>
                  <a:tcPr marL="73152" marR="73152" marT="27432" marB="27432" anchor="ctr">
                    <a:solidFill>
                      <a:srgbClr val="F2F2F2"/>
                    </a:solid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30.5%</a:t>
                      </a:r>
                    </a:p>
                  </a:txBody>
                  <a:tcPr marL="73152" marR="73152" marT="27432" marB="27432" anchor="ctr">
                    <a:noFill/>
                  </a:tcPr>
                </a:tc>
                <a:tc>
                  <a:txBody>
                    <a:bodyPr/>
                    <a:lstStyle/>
                    <a:p>
                      <a:pPr algn="r"/>
                      <a:r>
                        <a:rPr sz="1300" b="0" i="0">
                          <a:solidFill>
                            <a:srgbClr val="3C3C3B"/>
                          </a:solidFill>
                        </a:rPr>
                        <a:t>7.0</a:t>
                      </a:r>
                    </a:p>
                  </a:txBody>
                  <a:tcPr marL="73152" marR="73152" marT="27432" marB="27432" anchor="ctr">
                    <a:noFill/>
                  </a:tcPr>
                </a:tc>
                <a:tc>
                  <a:txBody>
                    <a:bodyPr/>
                    <a:lstStyle/>
                    <a:p>
                      <a:pPr algn="r"/>
                      <a:r>
                        <a:rPr sz="1300" b="0" i="0">
                          <a:solidFill>
                            <a:srgbClr val="3C3C3B"/>
                          </a:solidFill>
                        </a:rPr>
                        <a:t>40.0%</a:t>
                      </a:r>
                    </a:p>
                  </a:txBody>
                  <a:tcPr marL="73152" marR="73152" marT="27432" marB="27432" anchor="ctr">
                    <a:noFill/>
                  </a:tcPr>
                </a:tc>
                <a:tc>
                  <a:txBody>
                    <a:bodyPr/>
                    <a:lstStyle/>
                    <a:p>
                      <a:pPr algn="r"/>
                      <a:r>
                        <a:rPr sz="1300" b="0" i="0">
                          <a:solidFill>
                            <a:srgbClr val="3C3C3B"/>
                          </a:solidFill>
                        </a:rPr>
                        <a:t>9.0</a:t>
                      </a:r>
                    </a:p>
                  </a:txBody>
                  <a:tcPr marL="73152" marR="73152" marT="27432" marB="27432" anchor="ctr">
                    <a:noFill/>
                  </a:tcPr>
                </a:tc>
                <a:tc>
                  <a:txBody>
                    <a:bodyPr/>
                    <a:lstStyle/>
                    <a:p>
                      <a:pPr algn="r"/>
                      <a:r>
                        <a:rPr sz="1300" b="0" i="0">
                          <a:solidFill>
                            <a:srgbClr val="3C3C3B"/>
                          </a:solidFill>
                        </a:rPr>
                        <a:t>40.0%</a:t>
                      </a:r>
                    </a:p>
                  </a:txBody>
                  <a:tcPr marL="73152" marR="73152" marT="27432" marB="27432" anchor="ctr">
                    <a:noFill/>
                  </a:tcPr>
                </a:tc>
                <a:tc>
                  <a:txBody>
                    <a:bodyPr/>
                    <a:lstStyle/>
                    <a:p>
                      <a:pPr algn="r"/>
                      <a:r>
                        <a:rPr sz="1300" b="0" i="0">
                          <a:solidFill>
                            <a:srgbClr val="3C3C3B"/>
                          </a:solidFill>
                        </a:rPr>
                        <a:t>9.0</a:t>
                      </a:r>
                    </a:p>
                  </a:txBody>
                  <a:tcPr marL="73152" marR="73152" marT="27432" marB="27432" anchor="ctr">
                    <a:noFill/>
                  </a:tcPr>
                </a:tc>
                <a:tc>
                  <a:txBody>
                    <a:bodyPr/>
                    <a:lstStyle/>
                    <a:p>
                      <a:pPr algn="r"/>
                      <a:r>
                        <a:rPr sz="1300" b="0" i="0">
                          <a:solidFill>
                            <a:srgbClr val="3C3C3B"/>
                          </a:solidFill>
                        </a:rPr>
                        <a:t>54.0%</a:t>
                      </a:r>
                    </a:p>
                  </a:txBody>
                  <a:tcPr marL="73152" marR="73152" marT="27432" marB="27432" anchor="ctr">
                    <a:noFill/>
                  </a:tcPr>
                </a:tc>
                <a:tc>
                  <a:txBody>
                    <a:bodyPr/>
                    <a:lstStyle/>
                    <a:p>
                      <a:pPr algn="r"/>
                      <a:r>
                        <a:rPr sz="1300" b="0" i="0">
                          <a:solidFill>
                            <a:srgbClr val="3C3C3B"/>
                          </a:solidFill>
                        </a:rPr>
                        <a:t>10.0</a:t>
                      </a:r>
                    </a:p>
                  </a:txBody>
                  <a:tcPr marL="73152" marR="73152" marT="27432" marB="27432" anchor="ctr">
                    <a:noFill/>
                  </a:tcPr>
                </a:tc>
              </a:tr>
              <a:tr h="475488">
                <a:tc>
                  <a:txBody>
                    <a:bodyPr/>
                    <a:lstStyle/>
                    <a:p>
                      <a:pPr algn="l"/>
                      <a:r>
                        <a:rPr sz="1300" b="0" i="0">
                          <a:solidFill>
                            <a:srgbClr val="3C3C3B"/>
                          </a:solidFill>
                        </a:rPr>
                        <a:t>ÖSZ-4 Battery (4 h)</a:t>
                      </a:r>
                    </a:p>
                  </a:txBody>
                  <a:tcPr marL="73152" marR="73152" marT="27432" marB="27432" anchor="ctr">
                    <a:solidFill>
                      <a:srgbClr val="F2F2F2"/>
                    </a:solidFill>
                  </a:tcPr>
                </a:tc>
                <a:tc>
                  <a:txBody>
                    <a:bodyPr/>
                    <a:lstStyle/>
                    <a:p>
                      <a:pPr algn="l"/>
                      <a:r>
                        <a:rPr sz="1300" b="0" i="0">
                          <a:solidFill>
                            <a:srgbClr val="919191"/>
                          </a:solidFill>
                        </a:rPr>
                        <a:t>0, or 5 – 50+</a:t>
                      </a:r>
                    </a:p>
                  </a:txBody>
                  <a:tcPr marL="73152" marR="73152" marT="27432" marB="27432" anchor="ctr">
                    <a:solidFill>
                      <a:srgbClr val="F2F2F2"/>
                    </a:solidFill>
                  </a:tcPr>
                </a:tc>
                <a:tc>
                  <a:txBody>
                    <a:bodyPr/>
                    <a:lstStyle/>
                    <a:p>
                      <a:pPr algn="l"/>
                      <a:r>
                        <a:rPr sz="1300" b="0" i="0">
                          <a:solidFill>
                            <a:srgbClr val="919191"/>
                          </a:solidFill>
                        </a:rPr>
                        <a:t>15</a:t>
                      </a:r>
                    </a:p>
                  </a:txBody>
                  <a:tcPr marL="73152" marR="73152" marT="27432" marB="27432" anchor="ctr">
                    <a:solidFill>
                      <a:srgbClr val="F2F2F2"/>
                    </a:solidFill>
                  </a:tcPr>
                </a:tc>
                <a:tc>
                  <a:txBody>
                    <a:bodyPr/>
                    <a:lstStyle/>
                    <a:p>
                      <a:pPr algn="r"/>
                      <a:r>
                        <a:rPr sz="1300" b="0" i="0">
                          <a:solidFill>
                            <a:srgbClr val="3C3C3B"/>
                          </a:solidFill>
                        </a:rPr>
                        <a:t>0 MW</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90 MW</a:t>
                      </a:r>
                    </a:p>
                  </a:txBody>
                  <a:tcPr marL="73152" marR="73152" marT="27432" marB="27432" anchor="ctr">
                    <a:noFill/>
                  </a:tcPr>
                </a:tc>
                <a:tc>
                  <a:txBody>
                    <a:bodyPr/>
                    <a:lstStyle/>
                    <a:p>
                      <a:pPr algn="r"/>
                      <a:r>
                        <a:rPr sz="1300" b="0" i="0">
                          <a:solidFill>
                            <a:srgbClr val="3C3C3B"/>
                          </a:solidFill>
                        </a:rPr>
                        <a:t>10.5</a:t>
                      </a:r>
                    </a:p>
                  </a:txBody>
                  <a:tcPr marL="73152" marR="73152" marT="27432" marB="27432" anchor="ctr">
                    <a:noFill/>
                  </a:tcPr>
                </a:tc>
                <a:tc>
                  <a:txBody>
                    <a:bodyPr/>
                    <a:lstStyle/>
                    <a:p>
                      <a:pPr algn="r"/>
                      <a:r>
                        <a:rPr sz="1300" b="0" i="0">
                          <a:solidFill>
                            <a:srgbClr val="3C3C3B"/>
                          </a:solidFill>
                        </a:rPr>
                        <a:t>90 MW</a:t>
                      </a:r>
                    </a:p>
                  </a:txBody>
                  <a:tcPr marL="73152" marR="73152" marT="27432" marB="27432" anchor="ctr">
                    <a:noFill/>
                  </a:tcPr>
                </a:tc>
                <a:tc>
                  <a:txBody>
                    <a:bodyPr/>
                    <a:lstStyle/>
                    <a:p>
                      <a:pPr algn="r"/>
                      <a:r>
                        <a:rPr sz="1300" b="0" i="0">
                          <a:solidFill>
                            <a:srgbClr val="3C3C3B"/>
                          </a:solidFill>
                        </a:rPr>
                        <a:t>10.5</a:t>
                      </a:r>
                    </a:p>
                  </a:txBody>
                  <a:tcPr marL="73152" marR="73152" marT="27432" marB="27432" anchor="ctr">
                    <a:noFill/>
                  </a:tcPr>
                </a:tc>
                <a:tc>
                  <a:txBody>
                    <a:bodyPr/>
                    <a:lstStyle/>
                    <a:p>
                      <a:pPr algn="r"/>
                      <a:r>
                        <a:rPr sz="1300" b="0" i="0">
                          <a:solidFill>
                            <a:srgbClr val="3C3C3B"/>
                          </a:solidFill>
                        </a:rPr>
                        <a:t>90 MW</a:t>
                      </a:r>
                    </a:p>
                  </a:txBody>
                  <a:tcPr marL="73152" marR="73152" marT="27432" marB="27432" anchor="ctr">
                    <a:noFill/>
                  </a:tcPr>
                </a:tc>
                <a:tc>
                  <a:txBody>
                    <a:bodyPr/>
                    <a:lstStyle/>
                    <a:p>
                      <a:pPr algn="r"/>
                      <a:r>
                        <a:rPr sz="1300" b="0" i="0">
                          <a:solidFill>
                            <a:srgbClr val="3C3C3B"/>
                          </a:solidFill>
                        </a:rPr>
                        <a:t>10.5</a:t>
                      </a:r>
                    </a:p>
                  </a:txBody>
                  <a:tcPr marL="73152" marR="73152" marT="27432" marB="27432" anchor="ctr">
                    <a:noFill/>
                  </a:tcPr>
                </a:tc>
                <a:tc>
                  <a:txBody>
                    <a:bodyPr/>
                    <a:lstStyle/>
                    <a:p>
                      <a:pPr algn="r"/>
                      <a:r>
                        <a:rPr sz="1300" b="0" i="0">
                          <a:solidFill>
                            <a:srgbClr val="3C3C3B"/>
                          </a:solidFill>
                        </a:rPr>
                        <a:t>157 MW</a:t>
                      </a:r>
                    </a:p>
                  </a:txBody>
                  <a:tcPr marL="73152" marR="73152" marT="27432" marB="27432" anchor="ctr">
                    <a:noFill/>
                  </a:tcPr>
                </a:tc>
                <a:tc>
                  <a:txBody>
                    <a:bodyPr/>
                    <a:lstStyle/>
                    <a:p>
                      <a:pPr algn="r"/>
                      <a:r>
                        <a:rPr sz="1300" b="0" i="0">
                          <a:solidFill>
                            <a:srgbClr val="3C3C3B"/>
                          </a:solidFill>
                        </a:rPr>
                        <a:t>15.0</a:t>
                      </a:r>
                    </a:p>
                  </a:txBody>
                  <a:tcPr marL="73152" marR="73152" marT="27432" marB="27432" anchor="ctr">
                    <a:noFill/>
                  </a:tcPr>
                </a:tc>
              </a:tr>
              <a:tr h="475488">
                <a:tc>
                  <a:txBody>
                    <a:bodyPr/>
                    <a:lstStyle/>
                    <a:p>
                      <a:pPr algn="l"/>
                      <a:r>
                        <a:rPr sz="1300" b="0" i="0">
                          <a:solidFill>
                            <a:srgbClr val="3C3C3B"/>
                          </a:solidFill>
                        </a:rPr>
                        <a:t>ÖSZ-5 Partial award</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l"/>
                      <a:r>
                        <a:rPr sz="1300" b="0" i="0">
                          <a:solidFill>
                            <a:srgbClr val="919191"/>
                          </a:solidFill>
                        </a:rPr>
                        <a:t>5</a:t>
                      </a:r>
                    </a:p>
                  </a:txBody>
                  <a:tcPr marL="73152" marR="73152" marT="27432" marB="27432" anchor="ctr">
                    <a:solidFill>
                      <a:srgbClr val="F2F2F2"/>
                    </a:solidFill>
                  </a:tcPr>
                </a:tc>
                <a:tc>
                  <a:txBody>
                    <a:bodyPr/>
                    <a:lstStyle/>
                    <a:p>
                      <a:pPr algn="r"/>
                      <a:r>
                        <a:rPr sz="1300" b="0" i="0">
                          <a:solidFill>
                            <a:srgbClr val="3C3C3B"/>
                          </a:solidFill>
                        </a:rPr>
                        <a:t>No</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No</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Yes</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Yes</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Yes</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r>
              <a:tr h="475488">
                <a:tc>
                  <a:txBody>
                    <a:bodyPr/>
                    <a:lstStyle/>
                    <a:p>
                      <a:pPr algn="l"/>
                      <a:r>
                        <a:rPr sz="1300" b="0" i="0">
                          <a:solidFill>
                            <a:srgbClr val="3C3C3B"/>
                          </a:solidFill>
                        </a:rPr>
                        <a:t>ÖSZ-6 Security (% of min.)</a:t>
                      </a:r>
                    </a:p>
                  </a:txBody>
                  <a:tcPr marL="73152" marR="73152" marT="27432" marB="27432" anchor="ctr">
                    <a:solidFill>
                      <a:srgbClr val="F2F2F2"/>
                    </a:solidFill>
                  </a:tcPr>
                </a:tc>
                <a:tc>
                  <a:txBody>
                    <a:bodyPr/>
                    <a:lstStyle/>
                    <a:p>
                      <a:pPr algn="l"/>
                      <a:r>
                        <a:rPr sz="1300" b="0" i="0">
                          <a:solidFill>
                            <a:srgbClr val="919191"/>
                          </a:solidFill>
                        </a:rPr>
                        <a:t>100 – 200</a:t>
                      </a:r>
                    </a:p>
                  </a:txBody>
                  <a:tcPr marL="73152" marR="73152" marT="27432" marB="27432" anchor="ctr">
                    <a:solidFill>
                      <a:srgbClr val="F2F2F2"/>
                    </a:solidFill>
                  </a:tcPr>
                </a:tc>
                <a:tc>
                  <a:txBody>
                    <a:bodyPr/>
                    <a:lstStyle/>
                    <a:p>
                      <a:pPr algn="l"/>
                      <a:r>
                        <a:rPr sz="1300" b="0" i="0">
                          <a:solidFill>
                            <a:srgbClr val="919191"/>
                          </a:solidFill>
                        </a:rPr>
                        <a:t>5</a:t>
                      </a:r>
                    </a:p>
                  </a:txBody>
                  <a:tcPr marL="73152" marR="73152" marT="27432" marB="27432" anchor="ctr">
                    <a:solidFill>
                      <a:srgbClr val="F2F2F2"/>
                    </a:solidFill>
                  </a:tcPr>
                </a:tc>
                <a:tc>
                  <a:txBody>
                    <a:bodyPr/>
                    <a:lstStyle/>
                    <a:p>
                      <a:pPr algn="r"/>
                      <a:r>
                        <a:rPr sz="1300" b="0" i="0">
                          <a:solidFill>
                            <a:srgbClr val="3C3C3B"/>
                          </a:solidFill>
                        </a:rPr>
                        <a:t>100%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150%</a:t>
                      </a:r>
                    </a:p>
                  </a:txBody>
                  <a:tcPr marL="73152" marR="73152" marT="27432" marB="27432" anchor="ctr">
                    <a:noFill/>
                  </a:tcPr>
                </a:tc>
                <a:tc>
                  <a:txBody>
                    <a:bodyPr/>
                    <a:lstStyle/>
                    <a:p>
                      <a:pPr algn="r"/>
                      <a:r>
                        <a:rPr sz="1300" b="0" i="0">
                          <a:solidFill>
                            <a:srgbClr val="3C3C3B"/>
                          </a:solidFill>
                        </a:rPr>
                        <a:t>2.5</a:t>
                      </a:r>
                    </a:p>
                  </a:txBody>
                  <a:tcPr marL="73152" marR="73152" marT="27432" marB="27432" anchor="ctr">
                    <a:noFill/>
                  </a:tcPr>
                </a:tc>
                <a:tc>
                  <a:txBody>
                    <a:bodyPr/>
                    <a:lstStyle/>
                    <a:p>
                      <a:pPr algn="r"/>
                      <a:r>
                        <a:rPr sz="1300" b="0" i="0">
                          <a:solidFill>
                            <a:srgbClr val="3C3C3B"/>
                          </a:solidFill>
                        </a:rPr>
                        <a:t>160%</a:t>
                      </a:r>
                    </a:p>
                  </a:txBody>
                  <a:tcPr marL="73152" marR="73152" marT="27432" marB="27432" anchor="ctr">
                    <a:noFill/>
                  </a:tcPr>
                </a:tc>
                <a:tc>
                  <a:txBody>
                    <a:bodyPr/>
                    <a:lstStyle/>
                    <a:p>
                      <a:pPr algn="r"/>
                      <a:r>
                        <a:rPr sz="1300" b="0" i="0">
                          <a:solidFill>
                            <a:srgbClr val="3C3C3B"/>
                          </a:solidFill>
                        </a:rPr>
                        <a:t>3.0</a:t>
                      </a:r>
                    </a:p>
                  </a:txBody>
                  <a:tcPr marL="73152" marR="73152" marT="27432" marB="27432" anchor="ctr">
                    <a:noFill/>
                  </a:tcPr>
                </a:tc>
                <a:tc>
                  <a:txBody>
                    <a:bodyPr/>
                    <a:lstStyle/>
                    <a:p>
                      <a:pPr algn="r"/>
                      <a:r>
                        <a:rPr sz="1300" b="0" i="0">
                          <a:solidFill>
                            <a:srgbClr val="3C3C3B"/>
                          </a:solidFill>
                        </a:rPr>
                        <a:t>200%</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210%</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r>
              <a:tr h="475488">
                <a:tc>
                  <a:txBody>
                    <a:bodyPr/>
                    <a:lstStyle/>
                    <a:p>
                      <a:pPr algn="l"/>
                      <a:r>
                        <a:rPr sz="1300" b="0" i="0">
                          <a:solidFill>
                            <a:srgbClr val="3C3C3B"/>
                          </a:solidFill>
                        </a:rPr>
                        <a:t>ÖSZ-8 Shared connection</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l"/>
                      <a:r>
                        <a:rPr sz="1300" b="0" i="0">
                          <a:solidFill>
                            <a:srgbClr val="919191"/>
                          </a:solidFill>
                        </a:rPr>
                        <a:t>5</a:t>
                      </a:r>
                    </a:p>
                  </a:txBody>
                  <a:tcPr marL="73152" marR="73152" marT="27432" marB="27432" anchor="ctr">
                    <a:solidFill>
                      <a:srgbClr val="F2F2F2"/>
                    </a:solidFill>
                  </a:tcPr>
                </a:tc>
                <a:tc>
                  <a:txBody>
                    <a:bodyPr/>
                    <a:lstStyle/>
                    <a:p>
                      <a:pPr algn="r"/>
                      <a:r>
                        <a:rPr sz="1300" b="0" i="0">
                          <a:solidFill>
                            <a:srgbClr val="3C3C3B"/>
                          </a:solidFill>
                        </a:rPr>
                        <a:t>No</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No</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Yes</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Yes</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Yes</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r>
              <a:tr h="475488">
                <a:tc>
                  <a:txBody>
                    <a:bodyPr/>
                    <a:lstStyle/>
                    <a:p>
                      <a:pPr algn="l"/>
                      <a:r>
                        <a:rPr sz="1300" b="0" i="0">
                          <a:solidFill>
                            <a:srgbClr val="3C3C3B"/>
                          </a:solidFill>
                        </a:rPr>
                        <a:t>ÖSZ-9 EU equipment</a:t>
                      </a:r>
                    </a:p>
                  </a:txBody>
                  <a:tcPr marL="73152" marR="73152" marT="27432" marB="27432" anchor="ctr">
                    <a:solidFill>
                      <a:srgbClr val="F2F2F2"/>
                    </a:solidFill>
                  </a:tcPr>
                </a:tc>
                <a:tc>
                  <a:txBody>
                    <a:bodyPr/>
                    <a:lstStyle/>
                    <a:p>
                      <a:pPr algn="l"/>
                      <a:r>
                        <a:rPr sz="1300" b="0" i="0">
                          <a:solidFill>
                            <a:srgbClr val="919191"/>
                          </a:solidFill>
                        </a:rPr>
                        <a:t>Yes / No</a:t>
                      </a:r>
                    </a:p>
                  </a:txBody>
                  <a:tcPr marL="73152" marR="73152" marT="27432" marB="27432" anchor="ctr">
                    <a:solidFill>
                      <a:srgbClr val="F2F2F2"/>
                    </a:solidFill>
                  </a:tcPr>
                </a:tc>
                <a:tc>
                  <a:txBody>
                    <a:bodyPr/>
                    <a:lstStyle/>
                    <a:p>
                      <a:pPr algn="l"/>
                      <a:r>
                        <a:rPr sz="1300" b="0" i="0">
                          <a:solidFill>
                            <a:srgbClr val="919191"/>
                          </a:solidFill>
                        </a:rPr>
                        <a:t>12 + 3</a:t>
                      </a:r>
                    </a:p>
                  </a:txBody>
                  <a:tcPr marL="73152" marR="73152" marT="27432" marB="27432" anchor="ctr">
                    <a:solidFill>
                      <a:srgbClr val="F2F2F2"/>
                    </a:solidFill>
                  </a:tcPr>
                </a:tc>
                <a:tc>
                  <a:txBody>
                    <a:bodyPr/>
                    <a:lstStyle/>
                    <a:p>
                      <a:pPr algn="r"/>
                      <a:r>
                        <a:rPr sz="1300" b="0" i="0">
                          <a:solidFill>
                            <a:srgbClr val="3C3C3B"/>
                          </a:solidFill>
                        </a:rPr>
                        <a:t>No</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Turbine</a:t>
                      </a:r>
                    </a:p>
                  </a:txBody>
                  <a:tcPr marL="73152" marR="73152" marT="27432" marB="27432" anchor="ctr">
                    <a:noFill/>
                  </a:tcPr>
                </a:tc>
                <a:tc>
                  <a:txBody>
                    <a:bodyPr/>
                    <a:lstStyle/>
                    <a:p>
                      <a:pPr algn="r"/>
                      <a:r>
                        <a:rPr sz="1300" b="0" i="0">
                          <a:solidFill>
                            <a:srgbClr val="3C3C3B"/>
                          </a:solidFill>
                        </a:rPr>
                        <a:t>12.0</a:t>
                      </a:r>
                    </a:p>
                  </a:txBody>
                  <a:tcPr marL="73152" marR="73152" marT="27432" marB="27432" anchor="ctr">
                    <a:noFill/>
                  </a:tcPr>
                </a:tc>
                <a:tc>
                  <a:txBody>
                    <a:bodyPr/>
                    <a:lstStyle/>
                    <a:p>
                      <a:pPr algn="r"/>
                      <a:r>
                        <a:rPr sz="1300" b="0" i="0">
                          <a:solidFill>
                            <a:srgbClr val="3C3C3B"/>
                          </a:solidFill>
                        </a:rPr>
                        <a:t>Turbine + transf.</a:t>
                      </a:r>
                    </a:p>
                  </a:txBody>
                  <a:tcPr marL="73152" marR="73152" marT="27432" marB="27432" anchor="ctr">
                    <a:noFill/>
                  </a:tcPr>
                </a:tc>
                <a:tc>
                  <a:txBody>
                    <a:bodyPr/>
                    <a:lstStyle/>
                    <a:p>
                      <a:pPr algn="r"/>
                      <a:r>
                        <a:rPr sz="1300" b="0" i="0">
                          <a:solidFill>
                            <a:srgbClr val="3C3C3B"/>
                          </a:solidFill>
                        </a:rPr>
                        <a:t>15.0</a:t>
                      </a:r>
                    </a:p>
                  </a:txBody>
                  <a:tcPr marL="73152" marR="73152" marT="27432" marB="27432" anchor="ctr">
                    <a:noFill/>
                  </a:tcPr>
                </a:tc>
                <a:tc>
                  <a:txBody>
                    <a:bodyPr/>
                    <a:lstStyle/>
                    <a:p>
                      <a:pPr algn="r"/>
                      <a:r>
                        <a:rPr sz="1300" b="0" i="0">
                          <a:solidFill>
                            <a:srgbClr val="3C3C3B"/>
                          </a:solidFill>
                        </a:rPr>
                        <a:t>Turbine + transf.</a:t>
                      </a:r>
                    </a:p>
                  </a:txBody>
                  <a:tcPr marL="73152" marR="73152" marT="27432" marB="27432" anchor="ctr">
                    <a:noFill/>
                  </a:tcPr>
                </a:tc>
                <a:tc>
                  <a:txBody>
                    <a:bodyPr/>
                    <a:lstStyle/>
                    <a:p>
                      <a:pPr algn="r"/>
                      <a:r>
                        <a:rPr sz="1300" b="0" i="0">
                          <a:solidFill>
                            <a:srgbClr val="3C3C3B"/>
                          </a:solidFill>
                        </a:rPr>
                        <a:t>15.0</a:t>
                      </a:r>
                    </a:p>
                  </a:txBody>
                  <a:tcPr marL="73152" marR="73152" marT="27432" marB="27432" anchor="ctr">
                    <a:noFill/>
                  </a:tcPr>
                </a:tc>
                <a:tc>
                  <a:txBody>
                    <a:bodyPr/>
                    <a:lstStyle/>
                    <a:p>
                      <a:pPr algn="r"/>
                      <a:r>
                        <a:rPr sz="1300" b="0" i="0">
                          <a:solidFill>
                            <a:srgbClr val="3C3C3B"/>
                          </a:solidFill>
                        </a:rPr>
                        <a:t>Turbine + transf.</a:t>
                      </a:r>
                    </a:p>
                  </a:txBody>
                  <a:tcPr marL="73152" marR="73152" marT="27432" marB="27432" anchor="ctr">
                    <a:noFill/>
                  </a:tcPr>
                </a:tc>
                <a:tc>
                  <a:txBody>
                    <a:bodyPr/>
                    <a:lstStyle/>
                    <a:p>
                      <a:pPr algn="r"/>
                      <a:r>
                        <a:rPr sz="1300" b="0" i="0">
                          <a:solidFill>
                            <a:srgbClr val="3C3C3B"/>
                          </a:solidFill>
                        </a:rPr>
                        <a:t>15.0</a:t>
                      </a:r>
                    </a:p>
                  </a:txBody>
                  <a:tcPr marL="73152" marR="73152" marT="27432" marB="27432" anchor="ctr">
                    <a:noFill/>
                  </a:tcPr>
                </a:tc>
              </a:tr>
              <a:tr h="475488">
                <a:tc>
                  <a:txBody>
                    <a:bodyPr/>
                    <a:lstStyle/>
                    <a:p>
                      <a:pPr algn="l"/>
                      <a:r>
                        <a:rPr sz="1300" b="1" i="0">
                          <a:solidFill>
                            <a:srgbClr val="3C3C3B"/>
                          </a:solidFill>
                        </a:rPr>
                        <a:t>Score – EU-turbine routes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0.0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36.0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51.5</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69.5</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90.0</a:t>
                      </a:r>
                    </a:p>
                  </a:txBody>
                  <a:tcPr marL="73152" marR="73152" marT="27432" marB="27432" anchor="ctr">
                    <a:solidFill>
                      <a:srgbClr val="E6F4EC"/>
                    </a:solidFill>
                  </a:tcPr>
                </a:tc>
              </a:tr>
              <a:tr h="475488">
                <a:tc>
                  <a:txBody>
                    <a:bodyPr/>
                    <a:lstStyle/>
                    <a:p>
                      <a:pPr algn="l"/>
                      <a:r>
                        <a:rPr sz="1300" b="1" i="0">
                          <a:solidFill>
                            <a:srgbClr val="3C3C3B"/>
                          </a:solidFill>
                        </a:rPr>
                        <a:t>Score – CN-turbine routes</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0.0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24.0</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36.5</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54.5</a:t>
                      </a:r>
                    </a:p>
                  </a:txBody>
                  <a:tcPr marL="73152" marR="73152" marT="27432" marB="27432" anchor="ctr">
                    <a:solidFill>
                      <a:srgbClr val="E6F4EC"/>
                    </a:solidFill>
                  </a:tcPr>
                </a:tc>
                <a:tc>
                  <a:txBody>
                    <a:bodyPr/>
                    <a:lstStyle/>
                    <a:p>
                      <a:pPr algn="r"/>
                      <a:r>
                        <a:rPr sz="1300" b="1" i="0">
                          <a:solidFill>
                            <a:srgbClr val="3C3C3B"/>
                          </a:solidFill>
                        </a:rPr>
                        <a:t/>
                      </a:r>
                    </a:p>
                  </a:txBody>
                  <a:tcPr marL="73152" marR="73152" marT="27432" marB="27432" anchor="ctr">
                    <a:solidFill>
                      <a:srgbClr val="E6F4EC"/>
                    </a:solidFill>
                  </a:tcPr>
                </a:tc>
                <a:tc>
                  <a:txBody>
                    <a:bodyPr/>
                    <a:lstStyle/>
                    <a:p>
                      <a:pPr algn="r"/>
                      <a:r>
                        <a:rPr sz="1300" b="1" i="0">
                          <a:solidFill>
                            <a:srgbClr val="3C3C3B"/>
                          </a:solidFill>
                        </a:rPr>
                        <a:t>75.0</a:t>
                      </a:r>
                    </a:p>
                  </a:txBody>
                  <a:tcPr marL="73152" marR="73152" marT="27432" marB="27432" anchor="ctr">
                    <a:solidFill>
                      <a:srgbClr val="E6F4EC"/>
                    </a:solidFill>
                  </a:tcPr>
                </a:tc>
              </a:tr>
              <a:tr h="475488">
                <a:tc>
                  <a:txBody>
                    <a:bodyPr/>
                    <a:lstStyle/>
                    <a:p>
                      <a:pPr algn="l"/>
                      <a:r>
                        <a:rPr sz="1300" b="0" i="0">
                          <a:solidFill>
                            <a:srgbClr val="3C3C3B"/>
                          </a:solidFill>
                        </a:rPr>
                        <a:t>Installed wind / clipping</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a:txBody>
                    <a:bodyPr/>
                    <a:lstStyle/>
                    <a:p>
                      <a:pPr algn="l"/>
                      <a:r>
                        <a:rPr sz="1300" b="0" i="0">
                          <a:solidFill>
                            <a:srgbClr val="919191"/>
                          </a:solidFill>
                        </a:rPr>
                        <a:t/>
                      </a:r>
                    </a:p>
                  </a:txBody>
                  <a:tcPr marL="73152" marR="73152" marT="27432" marB="27432" anchor="ctr">
                    <a:solidFill>
                      <a:srgbClr val="F2F2F2"/>
                    </a:solidFill>
                  </a:tcPr>
                </a:tc>
                <a:tc gridSpan="2">
                  <a:txBody>
                    <a:bodyPr/>
                    <a:lstStyle/>
                    <a:p>
                      <a:pPr algn="r"/>
                      <a:r>
                        <a:rPr sz="1300" b="0" i="0">
                          <a:solidFill>
                            <a:srgbClr val="3C3C3B"/>
                          </a:solidFill>
                        </a:rPr>
                        <a:t>200 MW / 0.0%</a:t>
                      </a:r>
                    </a:p>
                  </a:txBody>
                  <a:tcPr marL="73152" marR="73152" marT="27432" marB="27432" anchor="ctr">
                    <a:noFill/>
                  </a:tcPr>
                </a:tc>
                <a:tc hMerge="1">
                  <a:txBody>
                    <a:bodyPr/>
                    <a:lstStyle/>
                    <a:p/>
                  </a:txBody>
                  <a:tcPr/>
                </a:tc>
                <a:tc gridSpan="2">
                  <a:txBody>
                    <a:bodyPr/>
                    <a:lstStyle/>
                    <a:p>
                      <a:pPr algn="r"/>
                      <a:r>
                        <a:rPr sz="1300" b="0" i="0">
                          <a:solidFill>
                            <a:srgbClr val="3C3C3B"/>
                          </a:solidFill>
                        </a:rPr>
                        <a:t>261 MW / 4.7%</a:t>
                      </a:r>
                    </a:p>
                  </a:txBody>
                  <a:tcPr marL="73152" marR="73152" marT="27432" marB="27432" anchor="ctr">
                    <a:noFill/>
                  </a:tcPr>
                </a:tc>
                <a:tc hMerge="1">
                  <a:txBody>
                    <a:bodyPr/>
                    <a:lstStyle/>
                    <a:p/>
                  </a:txBody>
                  <a:tcPr/>
                </a:tc>
                <a:tc gridSpan="2">
                  <a:txBody>
                    <a:bodyPr/>
                    <a:lstStyle/>
                    <a:p>
                      <a:pPr algn="r"/>
                      <a:r>
                        <a:rPr sz="1300" b="0" i="0">
                          <a:solidFill>
                            <a:srgbClr val="3C3C3B"/>
                          </a:solidFill>
                        </a:rPr>
                        <a:t>280 MW / 8.0%</a:t>
                      </a:r>
                    </a:p>
                  </a:txBody>
                  <a:tcPr marL="73152" marR="73152" marT="27432" marB="27432" anchor="ctr">
                    <a:noFill/>
                  </a:tcPr>
                </a:tc>
                <a:tc hMerge="1">
                  <a:txBody>
                    <a:bodyPr/>
                    <a:lstStyle/>
                    <a:p/>
                  </a:txBody>
                  <a:tcPr/>
                </a:tc>
                <a:tc gridSpan="2">
                  <a:txBody>
                    <a:bodyPr/>
                    <a:lstStyle/>
                    <a:p>
                      <a:pPr algn="r"/>
                      <a:r>
                        <a:rPr sz="1300" b="0" i="0">
                          <a:solidFill>
                            <a:srgbClr val="3C3C3B"/>
                          </a:solidFill>
                        </a:rPr>
                        <a:t>280 MW / 8.0%</a:t>
                      </a:r>
                    </a:p>
                  </a:txBody>
                  <a:tcPr marL="73152" marR="73152" marT="27432" marB="27432" anchor="ctr">
                    <a:noFill/>
                  </a:tcPr>
                </a:tc>
                <a:tc hMerge="1">
                  <a:txBody>
                    <a:bodyPr/>
                    <a:lstStyle/>
                    <a:p/>
                  </a:txBody>
                  <a:tcPr/>
                </a:tc>
                <a:tc gridSpan="2">
                  <a:txBody>
                    <a:bodyPr/>
                    <a:lstStyle/>
                    <a:p>
                      <a:pPr algn="r"/>
                      <a:r>
                        <a:rPr sz="1300" b="0" i="0">
                          <a:solidFill>
                            <a:srgbClr val="3C3C3B"/>
                          </a:solidFill>
                        </a:rPr>
                        <a:t>308 MW / 14.6%</a:t>
                      </a:r>
                    </a:p>
                  </a:txBody>
                  <a:tcPr marL="73152" marR="73152" marT="27432" marB="27432" anchor="ctr">
                    <a:noFill/>
                  </a:tcPr>
                </a:tc>
                <a:tc hMerge="1">
                  <a:txBody>
                    <a:bodyPr/>
                    <a:lstStyle/>
                    <a:p/>
                  </a:txBody>
                  <a:tcPr/>
                </a:tc>
              </a:tr>
            </a:tbl>
          </a:graphicData>
        </a:graphic>
      </p:graphicFrame>
      <p:sp>
        <p:nvSpPr>
          <p:cNvPr id="20" name="Footnote"/>
          <p:cNvSpPr txBox="1"/>
          <p:nvPr/>
        </p:nvSpPr>
        <p:spPr>
          <a:xfrm>
            <a:off x="4498848" y="9875520"/>
            <a:ext cx="13167360" cy="640080"/>
          </a:xfrm>
          <a:prstGeom prst="rect">
            <a:avLst/>
          </a:prstGeom>
          <a:noFill/>
        </p:spPr>
        <p:txBody>
          <a:bodyPr wrap="square" lIns="0" tIns="0" rIns="0" bIns="0" anchor="t">
            <a:spAutoFit/>
          </a:bodyPr>
          <a:lstStyle/>
          <a:p>
            <a:pPr algn="l"/>
            <a:r>
              <a:rPr sz="1100" b="0">
                <a:solidFill>
                  <a:srgbClr val="919191"/>
                </a:solidFill>
              </a:rPr>
              <a:t>Judgement calls: the 40% overbuild in Strategies 2–3 adds points without an RtB price effect (the premium is on the connection MVA) but raises the clipping loss to 8.0%; performance security of 160% costs €0.14m of RtB price. Brownfield is not available at this node. All five bids are valid – the zero bid included – and carry the node-cap eligibility flag.</a:t>
            </a:r>
          </a:p>
          <a:p>
            <a:pPr algn="l"/>
            <a:r>
              <a:rPr sz="1100" b="0">
                <a:solidFill>
                  <a:srgbClr val="919191"/>
                </a:solidFill>
              </a:rPr>
              <a:t>Source: Bora IC model, 11 Oct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a:extLst>
              <a:ext uri="{FF2B5EF4-FFF2-40B4-BE49-F238E27FC236}">
                <a16:creationId xmlns:a16="http://schemas.microsoft.com/office/drawing/2014/main" id="{E35CB96A-5943-1799-7671-B87AE6BD83F5}"/>
              </a:ext>
            </a:extLst>
          </p:cNvPr>
          <p:cNvSpPr>
            <a:spLocks noGrp="1"/>
          </p:cNvSpPr>
          <p:nvPr>
            <p:ph type="title"/>
          </p:nvPr>
        </p:nvSpPr>
        <p:spPr>
          <a:xfrm>
            <a:off x="4498848" y="283464"/>
            <a:ext cx="12618720" cy="795528"/>
          </a:xfrm>
        </p:spPr>
        <p:txBody>
          <a:bodyPr anchor="ctr"/>
          <a:lstStyle/>
          <a:p>
            <a:r>
              <a:rPr lang="en-GB" noProof="0" dirty="0"/>
              <a:t>Cost per tender point at the RtB exit</a:t>
            </a:r>
          </a:p>
        </p:txBody>
      </p:sp>
      <p:sp>
        <p:nvSpPr>
          <p:cNvPr id="2" name="Slide Number Placeholder 1">
            <a:extLst>
              <a:ext uri="{FF2B5EF4-FFF2-40B4-BE49-F238E27FC236}">
                <a16:creationId xmlns:a16="http://schemas.microsoft.com/office/drawing/2014/main" id="{25998BA7-495C-B8E8-70B6-32AA6042333D}"/>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2EEA166-2877-4493-9FAA-8D6952A82FC3}" type="slidenum">
              <a:rPr kumimoji="0" lang="en-GB" sz="1200" b="0" i="0" u="none" strike="noStrike" kern="1200" cap="none" spc="0" normalizeH="0" baseline="0" noProof="0" smtClean="0">
                <a:ln>
                  <a:noFill/>
                </a:ln>
                <a:solidFill>
                  <a:srgbClr val="3C3C3B">
                    <a:tint val="82000"/>
                  </a:srgbClr>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srgbClr val="3C3C3B">
                  <a:tint val="82000"/>
                </a:srgbClr>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C90D80D7-F26B-0D98-EECD-BC40C468A81E}"/>
              </a:ext>
            </a:extLst>
          </p:cNvPr>
          <p:cNvGraphicFramePr>
            <a:graphicFrameLocks noGrp="1"/>
          </p:cNvGraphicFramePr>
          <p:nvPr>
            <p:extLst>
              <p:ext uri="{D42A27DB-BD31-4B8C-83A1-F6EECF244321}">
                <p14:modId xmlns:p14="http://schemas.microsoft.com/office/powerpoint/2010/main" val="1433011180"/>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8"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RtB price given up per point added to the current bid (European-turbine score)</a:t>
            </a:r>
          </a:p>
        </p:txBody>
      </p:sp>
      <p:graphicFrame>
        <p:nvGraphicFramePr>
          <p:cNvPr id="9" name="Funding table"/>
          <p:cNvGraphicFramePr>
            <a:graphicFrameLocks noGrp="1"/>
          </p:cNvGraphicFramePr>
          <p:nvPr/>
        </p:nvGraphicFramePr>
        <p:xfrm>
          <a:off x="4498848" y="1691640"/>
          <a:ext cx="9144000" cy="5029200"/>
        </p:xfrm>
        <a:graphic>
          <a:graphicData uri="http://schemas.openxmlformats.org/drawingml/2006/table">
            <a:tbl>
              <a:tblPr>
                <a:tableStyleId>{5C22544A-7EE6-4342-B048-85BDC9FD1C3A}</a:tableStyleId>
              </a:tblPr>
              <a:tblGrid>
                <a:gridCol w="2743200"/>
                <a:gridCol w="1828800"/>
                <a:gridCol w="960120"/>
                <a:gridCol w="1143000"/>
                <a:gridCol w="1234440"/>
                <a:gridCol w="1234440"/>
              </a:tblGrid>
              <a:tr h="457200">
                <a:tc>
                  <a:txBody>
                    <a:bodyPr/>
                    <a:lstStyle/>
                    <a:p>
                      <a:pPr algn="l"/>
                      <a:r>
                        <a:rPr sz="1300" b="1" i="0">
                          <a:solidFill>
                            <a:srgbClr val="FFFFFF"/>
                          </a:solidFill>
                        </a:rPr>
                        <a:t>Criterion</a:t>
                      </a:r>
                    </a:p>
                  </a:txBody>
                  <a:tcPr marL="73152" marR="73152" marT="27432" marB="27432" anchor="ctr">
                    <a:solidFill>
                      <a:srgbClr val="00A651"/>
                    </a:solidFill>
                  </a:tcPr>
                </a:tc>
                <a:tc>
                  <a:txBody>
                    <a:bodyPr/>
                    <a:lstStyle/>
                    <a:p>
                      <a:pPr algn="l"/>
                      <a:r>
                        <a:rPr sz="1300" b="1" i="0">
                          <a:solidFill>
                            <a:srgbClr val="FFFFFF"/>
                          </a:solidFill>
                        </a:rPr>
                        <a:t>Step</a:t>
                      </a:r>
                    </a:p>
                  </a:txBody>
                  <a:tcPr marL="73152" marR="73152" marT="27432" marB="27432" anchor="ctr">
                    <a:solidFill>
                      <a:srgbClr val="00A651"/>
                    </a:solidFill>
                  </a:tcPr>
                </a:tc>
                <a:tc>
                  <a:txBody>
                    <a:bodyPr/>
                    <a:lstStyle/>
                    <a:p>
                      <a:pPr algn="r"/>
                      <a:r>
                        <a:rPr sz="1300" b="1" i="0">
                          <a:solidFill>
                            <a:srgbClr val="FFFFFF"/>
                          </a:solidFill>
                        </a:rPr>
                        <a:t>Points</a:t>
                      </a:r>
                    </a:p>
                  </a:txBody>
                  <a:tcPr marL="73152" marR="73152" marT="27432" marB="27432" anchor="ctr">
                    <a:solidFill>
                      <a:srgbClr val="00A651"/>
                    </a:solidFill>
                  </a:tcPr>
                </a:tc>
                <a:tc>
                  <a:txBody>
                    <a:bodyPr/>
                    <a:lstStyle/>
                    <a:p>
                      <a:pPr algn="r"/>
                      <a:r>
                        <a:rPr sz="1300" b="1" i="0">
                          <a:solidFill>
                            <a:srgbClr val="FFFFFF"/>
                          </a:solidFill>
                        </a:rPr>
                        <a:t>RtB price (€m)</a:t>
                      </a:r>
                    </a:p>
                  </a:txBody>
                  <a:tcPr marL="73152" marR="73152" marT="27432" marB="27432" anchor="ctr">
                    <a:solidFill>
                      <a:srgbClr val="00A651"/>
                    </a:solidFill>
                  </a:tcPr>
                </a:tc>
                <a:tc>
                  <a:txBody>
                    <a:bodyPr/>
                    <a:lstStyle/>
                    <a:p>
                      <a:pPr algn="r"/>
                      <a:r>
                        <a:rPr sz="1300" b="1" i="0">
                          <a:solidFill>
                            <a:srgbClr val="FFFFFF"/>
                          </a:solidFill>
                        </a:rPr>
                        <a:t>RtB k€ per point</a:t>
                      </a:r>
                    </a:p>
                  </a:txBody>
                  <a:tcPr marL="73152" marR="73152" marT="27432" marB="27432" anchor="ctr">
                    <a:solidFill>
                      <a:srgbClr val="00A651"/>
                    </a:solidFill>
                  </a:tcPr>
                </a:tc>
                <a:tc>
                  <a:txBody>
                    <a:bodyPr/>
                    <a:lstStyle/>
                    <a:p>
                      <a:pPr algn="r"/>
                      <a:r>
                        <a:rPr sz="1300" b="1" i="0">
                          <a:solidFill>
                            <a:srgbClr val="FFFFFF"/>
                          </a:solidFill>
                        </a:rPr>
                        <a:t>FEP k€ per point</a:t>
                      </a:r>
                    </a:p>
                  </a:txBody>
                  <a:tcPr marL="73152" marR="73152" marT="27432" marB="27432" anchor="ctr">
                    <a:solidFill>
                      <a:srgbClr val="00A651"/>
                    </a:solidFill>
                  </a:tcPr>
                </a:tc>
              </a:tr>
              <a:tr h="457200">
                <a:tc gridSpan="6">
                  <a:txBody>
                    <a:bodyPr/>
                    <a:lstStyle/>
                    <a:p>
                      <a:pPr algn="l"/>
                      <a:r>
                        <a:rPr sz="1200" b="1" i="0">
                          <a:solidFill>
                            <a:srgbClr val="00563C"/>
                          </a:solidFill>
                        </a:rPr>
                        <a:t>Points without an RtB price effect</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r>
              <a:tr h="457200">
                <a:tc>
                  <a:txBody>
                    <a:bodyPr/>
                    <a:lstStyle/>
                    <a:p>
                      <a:pPr algn="l"/>
                      <a:r>
                        <a:rPr sz="1200" b="0" i="0">
                          <a:solidFill>
                            <a:srgbClr val="3C3C3B"/>
                          </a:solidFill>
                        </a:rPr>
                        <a:t>ÖSZ-5 Partial award</a:t>
                      </a:r>
                    </a:p>
                  </a:txBody>
                  <a:tcPr marL="73152" marR="73152" marT="27432" marB="27432" anchor="ctr">
                    <a:solidFill>
                      <a:srgbClr val="F2F2F2"/>
                    </a:solidFill>
                  </a:tcPr>
                </a:tc>
                <a:tc>
                  <a:txBody>
                    <a:bodyPr/>
                    <a:lstStyle/>
                    <a:p>
                      <a:pPr algn="l"/>
                      <a:r>
                        <a:rPr sz="1200" b="0" i="0">
                          <a:solidFill>
                            <a:srgbClr val="919191"/>
                          </a:solidFill>
                        </a:rPr>
                        <a:t>Yes</a:t>
                      </a:r>
                    </a:p>
                  </a:txBody>
                  <a:tcPr marL="73152" marR="73152" marT="27432" marB="27432" anchor="ctr">
                    <a:solidFill>
                      <a:srgbClr val="F2F2F2"/>
                    </a:solidFill>
                  </a:tcPr>
                </a:tc>
                <a:tc>
                  <a:txBody>
                    <a:bodyPr/>
                    <a:lstStyle/>
                    <a:p>
                      <a:pPr algn="r"/>
                      <a:r>
                        <a:rPr sz="1200" b="0" i="0">
                          <a:solidFill>
                            <a:srgbClr val="3C3C3B"/>
                          </a:solidFill>
                        </a:rPr>
                        <a:t>5.0</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r>
              <a:tr h="457200">
                <a:tc>
                  <a:txBody>
                    <a:bodyPr/>
                    <a:lstStyle/>
                    <a:p>
                      <a:pPr algn="l"/>
                      <a:r>
                        <a:rPr sz="1200" b="0" i="0">
                          <a:solidFill>
                            <a:srgbClr val="3C3C3B"/>
                          </a:solidFill>
                        </a:rPr>
                        <a:t>ÖSZ-8 Shared connection</a:t>
                      </a:r>
                    </a:p>
                  </a:txBody>
                  <a:tcPr marL="73152" marR="73152" marT="27432" marB="27432" anchor="ctr">
                    <a:solidFill>
                      <a:srgbClr val="F2F2F2"/>
                    </a:solidFill>
                  </a:tcPr>
                </a:tc>
                <a:tc>
                  <a:txBody>
                    <a:bodyPr/>
                    <a:lstStyle/>
                    <a:p>
                      <a:pPr algn="l"/>
                      <a:r>
                        <a:rPr sz="1200" b="0" i="0">
                          <a:solidFill>
                            <a:srgbClr val="919191"/>
                          </a:solidFill>
                        </a:rPr>
                        <a:t>Yes</a:t>
                      </a:r>
                    </a:p>
                  </a:txBody>
                  <a:tcPr marL="73152" marR="73152" marT="27432" marB="27432" anchor="ctr">
                    <a:solidFill>
                      <a:srgbClr val="F2F2F2"/>
                    </a:solidFill>
                  </a:tcPr>
                </a:tc>
                <a:tc>
                  <a:txBody>
                    <a:bodyPr/>
                    <a:lstStyle/>
                    <a:p>
                      <a:pPr algn="r"/>
                      <a:r>
                        <a:rPr sz="1200" b="0" i="0">
                          <a:solidFill>
                            <a:srgbClr val="3C3C3B"/>
                          </a:solidFill>
                        </a:rPr>
                        <a:t>5.0</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r>
              <a:tr h="457200">
                <a:tc>
                  <a:txBody>
                    <a:bodyPr/>
                    <a:lstStyle/>
                    <a:p>
                      <a:pPr algn="l"/>
                      <a:r>
                        <a:rPr sz="1200" b="0" i="0">
                          <a:solidFill>
                            <a:srgbClr val="3C3C3B"/>
                          </a:solidFill>
                        </a:rPr>
                        <a:t>ÖSZ-9b EU transformer</a:t>
                      </a:r>
                    </a:p>
                  </a:txBody>
                  <a:tcPr marL="73152" marR="73152" marT="27432" marB="27432" anchor="ctr">
                    <a:solidFill>
                      <a:srgbClr val="F2F2F2"/>
                    </a:solidFill>
                  </a:tcPr>
                </a:tc>
                <a:tc>
                  <a:txBody>
                    <a:bodyPr/>
                    <a:lstStyle/>
                    <a:p>
                      <a:pPr algn="l"/>
                      <a:r>
                        <a:rPr sz="1200" b="0" i="0">
                          <a:solidFill>
                            <a:srgbClr val="919191"/>
                          </a:solidFill>
                        </a:rPr>
                        <a:t>Yes</a:t>
                      </a:r>
                    </a:p>
                  </a:txBody>
                  <a:tcPr marL="73152" marR="73152" marT="27432" marB="27432" anchor="ctr">
                    <a:solidFill>
                      <a:srgbClr val="F2F2F2"/>
                    </a:solidFill>
                  </a:tcPr>
                </a:tc>
                <a:tc>
                  <a:txBody>
                    <a:bodyPr/>
                    <a:lstStyle/>
                    <a:p>
                      <a:pPr algn="r"/>
                      <a:r>
                        <a:rPr sz="1200" b="0" i="0">
                          <a:solidFill>
                            <a:srgbClr val="3C3C3B"/>
                          </a:solidFill>
                        </a:rPr>
                        <a:t>3.0</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r>
              <a:tr h="457200">
                <a:tc>
                  <a:txBody>
                    <a:bodyPr/>
                    <a:lstStyle/>
                    <a:p>
                      <a:pPr algn="l"/>
                      <a:r>
                        <a:rPr sz="1200" b="0" i="0">
                          <a:solidFill>
                            <a:srgbClr val="3C3C3B"/>
                          </a:solidFill>
                        </a:rPr>
                        <a:t>ÖSZ-3 Overbuild</a:t>
                      </a:r>
                    </a:p>
                  </a:txBody>
                  <a:tcPr marL="73152" marR="73152" marT="27432" marB="27432" anchor="ctr">
                    <a:solidFill>
                      <a:srgbClr val="F2F2F2"/>
                    </a:solidFill>
                  </a:tcPr>
                </a:tc>
                <a:tc>
                  <a:txBody>
                    <a:bodyPr/>
                    <a:lstStyle/>
                    <a:p>
                      <a:pPr algn="l"/>
                      <a:r>
                        <a:rPr sz="1200" b="0" i="0">
                          <a:solidFill>
                            <a:srgbClr val="919191"/>
                          </a:solidFill>
                        </a:rPr>
                        <a:t>30.5% → 40%</a:t>
                      </a:r>
                    </a:p>
                  </a:txBody>
                  <a:tcPr marL="73152" marR="73152" marT="27432" marB="27432" anchor="ctr">
                    <a:solidFill>
                      <a:srgbClr val="F2F2F2"/>
                    </a:solidFill>
                  </a:tcPr>
                </a:tc>
                <a:tc>
                  <a:txBody>
                    <a:bodyPr/>
                    <a:lstStyle/>
                    <a:p>
                      <a:pPr algn="r"/>
                      <a:r>
                        <a:rPr sz="1200" b="0" i="0">
                          <a:solidFill>
                            <a:srgbClr val="3C3C3B"/>
                          </a:solidFill>
                        </a:rPr>
                        <a:t>2.0</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a:t>
                      </a:r>
                    </a:p>
                  </a:txBody>
                  <a:tcPr marL="73152" marR="73152" marT="27432" marB="27432" anchor="ctr">
                    <a:noFill/>
                  </a:tcPr>
                </a:tc>
                <a:tc>
                  <a:txBody>
                    <a:bodyPr/>
                    <a:lstStyle/>
                    <a:p>
                      <a:pPr algn="r"/>
                      <a:r>
                        <a:rPr sz="1200" b="0" i="0">
                          <a:solidFill>
                            <a:srgbClr val="3C3C3B"/>
                          </a:solidFill>
                        </a:rPr>
                        <a:t>109–121</a:t>
                      </a:r>
                    </a:p>
                  </a:txBody>
                  <a:tcPr marL="73152" marR="73152" marT="27432" marB="27432" anchor="ctr">
                    <a:noFill/>
                  </a:tcPr>
                </a:tc>
              </a:tr>
              <a:tr h="457200">
                <a:tc gridSpan="6">
                  <a:txBody>
                    <a:bodyPr/>
                    <a:lstStyle/>
                    <a:p>
                      <a:pPr algn="l"/>
                      <a:r>
                        <a:rPr sz="1200" b="1" i="0">
                          <a:solidFill>
                            <a:srgbClr val="00563C"/>
                          </a:solidFill>
                        </a:rPr>
                        <a:t>Points that reduce the RtB price</a:t>
                      </a: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c hMerge="1">
                  <a:txBody>
                    <a:bodyPr/>
                    <a:lstStyle/>
                    <a:p>
                      <a:pPr algn="l"/>
                      <a:endParaRPr/>
                    </a:p>
                  </a:txBody>
                  <a:tcPr marL="73152" marR="73152" marT="27432" marB="27432" anchor="ctr">
                    <a:solidFill>
                      <a:srgbClr val="E6F4EC"/>
                    </a:solidFill>
                  </a:tcPr>
                </a:tc>
              </a:tr>
              <a:tr h="457200">
                <a:tc>
                  <a:txBody>
                    <a:bodyPr/>
                    <a:lstStyle/>
                    <a:p>
                      <a:pPr algn="l"/>
                      <a:r>
                        <a:rPr sz="1200" b="0" i="0">
                          <a:solidFill>
                            <a:srgbClr val="3C3C3B"/>
                          </a:solidFill>
                        </a:rPr>
                        <a:t>ÖSZ-6 Performance security</a:t>
                      </a:r>
                    </a:p>
                  </a:txBody>
                  <a:tcPr marL="73152" marR="73152" marT="27432" marB="27432" anchor="ctr">
                    <a:solidFill>
                      <a:srgbClr val="F2F2F2"/>
                    </a:solidFill>
                  </a:tcPr>
                </a:tc>
                <a:tc>
                  <a:txBody>
                    <a:bodyPr/>
                    <a:lstStyle/>
                    <a:p>
                      <a:pPr algn="l"/>
                      <a:r>
                        <a:rPr sz="1200" b="0" i="0">
                          <a:solidFill>
                            <a:srgbClr val="919191"/>
                          </a:solidFill>
                        </a:rPr>
                        <a:t>150% → 200%</a:t>
                      </a:r>
                    </a:p>
                  </a:txBody>
                  <a:tcPr marL="73152" marR="73152" marT="27432" marB="27432" anchor="ctr">
                    <a:solidFill>
                      <a:srgbClr val="F2F2F2"/>
                    </a:solidFill>
                  </a:tcPr>
                </a:tc>
                <a:tc>
                  <a:txBody>
                    <a:bodyPr/>
                    <a:lstStyle/>
                    <a:p>
                      <a:pPr algn="r"/>
                      <a:r>
                        <a:rPr sz="1200" b="0" i="0">
                          <a:solidFill>
                            <a:srgbClr val="3C3C3B"/>
                          </a:solidFill>
                        </a:rPr>
                        <a:t>2.5</a:t>
                      </a:r>
                    </a:p>
                  </a:txBody>
                  <a:tcPr marL="73152" marR="73152" marT="27432" marB="27432" anchor="ctr">
                    <a:noFill/>
                  </a:tcPr>
                </a:tc>
                <a:tc>
                  <a:txBody>
                    <a:bodyPr/>
                    <a:lstStyle/>
                    <a:p>
                      <a:pPr algn="r"/>
                      <a:r>
                        <a:rPr sz="1200" b="0" i="0">
                          <a:solidFill>
                            <a:srgbClr val="3C3C3B"/>
                          </a:solidFill>
                        </a:rPr>
                        <a:t>0.7</a:t>
                      </a:r>
                    </a:p>
                  </a:txBody>
                  <a:tcPr marL="73152" marR="73152" marT="27432" marB="27432" anchor="ctr">
                    <a:noFill/>
                  </a:tcPr>
                </a:tc>
                <a:tc>
                  <a:txBody>
                    <a:bodyPr/>
                    <a:lstStyle/>
                    <a:p>
                      <a:pPr algn="r"/>
                      <a:r>
                        <a:rPr sz="1200" b="0" i="0">
                          <a:solidFill>
                            <a:srgbClr val="3C3C3B"/>
                          </a:solidFill>
                        </a:rPr>
                        <a:t>261</a:t>
                      </a:r>
                    </a:p>
                  </a:txBody>
                  <a:tcPr marL="73152" marR="73152" marT="27432" marB="27432" anchor="ctr">
                    <a:noFill/>
                  </a:tcPr>
                </a:tc>
                <a:tc>
                  <a:txBody>
                    <a:bodyPr/>
                    <a:lstStyle/>
                    <a:p>
                      <a:pPr algn="r"/>
                      <a:r>
                        <a:rPr sz="1200" b="0" i="0">
                          <a:solidFill>
                            <a:srgbClr val="3C3C3B"/>
                          </a:solidFill>
                        </a:rPr>
                        <a:t>537</a:t>
                      </a:r>
                    </a:p>
                  </a:txBody>
                  <a:tcPr marL="73152" marR="73152" marT="27432" marB="27432" anchor="ctr">
                    <a:noFill/>
                  </a:tcPr>
                </a:tc>
              </a:tr>
              <a:tr h="457200">
                <a:tc>
                  <a:txBody>
                    <a:bodyPr/>
                    <a:lstStyle/>
                    <a:p>
                      <a:pPr algn="l"/>
                      <a:r>
                        <a:rPr sz="1200" b="0" i="0">
                          <a:solidFill>
                            <a:srgbClr val="3C3C3B"/>
                          </a:solidFill>
                        </a:rPr>
                        <a:t>ÖSZ-1 Municipal one-off (k€/MW)</a:t>
                      </a:r>
                    </a:p>
                  </a:txBody>
                  <a:tcPr marL="73152" marR="73152" marT="27432" marB="27432" anchor="ctr">
                    <a:solidFill>
                      <a:srgbClr val="F2F2F2"/>
                    </a:solidFill>
                  </a:tcPr>
                </a:tc>
                <a:tc>
                  <a:txBody>
                    <a:bodyPr/>
                    <a:lstStyle/>
                    <a:p>
                      <a:pPr algn="l"/>
                      <a:r>
                        <a:rPr sz="1200" b="0" i="0">
                          <a:solidFill>
                            <a:srgbClr val="919191"/>
                          </a:solidFill>
                        </a:rPr>
                        <a:t>20 → 50</a:t>
                      </a:r>
                    </a:p>
                  </a:txBody>
                  <a:tcPr marL="73152" marR="73152" marT="27432" marB="27432" anchor="ctr">
                    <a:solidFill>
                      <a:srgbClr val="F2F2F2"/>
                    </a:solidFill>
                  </a:tcPr>
                </a:tc>
                <a:tc>
                  <a:txBody>
                    <a:bodyPr/>
                    <a:lstStyle/>
                    <a:p>
                      <a:pPr algn="r"/>
                      <a:r>
                        <a:rPr sz="1200" b="0" i="0">
                          <a:solidFill>
                            <a:srgbClr val="3C3C3B"/>
                          </a:solidFill>
                        </a:rPr>
                        <a:t>16.0</a:t>
                      </a:r>
                    </a:p>
                  </a:txBody>
                  <a:tcPr marL="73152" marR="73152" marT="27432" marB="27432" anchor="ctr">
                    <a:noFill/>
                  </a:tcPr>
                </a:tc>
                <a:tc>
                  <a:txBody>
                    <a:bodyPr/>
                    <a:lstStyle/>
                    <a:p>
                      <a:pPr algn="r"/>
                      <a:r>
                        <a:rPr sz="1200" b="0" i="0">
                          <a:solidFill>
                            <a:srgbClr val="3C3C3B"/>
                          </a:solidFill>
                        </a:rPr>
                        <a:t>5.0</a:t>
                      </a:r>
                    </a:p>
                  </a:txBody>
                  <a:tcPr marL="73152" marR="73152" marT="27432" marB="27432" anchor="ctr">
                    <a:noFill/>
                  </a:tcPr>
                </a:tc>
                <a:tc>
                  <a:txBody>
                    <a:bodyPr/>
                    <a:lstStyle/>
                    <a:p>
                      <a:pPr algn="r"/>
                      <a:r>
                        <a:rPr sz="1200" b="0" i="0">
                          <a:solidFill>
                            <a:srgbClr val="3C3C3B"/>
                          </a:solidFill>
                        </a:rPr>
                        <a:t>278–417</a:t>
                      </a:r>
                    </a:p>
                  </a:txBody>
                  <a:tcPr marL="73152" marR="73152" marT="27432" marB="27432" anchor="ctr">
                    <a:noFill/>
                  </a:tcPr>
                </a:tc>
                <a:tc>
                  <a:txBody>
                    <a:bodyPr/>
                    <a:lstStyle/>
                    <a:p>
                      <a:pPr algn="r"/>
                      <a:r>
                        <a:rPr sz="1200" b="0" i="0">
                          <a:solidFill>
                            <a:srgbClr val="3C3C3B"/>
                          </a:solidFill>
                        </a:rPr>
                        <a:t>195–292</a:t>
                      </a:r>
                    </a:p>
                  </a:txBody>
                  <a:tcPr marL="73152" marR="73152" marT="27432" marB="27432" anchor="ctr">
                    <a:noFill/>
                  </a:tcPr>
                </a:tc>
              </a:tr>
              <a:tr h="457200">
                <a:tc>
                  <a:txBody>
                    <a:bodyPr/>
                    <a:lstStyle/>
                    <a:p>
                      <a:pPr algn="l"/>
                      <a:r>
                        <a:rPr sz="1200" b="0" i="0">
                          <a:solidFill>
                            <a:srgbClr val="3C3C3B"/>
                          </a:solidFill>
                        </a:rPr>
                        <a:t>ÖSZ-2 Community (€/MWh)</a:t>
                      </a:r>
                    </a:p>
                  </a:txBody>
                  <a:tcPr marL="73152" marR="73152" marT="27432" marB="27432" anchor="ctr">
                    <a:solidFill>
                      <a:srgbClr val="F2F2F2"/>
                    </a:solidFill>
                  </a:tcPr>
                </a:tc>
                <a:tc>
                  <a:txBody>
                    <a:bodyPr/>
                    <a:lstStyle/>
                    <a:p>
                      <a:pPr algn="l"/>
                      <a:r>
                        <a:rPr sz="1200" b="0" i="0">
                          <a:solidFill>
                            <a:srgbClr val="919191"/>
                          </a:solidFill>
                        </a:rPr>
                        <a:t>2.0 → 3.0</a:t>
                      </a:r>
                    </a:p>
                  </a:txBody>
                  <a:tcPr marL="73152" marR="73152" marT="27432" marB="27432" anchor="ctr">
                    <a:solidFill>
                      <a:srgbClr val="F2F2F2"/>
                    </a:solidFill>
                  </a:tcPr>
                </a:tc>
                <a:tc>
                  <a:txBody>
                    <a:bodyPr/>
                    <a:lstStyle/>
                    <a:p>
                      <a:pPr algn="r"/>
                      <a:r>
                        <a:rPr sz="1200" b="0" i="0">
                          <a:solidFill>
                            <a:srgbClr val="3C3C3B"/>
                          </a:solidFill>
                        </a:rPr>
                        <a:t>15.0</a:t>
                      </a:r>
                    </a:p>
                  </a:txBody>
                  <a:tcPr marL="73152" marR="73152" marT="27432" marB="27432" anchor="ctr">
                    <a:noFill/>
                  </a:tcPr>
                </a:tc>
                <a:tc>
                  <a:txBody>
                    <a:bodyPr/>
                    <a:lstStyle/>
                    <a:p>
                      <a:pPr algn="r"/>
                      <a:r>
                        <a:rPr sz="1200" b="0" i="0">
                          <a:solidFill>
                            <a:srgbClr val="3C3C3B"/>
                          </a:solidFill>
                        </a:rPr>
                        <a:t>5.3</a:t>
                      </a:r>
                    </a:p>
                  </a:txBody>
                  <a:tcPr marL="73152" marR="73152" marT="27432" marB="27432" anchor="ctr">
                    <a:noFill/>
                  </a:tcPr>
                </a:tc>
                <a:tc>
                  <a:txBody>
                    <a:bodyPr/>
                    <a:lstStyle/>
                    <a:p>
                      <a:pPr algn="r"/>
                      <a:r>
                        <a:rPr sz="1200" b="0" i="0">
                          <a:solidFill>
                            <a:srgbClr val="3C3C3B"/>
                          </a:solidFill>
                        </a:rPr>
                        <a:t>178–711</a:t>
                      </a:r>
                    </a:p>
                  </a:txBody>
                  <a:tcPr marL="73152" marR="73152" marT="27432" marB="27432" anchor="ctr">
                    <a:noFill/>
                  </a:tcPr>
                </a:tc>
                <a:tc>
                  <a:txBody>
                    <a:bodyPr/>
                    <a:lstStyle/>
                    <a:p>
                      <a:pPr algn="r"/>
                      <a:r>
                        <a:rPr sz="1200" b="0" i="0">
                          <a:solidFill>
                            <a:srgbClr val="3C3C3B"/>
                          </a:solidFill>
                        </a:rPr>
                        <a:t>124–498</a:t>
                      </a:r>
                    </a:p>
                  </a:txBody>
                  <a:tcPr marL="73152" marR="73152" marT="27432" marB="27432" anchor="ctr">
                    <a:noFill/>
                  </a:tcPr>
                </a:tc>
              </a:tr>
              <a:tr h="457200">
                <a:tc>
                  <a:txBody>
                    <a:bodyPr/>
                    <a:lstStyle/>
                    <a:p>
                      <a:pPr algn="l"/>
                      <a:r>
                        <a:rPr sz="1200" b="0" i="0">
                          <a:solidFill>
                            <a:srgbClr val="3C3C3B"/>
                          </a:solidFill>
                        </a:rPr>
                        <a:t>ÖSZ-4 Battery (% of wind)</a:t>
                      </a:r>
                    </a:p>
                  </a:txBody>
                  <a:tcPr marL="73152" marR="73152" marT="27432" marB="27432" anchor="ctr">
                    <a:solidFill>
                      <a:srgbClr val="F2F2F2"/>
                    </a:solidFill>
                  </a:tcPr>
                </a:tc>
                <a:tc>
                  <a:txBody>
                    <a:bodyPr/>
                    <a:lstStyle/>
                    <a:p>
                      <a:pPr algn="l"/>
                      <a:r>
                        <a:rPr sz="1200" b="0" i="0">
                          <a:solidFill>
                            <a:srgbClr val="919191"/>
                          </a:solidFill>
                        </a:rPr>
                        <a:t>34.5% → 51%</a:t>
                      </a:r>
                    </a:p>
                  </a:txBody>
                  <a:tcPr marL="73152" marR="73152" marT="27432" marB="27432" anchor="ctr">
                    <a:solidFill>
                      <a:srgbClr val="F2F2F2"/>
                    </a:solidFill>
                  </a:tcPr>
                </a:tc>
                <a:tc>
                  <a:txBody>
                    <a:bodyPr/>
                    <a:lstStyle/>
                    <a:p>
                      <a:pPr algn="r"/>
                      <a:r>
                        <a:rPr sz="1200" b="0" i="0">
                          <a:solidFill>
                            <a:srgbClr val="3C3C3B"/>
                          </a:solidFill>
                        </a:rPr>
                        <a:t>4.5</a:t>
                      </a:r>
                    </a:p>
                  </a:txBody>
                  <a:tcPr marL="73152" marR="73152" marT="27432" marB="27432" anchor="ctr">
                    <a:noFill/>
                  </a:tcPr>
                </a:tc>
                <a:tc>
                  <a:txBody>
                    <a:bodyPr/>
                    <a:lstStyle/>
                    <a:p>
                      <a:pPr algn="r"/>
                      <a:r>
                        <a:rPr sz="1200" b="0" i="0">
                          <a:solidFill>
                            <a:srgbClr val="3C3C3B"/>
                          </a:solidFill>
                        </a:rPr>
                        <a:t>8.0</a:t>
                      </a:r>
                    </a:p>
                  </a:txBody>
                  <a:tcPr marL="73152" marR="73152" marT="27432" marB="27432" anchor="ctr">
                    <a:noFill/>
                  </a:tcPr>
                </a:tc>
                <a:tc>
                  <a:txBody>
                    <a:bodyPr/>
                    <a:lstStyle/>
                    <a:p>
                      <a:pPr algn="r"/>
                      <a:r>
                        <a:rPr sz="1200" b="0" i="0">
                          <a:solidFill>
                            <a:srgbClr val="3C3C3B"/>
                          </a:solidFill>
                        </a:rPr>
                        <a:t>167–3,557</a:t>
                      </a:r>
                    </a:p>
                  </a:txBody>
                  <a:tcPr marL="73152" marR="73152" marT="27432" marB="27432" anchor="ctr">
                    <a:noFill/>
                  </a:tcPr>
                </a:tc>
                <a:tc>
                  <a:txBody>
                    <a:bodyPr/>
                    <a:lstStyle/>
                    <a:p>
                      <a:pPr algn="r"/>
                      <a:r>
                        <a:rPr sz="1200" b="0" i="0">
                          <a:solidFill>
                            <a:srgbClr val="3C3C3B"/>
                          </a:solidFill>
                        </a:rPr>
                        <a:t>128–2,720</a:t>
                      </a:r>
                    </a:p>
                  </a:txBody>
                  <a:tcPr marL="73152" marR="73152" marT="27432" marB="27432" anchor="ctr">
                    <a:noFill/>
                  </a:tcPr>
                </a:tc>
              </a:tr>
            </a:tbl>
          </a:graphicData>
        </a:graphic>
      </p:graphicFrame>
      <p:sp>
        <p:nvSpPr>
          <p:cNvPr id="10" name="Footnote"/>
          <p:cNvSpPr txBox="1"/>
          <p:nvPr/>
        </p:nvSpPr>
        <p:spPr>
          <a:xfrm>
            <a:off x="4498848" y="9921240"/>
            <a:ext cx="13167360" cy="640080"/>
          </a:xfrm>
          <a:prstGeom prst="rect">
            <a:avLst/>
          </a:prstGeom>
          <a:noFill/>
        </p:spPr>
        <p:txBody>
          <a:bodyPr wrap="square" lIns="0" tIns="0" rIns="0" bIns="0" anchor="t">
            <a:spAutoFit/>
          </a:bodyPr>
          <a:lstStyle/>
          <a:p>
            <a:pPr algn="l"/>
            <a:r>
              <a:rPr sz="1100" b="0">
                <a:solidFill>
                  <a:srgbClr val="919191"/>
                </a:solidFill>
              </a:rPr>
              <a:t>Each step adds one band step of one criterion to Strategy 1. RtB price = the promise's present value to the buyer, passed through in full. FEP k€ per point is FEP's after-tax profit change per point (after the A.RES share; higher where FEP also pays fees on extra installed MW). Ranges leave out one band edge: municipal 45 → 45.01 k€/MW adds 2 points for 2 k€.</a:t>
            </a:r>
          </a:p>
          <a:p>
            <a:pPr algn="l"/>
            <a:r>
              <a:rPr sz="1100" b="0">
                <a:solidFill>
                  <a:srgbClr val="919191"/>
                </a:solidFill>
              </a:rPr>
              <a:t>Source: Bora IC model, 11 Oct 2026.</a:t>
            </a:r>
          </a:p>
        </p:txBody>
      </p:sp>
      <p:sp>
        <p:nvSpPr>
          <p:cNvPr id="11" name="Not priced card"/>
          <p:cNvSpPr/>
          <p:nvPr/>
        </p:nvSpPr>
        <p:spPr>
          <a:xfrm>
            <a:off x="14036040" y="1600200"/>
            <a:ext cx="4160520" cy="43434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Not priced header"/>
          <p:cNvSpPr txBox="1"/>
          <p:nvPr/>
        </p:nvSpPr>
        <p:spPr>
          <a:xfrm>
            <a:off x="14264640" y="1783080"/>
            <a:ext cx="3703320" cy="365760"/>
          </a:xfrm>
          <a:prstGeom prst="rect">
            <a:avLst/>
          </a:prstGeom>
          <a:noFill/>
        </p:spPr>
        <p:txBody>
          <a:bodyPr wrap="square" lIns="0" tIns="0" rIns="0" bIns="0" anchor="t">
            <a:spAutoFit/>
          </a:bodyPr>
          <a:lstStyle/>
          <a:p>
            <a:pPr algn="l"/>
            <a:r>
              <a:rPr sz="1600" b="1">
                <a:solidFill>
                  <a:srgbClr val="00563C"/>
                </a:solidFill>
              </a:rPr>
              <a:t>Not priced in the RtB price</a:t>
            </a:r>
          </a:p>
        </p:txBody>
      </p:sp>
      <p:sp>
        <p:nvSpPr>
          <p:cNvPr id="13" name="Not priced text"/>
          <p:cNvSpPr txBox="1"/>
          <p:nvPr/>
        </p:nvSpPr>
        <p:spPr>
          <a:xfrm>
            <a:off x="14264640" y="2286000"/>
            <a:ext cx="3749039" cy="3429000"/>
          </a:xfrm>
          <a:prstGeom prst="rect">
            <a:avLst/>
          </a:prstGeom>
          <a:noFill/>
        </p:spPr>
        <p:txBody>
          <a:bodyPr wrap="square" lIns="0" tIns="0" rIns="0" bIns="0">
            <a:spAutoFit/>
          </a:bodyPr>
          <a:lstStyle/>
          <a:p>
            <a:pPr marL="256032" indent="-256032">
              <a:spcAft>
                <a:spcPts val="600"/>
              </a:spcAft>
              <a:buFont typeface="Arial"/>
              <a:buChar char="•"/>
            </a:pPr>
            <a:r>
              <a:rPr sz="1300" b="1">
                <a:solidFill>
                  <a:srgbClr val="3C3C3B"/>
                </a:solidFill>
              </a:rPr>
              <a:t>EU turbine: </a:t>
            </a:r>
            <a:r>
              <a:rPr sz="1300" b="0">
                <a:solidFill>
                  <a:srgbClr val="3C3C3B"/>
                </a:solidFill>
              </a:rPr>
              <a:t>12 points on the European routes bind the buyer to European turbines – €117.5m more capex at 261 MW (€126.0m at 280 MW) if it would otherwise build Chinese</a:t>
            </a:r>
          </a:p>
          <a:p>
            <a:pPr marL="256032" indent="-256032">
              <a:spcAft>
                <a:spcPts val="600"/>
              </a:spcAft>
              <a:buFont typeface="Arial"/>
              <a:buChar char="•"/>
            </a:pPr>
            <a:r>
              <a:rPr sz="1300" b="1">
                <a:solidFill>
                  <a:srgbClr val="3C3C3B"/>
                </a:solidFill>
              </a:rPr>
              <a:t>EU transformer: </a:t>
            </a:r>
            <a:r>
              <a:rPr sz="1300" b="0">
                <a:solidFill>
                  <a:srgbClr val="3C3C3B"/>
                </a:solidFill>
              </a:rPr>
              <a:t>3 points; a Chinese-equipment buyer gives up a substation saving of €1.2m</a:t>
            </a:r>
          </a:p>
          <a:p>
            <a:pPr marL="256032" indent="-256032">
              <a:spcAft>
                <a:spcPts val="600"/>
              </a:spcAft>
              <a:buFont typeface="Arial"/>
              <a:buChar char="•"/>
            </a:pPr>
            <a:r>
              <a:rPr sz="1300" b="1">
                <a:solidFill>
                  <a:srgbClr val="3C3C3B"/>
                </a:solidFill>
              </a:rPr>
              <a:t>Overbuild clipping: </a:t>
            </a:r>
            <a:r>
              <a:rPr sz="1300" b="0">
                <a:solidFill>
                  <a:srgbClr val="3C3C3B"/>
                </a:solidFill>
              </a:rPr>
              <a:t>the loss rises from 4.7% to 8.0% (14.6% in Strategy 4) and lowers the buyer's yield; the RtB price is on the connection MVA</a:t>
            </a:r>
          </a:p>
          <a:p>
            <a:pPr marL="256032" indent="-256032">
              <a:spcAft>
                <a:spcPts val="600"/>
              </a:spcAft>
              <a:buFont typeface="Arial"/>
              <a:buChar char="•"/>
            </a:pPr>
            <a:r>
              <a:rPr sz="1300" b="1">
                <a:solidFill>
                  <a:srgbClr val="3C3C3B"/>
                </a:solidFill>
              </a:rPr>
              <a:t>Partial award and shared connection: </a:t>
            </a:r>
            <a:r>
              <a:rPr sz="1300" b="0">
                <a:solidFill>
                  <a:srgbClr val="3C3C3B"/>
                </a:solidFill>
              </a:rPr>
              <a:t>scored at no modelled cost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a:extLst>
              <a:ext uri="{FF2B5EF4-FFF2-40B4-BE49-F238E27FC236}">
                <a16:creationId xmlns:a16="http://schemas.microsoft.com/office/drawing/2014/main" id="{28F6220A-CA3D-C1A1-F8E0-EC3D6D749C9E}"/>
              </a:ext>
            </a:extLst>
          </p:cNvPr>
          <p:cNvSpPr>
            <a:spLocks noGrp="1"/>
          </p:cNvSpPr>
          <p:nvPr>
            <p:ph type="title"/>
          </p:nvPr>
        </p:nvSpPr>
        <p:spPr>
          <a:xfrm>
            <a:off x="4498848" y="283464"/>
            <a:ext cx="12618720" cy="795528"/>
          </a:xfrm>
        </p:spPr>
        <p:txBody>
          <a:bodyPr anchor="ctr"/>
          <a:lstStyle/>
          <a:p>
            <a:r>
              <a:rPr lang="en-GB" noProof="0" dirty="0"/>
              <a:t>RtB price bridge – vs the current bid</a:t>
            </a:r>
          </a:p>
        </p:txBody>
      </p:sp>
      <p:sp>
        <p:nvSpPr>
          <p:cNvPr id="2" name="Slide Number Placeholder 1">
            <a:extLst>
              <a:ext uri="{FF2B5EF4-FFF2-40B4-BE49-F238E27FC236}">
                <a16:creationId xmlns:a16="http://schemas.microsoft.com/office/drawing/2014/main" id="{695E5A5C-46DB-BEDC-584B-134A0539A7B2}"/>
              </a:ext>
            </a:extLst>
          </p:cNvPr>
          <p:cNvSpPr>
            <a:spLocks noGrp="1"/>
          </p:cNvSpPr>
          <p:nvPr>
            <p:ph type="sldNum" sz="quarter" idx="4"/>
          </p:nvPr>
        </p:nvSpPr>
        <p:spPr/>
        <p:txBody>
          <a:bodyPr/>
          <a:lstStyle/>
          <a:p>
            <a:fld id="{52EEA166-2877-4493-9FAA-8D6952A82FC3}" type="slidenum">
              <a:rPr lang="en-GB" noProof="0" smtClean="0"/>
              <a:t>4</a:t>
            </a:fld>
            <a:endParaRPr lang="en-GB" noProof="0" dirty="0"/>
          </a:p>
        </p:txBody>
      </p:sp>
      <p:graphicFrame>
        <p:nvGraphicFramePr>
          <p:cNvPr id="14" name="Table 13">
            <a:extLst>
              <a:ext uri="{FF2B5EF4-FFF2-40B4-BE49-F238E27FC236}">
                <a16:creationId xmlns:a16="http://schemas.microsoft.com/office/drawing/2014/main" id="{93FD19EE-FC4A-32DF-6178-945B2C23B664}"/>
              </a:ext>
            </a:extLst>
          </p:cNvPr>
          <p:cNvGraphicFramePr>
            <a:graphicFrameLocks noGrp="1"/>
          </p:cNvGraphicFramePr>
          <p:nvPr>
            <p:extLst>
              <p:ext uri="{D42A27DB-BD31-4B8C-83A1-F6EECF244321}">
                <p14:modId xmlns:p14="http://schemas.microsoft.com/office/powerpoint/2010/main" val="2770148659"/>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5"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Gross premium of €30.0m plus or minus the present value of each strategy's promises vs the current bid</a:t>
            </a:r>
          </a:p>
        </p:txBody>
      </p:sp>
      <p:graphicFrame>
        <p:nvGraphicFramePr>
          <p:cNvPr id="16" name="Returns table"/>
          <p:cNvGraphicFramePr>
            <a:graphicFrameLocks noGrp="1"/>
          </p:cNvGraphicFramePr>
          <p:nvPr/>
        </p:nvGraphicFramePr>
        <p:xfrm>
          <a:off x="4498848" y="1600200"/>
          <a:ext cx="13716000" cy="3694176"/>
        </p:xfrm>
        <a:graphic>
          <a:graphicData uri="http://schemas.openxmlformats.org/drawingml/2006/table">
            <a:tbl>
              <a:tblPr>
                <a:tableStyleId>{5C22544A-7EE6-4342-B048-85BDC9FD1C3A}</a:tableStyleId>
              </a:tblPr>
              <a:tblGrid>
                <a:gridCol w="3657600"/>
                <a:gridCol w="822960"/>
                <a:gridCol w="1847088"/>
                <a:gridCol w="1847088"/>
                <a:gridCol w="1847088"/>
                <a:gridCol w="1847088"/>
                <a:gridCol w="1847088"/>
              </a:tblGrid>
              <a:tr h="566928">
                <a:tc>
                  <a:txBody>
                    <a:bodyPr/>
                    <a:lstStyle/>
                    <a:p>
                      <a:pPr algn="l"/>
                      <a:r>
                        <a:rPr sz="1300" b="1" i="0">
                          <a:solidFill>
                            <a:srgbClr val="FFFFFF"/>
                          </a:solidFill>
                        </a:rPr>
                        <a:t>RtB price</a:t>
                      </a:r>
                    </a:p>
                  </a:txBody>
                  <a:tcPr marL="73152" marR="73152" marT="27432" marB="27432" anchor="ctr">
                    <a:solidFill>
                      <a:srgbClr val="00A651"/>
                    </a:solidFill>
                  </a:tcPr>
                </a:tc>
                <a:tc>
                  <a:txBody>
                    <a:bodyPr/>
                    <a:lstStyle/>
                    <a:p>
                      <a:pPr algn="l"/>
                      <a:r>
                        <a:rPr sz="1300" b="1" i="0">
                          <a:solidFill>
                            <a:srgbClr val="FFFFFF"/>
                          </a:solidFill>
                        </a:rPr>
                        <a:t>Unit</a:t>
                      </a:r>
                    </a:p>
                  </a:txBody>
                  <a:tcPr marL="73152" marR="73152" marT="27432" marB="27432" anchor="ctr">
                    <a:solidFill>
                      <a:srgbClr val="00A651"/>
                    </a:solidFill>
                  </a:tcPr>
                </a:tc>
                <a:tc>
                  <a:txBody>
                    <a:bodyPr/>
                    <a:lstStyle/>
                    <a:p>
                      <a:pPr algn="r"/>
                      <a:r>
                        <a:rPr sz="1300" b="1" i="0">
                          <a:solidFill>
                            <a:srgbClr val="FFFFFF"/>
                          </a:solidFill>
                        </a:rPr>
                        <a:t>Strategy 0 – Zero bid</a:t>
                      </a:r>
                    </a:p>
                  </a:txBody>
                  <a:tcPr marL="73152" marR="73152" marT="27432" marB="27432" anchor="ctr">
                    <a:solidFill>
                      <a:srgbClr val="00A651"/>
                    </a:solidFill>
                  </a:tcPr>
                </a:tc>
                <a:tc>
                  <a:txBody>
                    <a:bodyPr/>
                    <a:lstStyle/>
                    <a:p>
                      <a:pPr algn="r"/>
                      <a:r>
                        <a:rPr sz="1300" b="1" i="0">
                          <a:solidFill>
                            <a:srgbClr val="FFFFFF"/>
                          </a:solidFill>
                        </a:rPr>
                        <a:t>Strategy 1 – Current bid</a:t>
                      </a:r>
                    </a:p>
                  </a:txBody>
                  <a:tcPr marL="73152" marR="73152" marT="27432" marB="27432" anchor="ctr">
                    <a:solidFill>
                      <a:srgbClr val="00A651"/>
                    </a:solidFill>
                  </a:tcPr>
                </a:tc>
                <a:tc>
                  <a:txBody>
                    <a:bodyPr/>
                    <a:lstStyle/>
                    <a:p>
                      <a:pPr algn="r"/>
                      <a:r>
                        <a:rPr sz="1300" b="1" i="0">
                          <a:solidFill>
                            <a:srgbClr val="FFFFFF"/>
                          </a:solidFill>
                        </a:rPr>
                        <a:t>Strategy 2 – Free points</a:t>
                      </a:r>
                    </a:p>
                  </a:txBody>
                  <a:tcPr marL="73152" marR="73152" marT="27432" marB="27432" anchor="ctr">
                    <a:solidFill>
                      <a:srgbClr val="00A651"/>
                    </a:solidFill>
                  </a:tcPr>
                </a:tc>
                <a:tc>
                  <a:txBody>
                    <a:bodyPr/>
                    <a:lstStyle/>
                    <a:p>
                      <a:pPr algn="r"/>
                      <a:r>
                        <a:rPr sz="1300" b="1" i="0">
                          <a:solidFill>
                            <a:srgbClr val="FFFFFF"/>
                          </a:solidFill>
                        </a:rPr>
                        <a:t>Strategy 3 – Cost-efficient ~70 pts</a:t>
                      </a:r>
                    </a:p>
                  </a:txBody>
                  <a:tcPr marL="73152" marR="73152" marT="27432" marB="27432" anchor="ctr">
                    <a:solidFill>
                      <a:srgbClr val="00A651"/>
                    </a:solidFill>
                  </a:tcPr>
                </a:tc>
                <a:tc>
                  <a:txBody>
                    <a:bodyPr/>
                    <a:lstStyle/>
                    <a:p>
                      <a:pPr algn="r"/>
                      <a:r>
                        <a:rPr sz="1300" b="1" i="0">
                          <a:solidFill>
                            <a:srgbClr val="FFFFFF"/>
                          </a:solidFill>
                        </a:rPr>
                        <a:t>Strategy 4 – Maximum score</a:t>
                      </a:r>
                    </a:p>
                  </a:txBody>
                  <a:tcPr marL="73152" marR="73152" marT="27432" marB="27432" anchor="ctr">
                    <a:solidFill>
                      <a:srgbClr val="00A651"/>
                    </a:solidFill>
                  </a:tcPr>
                </a:tc>
              </a:tr>
              <a:tr h="347472">
                <a:tc>
                  <a:txBody>
                    <a:bodyPr/>
                    <a:lstStyle/>
                    <a:p>
                      <a:pPr algn="l"/>
                      <a:r>
                        <a:rPr sz="1300" b="0" i="0">
                          <a:solidFill>
                            <a:srgbClr val="3C3C3B"/>
                          </a:solidFill>
                        </a:rPr>
                        <a:t>Gross RtB premium</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30.0</a:t>
                      </a:r>
                    </a:p>
                  </a:txBody>
                  <a:tcPr marL="73152" marR="73152" marT="27432" marB="27432" anchor="ctr">
                    <a:noFill/>
                  </a:tcPr>
                </a:tc>
                <a:tc>
                  <a:txBody>
                    <a:bodyPr/>
                    <a:lstStyle/>
                    <a:p>
                      <a:pPr algn="r"/>
                      <a:r>
                        <a:rPr sz="1300" b="0" i="0">
                          <a:solidFill>
                            <a:srgbClr val="3C3C3B"/>
                          </a:solidFill>
                        </a:rPr>
                        <a:t>30.0</a:t>
                      </a:r>
                    </a:p>
                  </a:txBody>
                  <a:tcPr marL="73152" marR="73152" marT="27432" marB="27432" anchor="ctr">
                    <a:noFill/>
                  </a:tcPr>
                </a:tc>
                <a:tc>
                  <a:txBody>
                    <a:bodyPr/>
                    <a:lstStyle/>
                    <a:p>
                      <a:pPr algn="r"/>
                      <a:r>
                        <a:rPr sz="1300" b="0" i="0">
                          <a:solidFill>
                            <a:srgbClr val="3C3C3B"/>
                          </a:solidFill>
                        </a:rPr>
                        <a:t>30.0</a:t>
                      </a:r>
                    </a:p>
                  </a:txBody>
                  <a:tcPr marL="73152" marR="73152" marT="27432" marB="27432" anchor="ctr">
                    <a:noFill/>
                  </a:tcPr>
                </a:tc>
                <a:tc>
                  <a:txBody>
                    <a:bodyPr/>
                    <a:lstStyle/>
                    <a:p>
                      <a:pPr algn="r"/>
                      <a:r>
                        <a:rPr sz="1300" b="0" i="0">
                          <a:solidFill>
                            <a:srgbClr val="3C3C3B"/>
                          </a:solidFill>
                        </a:rPr>
                        <a:t>30.0</a:t>
                      </a:r>
                    </a:p>
                  </a:txBody>
                  <a:tcPr marL="73152" marR="73152" marT="27432" marB="27432" anchor="ctr">
                    <a:noFill/>
                  </a:tcPr>
                </a:tc>
                <a:tc>
                  <a:txBody>
                    <a:bodyPr/>
                    <a:lstStyle/>
                    <a:p>
                      <a:pPr algn="r"/>
                      <a:r>
                        <a:rPr sz="1300" b="0" i="0">
                          <a:solidFill>
                            <a:srgbClr val="3C3C3B"/>
                          </a:solidFill>
                        </a:rPr>
                        <a:t>30.0</a:t>
                      </a:r>
                    </a:p>
                  </a:txBody>
                  <a:tcPr marL="73152" marR="73152" marT="27432" marB="27432" anchor="ctr">
                    <a:noFill/>
                  </a:tcPr>
                </a:tc>
              </a:tr>
              <a:tr h="347472">
                <a:tc>
                  <a:txBody>
                    <a:bodyPr/>
                    <a:lstStyle/>
                    <a:p>
                      <a:pPr algn="l"/>
                      <a:r>
                        <a:rPr sz="1300" b="0" i="0">
                          <a:solidFill>
                            <a:srgbClr val="3C3C3B"/>
                          </a:solidFill>
                        </a:rPr>
                        <a:t>Municipal contribution vs current bid</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+3.3</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r>
              <a:tr h="347472">
                <a:tc>
                  <a:txBody>
                    <a:bodyPr/>
                    <a:lstStyle/>
                    <a:p>
                      <a:pPr algn="l"/>
                      <a:r>
                        <a:rPr sz="1300" b="0" i="0">
                          <a:solidFill>
                            <a:srgbClr val="3C3C3B"/>
                          </a:solidFill>
                        </a:rPr>
                        <a:t>Community contribution vs current bid</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+8.6</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(5.6)</a:t>
                      </a:r>
                    </a:p>
                  </a:txBody>
                  <a:tcPr marL="73152" marR="73152" marT="27432" marB="27432" anchor="ctr">
                    <a:noFill/>
                  </a:tcPr>
                </a:tc>
              </a:tr>
              <a:tr h="347472">
                <a:tc>
                  <a:txBody>
                    <a:bodyPr/>
                    <a:lstStyle/>
                    <a:p>
                      <a:pPr algn="l"/>
                      <a:r>
                        <a:rPr sz="1300" b="0" i="0">
                          <a:solidFill>
                            <a:srgbClr val="3C3C3B"/>
                          </a:solidFill>
                        </a:rPr>
                        <a:t>Battery storage vs current bid</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+15.9</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(11.9)</a:t>
                      </a:r>
                    </a:p>
                  </a:txBody>
                  <a:tcPr marL="73152" marR="73152" marT="27432" marB="27432" anchor="ctr">
                    <a:noFill/>
                  </a:tcPr>
                </a:tc>
              </a:tr>
              <a:tr h="347472">
                <a:tc>
                  <a:txBody>
                    <a:bodyPr/>
                    <a:lstStyle/>
                    <a:p>
                      <a:pPr algn="l"/>
                      <a:r>
                        <a:rPr sz="1300" b="0" i="0">
                          <a:solidFill>
                            <a:srgbClr val="3C3C3B"/>
                          </a:solidFill>
                        </a:rPr>
                        <a:t>Performance security vs current bid</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+1.1</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(0.1)</a:t>
                      </a:r>
                    </a:p>
                  </a:txBody>
                  <a:tcPr marL="73152" marR="73152" marT="27432" marB="27432" anchor="ctr">
                    <a:noFill/>
                  </a:tcPr>
                </a:tc>
                <a:tc>
                  <a:txBody>
                    <a:bodyPr/>
                    <a:lstStyle/>
                    <a:p>
                      <a:pPr algn="r"/>
                      <a:r>
                        <a:rPr sz="1300" b="0" i="0">
                          <a:solidFill>
                            <a:srgbClr val="3C3C3B"/>
                          </a:solidFill>
                        </a:rPr>
                        <a:t>(0.7)</a:t>
                      </a:r>
                    </a:p>
                  </a:txBody>
                  <a:tcPr marL="73152" marR="73152" marT="27432" marB="27432" anchor="ctr">
                    <a:noFill/>
                  </a:tcPr>
                </a:tc>
                <a:tc>
                  <a:txBody>
                    <a:bodyPr/>
                    <a:lstStyle/>
                    <a:p>
                      <a:pPr algn="r"/>
                      <a:r>
                        <a:rPr sz="1300" b="0" i="0">
                          <a:solidFill>
                            <a:srgbClr val="3C3C3B"/>
                          </a:solidFill>
                        </a:rPr>
                        <a:t>(1.7)</a:t>
                      </a:r>
                    </a:p>
                  </a:txBody>
                  <a:tcPr marL="73152" marR="73152" marT="27432" marB="27432" anchor="ctr">
                    <a:noFill/>
                  </a:tcPr>
                </a:tc>
              </a:tr>
              <a:tr h="347472">
                <a:tc>
                  <a:txBody>
                    <a:bodyPr/>
                    <a:lstStyle/>
                    <a:p>
                      <a:pPr algn="l"/>
                      <a:r>
                        <a:rPr sz="1300" b="0" i="0">
                          <a:solidFill>
                            <a:srgbClr val="3C3C3B"/>
                          </a:solidFill>
                        </a:rPr>
                        <a:t>Price effect vs current bid</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+28.9</a:t>
                      </a:r>
                    </a:p>
                  </a:txBody>
                  <a:tcPr marL="73152" marR="73152" marT="27432" marB="27432" anchor="ctr">
                    <a:no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(0.1)</a:t>
                      </a:r>
                    </a:p>
                  </a:txBody>
                  <a:tcPr marL="73152" marR="73152" marT="27432" marB="27432" anchor="ctr">
                    <a:noFill/>
                  </a:tcPr>
                </a:tc>
                <a:tc>
                  <a:txBody>
                    <a:bodyPr/>
                    <a:lstStyle/>
                    <a:p>
                      <a:pPr algn="r"/>
                      <a:r>
                        <a:rPr sz="1300" b="0" i="0">
                          <a:solidFill>
                            <a:srgbClr val="3C3C3B"/>
                          </a:solidFill>
                        </a:rPr>
                        <a:t>(5.7)</a:t>
                      </a:r>
                    </a:p>
                  </a:txBody>
                  <a:tcPr marL="73152" marR="73152" marT="27432" marB="27432" anchor="ctr">
                    <a:noFill/>
                  </a:tcPr>
                </a:tc>
                <a:tc>
                  <a:txBody>
                    <a:bodyPr/>
                    <a:lstStyle/>
                    <a:p>
                      <a:pPr algn="r"/>
                      <a:r>
                        <a:rPr sz="1300" b="0" i="0">
                          <a:solidFill>
                            <a:srgbClr val="3C3C3B"/>
                          </a:solidFill>
                        </a:rPr>
                        <a:t>(24.2)</a:t>
                      </a:r>
                    </a:p>
                  </a:txBody>
                  <a:tcPr marL="73152" marR="73152" marT="27432" marB="27432" anchor="ctr">
                    <a:noFill/>
                  </a:tcPr>
                </a:tc>
              </a:tr>
              <a:tr h="347472">
                <a:tc>
                  <a:txBody>
                    <a:bodyPr/>
                    <a:lstStyle/>
                    <a:p>
                      <a:pPr algn="l"/>
                      <a:r>
                        <a:rPr sz="1300" b="1" i="0">
                          <a:solidFill>
                            <a:srgbClr val="3C3C3B"/>
                          </a:solidFill>
                        </a:rPr>
                        <a:t>Effective RtB price</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1" i="0">
                          <a:solidFill>
                            <a:srgbClr val="3C3C3B"/>
                          </a:solidFill>
                        </a:rPr>
                        <a:t>58.9</a:t>
                      </a:r>
                    </a:p>
                  </a:txBody>
                  <a:tcPr marL="73152" marR="73152" marT="27432" marB="27432" anchor="ctr">
                    <a:solidFill>
                      <a:srgbClr val="E6F4EC"/>
                    </a:solidFill>
                  </a:tcPr>
                </a:tc>
                <a:tc>
                  <a:txBody>
                    <a:bodyPr/>
                    <a:lstStyle/>
                    <a:p>
                      <a:pPr algn="r"/>
                      <a:r>
                        <a:rPr sz="1300" b="1" i="0">
                          <a:solidFill>
                            <a:srgbClr val="3C3C3B"/>
                          </a:solidFill>
                        </a:rPr>
                        <a:t>30.0</a:t>
                      </a:r>
                    </a:p>
                  </a:txBody>
                  <a:tcPr marL="73152" marR="73152" marT="27432" marB="27432" anchor="ctr">
                    <a:solidFill>
                      <a:srgbClr val="E6F4EC"/>
                    </a:solidFill>
                  </a:tcPr>
                </a:tc>
                <a:tc>
                  <a:txBody>
                    <a:bodyPr/>
                    <a:lstStyle/>
                    <a:p>
                      <a:pPr algn="r"/>
                      <a:r>
                        <a:rPr sz="1300" b="1" i="0">
                          <a:solidFill>
                            <a:srgbClr val="3C3C3B"/>
                          </a:solidFill>
                        </a:rPr>
                        <a:t>29.9</a:t>
                      </a:r>
                    </a:p>
                  </a:txBody>
                  <a:tcPr marL="73152" marR="73152" marT="27432" marB="27432" anchor="ctr">
                    <a:solidFill>
                      <a:srgbClr val="E6F4EC"/>
                    </a:solidFill>
                  </a:tcPr>
                </a:tc>
                <a:tc>
                  <a:txBody>
                    <a:bodyPr/>
                    <a:lstStyle/>
                    <a:p>
                      <a:pPr algn="r"/>
                      <a:r>
                        <a:rPr sz="1300" b="1" i="0">
                          <a:solidFill>
                            <a:srgbClr val="3C3C3B"/>
                          </a:solidFill>
                        </a:rPr>
                        <a:t>24.3</a:t>
                      </a:r>
                    </a:p>
                  </a:txBody>
                  <a:tcPr marL="73152" marR="73152" marT="27432" marB="27432" anchor="ctr">
                    <a:solidFill>
                      <a:srgbClr val="E6F4EC"/>
                    </a:solidFill>
                  </a:tcPr>
                </a:tc>
                <a:tc>
                  <a:txBody>
                    <a:bodyPr/>
                    <a:lstStyle/>
                    <a:p>
                      <a:pPr algn="r"/>
                      <a:r>
                        <a:rPr sz="1300" b="1" i="0">
                          <a:solidFill>
                            <a:srgbClr val="3C3C3B"/>
                          </a:solidFill>
                        </a:rPr>
                        <a:t>5.8</a:t>
                      </a:r>
                    </a:p>
                  </a:txBody>
                  <a:tcPr marL="73152" marR="73152" marT="27432" marB="27432" anchor="ctr">
                    <a:solidFill>
                      <a:srgbClr val="E6F4EC"/>
                    </a:solidFill>
                  </a:tcPr>
                </a:tc>
              </a:tr>
              <a:tr h="347472">
                <a:tc>
                  <a:txBody>
                    <a:bodyPr/>
                    <a:lstStyle/>
                    <a:p>
                      <a:pPr algn="l"/>
                      <a:r>
                        <a:rPr sz="1300" b="0" i="0">
                          <a:solidFill>
                            <a:srgbClr val="3C3C3B"/>
                          </a:solidFill>
                        </a:rPr>
                        <a:t>Effective price per MVA</a:t>
                      </a:r>
                    </a:p>
                  </a:txBody>
                  <a:tcPr marL="73152" marR="73152" marT="27432" marB="27432" anchor="ctr">
                    <a:solidFill>
                      <a:srgbClr val="F2F2F2"/>
                    </a:solidFill>
                  </a:tcPr>
                </a:tc>
                <a:tc>
                  <a:txBody>
                    <a:bodyPr/>
                    <a:lstStyle/>
                    <a:p>
                      <a:pPr algn="l"/>
                      <a:r>
                        <a:rPr sz="1300" b="0" i="0">
                          <a:solidFill>
                            <a:srgbClr val="919191"/>
                          </a:solidFill>
                        </a:rPr>
                        <a:t>k€</a:t>
                      </a:r>
                    </a:p>
                  </a:txBody>
                  <a:tcPr marL="73152" marR="73152" marT="27432" marB="27432" anchor="ctr">
                    <a:solidFill>
                      <a:srgbClr val="F2F2F2"/>
                    </a:solidFill>
                  </a:tcPr>
                </a:tc>
                <a:tc>
                  <a:txBody>
                    <a:bodyPr/>
                    <a:lstStyle/>
                    <a:p>
                      <a:pPr algn="r"/>
                      <a:r>
                        <a:rPr sz="1300" b="0" i="0">
                          <a:solidFill>
                            <a:srgbClr val="3C3C3B"/>
                          </a:solidFill>
                        </a:rPr>
                        <a:t>294.7</a:t>
                      </a:r>
                    </a:p>
                  </a:txBody>
                  <a:tcPr marL="73152" marR="73152" marT="27432" marB="27432" anchor="ctr">
                    <a:noFill/>
                  </a:tcPr>
                </a:tc>
                <a:tc>
                  <a:txBody>
                    <a:bodyPr/>
                    <a:lstStyle/>
                    <a:p>
                      <a:pPr algn="r"/>
                      <a:r>
                        <a:rPr sz="1300" b="0" i="0">
                          <a:solidFill>
                            <a:srgbClr val="3C3C3B"/>
                          </a:solidFill>
                        </a:rPr>
                        <a:t>150.0</a:t>
                      </a:r>
                    </a:p>
                  </a:txBody>
                  <a:tcPr marL="73152" marR="73152" marT="27432" marB="27432" anchor="ctr">
                    <a:noFill/>
                  </a:tcPr>
                </a:tc>
                <a:tc>
                  <a:txBody>
                    <a:bodyPr/>
                    <a:lstStyle/>
                    <a:p>
                      <a:pPr algn="r"/>
                      <a:r>
                        <a:rPr sz="1300" b="0" i="0">
                          <a:solidFill>
                            <a:srgbClr val="3C3C3B"/>
                          </a:solidFill>
                        </a:rPr>
                        <a:t>149.3</a:t>
                      </a:r>
                    </a:p>
                  </a:txBody>
                  <a:tcPr marL="73152" marR="73152" marT="27432" marB="27432" anchor="ctr">
                    <a:noFill/>
                  </a:tcPr>
                </a:tc>
                <a:tc>
                  <a:txBody>
                    <a:bodyPr/>
                    <a:lstStyle/>
                    <a:p>
                      <a:pPr algn="r"/>
                      <a:r>
                        <a:rPr sz="1300" b="0" i="0">
                          <a:solidFill>
                            <a:srgbClr val="3C3C3B"/>
                          </a:solidFill>
                        </a:rPr>
                        <a:t>121.6</a:t>
                      </a:r>
                    </a:p>
                  </a:txBody>
                  <a:tcPr marL="73152" marR="73152" marT="27432" marB="27432" anchor="ctr">
                    <a:noFill/>
                  </a:tcPr>
                </a:tc>
                <a:tc>
                  <a:txBody>
                    <a:bodyPr/>
                    <a:lstStyle/>
                    <a:p>
                      <a:pPr algn="r"/>
                      <a:r>
                        <a:rPr sz="1300" b="0" i="0">
                          <a:solidFill>
                            <a:srgbClr val="3C3C3B"/>
                          </a:solidFill>
                        </a:rPr>
                        <a:t>28.9</a:t>
                      </a:r>
                    </a:p>
                  </a:txBody>
                  <a:tcPr marL="73152" marR="73152" marT="27432" marB="27432" anchor="ctr">
                    <a:noFill/>
                  </a:tcPr>
                </a:tc>
              </a:tr>
              <a:tr h="347472">
                <a:tc>
                  <a:txBody>
                    <a:bodyPr/>
                    <a:lstStyle/>
                    <a:p>
                      <a:pPr algn="l"/>
                      <a:r>
                        <a:rPr sz="1300" b="0" i="0">
                          <a:solidFill>
                            <a:srgbClr val="3C3C3B"/>
                          </a:solidFill>
                        </a:rPr>
                        <a:t>Score – European / Chinese turbine</a:t>
                      </a:r>
                    </a:p>
                  </a:txBody>
                  <a:tcPr marL="73152" marR="73152" marT="27432" marB="27432" anchor="ctr">
                    <a:solidFill>
                      <a:srgbClr val="F2F2F2"/>
                    </a:solidFill>
                  </a:tcPr>
                </a:tc>
                <a:tc>
                  <a:txBody>
                    <a:bodyPr/>
                    <a:lstStyle/>
                    <a:p>
                      <a:pPr algn="l"/>
                      <a:r>
                        <a:rPr sz="1300" b="0" i="0">
                          <a:solidFill>
                            <a:srgbClr val="919191"/>
                          </a:solidFill>
                        </a:rPr>
                        <a:t>pts</a:t>
                      </a:r>
                    </a:p>
                  </a:txBody>
                  <a:tcPr marL="73152" marR="73152" marT="27432" marB="27432" anchor="ctr">
                    <a:solidFill>
                      <a:srgbClr val="F2F2F2"/>
                    </a:solidFill>
                  </a:tcPr>
                </a:tc>
                <a:tc>
                  <a:txBody>
                    <a:bodyPr/>
                    <a:lstStyle/>
                    <a:p>
                      <a:pPr algn="r"/>
                      <a:r>
                        <a:rPr sz="1300" b="0" i="0">
                          <a:solidFill>
                            <a:srgbClr val="3C3C3B"/>
                          </a:solidFill>
                        </a:rPr>
                        <a:t>0.0 / 0.0</a:t>
                      </a:r>
                    </a:p>
                  </a:txBody>
                  <a:tcPr marL="73152" marR="73152" marT="27432" marB="27432" anchor="ctr">
                    <a:noFill/>
                  </a:tcPr>
                </a:tc>
                <a:tc>
                  <a:txBody>
                    <a:bodyPr/>
                    <a:lstStyle/>
                    <a:p>
                      <a:pPr algn="r"/>
                      <a:r>
                        <a:rPr sz="1300" b="0" i="0">
                          <a:solidFill>
                            <a:srgbClr val="3C3C3B"/>
                          </a:solidFill>
                        </a:rPr>
                        <a:t>36.0 / 24.0</a:t>
                      </a:r>
                    </a:p>
                  </a:txBody>
                  <a:tcPr marL="73152" marR="73152" marT="27432" marB="27432" anchor="ctr">
                    <a:noFill/>
                  </a:tcPr>
                </a:tc>
                <a:tc>
                  <a:txBody>
                    <a:bodyPr/>
                    <a:lstStyle/>
                    <a:p>
                      <a:pPr algn="r"/>
                      <a:r>
                        <a:rPr sz="1300" b="0" i="0">
                          <a:solidFill>
                            <a:srgbClr val="3C3C3B"/>
                          </a:solidFill>
                        </a:rPr>
                        <a:t>51.5 / 36.5</a:t>
                      </a:r>
                    </a:p>
                  </a:txBody>
                  <a:tcPr marL="73152" marR="73152" marT="27432" marB="27432" anchor="ctr">
                    <a:noFill/>
                  </a:tcPr>
                </a:tc>
                <a:tc>
                  <a:txBody>
                    <a:bodyPr/>
                    <a:lstStyle/>
                    <a:p>
                      <a:pPr algn="r"/>
                      <a:r>
                        <a:rPr sz="1300" b="0" i="0">
                          <a:solidFill>
                            <a:srgbClr val="3C3C3B"/>
                          </a:solidFill>
                        </a:rPr>
                        <a:t>69.5 / 54.5</a:t>
                      </a:r>
                    </a:p>
                  </a:txBody>
                  <a:tcPr marL="73152" marR="73152" marT="27432" marB="27432" anchor="ctr">
                    <a:noFill/>
                  </a:tcPr>
                </a:tc>
                <a:tc>
                  <a:txBody>
                    <a:bodyPr/>
                    <a:lstStyle/>
                    <a:p>
                      <a:pPr algn="r"/>
                      <a:r>
                        <a:rPr sz="1300" b="0" i="0">
                          <a:solidFill>
                            <a:srgbClr val="3C3C3B"/>
                          </a:solidFill>
                        </a:rPr>
                        <a:t>90.0 / 75.0</a:t>
                      </a:r>
                    </a:p>
                  </a:txBody>
                  <a:tcPr marL="73152" marR="73152" marT="27432" marB="27432" anchor="ctr">
                    <a:noFill/>
                  </a:tcPr>
                </a:tc>
              </a:tr>
            </a:tbl>
          </a:graphicData>
        </a:graphic>
      </p:graphicFrame>
      <p:sp>
        <p:nvSpPr>
          <p:cNvPr id="20" name="Footnote"/>
          <p:cNvSpPr txBox="1"/>
          <p:nvPr/>
        </p:nvSpPr>
        <p:spPr>
          <a:xfrm>
            <a:off x="4498848" y="9875520"/>
            <a:ext cx="13167360" cy="640080"/>
          </a:xfrm>
          <a:prstGeom prst="rect">
            <a:avLst/>
          </a:prstGeom>
          <a:noFill/>
        </p:spPr>
        <p:txBody>
          <a:bodyPr wrap="square" lIns="0" tIns="0" rIns="0" bIns="0" anchor="t">
            <a:spAutoFit/>
          </a:bodyPr>
          <a:lstStyle/>
          <a:p>
            <a:pPr algn="l"/>
            <a:r>
              <a:rPr sz="1100" b="0">
                <a:solidFill>
                  <a:srgbClr val="919191"/>
                </a:solidFill>
              </a:rPr>
              <a:t>Present value to the buyer at the RtB sale (after tax) of each promise relative to the current bid, passed through in full. The zero bid promises less than the current bid, so its price rises by the saving. Segments under €1m are labelled in the table only.</a:t>
            </a:r>
          </a:p>
          <a:p>
            <a:pPr algn="l"/>
            <a:r>
              <a:rPr sz="1100" b="0">
                <a:solidFill>
                  <a:srgbClr val="919191"/>
                </a:solidFill>
              </a:rPr>
              <a:t>Source: Bora IC model, 11 Oct 2026.</a:t>
            </a:r>
          </a:p>
        </p:txBody>
      </p:sp>
      <p:graphicFrame>
        <p:nvGraphicFramePr>
          <p:cNvPr id="21" name="Bridge chart"/>
          <p:cNvGraphicFramePr>
            <a:graphicFrameLocks noGrp="1"/>
          </p:cNvGraphicFramePr>
          <p:nvPr/>
        </p:nvGraphicFramePr>
        <p:xfrm>
          <a:off x="4498848" y="5431536"/>
          <a:ext cx="13716000" cy="4032503"/>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a:extLst>
              <a:ext uri="{FF2B5EF4-FFF2-40B4-BE49-F238E27FC236}">
                <a16:creationId xmlns:a16="http://schemas.microsoft.com/office/drawing/2014/main" id="{28F6220A-CA3D-C1A1-F8E0-EC3D6D749C9E}"/>
              </a:ext>
            </a:extLst>
          </p:cNvPr>
          <p:cNvSpPr>
            <a:spLocks noGrp="1"/>
          </p:cNvSpPr>
          <p:nvPr>
            <p:ph type="title"/>
          </p:nvPr>
        </p:nvSpPr>
        <p:spPr>
          <a:xfrm>
            <a:off x="4498848" y="283464"/>
            <a:ext cx="12618720" cy="795528"/>
          </a:xfrm>
        </p:spPr>
        <p:txBody>
          <a:bodyPr anchor="ctr"/>
          <a:lstStyle/>
          <a:p>
            <a:r>
              <a:rPr lang="en-GB" noProof="0" dirty="0"/>
              <a:t>RtB returns per strategy</a:t>
            </a:r>
          </a:p>
        </p:txBody>
      </p:sp>
      <p:sp>
        <p:nvSpPr>
          <p:cNvPr id="2" name="Slide Number Placeholder 1">
            <a:extLst>
              <a:ext uri="{FF2B5EF4-FFF2-40B4-BE49-F238E27FC236}">
                <a16:creationId xmlns:a16="http://schemas.microsoft.com/office/drawing/2014/main" id="{695E5A5C-46DB-BEDC-584B-134A0539A7B2}"/>
              </a:ext>
            </a:extLst>
          </p:cNvPr>
          <p:cNvSpPr>
            <a:spLocks noGrp="1"/>
          </p:cNvSpPr>
          <p:nvPr>
            <p:ph type="sldNum" sz="quarter" idx="4"/>
          </p:nvPr>
        </p:nvSpPr>
        <p:spPr/>
        <p:txBody>
          <a:bodyPr/>
          <a:lstStyle/>
          <a:p>
            <a:fld id="{52EEA166-2877-4493-9FAA-8D6952A82FC3}" type="slidenum">
              <a:rPr lang="en-GB" noProof="0" smtClean="0"/>
              <a:t>4</a:t>
            </a:fld>
            <a:endParaRPr lang="en-GB" noProof="0" dirty="0"/>
          </a:p>
        </p:txBody>
      </p:sp>
      <p:graphicFrame>
        <p:nvGraphicFramePr>
          <p:cNvPr id="14" name="Table 13">
            <a:extLst>
              <a:ext uri="{FF2B5EF4-FFF2-40B4-BE49-F238E27FC236}">
                <a16:creationId xmlns:a16="http://schemas.microsoft.com/office/drawing/2014/main" id="{93FD19EE-FC4A-32DF-6178-945B2C23B664}"/>
              </a:ext>
            </a:extLst>
          </p:cNvPr>
          <p:cNvGraphicFramePr>
            <a:graphicFrameLocks noGrp="1"/>
          </p:cNvGraphicFramePr>
          <p:nvPr>
            <p:extLst>
              <p:ext uri="{D42A27DB-BD31-4B8C-83A1-F6EECF244321}">
                <p14:modId xmlns:p14="http://schemas.microsoft.com/office/powerpoint/2010/main" val="2770148659"/>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r h="777240">
                <a:tc>
                  <a:txBody>
                    <a:bodyPr/>
                    <a:lstStyle/>
                    <a:p>
                      <a:pPr marL="12700">
                        <a:lnSpc>
                          <a:spcPct val="100000"/>
                        </a:lnSpc>
                        <a:spcBef>
                          <a:spcPts val="120"/>
                        </a:spcBef>
                      </a:pPr>
                      <a:r>
                        <a:rPr lang="en-GB" sz="1800" noProof="0" dirty="0">
                          <a:solidFill>
                            <a:schemeClr val="tx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5"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FEP returns at the RtB sale (31-Mar-30) with the A.RES share and the developer success fee</a:t>
            </a:r>
          </a:p>
        </p:txBody>
      </p:sp>
      <p:graphicFrame>
        <p:nvGraphicFramePr>
          <p:cNvPr id="16" name="Returns table"/>
          <p:cNvGraphicFramePr>
            <a:graphicFrameLocks noGrp="1"/>
          </p:cNvGraphicFramePr>
          <p:nvPr/>
        </p:nvGraphicFramePr>
        <p:xfrm>
          <a:off x="4498848" y="1600200"/>
          <a:ext cx="13716000" cy="5212067"/>
        </p:xfrm>
        <a:graphic>
          <a:graphicData uri="http://schemas.openxmlformats.org/drawingml/2006/table">
            <a:tbl>
              <a:tblPr>
                <a:tableStyleId>{5C22544A-7EE6-4342-B048-85BDC9FD1C3A}</a:tableStyleId>
              </a:tblPr>
              <a:tblGrid>
                <a:gridCol w="3657600"/>
                <a:gridCol w="822960"/>
                <a:gridCol w="1847088"/>
                <a:gridCol w="1847088"/>
                <a:gridCol w="1847088"/>
                <a:gridCol w="1847088"/>
                <a:gridCol w="1847088"/>
              </a:tblGrid>
              <a:tr h="536792">
                <a:tc>
                  <a:txBody>
                    <a:bodyPr/>
                    <a:lstStyle/>
                    <a:p>
                      <a:pPr algn="l"/>
                      <a:r>
                        <a:rPr sz="1300" b="1" i="0">
                          <a:solidFill>
                            <a:srgbClr val="FFFFFF"/>
                          </a:solidFill>
                        </a:rPr>
                        <a:t>Metric</a:t>
                      </a:r>
                    </a:p>
                  </a:txBody>
                  <a:tcPr marL="73152" marR="73152" marT="27432" marB="27432" anchor="ctr">
                    <a:solidFill>
                      <a:srgbClr val="00A651"/>
                    </a:solidFill>
                  </a:tcPr>
                </a:tc>
                <a:tc>
                  <a:txBody>
                    <a:bodyPr/>
                    <a:lstStyle/>
                    <a:p>
                      <a:pPr algn="l"/>
                      <a:r>
                        <a:rPr sz="1300" b="1" i="0">
                          <a:solidFill>
                            <a:srgbClr val="FFFFFF"/>
                          </a:solidFill>
                        </a:rPr>
                        <a:t>Unit</a:t>
                      </a:r>
                    </a:p>
                  </a:txBody>
                  <a:tcPr marL="73152" marR="73152" marT="27432" marB="27432" anchor="ctr">
                    <a:solidFill>
                      <a:srgbClr val="00A651"/>
                    </a:solidFill>
                  </a:tcPr>
                </a:tc>
                <a:tc>
                  <a:txBody>
                    <a:bodyPr/>
                    <a:lstStyle/>
                    <a:p>
                      <a:pPr algn="r"/>
                      <a:r>
                        <a:rPr sz="1300" b="1" i="0">
                          <a:solidFill>
                            <a:srgbClr val="FFFFFF"/>
                          </a:solidFill>
                        </a:rPr>
                        <a:t>Strategy 0 – Zero bid</a:t>
                      </a:r>
                    </a:p>
                  </a:txBody>
                  <a:tcPr marL="73152" marR="73152" marT="27432" marB="27432" anchor="ctr">
                    <a:solidFill>
                      <a:srgbClr val="00A651"/>
                    </a:solidFill>
                  </a:tcPr>
                </a:tc>
                <a:tc>
                  <a:txBody>
                    <a:bodyPr/>
                    <a:lstStyle/>
                    <a:p>
                      <a:pPr algn="r"/>
                      <a:r>
                        <a:rPr sz="1300" b="1" i="0">
                          <a:solidFill>
                            <a:srgbClr val="FFFFFF"/>
                          </a:solidFill>
                        </a:rPr>
                        <a:t>Strategy 1 – Current bid</a:t>
                      </a:r>
                    </a:p>
                  </a:txBody>
                  <a:tcPr marL="73152" marR="73152" marT="27432" marB="27432" anchor="ctr">
                    <a:solidFill>
                      <a:srgbClr val="00A651"/>
                    </a:solidFill>
                  </a:tcPr>
                </a:tc>
                <a:tc>
                  <a:txBody>
                    <a:bodyPr/>
                    <a:lstStyle/>
                    <a:p>
                      <a:pPr algn="r"/>
                      <a:r>
                        <a:rPr sz="1300" b="1" i="0">
                          <a:solidFill>
                            <a:srgbClr val="FFFFFF"/>
                          </a:solidFill>
                        </a:rPr>
                        <a:t>Strategy 2 – Free points</a:t>
                      </a:r>
                    </a:p>
                  </a:txBody>
                  <a:tcPr marL="73152" marR="73152" marT="27432" marB="27432" anchor="ctr">
                    <a:solidFill>
                      <a:srgbClr val="00A651"/>
                    </a:solidFill>
                  </a:tcPr>
                </a:tc>
                <a:tc>
                  <a:txBody>
                    <a:bodyPr/>
                    <a:lstStyle/>
                    <a:p>
                      <a:pPr algn="r"/>
                      <a:r>
                        <a:rPr sz="1300" b="1" i="0">
                          <a:solidFill>
                            <a:srgbClr val="FFFFFF"/>
                          </a:solidFill>
                        </a:rPr>
                        <a:t>Strategy 3 – Cost-efficient ~70 pts</a:t>
                      </a:r>
                    </a:p>
                  </a:txBody>
                  <a:tcPr marL="73152" marR="73152" marT="27432" marB="27432" anchor="ctr">
                    <a:solidFill>
                      <a:srgbClr val="00A651"/>
                    </a:solidFill>
                  </a:tcPr>
                </a:tc>
                <a:tc>
                  <a:txBody>
                    <a:bodyPr/>
                    <a:lstStyle/>
                    <a:p>
                      <a:pPr algn="r"/>
                      <a:r>
                        <a:rPr sz="1300" b="1" i="0">
                          <a:solidFill>
                            <a:srgbClr val="FFFFFF"/>
                          </a:solidFill>
                        </a:rPr>
                        <a:t>Strategy 4 – Maximum score</a:t>
                      </a:r>
                    </a:p>
                  </a:txBody>
                  <a:tcPr marL="73152" marR="73152" marT="27432" marB="27432" anchor="ctr">
                    <a:solidFill>
                      <a:srgbClr val="00A651"/>
                    </a:solidFill>
                  </a:tcPr>
                </a:tc>
              </a:tr>
              <a:tr h="311685">
                <a:tc>
                  <a:txBody>
                    <a:bodyPr/>
                    <a:lstStyle/>
                    <a:p>
                      <a:pPr algn="l"/>
                      <a:r>
                        <a:rPr sz="1300" b="0" i="0">
                          <a:solidFill>
                            <a:srgbClr val="3C3C3B"/>
                          </a:solidFill>
                        </a:rPr>
                        <a:t>Effective RtB price</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58.9</a:t>
                      </a:r>
                    </a:p>
                  </a:txBody>
                  <a:tcPr marL="73152" marR="73152" marT="27432" marB="27432" anchor="ctr">
                    <a:noFill/>
                  </a:tcPr>
                </a:tc>
                <a:tc>
                  <a:txBody>
                    <a:bodyPr/>
                    <a:lstStyle/>
                    <a:p>
                      <a:pPr algn="r"/>
                      <a:r>
                        <a:rPr sz="1300" b="0" i="0">
                          <a:solidFill>
                            <a:srgbClr val="3C3C3B"/>
                          </a:solidFill>
                        </a:rPr>
                        <a:t>30.0</a:t>
                      </a:r>
                    </a:p>
                  </a:txBody>
                  <a:tcPr marL="73152" marR="73152" marT="27432" marB="27432" anchor="ctr">
                    <a:noFill/>
                  </a:tcPr>
                </a:tc>
                <a:tc>
                  <a:txBody>
                    <a:bodyPr/>
                    <a:lstStyle/>
                    <a:p>
                      <a:pPr algn="r"/>
                      <a:r>
                        <a:rPr sz="1300" b="0" i="0">
                          <a:solidFill>
                            <a:srgbClr val="3C3C3B"/>
                          </a:solidFill>
                        </a:rPr>
                        <a:t>29.9</a:t>
                      </a:r>
                    </a:p>
                  </a:txBody>
                  <a:tcPr marL="73152" marR="73152" marT="27432" marB="27432" anchor="ctr">
                    <a:noFill/>
                  </a:tcPr>
                </a:tc>
                <a:tc>
                  <a:txBody>
                    <a:bodyPr/>
                    <a:lstStyle/>
                    <a:p>
                      <a:pPr algn="r"/>
                      <a:r>
                        <a:rPr sz="1300" b="0" i="0">
                          <a:solidFill>
                            <a:srgbClr val="3C3C3B"/>
                          </a:solidFill>
                        </a:rPr>
                        <a:t>24.3</a:t>
                      </a:r>
                    </a:p>
                  </a:txBody>
                  <a:tcPr marL="73152" marR="73152" marT="27432" marB="27432" anchor="ctr">
                    <a:noFill/>
                  </a:tcPr>
                </a:tc>
                <a:tc>
                  <a:txBody>
                    <a:bodyPr/>
                    <a:lstStyle/>
                    <a:p>
                      <a:pPr algn="r"/>
                      <a:r>
                        <a:rPr sz="1300" b="0" i="0">
                          <a:solidFill>
                            <a:srgbClr val="3C3C3B"/>
                          </a:solidFill>
                        </a:rPr>
                        <a:t>5.8</a:t>
                      </a:r>
                    </a:p>
                  </a:txBody>
                  <a:tcPr marL="73152" marR="73152" marT="27432" marB="27432" anchor="ctr">
                    <a:noFill/>
                  </a:tcPr>
                </a:tc>
              </a:tr>
              <a:tr h="311685">
                <a:tc>
                  <a:txBody>
                    <a:bodyPr/>
                    <a:lstStyle/>
                    <a:p>
                      <a:pPr algn="l"/>
                      <a:r>
                        <a:rPr sz="1300" b="0" i="0">
                          <a:solidFill>
                            <a:srgbClr val="3C3C3B"/>
                          </a:solidFill>
                        </a:rPr>
                        <a:t>Distributable proceeds</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48.3</a:t>
                      </a:r>
                    </a:p>
                  </a:txBody>
                  <a:tcPr marL="73152" marR="73152" marT="27432" marB="27432" anchor="ctr">
                    <a:noFill/>
                  </a:tcPr>
                </a:tc>
                <a:tc>
                  <a:txBody>
                    <a:bodyPr/>
                    <a:lstStyle/>
                    <a:p>
                      <a:pPr algn="r"/>
                      <a:r>
                        <a:rPr sz="1300" b="0" i="0">
                          <a:solidFill>
                            <a:srgbClr val="3C3C3B"/>
                          </a:solidFill>
                        </a:rPr>
                        <a:t>16.6</a:t>
                      </a:r>
                    </a:p>
                  </a:txBody>
                  <a:tcPr marL="73152" marR="73152" marT="27432" marB="27432" anchor="ctr">
                    <a:noFill/>
                  </a:tcPr>
                </a:tc>
                <a:tc>
                  <a:txBody>
                    <a:bodyPr/>
                    <a:lstStyle/>
                    <a:p>
                      <a:pPr algn="r"/>
                      <a:r>
                        <a:rPr sz="1300" b="0" i="0">
                          <a:solidFill>
                            <a:srgbClr val="3C3C3B"/>
                          </a:solidFill>
                        </a:rPr>
                        <a:t>15.9</a:t>
                      </a:r>
                    </a:p>
                  </a:txBody>
                  <a:tcPr marL="73152" marR="73152" marT="27432" marB="27432" anchor="ctr">
                    <a:noFill/>
                  </a:tcPr>
                </a:tc>
                <a:tc>
                  <a:txBody>
                    <a:bodyPr/>
                    <a:lstStyle/>
                    <a:p>
                      <a:pPr algn="r"/>
                      <a:r>
                        <a:rPr sz="1300" b="0" i="0">
                          <a:solidFill>
                            <a:srgbClr val="3C3C3B"/>
                          </a:solidFill>
                        </a:rPr>
                        <a:t>9.5</a:t>
                      </a:r>
                    </a:p>
                  </a:txBody>
                  <a:tcPr marL="73152" marR="73152" marT="27432" marB="27432" anchor="ctr">
                    <a:noFill/>
                  </a:tcPr>
                </a:tc>
                <a:tc>
                  <a:txBody>
                    <a:bodyPr/>
                    <a:lstStyle/>
                    <a:p>
                      <a:pPr algn="r"/>
                      <a:r>
                        <a:rPr sz="1300" b="0" i="0">
                          <a:solidFill>
                            <a:srgbClr val="3C3C3B"/>
                          </a:solidFill>
                        </a:rPr>
                        <a:t>(11.1)</a:t>
                      </a:r>
                    </a:p>
                  </a:txBody>
                  <a:tcPr marL="73152" marR="73152" marT="27432" marB="27432" anchor="ctr">
                    <a:noFill/>
                  </a:tcPr>
                </a:tc>
              </a:tr>
              <a:tr h="311685">
                <a:tc>
                  <a:txBody>
                    <a:bodyPr/>
                    <a:lstStyle/>
                    <a:p>
                      <a:pPr algn="l"/>
                      <a:r>
                        <a:rPr sz="1300" b="0" i="0">
                          <a:solidFill>
                            <a:srgbClr val="3C3C3B"/>
                          </a:solidFill>
                        </a:rPr>
                        <a:t>   to FEP (70%)</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33.8</a:t>
                      </a:r>
                    </a:p>
                  </a:txBody>
                  <a:tcPr marL="73152" marR="73152" marT="27432" marB="27432" anchor="ctr">
                    <a:noFill/>
                  </a:tcPr>
                </a:tc>
                <a:tc>
                  <a:txBody>
                    <a:bodyPr/>
                    <a:lstStyle/>
                    <a:p>
                      <a:pPr algn="r"/>
                      <a:r>
                        <a:rPr sz="1300" b="0" i="0">
                          <a:solidFill>
                            <a:srgbClr val="3C3C3B"/>
                          </a:solidFill>
                        </a:rPr>
                        <a:t>11.6</a:t>
                      </a:r>
                    </a:p>
                  </a:txBody>
                  <a:tcPr marL="73152" marR="73152" marT="27432" marB="27432" anchor="ctr">
                    <a:noFill/>
                  </a:tcPr>
                </a:tc>
                <a:tc>
                  <a:txBody>
                    <a:bodyPr/>
                    <a:lstStyle/>
                    <a:p>
                      <a:pPr algn="r"/>
                      <a:r>
                        <a:rPr sz="1300" b="0" i="0">
                          <a:solidFill>
                            <a:srgbClr val="3C3C3B"/>
                          </a:solidFill>
                        </a:rPr>
                        <a:t>11.1</a:t>
                      </a:r>
                    </a:p>
                  </a:txBody>
                  <a:tcPr marL="73152" marR="73152" marT="27432" marB="27432" anchor="ctr">
                    <a:noFill/>
                  </a:tcPr>
                </a:tc>
                <a:tc>
                  <a:txBody>
                    <a:bodyPr/>
                    <a:lstStyle/>
                    <a:p>
                      <a:pPr algn="r"/>
                      <a:r>
                        <a:rPr sz="1300" b="0" i="0">
                          <a:solidFill>
                            <a:srgbClr val="3C3C3B"/>
                          </a:solidFill>
                        </a:rPr>
                        <a:t>6.6</a:t>
                      </a:r>
                    </a:p>
                  </a:txBody>
                  <a:tcPr marL="73152" marR="73152" marT="27432" marB="27432" anchor="ctr">
                    <a:noFill/>
                  </a:tcPr>
                </a:tc>
                <a:tc>
                  <a:txBody>
                    <a:bodyPr/>
                    <a:lstStyle/>
                    <a:p>
                      <a:pPr algn="r"/>
                      <a:r>
                        <a:rPr sz="1300" b="0" i="0">
                          <a:solidFill>
                            <a:srgbClr val="3C3C3B"/>
                          </a:solidFill>
                        </a:rPr>
                        <a:t>(8.5)</a:t>
                      </a:r>
                    </a:p>
                  </a:txBody>
                  <a:tcPr marL="73152" marR="73152" marT="27432" marB="27432" anchor="ctr">
                    <a:noFill/>
                  </a:tcPr>
                </a:tc>
              </a:tr>
              <a:tr h="311685">
                <a:tc>
                  <a:txBody>
                    <a:bodyPr/>
                    <a:lstStyle/>
                    <a:p>
                      <a:pPr algn="l"/>
                      <a:r>
                        <a:rPr sz="1300" b="0" i="0">
                          <a:solidFill>
                            <a:srgbClr val="3C3C3B"/>
                          </a:solidFill>
                        </a:rPr>
                        <a:t>   to A.RES (30%)</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14.5</a:t>
                      </a:r>
                    </a:p>
                  </a:txBody>
                  <a:tcPr marL="73152" marR="73152" marT="27432" marB="27432" anchor="ctr">
                    <a:noFill/>
                  </a:tcPr>
                </a:tc>
                <a:tc>
                  <a:txBody>
                    <a:bodyPr/>
                    <a:lstStyle/>
                    <a:p>
                      <a:pPr algn="r"/>
                      <a:r>
                        <a:rPr sz="1300" b="0" i="0">
                          <a:solidFill>
                            <a:srgbClr val="3C3C3B"/>
                          </a:solidFill>
                        </a:rPr>
                        <a:t>5.0</a:t>
                      </a:r>
                    </a:p>
                  </a:txBody>
                  <a:tcPr marL="73152" marR="73152" marT="27432" marB="27432" anchor="ctr">
                    <a:noFill/>
                  </a:tcPr>
                </a:tc>
                <a:tc>
                  <a:txBody>
                    <a:bodyPr/>
                    <a:lstStyle/>
                    <a:p>
                      <a:pPr algn="r"/>
                      <a:r>
                        <a:rPr sz="1300" b="0" i="0">
                          <a:solidFill>
                            <a:srgbClr val="3C3C3B"/>
                          </a:solidFill>
                        </a:rPr>
                        <a:t>4.8</a:t>
                      </a:r>
                    </a:p>
                  </a:txBody>
                  <a:tcPr marL="73152" marR="73152" marT="27432" marB="27432" anchor="ctr">
                    <a:noFill/>
                  </a:tcPr>
                </a:tc>
                <a:tc>
                  <a:txBody>
                    <a:bodyPr/>
                    <a:lstStyle/>
                    <a:p>
                      <a:pPr algn="r"/>
                      <a:r>
                        <a:rPr sz="1300" b="0" i="0">
                          <a:solidFill>
                            <a:srgbClr val="3C3C3B"/>
                          </a:solidFill>
                        </a:rPr>
                        <a:t>2.8</a:t>
                      </a:r>
                    </a:p>
                  </a:txBody>
                  <a:tcPr marL="73152" marR="73152" marT="27432" marB="27432" anchor="ctr">
                    <a:noFill/>
                  </a:tcPr>
                </a:tc>
                <a:tc>
                  <a:txBody>
                    <a:bodyPr/>
                    <a:lstStyle/>
                    <a:p>
                      <a:pPr algn="r"/>
                      <a:r>
                        <a:rPr sz="1300" b="0" i="0">
                          <a:solidFill>
                            <a:srgbClr val="3C3C3B"/>
                          </a:solidFill>
                        </a:rPr>
                        <a:t>(2.6)</a:t>
                      </a:r>
                    </a:p>
                  </a:txBody>
                  <a:tcPr marL="73152" marR="73152" marT="27432" marB="27432" anchor="ctr">
                    <a:noFill/>
                  </a:tcPr>
                </a:tc>
              </a:tr>
              <a:tr h="311685">
                <a:tc>
                  <a:txBody>
                    <a:bodyPr/>
                    <a:lstStyle/>
                    <a:p>
                      <a:pPr algn="l"/>
                      <a:r>
                        <a:rPr sz="1300" b="0" i="0">
                          <a:solidFill>
                            <a:srgbClr val="3C3C3B"/>
                          </a:solidFill>
                        </a:rPr>
                        <a:t>Developer success fee (DSA)</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1.7</a:t>
                      </a:r>
                    </a:p>
                  </a:txBody>
                  <a:tcPr marL="73152" marR="73152" marT="27432" marB="27432" anchor="ctr">
                    <a:noFill/>
                  </a:tcPr>
                </a:tc>
                <a:tc>
                  <a:txBody>
                    <a:bodyPr/>
                    <a:lstStyle/>
                    <a:p>
                      <a:pPr algn="r"/>
                      <a:r>
                        <a:rPr sz="1300" b="0" i="0">
                          <a:solidFill>
                            <a:srgbClr val="3C3C3B"/>
                          </a:solidFill>
                        </a:rPr>
                        <a:t>2.2</a:t>
                      </a:r>
                    </a:p>
                  </a:txBody>
                  <a:tcPr marL="73152" marR="73152" marT="27432" marB="27432" anchor="ctr">
                    <a:noFill/>
                  </a:tcPr>
                </a:tc>
                <a:tc>
                  <a:txBody>
                    <a:bodyPr/>
                    <a:lstStyle/>
                    <a:p>
                      <a:pPr algn="r"/>
                      <a:r>
                        <a:rPr sz="1300" b="0" i="0">
                          <a:solidFill>
                            <a:srgbClr val="3C3C3B"/>
                          </a:solidFill>
                        </a:rPr>
                        <a:t>2.4</a:t>
                      </a:r>
                    </a:p>
                  </a:txBody>
                  <a:tcPr marL="73152" marR="73152" marT="27432" marB="27432" anchor="ctr">
                    <a:noFill/>
                  </a:tcPr>
                </a:tc>
                <a:tc>
                  <a:txBody>
                    <a:bodyPr/>
                    <a:lstStyle/>
                    <a:p>
                      <a:pPr algn="r"/>
                      <a:r>
                        <a:rPr sz="1300" b="0" i="0">
                          <a:solidFill>
                            <a:srgbClr val="3C3C3B"/>
                          </a:solidFill>
                        </a:rPr>
                        <a:t>2.4</a:t>
                      </a:r>
                    </a:p>
                  </a:txBody>
                  <a:tcPr marL="73152" marR="73152" marT="27432" marB="27432" anchor="ctr">
                    <a:noFill/>
                  </a:tcPr>
                </a:tc>
                <a:tc>
                  <a:txBody>
                    <a:bodyPr/>
                    <a:lstStyle/>
                    <a:p>
                      <a:pPr algn="r"/>
                      <a:r>
                        <a:rPr sz="1300" b="0" i="0">
                          <a:solidFill>
                            <a:srgbClr val="3C3C3B"/>
                          </a:solidFill>
                        </a:rPr>
                        <a:t>2.6</a:t>
                      </a:r>
                    </a:p>
                  </a:txBody>
                  <a:tcPr marL="73152" marR="73152" marT="27432" marB="27432" anchor="ctr">
                    <a:noFill/>
                  </a:tcPr>
                </a:tc>
              </a:tr>
              <a:tr h="311685">
                <a:tc>
                  <a:txBody>
                    <a:bodyPr/>
                    <a:lstStyle/>
                    <a:p>
                      <a:pPr algn="l"/>
                      <a:r>
                        <a:rPr sz="1300" b="1" i="0">
                          <a:solidFill>
                            <a:srgbClr val="3C3C3B"/>
                          </a:solidFill>
                        </a:rPr>
                        <a:t>FEP net profit (after tax)</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1" i="0">
                          <a:solidFill>
                            <a:srgbClr val="3C3C3B"/>
                          </a:solidFill>
                        </a:rPr>
                        <a:t>37.6</a:t>
                      </a:r>
                    </a:p>
                  </a:txBody>
                  <a:tcPr marL="73152" marR="73152" marT="27432" marB="27432" anchor="ctr">
                    <a:solidFill>
                      <a:srgbClr val="E6F4EC"/>
                    </a:solidFill>
                  </a:tcPr>
                </a:tc>
                <a:tc>
                  <a:txBody>
                    <a:bodyPr/>
                    <a:lstStyle/>
                    <a:p>
                      <a:pPr algn="r"/>
                      <a:r>
                        <a:rPr sz="1300" b="1" i="0">
                          <a:solidFill>
                            <a:srgbClr val="3C3C3B"/>
                          </a:solidFill>
                        </a:rPr>
                        <a:t>15.2</a:t>
                      </a:r>
                    </a:p>
                  </a:txBody>
                  <a:tcPr marL="73152" marR="73152" marT="27432" marB="27432" anchor="ctr">
                    <a:solidFill>
                      <a:srgbClr val="E6F4EC"/>
                    </a:solidFill>
                  </a:tcPr>
                </a:tc>
                <a:tc>
                  <a:txBody>
                    <a:bodyPr/>
                    <a:lstStyle/>
                    <a:p>
                      <a:pPr algn="r"/>
                      <a:r>
                        <a:rPr sz="1300" b="1" i="0">
                          <a:solidFill>
                            <a:srgbClr val="3C3C3B"/>
                          </a:solidFill>
                        </a:rPr>
                        <a:t>14.7</a:t>
                      </a:r>
                    </a:p>
                  </a:txBody>
                  <a:tcPr marL="73152" marR="73152" marT="27432" marB="27432" anchor="ctr">
                    <a:solidFill>
                      <a:srgbClr val="E6F4EC"/>
                    </a:solidFill>
                  </a:tcPr>
                </a:tc>
                <a:tc>
                  <a:txBody>
                    <a:bodyPr/>
                    <a:lstStyle/>
                    <a:p>
                      <a:pPr algn="r"/>
                      <a:r>
                        <a:rPr sz="1300" b="1" i="0">
                          <a:solidFill>
                            <a:srgbClr val="3C3C3B"/>
                          </a:solidFill>
                        </a:rPr>
                        <a:t>10.0</a:t>
                      </a:r>
                    </a:p>
                  </a:txBody>
                  <a:tcPr marL="73152" marR="73152" marT="27432" marB="27432" anchor="ctr">
                    <a:solidFill>
                      <a:srgbClr val="E6F4EC"/>
                    </a:solidFill>
                  </a:tcPr>
                </a:tc>
                <a:tc>
                  <a:txBody>
                    <a:bodyPr/>
                    <a:lstStyle/>
                    <a:p>
                      <a:pPr algn="r"/>
                      <a:r>
                        <a:rPr sz="1300" b="1" i="0">
                          <a:solidFill>
                            <a:srgbClr val="3C3C3B"/>
                          </a:solidFill>
                        </a:rPr>
                        <a:t>(5.3)</a:t>
                      </a:r>
                    </a:p>
                  </a:txBody>
                  <a:tcPr marL="73152" marR="73152" marT="27432" marB="27432" anchor="ctr">
                    <a:solidFill>
                      <a:srgbClr val="E6F4EC"/>
                    </a:solidFill>
                  </a:tcPr>
                </a:tc>
              </a:tr>
              <a:tr h="311685">
                <a:tc>
                  <a:txBody>
                    <a:bodyPr/>
                    <a:lstStyle/>
                    <a:p>
                      <a:pPr algn="l"/>
                      <a:r>
                        <a:rPr sz="1300" b="1" i="0">
                          <a:solidFill>
                            <a:srgbClr val="3C3C3B"/>
                          </a:solidFill>
                        </a:rPr>
                        <a:t>FEP IRR</a:t>
                      </a:r>
                    </a:p>
                  </a:txBody>
                  <a:tcPr marL="73152" marR="73152" marT="27432" marB="27432" anchor="ctr">
                    <a:solidFill>
                      <a:srgbClr val="F2F2F2"/>
                    </a:solidFill>
                  </a:tcPr>
                </a:tc>
                <a:tc>
                  <a:txBody>
                    <a:bodyPr/>
                    <a:lstStyle/>
                    <a:p>
                      <a:pPr algn="l"/>
                      <a:r>
                        <a:rPr sz="1300" b="0" i="0">
                          <a:solidFill>
                            <a:srgbClr val="919191"/>
                          </a:solidFill>
                        </a:rPr>
                        <a:t>%</a:t>
                      </a:r>
                    </a:p>
                  </a:txBody>
                  <a:tcPr marL="73152" marR="73152" marT="27432" marB="27432" anchor="ctr">
                    <a:solidFill>
                      <a:srgbClr val="F2F2F2"/>
                    </a:solidFill>
                  </a:tcPr>
                </a:tc>
                <a:tc>
                  <a:txBody>
                    <a:bodyPr/>
                    <a:lstStyle/>
                    <a:p>
                      <a:pPr algn="r"/>
                      <a:r>
                        <a:rPr sz="1300" b="1" i="0">
                          <a:solidFill>
                            <a:srgbClr val="3C3C3B"/>
                          </a:solidFill>
                        </a:rPr>
                        <a:t>50.2%</a:t>
                      </a:r>
                    </a:p>
                  </a:txBody>
                  <a:tcPr marL="73152" marR="73152" marT="27432" marB="27432" anchor="ctr">
                    <a:solidFill>
                      <a:srgbClr val="E6F4EC"/>
                    </a:solidFill>
                  </a:tcPr>
                </a:tc>
                <a:tc>
                  <a:txBody>
                    <a:bodyPr/>
                    <a:lstStyle/>
                    <a:p>
                      <a:pPr algn="r"/>
                      <a:r>
                        <a:rPr sz="1300" b="1" i="0">
                          <a:solidFill>
                            <a:srgbClr val="3C3C3B"/>
                          </a:solidFill>
                        </a:rPr>
                        <a:t>20.9%</a:t>
                      </a:r>
                    </a:p>
                  </a:txBody>
                  <a:tcPr marL="73152" marR="73152" marT="27432" marB="27432" anchor="ctr">
                    <a:solidFill>
                      <a:srgbClr val="E6F4EC"/>
                    </a:solidFill>
                  </a:tcPr>
                </a:tc>
                <a:tc>
                  <a:txBody>
                    <a:bodyPr/>
                    <a:lstStyle/>
                    <a:p>
                      <a:pPr algn="r"/>
                      <a:r>
                        <a:rPr sz="1300" b="1" i="0">
                          <a:solidFill>
                            <a:srgbClr val="3C3C3B"/>
                          </a:solidFill>
                        </a:rPr>
                        <a:t>20.0%</a:t>
                      </a:r>
                    </a:p>
                  </a:txBody>
                  <a:tcPr marL="73152" marR="73152" marT="27432" marB="27432" anchor="ctr">
                    <a:solidFill>
                      <a:srgbClr val="E6F4EC"/>
                    </a:solidFill>
                  </a:tcPr>
                </a:tc>
                <a:tc>
                  <a:txBody>
                    <a:bodyPr/>
                    <a:lstStyle/>
                    <a:p>
                      <a:pPr algn="r"/>
                      <a:r>
                        <a:rPr sz="1300" b="1" i="0">
                          <a:solidFill>
                            <a:srgbClr val="3C3C3B"/>
                          </a:solidFill>
                        </a:rPr>
                        <a:t>13.7%</a:t>
                      </a:r>
                    </a:p>
                  </a:txBody>
                  <a:tcPr marL="73152" marR="73152" marT="27432" marB="27432" anchor="ctr">
                    <a:solidFill>
                      <a:srgbClr val="E6F4EC"/>
                    </a:solidFill>
                  </a:tcPr>
                </a:tc>
                <a:tc>
                  <a:txBody>
                    <a:bodyPr/>
                    <a:lstStyle/>
                    <a:p>
                      <a:pPr algn="r"/>
                      <a:r>
                        <a:rPr sz="1300" b="1" i="0">
                          <a:solidFill>
                            <a:srgbClr val="3C3C3B"/>
                          </a:solidFill>
                        </a:rPr>
                        <a:t>−7.5%</a:t>
                      </a:r>
                    </a:p>
                  </a:txBody>
                  <a:tcPr marL="73152" marR="73152" marT="27432" marB="27432" anchor="ctr">
                    <a:solidFill>
                      <a:srgbClr val="E6F4EC"/>
                    </a:solidFill>
                  </a:tcPr>
                </a:tc>
              </a:tr>
              <a:tr h="311685">
                <a:tc>
                  <a:txBody>
                    <a:bodyPr/>
                    <a:lstStyle/>
                    <a:p>
                      <a:pPr algn="l"/>
                      <a:r>
                        <a:rPr sz="1300" b="1" i="0">
                          <a:solidFill>
                            <a:srgbClr val="3C3C3B"/>
                          </a:solidFill>
                        </a:rPr>
                        <a:t>FEP MOIC</a:t>
                      </a:r>
                    </a:p>
                  </a:txBody>
                  <a:tcPr marL="73152" marR="73152" marT="27432" marB="27432" anchor="ctr">
                    <a:solidFill>
                      <a:srgbClr val="F2F2F2"/>
                    </a:solidFill>
                  </a:tcPr>
                </a:tc>
                <a:tc>
                  <a:txBody>
                    <a:bodyPr/>
                    <a:lstStyle/>
                    <a:p>
                      <a:pPr algn="l"/>
                      <a:r>
                        <a:rPr sz="1300" b="0" i="0">
                          <a:solidFill>
                            <a:srgbClr val="919191"/>
                          </a:solidFill>
                        </a:rPr>
                        <a:t>x</a:t>
                      </a:r>
                    </a:p>
                  </a:txBody>
                  <a:tcPr marL="73152" marR="73152" marT="27432" marB="27432" anchor="ctr">
                    <a:solidFill>
                      <a:srgbClr val="F2F2F2"/>
                    </a:solidFill>
                  </a:tcPr>
                </a:tc>
                <a:tc>
                  <a:txBody>
                    <a:bodyPr/>
                    <a:lstStyle/>
                    <a:p>
                      <a:pPr algn="r"/>
                      <a:r>
                        <a:rPr sz="1300" b="1" i="0">
                          <a:solidFill>
                            <a:srgbClr val="3C3C3B"/>
                          </a:solidFill>
                        </a:rPr>
                        <a:t>1.82x</a:t>
                      </a:r>
                    </a:p>
                  </a:txBody>
                  <a:tcPr marL="73152" marR="73152" marT="27432" marB="27432" anchor="ctr">
                    <a:solidFill>
                      <a:srgbClr val="E6F4EC"/>
                    </a:solidFill>
                  </a:tcPr>
                </a:tc>
                <a:tc>
                  <a:txBody>
                    <a:bodyPr/>
                    <a:lstStyle/>
                    <a:p>
                      <a:pPr algn="r"/>
                      <a:r>
                        <a:rPr sz="1300" b="1" i="0">
                          <a:solidFill>
                            <a:srgbClr val="3C3C3B"/>
                          </a:solidFill>
                        </a:rPr>
                        <a:t>1.31x</a:t>
                      </a:r>
                    </a:p>
                  </a:txBody>
                  <a:tcPr marL="73152" marR="73152" marT="27432" marB="27432" anchor="ctr">
                    <a:solidFill>
                      <a:srgbClr val="E6F4EC"/>
                    </a:solidFill>
                  </a:tcPr>
                </a:tc>
                <a:tc>
                  <a:txBody>
                    <a:bodyPr/>
                    <a:lstStyle/>
                    <a:p>
                      <a:pPr algn="r"/>
                      <a:r>
                        <a:rPr sz="1300" b="1" i="0">
                          <a:solidFill>
                            <a:srgbClr val="3C3C3B"/>
                          </a:solidFill>
                        </a:rPr>
                        <a:t>1.30x</a:t>
                      </a:r>
                    </a:p>
                  </a:txBody>
                  <a:tcPr marL="73152" marR="73152" marT="27432" marB="27432" anchor="ctr">
                    <a:solidFill>
                      <a:srgbClr val="E6F4EC"/>
                    </a:solidFill>
                  </a:tcPr>
                </a:tc>
                <a:tc>
                  <a:txBody>
                    <a:bodyPr/>
                    <a:lstStyle/>
                    <a:p>
                      <a:pPr algn="r"/>
                      <a:r>
                        <a:rPr sz="1300" b="1" i="0">
                          <a:solidFill>
                            <a:srgbClr val="3C3C3B"/>
                          </a:solidFill>
                        </a:rPr>
                        <a:t>1.20x</a:t>
                      </a:r>
                    </a:p>
                  </a:txBody>
                  <a:tcPr marL="73152" marR="73152" marT="27432" marB="27432" anchor="ctr">
                    <a:solidFill>
                      <a:srgbClr val="E6F4EC"/>
                    </a:solidFill>
                  </a:tcPr>
                </a:tc>
                <a:tc>
                  <a:txBody>
                    <a:bodyPr/>
                    <a:lstStyle/>
                    <a:p>
                      <a:pPr algn="r"/>
                      <a:r>
                        <a:rPr sz="1300" b="1" i="0">
                          <a:solidFill>
                            <a:srgbClr val="3C3C3B"/>
                          </a:solidFill>
                        </a:rPr>
                        <a:t>0.90x</a:t>
                      </a:r>
                    </a:p>
                  </a:txBody>
                  <a:tcPr marL="73152" marR="73152" marT="27432" marB="27432" anchor="ctr">
                    <a:solidFill>
                      <a:srgbClr val="E6F4EC"/>
                    </a:solidFill>
                  </a:tcPr>
                </a:tc>
              </a:tr>
              <a:tr h="311685">
                <a:tc>
                  <a:txBody>
                    <a:bodyPr/>
                    <a:lstStyle/>
                    <a:p>
                      <a:pPr algn="l"/>
                      <a:r>
                        <a:rPr sz="1300" b="0" i="0">
                          <a:solidFill>
                            <a:srgbClr val="3C3C3B"/>
                          </a:solidFill>
                        </a:rPr>
                        <a:t>FEP NPV at 8%</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24.5</a:t>
                      </a:r>
                    </a:p>
                  </a:txBody>
                  <a:tcPr marL="73152" marR="73152" marT="27432" marB="27432" anchor="ctr">
                    <a:noFill/>
                  </a:tcPr>
                </a:tc>
                <a:tc>
                  <a:txBody>
                    <a:bodyPr/>
                    <a:lstStyle/>
                    <a:p>
                      <a:pPr algn="r"/>
                      <a:r>
                        <a:rPr sz="1300" b="0" i="0">
                          <a:solidFill>
                            <a:srgbClr val="3C3C3B"/>
                          </a:solidFill>
                        </a:rPr>
                        <a:t>7.3</a:t>
                      </a:r>
                    </a:p>
                  </a:txBody>
                  <a:tcPr marL="73152" marR="73152" marT="27432" marB="27432" anchor="ctr">
                    <a:noFill/>
                  </a:tcPr>
                </a:tc>
                <a:tc>
                  <a:txBody>
                    <a:bodyPr/>
                    <a:lstStyle/>
                    <a:p>
                      <a:pPr algn="r"/>
                      <a:r>
                        <a:rPr sz="1300" b="0" i="0">
                          <a:solidFill>
                            <a:srgbClr val="3C3C3B"/>
                          </a:solidFill>
                        </a:rPr>
                        <a:t>6.8</a:t>
                      </a:r>
                    </a:p>
                  </a:txBody>
                  <a:tcPr marL="73152" marR="73152" marT="27432" marB="27432" anchor="ctr">
                    <a:noFill/>
                  </a:tcPr>
                </a:tc>
                <a:tc>
                  <a:txBody>
                    <a:bodyPr/>
                    <a:lstStyle/>
                    <a:p>
                      <a:pPr algn="r"/>
                      <a:r>
                        <a:rPr sz="1300" b="0" i="0">
                          <a:solidFill>
                            <a:srgbClr val="3C3C3B"/>
                          </a:solidFill>
                        </a:rPr>
                        <a:t>3.2</a:t>
                      </a:r>
                    </a:p>
                  </a:txBody>
                  <a:tcPr marL="73152" marR="73152" marT="27432" marB="27432" anchor="ctr">
                    <a:noFill/>
                  </a:tcPr>
                </a:tc>
                <a:tc>
                  <a:txBody>
                    <a:bodyPr/>
                    <a:lstStyle/>
                    <a:p>
                      <a:pPr algn="r"/>
                      <a:r>
                        <a:rPr sz="1300" b="0" i="0">
                          <a:solidFill>
                            <a:srgbClr val="3C3C3B"/>
                          </a:solidFill>
                        </a:rPr>
                        <a:t>(8.6)</a:t>
                      </a:r>
                    </a:p>
                  </a:txBody>
                  <a:tcPr marL="73152" marR="73152" marT="27432" marB="27432" anchor="ctr">
                    <a:noFill/>
                  </a:tcPr>
                </a:tc>
              </a:tr>
              <a:tr h="311685">
                <a:tc>
                  <a:txBody>
                    <a:bodyPr/>
                    <a:lstStyle/>
                    <a:p>
                      <a:pPr algn="l"/>
                      <a:r>
                        <a:rPr sz="1300" b="0" i="0">
                          <a:solidFill>
                            <a:srgbClr val="3C3C3B"/>
                          </a:solidFill>
                        </a:rPr>
                        <a:t>FEP peak exposure</a:t>
                      </a:r>
                    </a:p>
                  </a:txBody>
                  <a:tcPr marL="73152" marR="73152" marT="27432" marB="27432" anchor="ctr">
                    <a:solidFill>
                      <a:srgbClr val="F2F2F2"/>
                    </a:solidFill>
                  </a:tcPr>
                </a:tc>
                <a:tc>
                  <a:txBody>
                    <a:bodyPr/>
                    <a:lstStyle/>
                    <a:p>
                      <a:pPr algn="l"/>
                      <a:r>
                        <a:rPr sz="1300" b="0" i="0">
                          <a:solidFill>
                            <a:srgbClr val="919191"/>
                          </a:solidFill>
                        </a:rPr>
                        <a:t>€m</a:t>
                      </a:r>
                    </a:p>
                  </a:txBody>
                  <a:tcPr marL="73152" marR="73152" marT="27432" marB="27432" anchor="ctr">
                    <a:solidFill>
                      <a:srgbClr val="F2F2F2"/>
                    </a:solidFill>
                  </a:tcPr>
                </a:tc>
                <a:tc>
                  <a:txBody>
                    <a:bodyPr/>
                    <a:lstStyle/>
                    <a:p>
                      <a:pPr algn="r"/>
                      <a:r>
                        <a:rPr sz="1300" b="0" i="0">
                          <a:solidFill>
                            <a:srgbClr val="3C3C3B"/>
                          </a:solidFill>
                        </a:rPr>
                        <a:t>46.0</a:t>
                      </a:r>
                    </a:p>
                  </a:txBody>
                  <a:tcPr marL="73152" marR="73152" marT="27432" marB="27432" anchor="ctr">
                    <a:noFill/>
                  </a:tcPr>
                </a:tc>
                <a:tc>
                  <a:txBody>
                    <a:bodyPr/>
                    <a:lstStyle/>
                    <a:p>
                      <a:pPr algn="r"/>
                      <a:r>
                        <a:rPr sz="1300" b="0" i="0">
                          <a:solidFill>
                            <a:srgbClr val="3C3C3B"/>
                          </a:solidFill>
                        </a:rPr>
                        <a:t>48.5</a:t>
                      </a:r>
                    </a:p>
                  </a:txBody>
                  <a:tcPr marL="73152" marR="73152" marT="27432" marB="27432" anchor="ctr">
                    <a:noFill/>
                  </a:tcPr>
                </a:tc>
                <a:tc>
                  <a:txBody>
                    <a:bodyPr/>
                    <a:lstStyle/>
                    <a:p>
                      <a:pPr algn="r"/>
                      <a:r>
                        <a:rPr sz="1300" b="0" i="0">
                          <a:solidFill>
                            <a:srgbClr val="3C3C3B"/>
                          </a:solidFill>
                        </a:rPr>
                        <a:t>48.9</a:t>
                      </a:r>
                    </a:p>
                  </a:txBody>
                  <a:tcPr marL="73152" marR="73152" marT="27432" marB="27432" anchor="ctr">
                    <a:noFill/>
                  </a:tcPr>
                </a:tc>
                <a:tc>
                  <a:txBody>
                    <a:bodyPr/>
                    <a:lstStyle/>
                    <a:p>
                      <a:pPr algn="r"/>
                      <a:r>
                        <a:rPr sz="1300" b="0" i="0">
                          <a:solidFill>
                            <a:srgbClr val="3C3C3B"/>
                          </a:solidFill>
                        </a:rPr>
                        <a:t>49.9</a:t>
                      </a:r>
                    </a:p>
                  </a:txBody>
                  <a:tcPr marL="73152" marR="73152" marT="27432" marB="27432" anchor="ctr">
                    <a:noFill/>
                  </a:tcPr>
                </a:tc>
                <a:tc>
                  <a:txBody>
                    <a:bodyPr/>
                    <a:lstStyle/>
                    <a:p>
                      <a:pPr algn="r"/>
                      <a:r>
                        <a:rPr sz="1300" b="0" i="0">
                          <a:solidFill>
                            <a:srgbClr val="3C3C3B"/>
                          </a:solidFill>
                        </a:rPr>
                        <a:t>52.0</a:t>
                      </a:r>
                    </a:p>
                  </a:txBody>
                  <a:tcPr marL="73152" marR="73152" marT="27432" marB="27432" anchor="ctr">
                    <a:noFill/>
                  </a:tcPr>
                </a:tc>
              </a:tr>
              <a:tr h="311685">
                <a:tc>
                  <a:txBody>
                    <a:bodyPr/>
                    <a:lstStyle/>
                    <a:p>
                      <a:pPr algn="l"/>
                      <a:r>
                        <a:rPr sz="1300" b="1" i="0">
                          <a:solidFill>
                            <a:srgbClr val="FFFFFF"/>
                          </a:solidFill>
                        </a:rPr>
                        <a:t>RtB premium sensitivity</a:t>
                      </a:r>
                    </a:p>
                  </a:txBody>
                  <a:tcPr marL="73152" marR="73152" marT="27432" marB="27432" anchor="ctr">
                    <a:solidFill>
                      <a:srgbClr val="00A651"/>
                    </a:solidFill>
                  </a:tcPr>
                </a:tc>
                <a:tc>
                  <a:txBody>
                    <a:bodyPr/>
                    <a:lstStyle/>
                    <a:p>
                      <a:pPr algn="l"/>
                      <a:r>
                        <a:rPr sz="1300" b="1" i="0">
                          <a:solidFill>
                            <a:srgbClr val="FFFFFF"/>
                          </a:solidFill>
                        </a:rPr>
                        <a:t/>
                      </a:r>
                    </a:p>
                  </a:txBody>
                  <a:tcPr marL="73152" marR="73152" marT="27432" marB="27432" anchor="ctr">
                    <a:solidFill>
                      <a:srgbClr val="00A651"/>
                    </a:solidFill>
                  </a:tcPr>
                </a:tc>
                <a:tc>
                  <a:txBody>
                    <a:bodyPr/>
                    <a:lstStyle/>
                    <a:p>
                      <a:pPr algn="r"/>
                      <a:r>
                        <a:rPr sz="1300" b="1" i="0">
                          <a:solidFill>
                            <a:srgbClr val="FFFFFF"/>
                          </a:solidFill>
                        </a:rPr>
                        <a:t/>
                      </a:r>
                    </a:p>
                  </a:txBody>
                  <a:tcPr marL="73152" marR="73152" marT="27432" marB="27432" anchor="ctr">
                    <a:solidFill>
                      <a:srgbClr val="00A651"/>
                    </a:solidFill>
                  </a:tcPr>
                </a:tc>
                <a:tc>
                  <a:txBody>
                    <a:bodyPr/>
                    <a:lstStyle/>
                    <a:p>
                      <a:pPr algn="r"/>
                      <a:r>
                        <a:rPr sz="1300" b="1" i="0">
                          <a:solidFill>
                            <a:srgbClr val="FFFFFF"/>
                          </a:solidFill>
                        </a:rPr>
                        <a:t/>
                      </a:r>
                    </a:p>
                  </a:txBody>
                  <a:tcPr marL="73152" marR="73152" marT="27432" marB="27432" anchor="ctr">
                    <a:solidFill>
                      <a:srgbClr val="00A651"/>
                    </a:solidFill>
                  </a:tcPr>
                </a:tc>
                <a:tc>
                  <a:txBody>
                    <a:bodyPr/>
                    <a:lstStyle/>
                    <a:p>
                      <a:pPr algn="r"/>
                      <a:r>
                        <a:rPr sz="1300" b="1" i="0">
                          <a:solidFill>
                            <a:srgbClr val="FFFFFF"/>
                          </a:solidFill>
                        </a:rPr>
                        <a:t/>
                      </a:r>
                    </a:p>
                  </a:txBody>
                  <a:tcPr marL="73152" marR="73152" marT="27432" marB="27432" anchor="ctr">
                    <a:solidFill>
                      <a:srgbClr val="00A651"/>
                    </a:solidFill>
                  </a:tcPr>
                </a:tc>
                <a:tc>
                  <a:txBody>
                    <a:bodyPr/>
                    <a:lstStyle/>
                    <a:p>
                      <a:pPr algn="r"/>
                      <a:r>
                        <a:rPr sz="1300" b="1" i="0">
                          <a:solidFill>
                            <a:srgbClr val="FFFFFF"/>
                          </a:solidFill>
                        </a:rPr>
                        <a:t/>
                      </a:r>
                    </a:p>
                  </a:txBody>
                  <a:tcPr marL="73152" marR="73152" marT="27432" marB="27432" anchor="ctr">
                    <a:solidFill>
                      <a:srgbClr val="00A651"/>
                    </a:solidFill>
                  </a:tcPr>
                </a:tc>
                <a:tc>
                  <a:txBody>
                    <a:bodyPr/>
                    <a:lstStyle/>
                    <a:p>
                      <a:pPr algn="r"/>
                      <a:r>
                        <a:rPr sz="1300" b="1" i="0">
                          <a:solidFill>
                            <a:srgbClr val="FFFFFF"/>
                          </a:solidFill>
                        </a:rPr>
                        <a:t/>
                      </a:r>
                    </a:p>
                  </a:txBody>
                  <a:tcPr marL="73152" marR="73152" marT="27432" marB="27432" anchor="ctr">
                    <a:solidFill>
                      <a:srgbClr val="00A651"/>
                    </a:solidFill>
                  </a:tcPr>
                </a:tc>
              </a:tr>
              <a:tr h="311685">
                <a:tc>
                  <a:txBody>
                    <a:bodyPr/>
                    <a:lstStyle/>
                    <a:p>
                      <a:pPr algn="l"/>
                      <a:r>
                        <a:rPr sz="1300" b="0" i="0">
                          <a:solidFill>
                            <a:srgbClr val="3C3C3B"/>
                          </a:solidFill>
                        </a:rPr>
                        <a:t>FEP IRR at 150 k€/MW</a:t>
                      </a:r>
                    </a:p>
                  </a:txBody>
                  <a:tcPr marL="73152" marR="73152" marT="27432" marB="27432" anchor="ctr">
                    <a:solidFill>
                      <a:srgbClr val="F2F2F2"/>
                    </a:solidFill>
                  </a:tcPr>
                </a:tc>
                <a:tc>
                  <a:txBody>
                    <a:bodyPr/>
                    <a:lstStyle/>
                    <a:p>
                      <a:pPr algn="l"/>
                      <a:r>
                        <a:rPr sz="1300" b="0" i="0">
                          <a:solidFill>
                            <a:srgbClr val="919191"/>
                          </a:solidFill>
                        </a:rPr>
                        <a:t>%</a:t>
                      </a:r>
                    </a:p>
                  </a:txBody>
                  <a:tcPr marL="73152" marR="73152" marT="27432" marB="27432" anchor="ctr">
                    <a:solidFill>
                      <a:srgbClr val="F2F2F2"/>
                    </a:solidFill>
                  </a:tcPr>
                </a:tc>
                <a:tc>
                  <a:txBody>
                    <a:bodyPr/>
                    <a:lstStyle/>
                    <a:p>
                      <a:pPr algn="r"/>
                      <a:r>
                        <a:rPr sz="1300" b="0" i="0">
                          <a:solidFill>
                            <a:srgbClr val="3C3C3B"/>
                          </a:solidFill>
                        </a:rPr>
                        <a:t>50.2%</a:t>
                      </a:r>
                    </a:p>
                  </a:txBody>
                  <a:tcPr marL="73152" marR="73152" marT="27432" marB="27432" anchor="ctr">
                    <a:noFill/>
                  </a:tcPr>
                </a:tc>
                <a:tc>
                  <a:txBody>
                    <a:bodyPr/>
                    <a:lstStyle/>
                    <a:p>
                      <a:pPr algn="r"/>
                      <a:r>
                        <a:rPr sz="1300" b="0" i="0">
                          <a:solidFill>
                            <a:srgbClr val="3C3C3B"/>
                          </a:solidFill>
                        </a:rPr>
                        <a:t>20.9%</a:t>
                      </a:r>
                    </a:p>
                  </a:txBody>
                  <a:tcPr marL="73152" marR="73152" marT="27432" marB="27432" anchor="ctr">
                    <a:noFill/>
                  </a:tcPr>
                </a:tc>
                <a:tc>
                  <a:txBody>
                    <a:bodyPr/>
                    <a:lstStyle/>
                    <a:p>
                      <a:pPr algn="r"/>
                      <a:r>
                        <a:rPr sz="1300" b="0" i="0">
                          <a:solidFill>
                            <a:srgbClr val="3C3C3B"/>
                          </a:solidFill>
                        </a:rPr>
                        <a:t>20.0%</a:t>
                      </a:r>
                    </a:p>
                  </a:txBody>
                  <a:tcPr marL="73152" marR="73152" marT="27432" marB="27432" anchor="ctr">
                    <a:noFill/>
                  </a:tcPr>
                </a:tc>
                <a:tc>
                  <a:txBody>
                    <a:bodyPr/>
                    <a:lstStyle/>
                    <a:p>
                      <a:pPr algn="r"/>
                      <a:r>
                        <a:rPr sz="1300" b="0" i="0">
                          <a:solidFill>
                            <a:srgbClr val="3C3C3B"/>
                          </a:solidFill>
                        </a:rPr>
                        <a:t>13.7%</a:t>
                      </a:r>
                    </a:p>
                  </a:txBody>
                  <a:tcPr marL="73152" marR="73152" marT="27432" marB="27432" anchor="ctr">
                    <a:noFill/>
                  </a:tcPr>
                </a:tc>
                <a:tc>
                  <a:txBody>
                    <a:bodyPr/>
                    <a:lstStyle/>
                    <a:p>
                      <a:pPr algn="r"/>
                      <a:r>
                        <a:rPr sz="1300" b="0" i="0">
                          <a:solidFill>
                            <a:srgbClr val="3C3C3B"/>
                          </a:solidFill>
                        </a:rPr>
                        <a:t>−7.5%</a:t>
                      </a:r>
                    </a:p>
                  </a:txBody>
                  <a:tcPr marL="73152" marR="73152" marT="27432" marB="27432" anchor="ctr">
                    <a:noFill/>
                  </a:tcPr>
                </a:tc>
              </a:tr>
              <a:tr h="311685">
                <a:tc>
                  <a:txBody>
                    <a:bodyPr/>
                    <a:lstStyle/>
                    <a:p>
                      <a:pPr algn="l"/>
                      <a:r>
                        <a:rPr sz="1300" b="0" i="0">
                          <a:solidFill>
                            <a:srgbClr val="3C3C3B"/>
                          </a:solidFill>
                        </a:rPr>
                        <a:t>FEP IRR at 200 k€/MW</a:t>
                      </a:r>
                    </a:p>
                  </a:txBody>
                  <a:tcPr marL="73152" marR="73152" marT="27432" marB="27432" anchor="ctr">
                    <a:solidFill>
                      <a:srgbClr val="F2F2F2"/>
                    </a:solidFill>
                  </a:tcPr>
                </a:tc>
                <a:tc>
                  <a:txBody>
                    <a:bodyPr/>
                    <a:lstStyle/>
                    <a:p>
                      <a:pPr algn="l"/>
                      <a:r>
                        <a:rPr sz="1300" b="0" i="0">
                          <a:solidFill>
                            <a:srgbClr val="919191"/>
                          </a:solidFill>
                        </a:rPr>
                        <a:t>%</a:t>
                      </a:r>
                    </a:p>
                  </a:txBody>
                  <a:tcPr marL="73152" marR="73152" marT="27432" marB="27432" anchor="ctr">
                    <a:solidFill>
                      <a:srgbClr val="F2F2F2"/>
                    </a:solidFill>
                  </a:tcPr>
                </a:tc>
                <a:tc>
                  <a:txBody>
                    <a:bodyPr/>
                    <a:lstStyle/>
                    <a:p>
                      <a:pPr algn="r"/>
                      <a:r>
                        <a:rPr sz="1300" b="0" i="0">
                          <a:solidFill>
                            <a:srgbClr val="3C3C3B"/>
                          </a:solidFill>
                        </a:rPr>
                        <a:t>57.9%</a:t>
                      </a:r>
                    </a:p>
                  </a:txBody>
                  <a:tcPr marL="73152" marR="73152" marT="27432" marB="27432" anchor="ctr">
                    <a:noFill/>
                  </a:tcPr>
                </a:tc>
                <a:tc>
                  <a:txBody>
                    <a:bodyPr/>
                    <a:lstStyle/>
                    <a:p>
                      <a:pPr algn="r"/>
                      <a:r>
                        <a:rPr sz="1300" b="0" i="0">
                          <a:solidFill>
                            <a:srgbClr val="3C3C3B"/>
                          </a:solidFill>
                        </a:rPr>
                        <a:t>29.6%</a:t>
                      </a:r>
                    </a:p>
                  </a:txBody>
                  <a:tcPr marL="73152" marR="73152" marT="27432" marB="27432" anchor="ctr">
                    <a:noFill/>
                  </a:tcPr>
                </a:tc>
                <a:tc>
                  <a:txBody>
                    <a:bodyPr/>
                    <a:lstStyle/>
                    <a:p>
                      <a:pPr algn="r"/>
                      <a:r>
                        <a:rPr sz="1300" b="0" i="0">
                          <a:solidFill>
                            <a:srgbClr val="3C3C3B"/>
                          </a:solidFill>
                        </a:rPr>
                        <a:t>28.7%</a:t>
                      </a:r>
                    </a:p>
                  </a:txBody>
                  <a:tcPr marL="73152" marR="73152" marT="27432" marB="27432" anchor="ctr">
                    <a:noFill/>
                  </a:tcPr>
                </a:tc>
                <a:tc>
                  <a:txBody>
                    <a:bodyPr/>
                    <a:lstStyle/>
                    <a:p>
                      <a:pPr algn="r"/>
                      <a:r>
                        <a:rPr sz="1300" b="0" i="0">
                          <a:solidFill>
                            <a:srgbClr val="3C3C3B"/>
                          </a:solidFill>
                        </a:rPr>
                        <a:t>22.5%</a:t>
                      </a:r>
                    </a:p>
                  </a:txBody>
                  <a:tcPr marL="73152" marR="73152" marT="27432" marB="27432" anchor="ctr">
                    <a:noFill/>
                  </a:tcPr>
                </a:tc>
                <a:tc>
                  <a:txBody>
                    <a:bodyPr/>
                    <a:lstStyle/>
                    <a:p>
                      <a:pPr algn="r"/>
                      <a:r>
                        <a:rPr sz="1300" b="0" i="0">
                          <a:solidFill>
                            <a:srgbClr val="3C3C3B"/>
                          </a:solidFill>
                        </a:rPr>
                        <a:t>3.2%</a:t>
                      </a:r>
                    </a:p>
                  </a:txBody>
                  <a:tcPr marL="73152" marR="73152" marT="27432" marB="27432" anchor="ctr">
                    <a:noFill/>
                  </a:tcPr>
                </a:tc>
              </a:tr>
              <a:tr h="311685">
                <a:tc>
                  <a:txBody>
                    <a:bodyPr/>
                    <a:lstStyle/>
                    <a:p>
                      <a:pPr algn="l"/>
                      <a:r>
                        <a:rPr sz="1300" b="0" i="0">
                          <a:solidFill>
                            <a:srgbClr val="3C3C3B"/>
                          </a:solidFill>
                        </a:rPr>
                        <a:t>FEP IRR at 250 k€/MW</a:t>
                      </a:r>
                    </a:p>
                  </a:txBody>
                  <a:tcPr marL="73152" marR="73152" marT="27432" marB="27432" anchor="ctr">
                    <a:solidFill>
                      <a:srgbClr val="F2F2F2"/>
                    </a:solidFill>
                  </a:tcPr>
                </a:tc>
                <a:tc>
                  <a:txBody>
                    <a:bodyPr/>
                    <a:lstStyle/>
                    <a:p>
                      <a:pPr algn="l"/>
                      <a:r>
                        <a:rPr sz="1300" b="0" i="0">
                          <a:solidFill>
                            <a:srgbClr val="919191"/>
                          </a:solidFill>
                        </a:rPr>
                        <a:t>%</a:t>
                      </a:r>
                    </a:p>
                  </a:txBody>
                  <a:tcPr marL="73152" marR="73152" marT="27432" marB="27432" anchor="ctr">
                    <a:solidFill>
                      <a:srgbClr val="F2F2F2"/>
                    </a:solidFill>
                  </a:tcPr>
                </a:tc>
                <a:tc>
                  <a:txBody>
                    <a:bodyPr/>
                    <a:lstStyle/>
                    <a:p>
                      <a:pPr algn="r"/>
                      <a:r>
                        <a:rPr sz="1300" b="0" i="0">
                          <a:solidFill>
                            <a:srgbClr val="3C3C3B"/>
                          </a:solidFill>
                        </a:rPr>
                        <a:t>65.2%</a:t>
                      </a:r>
                    </a:p>
                  </a:txBody>
                  <a:tcPr marL="73152" marR="73152" marT="27432" marB="27432" anchor="ctr">
                    <a:noFill/>
                  </a:tcPr>
                </a:tc>
                <a:tc>
                  <a:txBody>
                    <a:bodyPr/>
                    <a:lstStyle/>
                    <a:p>
                      <a:pPr algn="r"/>
                      <a:r>
                        <a:rPr sz="1300" b="0" i="0">
                          <a:solidFill>
                            <a:srgbClr val="3C3C3B"/>
                          </a:solidFill>
                        </a:rPr>
                        <a:t>37.8%</a:t>
                      </a:r>
                    </a:p>
                  </a:txBody>
                  <a:tcPr marL="73152" marR="73152" marT="27432" marB="27432" anchor="ctr">
                    <a:noFill/>
                  </a:tcPr>
                </a:tc>
                <a:tc>
                  <a:txBody>
                    <a:bodyPr/>
                    <a:lstStyle/>
                    <a:p>
                      <a:pPr algn="r"/>
                      <a:r>
                        <a:rPr sz="1300" b="0" i="0">
                          <a:solidFill>
                            <a:srgbClr val="3C3C3B"/>
                          </a:solidFill>
                        </a:rPr>
                        <a:t>36.9%</a:t>
                      </a:r>
                    </a:p>
                  </a:txBody>
                  <a:tcPr marL="73152" marR="73152" marT="27432" marB="27432" anchor="ctr">
                    <a:noFill/>
                  </a:tcPr>
                </a:tc>
                <a:tc>
                  <a:txBody>
                    <a:bodyPr/>
                    <a:lstStyle/>
                    <a:p>
                      <a:pPr algn="r"/>
                      <a:r>
                        <a:rPr sz="1300" b="0" i="0">
                          <a:solidFill>
                            <a:srgbClr val="3C3C3B"/>
                          </a:solidFill>
                        </a:rPr>
                        <a:t>30.8%</a:t>
                      </a:r>
                    </a:p>
                  </a:txBody>
                  <a:tcPr marL="73152" marR="73152" marT="27432" marB="27432" anchor="ctr">
                    <a:noFill/>
                  </a:tcPr>
                </a:tc>
                <a:tc>
                  <a:txBody>
                    <a:bodyPr/>
                    <a:lstStyle/>
                    <a:p>
                      <a:pPr algn="r"/>
                      <a:r>
                        <a:rPr sz="1300" b="0" i="0">
                          <a:solidFill>
                            <a:srgbClr val="3C3C3B"/>
                          </a:solidFill>
                        </a:rPr>
                        <a:t>12.2%</a:t>
                      </a:r>
                    </a:p>
                  </a:txBody>
                  <a:tcPr marL="73152" marR="73152" marT="27432" marB="27432" anchor="ctr">
                    <a:noFill/>
                  </a:tcPr>
                </a:tc>
              </a:tr>
              <a:tr h="311685">
                <a:tc>
                  <a:txBody>
                    <a:bodyPr/>
                    <a:lstStyle/>
                    <a:p>
                      <a:pPr algn="l"/>
                      <a:r>
                        <a:rPr sz="1300" b="1" i="0">
                          <a:solidFill>
                            <a:srgbClr val="3C3C3B"/>
                          </a:solidFill>
                        </a:rPr>
                        <a:t>Premium for Strategy 1's IRR</a:t>
                      </a:r>
                    </a:p>
                  </a:txBody>
                  <a:tcPr marL="73152" marR="73152" marT="27432" marB="27432" anchor="ctr">
                    <a:solidFill>
                      <a:srgbClr val="F2F2F2"/>
                    </a:solidFill>
                  </a:tcPr>
                </a:tc>
                <a:tc>
                  <a:txBody>
                    <a:bodyPr/>
                    <a:lstStyle/>
                    <a:p>
                      <a:pPr algn="l"/>
                      <a:r>
                        <a:rPr sz="1300" b="0" i="0">
                          <a:solidFill>
                            <a:srgbClr val="919191"/>
                          </a:solidFill>
                        </a:rPr>
                        <a:t>k€/MW</a:t>
                      </a:r>
                    </a:p>
                  </a:txBody>
                  <a:tcPr marL="73152" marR="73152" marT="27432" marB="27432" anchor="ctr">
                    <a:solidFill>
                      <a:srgbClr val="F2F2F2"/>
                    </a:solidFill>
                  </a:tcPr>
                </a:tc>
                <a:tc>
                  <a:txBody>
                    <a:bodyPr/>
                    <a:lstStyle/>
                    <a:p>
                      <a:pPr algn="r"/>
                      <a:r>
                        <a:rPr sz="1300" b="1" i="0">
                          <a:solidFill>
                            <a:srgbClr val="3C3C3B"/>
                          </a:solidFill>
                        </a:rPr>
                        <a:t>beats it even at zero premium</a:t>
                      </a:r>
                    </a:p>
                  </a:txBody>
                  <a:tcPr marL="73152" marR="73152" marT="27432" marB="27432" anchor="ctr">
                    <a:solidFill>
                      <a:srgbClr val="E6F4EC"/>
                    </a:solidFill>
                  </a:tcPr>
                </a:tc>
                <a:tc>
                  <a:txBody>
                    <a:bodyPr/>
                    <a:lstStyle/>
                    <a:p>
                      <a:pPr algn="r"/>
                      <a:r>
                        <a:rPr sz="1300" b="1" i="0">
                          <a:solidFill>
                            <a:srgbClr val="3C3C3B"/>
                          </a:solidFill>
                        </a:rPr>
                        <a:t>150.0</a:t>
                      </a:r>
                    </a:p>
                  </a:txBody>
                  <a:tcPr marL="73152" marR="73152" marT="27432" marB="27432" anchor="ctr">
                    <a:solidFill>
                      <a:srgbClr val="E6F4EC"/>
                    </a:solidFill>
                  </a:tcPr>
                </a:tc>
                <a:tc>
                  <a:txBody>
                    <a:bodyPr/>
                    <a:lstStyle/>
                    <a:p>
                      <a:pPr algn="r"/>
                      <a:r>
                        <a:rPr sz="1300" b="1" i="0">
                          <a:solidFill>
                            <a:srgbClr val="3C3C3B"/>
                          </a:solidFill>
                        </a:rPr>
                        <a:t>154.8</a:t>
                      </a:r>
                    </a:p>
                  </a:txBody>
                  <a:tcPr marL="73152" marR="73152" marT="27432" marB="27432" anchor="ctr">
                    <a:solidFill>
                      <a:srgbClr val="E6F4EC"/>
                    </a:solidFill>
                  </a:tcPr>
                </a:tc>
                <a:tc>
                  <a:txBody>
                    <a:bodyPr/>
                    <a:lstStyle/>
                    <a:p>
                      <a:pPr algn="r"/>
                      <a:r>
                        <a:rPr sz="1300" b="1" i="0">
                          <a:solidFill>
                            <a:srgbClr val="3C3C3B"/>
                          </a:solidFill>
                        </a:rPr>
                        <a:t>190.6</a:t>
                      </a:r>
                    </a:p>
                  </a:txBody>
                  <a:tcPr marL="73152" marR="73152" marT="27432" marB="27432" anchor="ctr">
                    <a:solidFill>
                      <a:srgbClr val="E6F4EC"/>
                    </a:solidFill>
                  </a:tcPr>
                </a:tc>
                <a:tc>
                  <a:txBody>
                    <a:bodyPr/>
                    <a:lstStyle/>
                    <a:p>
                      <a:pPr algn="r"/>
                      <a:r>
                        <a:rPr sz="1300" b="1" i="0">
                          <a:solidFill>
                            <a:srgbClr val="3C3C3B"/>
                          </a:solidFill>
                        </a:rPr>
                        <a:t>301.4</a:t>
                      </a:r>
                    </a:p>
                  </a:txBody>
                  <a:tcPr marL="73152" marR="73152" marT="27432" marB="27432" anchor="ctr">
                    <a:solidFill>
                      <a:srgbClr val="E6F4EC"/>
                    </a:solidFill>
                  </a:tcPr>
                </a:tc>
              </a:tr>
            </a:tbl>
          </a:graphicData>
        </a:graphic>
      </p:graphicFrame>
      <p:sp>
        <p:nvSpPr>
          <p:cNvPr id="20" name="Footnote"/>
          <p:cNvSpPr txBox="1"/>
          <p:nvPr/>
        </p:nvSpPr>
        <p:spPr>
          <a:xfrm>
            <a:off x="4498848" y="9875520"/>
            <a:ext cx="13167360" cy="640080"/>
          </a:xfrm>
          <a:prstGeom prst="rect">
            <a:avLst/>
          </a:prstGeom>
          <a:noFill/>
        </p:spPr>
        <p:txBody>
          <a:bodyPr wrap="square" lIns="0" tIns="0" rIns="0" bIns="0" anchor="t">
            <a:spAutoFit/>
          </a:bodyPr>
          <a:lstStyle/>
          <a:p>
            <a:pPr algn="l"/>
            <a:r>
              <a:rPr sz="1100" b="0">
                <a:solidFill>
                  <a:srgbClr val="919191"/>
                </a:solidFill>
              </a:rPr>
              <a:t>Distributable proceeds are split 70% FEP / 30% A.RES; A.RES' share is floored at minus the success fee (2.5 k€/MW a year on the installed MW, capped at 10 k€/MW). Strategy 0 would match Strategy 1's IRR at a premium of −17.6 k€/MW, i.e. it beats Strategy 1 even at zero premium.</a:t>
            </a:r>
          </a:p>
          <a:p>
            <a:pPr algn="l"/>
            <a:r>
              <a:rPr sz="1100" b="0">
                <a:solidFill>
                  <a:srgbClr val="919191"/>
                </a:solidFill>
              </a:rPr>
              <a:t>Source: Bora IC model, 11 Oct 2026.</a:t>
            </a:r>
          </a:p>
        </p:txBody>
      </p:sp>
      <p:graphicFrame>
        <p:nvGraphicFramePr>
          <p:cNvPr id="21" name="Premium chart"/>
          <p:cNvGraphicFramePr>
            <a:graphicFrameLocks noGrp="1"/>
          </p:cNvGraphicFramePr>
          <p:nvPr/>
        </p:nvGraphicFramePr>
        <p:xfrm>
          <a:off x="4498848" y="7086586"/>
          <a:ext cx="13716000" cy="2377453"/>
        </p:xfrm>
        <a:graphic>
          <a:graphicData uri="http://schemas.openxmlformats.org/drawingml/2006/chart">
            <c:chart xmlns:c="http://schemas.openxmlformats.org/drawingml/2006/chart" r:id="rId2"/>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Title 6">
            <a:extLst>
              <a:ext uri="{FF2B5EF4-FFF2-40B4-BE49-F238E27FC236}">
                <a16:creationId xmlns:a16="http://schemas.microsoft.com/office/drawing/2014/main" id="{28F6220A-CA3D-C1A1-F8E0-EC3D6D749C9E}"/>
              </a:ext>
            </a:extLst>
          </p:cNvPr>
          <p:cNvSpPr>
            <a:spLocks noGrp="1"/>
          </p:cNvSpPr>
          <p:nvPr>
            <p:ph type="title"/>
          </p:nvPr>
        </p:nvSpPr>
        <p:spPr>
          <a:xfrm>
            <a:off x="4498848" y="283464"/>
            <a:ext cx="12618720" cy="795528"/>
          </a:xfrm>
        </p:spPr>
        <p:txBody>
          <a:bodyPr anchor="ctr"/>
          <a:lstStyle/>
          <a:p>
            <a:r>
              <a:rPr lang="en-GB" noProof="0" dirty="0"/>
              <a:t>Summary – RtB exit against building</a:t>
            </a:r>
          </a:p>
        </p:txBody>
      </p:sp>
      <p:sp>
        <p:nvSpPr>
          <p:cNvPr id="2" name="Slide Number Placeholder 1">
            <a:extLst>
              <a:ext uri="{FF2B5EF4-FFF2-40B4-BE49-F238E27FC236}">
                <a16:creationId xmlns:a16="http://schemas.microsoft.com/office/drawing/2014/main" id="{695E5A5C-46DB-BEDC-584B-134A0539A7B2}"/>
              </a:ext>
            </a:extLst>
          </p:cNvPr>
          <p:cNvSpPr>
            <a:spLocks noGrp="1"/>
          </p:cNvSpPr>
          <p:nvPr>
            <p:ph type="sldNum" sz="quarter" idx="4"/>
          </p:nvPr>
        </p:nvSpPr>
        <p:spPr/>
        <p:txBody>
          <a:bodyPr/>
          <a:lstStyle/>
          <a:p>
            <a:fld id="{52EEA166-2877-4493-9FAA-8D6952A82FC3}" type="slidenum">
              <a:rPr lang="en-GB" noProof="0" smtClean="0"/>
              <a:t>4</a:t>
            </a:fld>
            <a:endParaRPr lang="en-GB" noProof="0" dirty="0"/>
          </a:p>
        </p:txBody>
      </p:sp>
      <p:graphicFrame>
        <p:nvGraphicFramePr>
          <p:cNvPr id="14" name="Table 13">
            <a:extLst>
              <a:ext uri="{FF2B5EF4-FFF2-40B4-BE49-F238E27FC236}">
                <a16:creationId xmlns:a16="http://schemas.microsoft.com/office/drawing/2014/main" id="{93FD19EE-FC4A-32DF-6178-945B2C23B664}"/>
              </a:ext>
            </a:extLst>
          </p:cNvPr>
          <p:cNvGraphicFramePr>
            <a:graphicFrameLocks noGrp="1"/>
          </p:cNvGraphicFramePr>
          <p:nvPr>
            <p:extLst>
              <p:ext uri="{D42A27DB-BD31-4B8C-83A1-F6EECF244321}">
                <p14:modId xmlns:p14="http://schemas.microsoft.com/office/powerpoint/2010/main" val="2770148659"/>
              </p:ext>
            </p:extLst>
          </p:nvPr>
        </p:nvGraphicFramePr>
        <p:xfrm>
          <a:off x="0" y="0"/>
          <a:ext cx="3769518" cy="5440680"/>
        </p:xfrm>
        <a:graphic>
          <a:graphicData uri="http://schemas.openxmlformats.org/drawingml/2006/table">
            <a:tbl>
              <a:tblPr firstRow="1" bandRow="1"/>
              <a:tblGrid>
                <a:gridCol w="3769518">
                  <a:extLst>
                    <a:ext uri="{9D8B030D-6E8A-4147-A177-3AD203B41FA5}">
                      <a16:colId xmlns:a16="http://schemas.microsoft.com/office/drawing/2014/main" val="1448589540"/>
                    </a:ext>
                  </a:extLst>
                </a:gridCol>
              </a:tblGrid>
              <a:tr h="777240">
                <a:tc>
                  <a:txBody>
                    <a:bodyPr/>
                    <a:lstStyle/>
                    <a:p>
                      <a:pPr marL="12700">
                        <a:lnSpc>
                          <a:spcPct val="100000"/>
                        </a:lnSpc>
                        <a:spcBef>
                          <a:spcPts val="120"/>
                        </a:spcBef>
                      </a:pPr>
                      <a:r>
                        <a:rPr lang="en-GB" sz="1800" noProof="0" dirty="0">
                          <a:solidFill>
                            <a:schemeClr val="tx1"/>
                          </a:solidFill>
                          <a:latin typeface="+mn-lt"/>
                          <a:cs typeface="Aptos"/>
                        </a:rPr>
                        <a:t>Bora overview</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scoring</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Tender strategies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Cost per tender point</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price bridge</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p>
                      <a:pPr marL="12700">
                        <a:lnSpc>
                          <a:spcPct val="100000"/>
                        </a:lnSpc>
                        <a:spcBef>
                          <a:spcPts val="120"/>
                        </a:spcBef>
                      </a:pPr>
                      <a:r>
                        <a:rPr lang="en-GB" sz="1800" noProof="0" dirty="0">
                          <a:solidFill>
                            <a:schemeClr val="tx1"/>
                          </a:solidFill>
                          <a:latin typeface="+mn-lt"/>
                          <a:cs typeface="Aptos"/>
                        </a:rPr>
                        <a:t>RtB returns</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77240">
                <a:tc>
                  <a:txBody>
                    <a:bodyPr/>
                    <a:lstStyle>
                      <a:lvl1pPr marL="0" algn="l" defTabSz="914400" rtl="0" eaLnBrk="1" latinLnBrk="0" hangingPunct="1">
                        <a:defRPr sz="1800" kern="1200">
                          <a:solidFill>
                            <a:schemeClr val="tx1"/>
                          </a:solidFill>
                          <a:latin typeface="Aptos" panose="02110004020202020204"/>
                        </a:defRPr>
                      </a:lvl1pPr>
                      <a:lvl2pPr marL="457200" algn="l" defTabSz="914400" rtl="0" eaLnBrk="1" latinLnBrk="0" hangingPunct="1">
                        <a:defRPr sz="1800" kern="1200">
                          <a:solidFill>
                            <a:schemeClr val="tx1"/>
                          </a:solidFill>
                          <a:latin typeface="Aptos" panose="02110004020202020204"/>
                        </a:defRPr>
                      </a:lvl2pPr>
                      <a:lvl3pPr marL="914400" algn="l" defTabSz="914400" rtl="0" eaLnBrk="1" latinLnBrk="0" hangingPunct="1">
                        <a:defRPr sz="1800" kern="1200">
                          <a:solidFill>
                            <a:schemeClr val="tx1"/>
                          </a:solidFill>
                          <a:latin typeface="Aptos" panose="02110004020202020204"/>
                        </a:defRPr>
                      </a:lvl3pPr>
                      <a:lvl4pPr marL="1371600" algn="l" defTabSz="914400" rtl="0" eaLnBrk="1" latinLnBrk="0" hangingPunct="1">
                        <a:defRPr sz="1800" kern="1200">
                          <a:solidFill>
                            <a:schemeClr val="tx1"/>
                          </a:solidFill>
                          <a:latin typeface="Aptos" panose="02110004020202020204"/>
                        </a:defRPr>
                      </a:lvl4pPr>
                      <a:lvl5pPr marL="1828800" algn="l" defTabSz="914400" rtl="0" eaLnBrk="1" latinLnBrk="0" hangingPunct="1">
                        <a:defRPr sz="1800" kern="1200">
                          <a:solidFill>
                            <a:schemeClr val="tx1"/>
                          </a:solidFill>
                          <a:latin typeface="Aptos" panose="02110004020202020204"/>
                        </a:defRPr>
                      </a:lvl5pPr>
                      <a:lvl6pPr marL="2286000" algn="l" defTabSz="914400" rtl="0" eaLnBrk="1" latinLnBrk="0" hangingPunct="1">
                        <a:defRPr sz="1800" kern="1200">
                          <a:solidFill>
                            <a:schemeClr val="tx1"/>
                          </a:solidFill>
                          <a:latin typeface="Aptos" panose="02110004020202020204"/>
                        </a:defRPr>
                      </a:lvl6pPr>
                      <a:lvl7pPr marL="2743200" algn="l" defTabSz="914400" rtl="0" eaLnBrk="1" latinLnBrk="0" hangingPunct="1">
                        <a:defRPr sz="1800" kern="1200">
                          <a:solidFill>
                            <a:schemeClr val="tx1"/>
                          </a:solidFill>
                          <a:latin typeface="Aptos" panose="02110004020202020204"/>
                        </a:defRPr>
                      </a:lvl7pPr>
                      <a:lvl8pPr marL="3200400" algn="l" defTabSz="914400" rtl="0" eaLnBrk="1" latinLnBrk="0" hangingPunct="1">
                        <a:defRPr sz="1800" kern="1200">
                          <a:solidFill>
                            <a:schemeClr val="tx1"/>
                          </a:solidFill>
                          <a:latin typeface="Aptos" panose="02110004020202020204"/>
                        </a:defRPr>
                      </a:lvl8pPr>
                      <a:lvl9pPr marL="3657600" algn="l" defTabSz="914400" rtl="0" eaLnBrk="1" latinLnBrk="0" hangingPunct="1">
                        <a:defRPr sz="1800" kern="1200">
                          <a:solidFill>
                            <a:schemeClr val="tx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b="1" noProof="0" dirty="0">
                          <a:solidFill>
                            <a:schemeClr val="bg1"/>
                          </a:solidFill>
                          <a:latin typeface="+mn-lt"/>
                          <a:cs typeface="Aptos"/>
                        </a:rPr>
                        <a:t>Summary</a:t>
                      </a:r>
                    </a:p>
                  </a:txBody>
                  <a:tcPr marL="180000" anchor="ctr">
                    <a:lnL>
                      <a:noFill/>
                    </a:lnL>
                    <a:lnR>
                      <a:noFill/>
                    </a:lnR>
                    <a:lnT w="6350" cap="flat" cmpd="sng" algn="ctr">
                      <a:solidFill>
                        <a:srgbClr val="3C3C3B"/>
                      </a:solidFill>
                      <a:prstDash val="solid"/>
                      <a:round/>
                      <a:headEnd type="none" w="med" len="med"/>
                      <a:tailEnd type="none" w="med" len="med"/>
                    </a:lnT>
                    <a:lnB w="6350" cap="flat" cmpd="sng" algn="ctr">
                      <a:solidFill>
                        <a:srgbClr val="3C3C3B"/>
                      </a:solidFill>
                      <a:prstDash val="solid"/>
                      <a:round/>
                      <a:headEnd type="none" w="med" len="med"/>
                      <a:tailEnd type="none" w="med" len="med"/>
                    </a:lnB>
                    <a:lnTlToBr w="12700" cmpd="sng">
                      <a:noFill/>
                      <a:prstDash val="solid"/>
                    </a:lnTlToBr>
                    <a:lnBlToTr w="12700" cmpd="sng">
                      <a:noFill/>
                      <a:prstDash val="solid"/>
                    </a:lnBlToTr>
                    <a:gradFill>
                      <a:gsLst>
                        <a:gs pos="0">
                          <a:srgbClr val="00A651"/>
                        </a:gs>
                        <a:gs pos="100000">
                          <a:srgbClr val="00563C">
                            <a:lumMod val="88000"/>
                            <a:lumOff val="12000"/>
                          </a:srgbClr>
                        </a:gs>
                      </a:gsLst>
                      <a:lin ang="21594000" scaled="0"/>
                    </a:gradFill>
                  </a:tcPr>
                </a:tc>
                <a:extLst>
                  <a:ext uri="{0D108BD9-81ED-4DB2-BD59-A6C34878D82A}">
                    <a16:rowId xmlns:a16="http://schemas.microsoft.com/office/drawing/2014/main" val="10000"/>
                  </a:ext>
                </a:extLst>
              </a:tr>
            </a:tbl>
          </a:graphicData>
        </a:graphic>
      </p:graphicFrame>
      <p:sp>
        <p:nvSpPr>
          <p:cNvPr id="15" name="Subtitle"/>
          <p:cNvSpPr txBox="1"/>
          <p:nvPr/>
        </p:nvSpPr>
        <p:spPr>
          <a:xfrm>
            <a:off x="4498848" y="1097280"/>
            <a:ext cx="13716000" cy="411480"/>
          </a:xfrm>
          <a:prstGeom prst="rect">
            <a:avLst/>
          </a:prstGeom>
          <a:noFill/>
        </p:spPr>
        <p:txBody>
          <a:bodyPr wrap="square" lIns="0" tIns="0" rIns="0" bIns="0" anchor="t">
            <a:spAutoFit/>
          </a:bodyPr>
          <a:lstStyle/>
          <a:p>
            <a:pPr algn="l"/>
            <a:r>
              <a:rPr sz="1800" b="1">
                <a:solidFill>
                  <a:srgbClr val="3C3C3B"/>
                </a:solidFill>
              </a:rPr>
              <a:t>FEP IRR / MOIC per strategy: RtB sale against sale at COD and hold to maturity</a:t>
            </a:r>
          </a:p>
        </p:txBody>
      </p:sp>
      <p:graphicFrame>
        <p:nvGraphicFramePr>
          <p:cNvPr id="16" name="Returns table"/>
          <p:cNvGraphicFramePr>
            <a:graphicFrameLocks noGrp="1"/>
          </p:cNvGraphicFramePr>
          <p:nvPr/>
        </p:nvGraphicFramePr>
        <p:xfrm>
          <a:off x="4498848" y="1600200"/>
          <a:ext cx="13716000" cy="3127248"/>
        </p:xfrm>
        <a:graphic>
          <a:graphicData uri="http://schemas.openxmlformats.org/drawingml/2006/table">
            <a:tbl>
              <a:tblPr>
                <a:tableStyleId>{5C22544A-7EE6-4342-B048-85BDC9FD1C3A}</a:tableStyleId>
              </a:tblPr>
              <a:tblGrid>
                <a:gridCol w="3337560"/>
                <a:gridCol w="1143000"/>
                <a:gridCol w="1847088"/>
                <a:gridCol w="1847088"/>
                <a:gridCol w="1847088"/>
                <a:gridCol w="1847088"/>
                <a:gridCol w="1847088"/>
              </a:tblGrid>
              <a:tr h="566928">
                <a:tc>
                  <a:txBody>
                    <a:bodyPr/>
                    <a:lstStyle/>
                    <a:p>
                      <a:pPr algn="l"/>
                      <a:r>
                        <a:rPr sz="1300" b="1" i="0">
                          <a:solidFill>
                            <a:srgbClr val="FFFFFF"/>
                          </a:solidFill>
                        </a:rPr>
                        <a:t>Route</a:t>
                      </a:r>
                    </a:p>
                  </a:txBody>
                  <a:tcPr marL="73152" marR="73152" marT="27432" marB="27432" anchor="ctr">
                    <a:solidFill>
                      <a:srgbClr val="00A651"/>
                    </a:solidFill>
                  </a:tcPr>
                </a:tc>
                <a:tc>
                  <a:txBody>
                    <a:bodyPr/>
                    <a:lstStyle/>
                    <a:p>
                      <a:pPr algn="l"/>
                      <a:r>
                        <a:rPr sz="1300" b="1" i="0">
                          <a:solidFill>
                            <a:srgbClr val="FFFFFF"/>
                          </a:solidFill>
                        </a:rPr>
                        <a:t>Unit</a:t>
                      </a:r>
                    </a:p>
                  </a:txBody>
                  <a:tcPr marL="73152" marR="73152" marT="27432" marB="27432" anchor="ctr">
                    <a:solidFill>
                      <a:srgbClr val="00A651"/>
                    </a:solidFill>
                  </a:tcPr>
                </a:tc>
                <a:tc>
                  <a:txBody>
                    <a:bodyPr/>
                    <a:lstStyle/>
                    <a:p>
                      <a:pPr algn="r"/>
                      <a:r>
                        <a:rPr sz="1300" b="1" i="0">
                          <a:solidFill>
                            <a:srgbClr val="FFFFFF"/>
                          </a:solidFill>
                        </a:rPr>
                        <a:t>Strategy 0 – Zero bid</a:t>
                      </a:r>
                    </a:p>
                  </a:txBody>
                  <a:tcPr marL="73152" marR="73152" marT="27432" marB="27432" anchor="ctr">
                    <a:solidFill>
                      <a:srgbClr val="00A651"/>
                    </a:solidFill>
                  </a:tcPr>
                </a:tc>
                <a:tc>
                  <a:txBody>
                    <a:bodyPr/>
                    <a:lstStyle/>
                    <a:p>
                      <a:pPr algn="r"/>
                      <a:r>
                        <a:rPr sz="1300" b="1" i="0">
                          <a:solidFill>
                            <a:srgbClr val="FFFFFF"/>
                          </a:solidFill>
                        </a:rPr>
                        <a:t>Strategy 1 – Current bid</a:t>
                      </a:r>
                    </a:p>
                  </a:txBody>
                  <a:tcPr marL="73152" marR="73152" marT="27432" marB="27432" anchor="ctr">
                    <a:solidFill>
                      <a:srgbClr val="00A651"/>
                    </a:solidFill>
                  </a:tcPr>
                </a:tc>
                <a:tc>
                  <a:txBody>
                    <a:bodyPr/>
                    <a:lstStyle/>
                    <a:p>
                      <a:pPr algn="r"/>
                      <a:r>
                        <a:rPr sz="1300" b="1" i="0">
                          <a:solidFill>
                            <a:srgbClr val="FFFFFF"/>
                          </a:solidFill>
                        </a:rPr>
                        <a:t>Strategy 2 – Free points</a:t>
                      </a:r>
                    </a:p>
                  </a:txBody>
                  <a:tcPr marL="73152" marR="73152" marT="27432" marB="27432" anchor="ctr">
                    <a:solidFill>
                      <a:srgbClr val="00A651"/>
                    </a:solidFill>
                  </a:tcPr>
                </a:tc>
                <a:tc>
                  <a:txBody>
                    <a:bodyPr/>
                    <a:lstStyle/>
                    <a:p>
                      <a:pPr algn="r"/>
                      <a:r>
                        <a:rPr sz="1300" b="1" i="0">
                          <a:solidFill>
                            <a:srgbClr val="FFFFFF"/>
                          </a:solidFill>
                        </a:rPr>
                        <a:t>Strategy 3 – Cost-efficient ~70 pts</a:t>
                      </a:r>
                    </a:p>
                  </a:txBody>
                  <a:tcPr marL="73152" marR="73152" marT="27432" marB="27432" anchor="ctr">
                    <a:solidFill>
                      <a:srgbClr val="00A651"/>
                    </a:solidFill>
                  </a:tcPr>
                </a:tc>
                <a:tc>
                  <a:txBody>
                    <a:bodyPr/>
                    <a:lstStyle/>
                    <a:p>
                      <a:pPr algn="r"/>
                      <a:r>
                        <a:rPr sz="1300" b="1" i="0">
                          <a:solidFill>
                            <a:srgbClr val="FFFFFF"/>
                          </a:solidFill>
                        </a:rPr>
                        <a:t>Strategy 4 – Maximum score</a:t>
                      </a:r>
                    </a:p>
                  </a:txBody>
                  <a:tcPr marL="73152" marR="73152" marT="27432" marB="27432" anchor="ctr">
                    <a:solidFill>
                      <a:srgbClr val="00A651"/>
                    </a:solidFill>
                  </a:tcPr>
                </a:tc>
              </a:tr>
              <a:tr h="365760">
                <a:tc>
                  <a:txBody>
                    <a:bodyPr/>
                    <a:lstStyle/>
                    <a:p>
                      <a:pPr algn="l"/>
                      <a:r>
                        <a:rPr sz="1300" b="0" i="0">
                          <a:solidFill>
                            <a:srgbClr val="3C3C3B"/>
                          </a:solidFill>
                        </a:rPr>
                        <a:t>Tender score – European / Chinese</a:t>
                      </a:r>
                    </a:p>
                  </a:txBody>
                  <a:tcPr marL="73152" marR="73152" marT="27432" marB="27432" anchor="ctr">
                    <a:solidFill>
                      <a:srgbClr val="F2F2F2"/>
                    </a:solidFill>
                  </a:tcPr>
                </a:tc>
                <a:tc>
                  <a:txBody>
                    <a:bodyPr/>
                    <a:lstStyle/>
                    <a:p>
                      <a:pPr algn="l"/>
                      <a:r>
                        <a:rPr sz="1300" b="0" i="0">
                          <a:solidFill>
                            <a:srgbClr val="919191"/>
                          </a:solidFill>
                        </a:rPr>
                        <a:t>pts</a:t>
                      </a:r>
                    </a:p>
                  </a:txBody>
                  <a:tcPr marL="73152" marR="73152" marT="27432" marB="27432" anchor="ctr">
                    <a:solidFill>
                      <a:srgbClr val="F2F2F2"/>
                    </a:solidFill>
                  </a:tcPr>
                </a:tc>
                <a:tc>
                  <a:txBody>
                    <a:bodyPr/>
                    <a:lstStyle/>
                    <a:p>
                      <a:pPr algn="r"/>
                      <a:r>
                        <a:rPr sz="1300" b="0" i="0">
                          <a:solidFill>
                            <a:srgbClr val="3C3C3B"/>
                          </a:solidFill>
                        </a:rPr>
                        <a:t>0.0 / 0.0</a:t>
                      </a:r>
                    </a:p>
                  </a:txBody>
                  <a:tcPr marL="73152" marR="73152" marT="27432" marB="27432" anchor="ctr">
                    <a:noFill/>
                  </a:tcPr>
                </a:tc>
                <a:tc>
                  <a:txBody>
                    <a:bodyPr/>
                    <a:lstStyle/>
                    <a:p>
                      <a:pPr algn="r"/>
                      <a:r>
                        <a:rPr sz="1300" b="0" i="0">
                          <a:solidFill>
                            <a:srgbClr val="3C3C3B"/>
                          </a:solidFill>
                        </a:rPr>
                        <a:t>36.0 / 24.0</a:t>
                      </a:r>
                    </a:p>
                  </a:txBody>
                  <a:tcPr marL="73152" marR="73152" marT="27432" marB="27432" anchor="ctr">
                    <a:noFill/>
                  </a:tcPr>
                </a:tc>
                <a:tc>
                  <a:txBody>
                    <a:bodyPr/>
                    <a:lstStyle/>
                    <a:p>
                      <a:pPr algn="r"/>
                      <a:r>
                        <a:rPr sz="1300" b="0" i="0">
                          <a:solidFill>
                            <a:srgbClr val="3C3C3B"/>
                          </a:solidFill>
                        </a:rPr>
                        <a:t>51.5 / 36.5</a:t>
                      </a:r>
                    </a:p>
                  </a:txBody>
                  <a:tcPr marL="73152" marR="73152" marT="27432" marB="27432" anchor="ctr">
                    <a:noFill/>
                  </a:tcPr>
                </a:tc>
                <a:tc>
                  <a:txBody>
                    <a:bodyPr/>
                    <a:lstStyle/>
                    <a:p>
                      <a:pPr algn="r"/>
                      <a:r>
                        <a:rPr sz="1300" b="0" i="0">
                          <a:solidFill>
                            <a:srgbClr val="3C3C3B"/>
                          </a:solidFill>
                        </a:rPr>
                        <a:t>69.5 / 54.5</a:t>
                      </a:r>
                    </a:p>
                  </a:txBody>
                  <a:tcPr marL="73152" marR="73152" marT="27432" marB="27432" anchor="ctr">
                    <a:noFill/>
                  </a:tcPr>
                </a:tc>
                <a:tc>
                  <a:txBody>
                    <a:bodyPr/>
                    <a:lstStyle/>
                    <a:p>
                      <a:pPr algn="r"/>
                      <a:r>
                        <a:rPr sz="1300" b="0" i="0">
                          <a:solidFill>
                            <a:srgbClr val="3C3C3B"/>
                          </a:solidFill>
                        </a:rPr>
                        <a:t>90.0 / 75.0</a:t>
                      </a:r>
                    </a:p>
                  </a:txBody>
                  <a:tcPr marL="73152" marR="73152" marT="27432" marB="27432" anchor="ctr">
                    <a:noFill/>
                  </a:tcPr>
                </a:tc>
              </a:tr>
              <a:tr h="365760">
                <a:tc>
                  <a:txBody>
                    <a:bodyPr/>
                    <a:lstStyle/>
                    <a:p>
                      <a:pPr algn="l"/>
                      <a:r>
                        <a:rPr sz="1300" b="1" i="0">
                          <a:solidFill>
                            <a:srgbClr val="3C3C3B"/>
                          </a:solidFill>
                        </a:rPr>
                        <a:t>RtB sale</a:t>
                      </a:r>
                    </a:p>
                  </a:txBody>
                  <a:tcPr marL="73152" marR="73152" marT="27432" marB="27432" anchor="ctr">
                    <a:solidFill>
                      <a:srgbClr val="F2F2F2"/>
                    </a:solidFill>
                  </a:tcPr>
                </a:tc>
                <a:tc>
                  <a:txBody>
                    <a:bodyPr/>
                    <a:lstStyle/>
                    <a:p>
                      <a:pPr algn="l"/>
                      <a:r>
                        <a:rPr sz="1300" b="0" i="0">
                          <a:solidFill>
                            <a:srgbClr val="919191"/>
                          </a:solidFill>
                        </a:rPr>
                        <a:t>IRR / MOIC</a:t>
                      </a:r>
                    </a:p>
                  </a:txBody>
                  <a:tcPr marL="73152" marR="73152" marT="27432" marB="27432" anchor="ctr">
                    <a:solidFill>
                      <a:srgbClr val="F2F2F2"/>
                    </a:solidFill>
                  </a:tcPr>
                </a:tc>
                <a:tc>
                  <a:txBody>
                    <a:bodyPr/>
                    <a:lstStyle/>
                    <a:p>
                      <a:pPr algn="r"/>
                      <a:r>
                        <a:rPr sz="1300" b="1" i="0">
                          <a:solidFill>
                            <a:srgbClr val="3C3C3B"/>
                          </a:solidFill>
                        </a:rPr>
                        <a:t>50.2% / 1.82x</a:t>
                      </a:r>
                    </a:p>
                  </a:txBody>
                  <a:tcPr marL="73152" marR="73152" marT="27432" marB="27432" anchor="ctr">
                    <a:solidFill>
                      <a:srgbClr val="E6F4EC"/>
                    </a:solidFill>
                  </a:tcPr>
                </a:tc>
                <a:tc>
                  <a:txBody>
                    <a:bodyPr/>
                    <a:lstStyle/>
                    <a:p>
                      <a:pPr algn="r"/>
                      <a:r>
                        <a:rPr sz="1300" b="1" i="0">
                          <a:solidFill>
                            <a:srgbClr val="3C3C3B"/>
                          </a:solidFill>
                        </a:rPr>
                        <a:t>20.9% / 1.31x</a:t>
                      </a:r>
                    </a:p>
                  </a:txBody>
                  <a:tcPr marL="73152" marR="73152" marT="27432" marB="27432" anchor="ctr">
                    <a:solidFill>
                      <a:srgbClr val="E6F4EC"/>
                    </a:solidFill>
                  </a:tcPr>
                </a:tc>
                <a:tc>
                  <a:txBody>
                    <a:bodyPr/>
                    <a:lstStyle/>
                    <a:p>
                      <a:pPr algn="r"/>
                      <a:r>
                        <a:rPr sz="1300" b="1" i="0">
                          <a:solidFill>
                            <a:srgbClr val="3C3C3B"/>
                          </a:solidFill>
                        </a:rPr>
                        <a:t>20.0% / 1.30x</a:t>
                      </a:r>
                    </a:p>
                  </a:txBody>
                  <a:tcPr marL="73152" marR="73152" marT="27432" marB="27432" anchor="ctr">
                    <a:solidFill>
                      <a:srgbClr val="E6F4EC"/>
                    </a:solidFill>
                  </a:tcPr>
                </a:tc>
                <a:tc>
                  <a:txBody>
                    <a:bodyPr/>
                    <a:lstStyle/>
                    <a:p>
                      <a:pPr algn="r"/>
                      <a:r>
                        <a:rPr sz="1300" b="1" i="0">
                          <a:solidFill>
                            <a:srgbClr val="3C3C3B"/>
                          </a:solidFill>
                        </a:rPr>
                        <a:t>13.7% / 1.20x</a:t>
                      </a:r>
                    </a:p>
                  </a:txBody>
                  <a:tcPr marL="73152" marR="73152" marT="27432" marB="27432" anchor="ctr">
                    <a:solidFill>
                      <a:srgbClr val="E6F4EC"/>
                    </a:solidFill>
                  </a:tcPr>
                </a:tc>
                <a:tc>
                  <a:txBody>
                    <a:bodyPr/>
                    <a:lstStyle/>
                    <a:p>
                      <a:pPr algn="r"/>
                      <a:r>
                        <a:rPr sz="1300" b="1" i="0">
                          <a:solidFill>
                            <a:srgbClr val="3C3C3B"/>
                          </a:solidFill>
                        </a:rPr>
                        <a:t>−7.5% / 0.90x</a:t>
                      </a:r>
                    </a:p>
                  </a:txBody>
                  <a:tcPr marL="73152" marR="73152" marT="27432" marB="27432" anchor="ctr">
                    <a:solidFill>
                      <a:srgbClr val="E6F4EC"/>
                    </a:solidFill>
                  </a:tcPr>
                </a:tc>
              </a:tr>
              <a:tr h="365760">
                <a:tc>
                  <a:txBody>
                    <a:bodyPr/>
                    <a:lstStyle/>
                    <a:p>
                      <a:pPr algn="l"/>
                      <a:r>
                        <a:rPr sz="1300" b="0" i="0">
                          <a:solidFill>
                            <a:srgbClr val="3C3C3B"/>
                          </a:solidFill>
                        </a:rPr>
                        <a:t>Sale at COD – European turbine</a:t>
                      </a:r>
                    </a:p>
                  </a:txBody>
                  <a:tcPr marL="73152" marR="73152" marT="27432" marB="27432" anchor="ctr">
                    <a:solidFill>
                      <a:srgbClr val="F2F2F2"/>
                    </a:solidFill>
                  </a:tcPr>
                </a:tc>
                <a:tc>
                  <a:txBody>
                    <a:bodyPr/>
                    <a:lstStyle/>
                    <a:p>
                      <a:pPr algn="l"/>
                      <a:r>
                        <a:rPr sz="1300" b="0" i="0">
                          <a:solidFill>
                            <a:srgbClr val="919191"/>
                          </a:solidFill>
                        </a:rPr>
                        <a:t>IRR / MOIC</a:t>
                      </a:r>
                    </a:p>
                  </a:txBody>
                  <a:tcPr marL="73152" marR="73152" marT="27432" marB="27432" anchor="ctr">
                    <a:solidFill>
                      <a:srgbClr val="F2F2F2"/>
                    </a:solidFill>
                  </a:tcPr>
                </a:tc>
                <a:tc>
                  <a:txBody>
                    <a:bodyPr/>
                    <a:lstStyle/>
                    <a:p>
                      <a:pPr algn="r"/>
                      <a:r>
                        <a:rPr sz="1300" b="0" i="0">
                          <a:solidFill>
                            <a:srgbClr val="3C3C3B"/>
                          </a:solidFill>
                        </a:rPr>
                        <a:t>38.2% / 1.74x</a:t>
                      </a:r>
                    </a:p>
                  </a:txBody>
                  <a:tcPr marL="73152" marR="73152" marT="27432" marB="27432" anchor="ctr">
                    <a:noFill/>
                  </a:tcPr>
                </a:tc>
                <a:tc>
                  <a:txBody>
                    <a:bodyPr/>
                    <a:lstStyle/>
                    <a:p>
                      <a:pPr algn="r"/>
                      <a:r>
                        <a:rPr sz="1300" b="0" i="0">
                          <a:solidFill>
                            <a:srgbClr val="3C3C3B"/>
                          </a:solidFill>
                        </a:rPr>
                        <a:t>31.4% / 1.54x</a:t>
                      </a:r>
                    </a:p>
                  </a:txBody>
                  <a:tcPr marL="73152" marR="73152" marT="27432" marB="27432" anchor="ctr">
                    <a:noFill/>
                  </a:tcPr>
                </a:tc>
                <a:tc>
                  <a:txBody>
                    <a:bodyPr/>
                    <a:lstStyle/>
                    <a:p>
                      <a:pPr algn="r"/>
                      <a:r>
                        <a:rPr sz="1300" b="0" i="0">
                          <a:solidFill>
                            <a:srgbClr val="3C3C3B"/>
                          </a:solidFill>
                        </a:rPr>
                        <a:t>29.0% / 1.48x</a:t>
                      </a:r>
                    </a:p>
                  </a:txBody>
                  <a:tcPr marL="73152" marR="73152" marT="27432" marB="27432" anchor="ctr">
                    <a:noFill/>
                  </a:tcPr>
                </a:tc>
                <a:tc>
                  <a:txBody>
                    <a:bodyPr/>
                    <a:lstStyle/>
                    <a:p>
                      <a:pPr algn="r"/>
                      <a:r>
                        <a:rPr sz="1300" b="0" i="0">
                          <a:solidFill>
                            <a:srgbClr val="3C3C3B"/>
                          </a:solidFill>
                        </a:rPr>
                        <a:t>27.4% / 1.45x</a:t>
                      </a:r>
                    </a:p>
                  </a:txBody>
                  <a:tcPr marL="73152" marR="73152" marT="27432" marB="27432" anchor="ctr">
                    <a:noFill/>
                  </a:tcPr>
                </a:tc>
                <a:tc>
                  <a:txBody>
                    <a:bodyPr/>
                    <a:lstStyle/>
                    <a:p>
                      <a:pPr algn="r"/>
                      <a:r>
                        <a:rPr sz="1300" b="0" i="0">
                          <a:solidFill>
                            <a:srgbClr val="3C3C3B"/>
                          </a:solidFill>
                        </a:rPr>
                        <a:t>16.3% / 1.25x</a:t>
                      </a:r>
                    </a:p>
                  </a:txBody>
                  <a:tcPr marL="73152" marR="73152" marT="27432" marB="27432" anchor="ctr">
                    <a:noFill/>
                  </a:tcPr>
                </a:tc>
              </a:tr>
              <a:tr h="365760">
                <a:tc>
                  <a:txBody>
                    <a:bodyPr/>
                    <a:lstStyle/>
                    <a:p>
                      <a:pPr algn="l"/>
                      <a:r>
                        <a:rPr sz="1300" b="0" i="0">
                          <a:solidFill>
                            <a:srgbClr val="3C3C3B"/>
                          </a:solidFill>
                        </a:rPr>
                        <a:t>Sale at COD – Chinese turbine</a:t>
                      </a:r>
                    </a:p>
                  </a:txBody>
                  <a:tcPr marL="73152" marR="73152" marT="27432" marB="27432" anchor="ctr">
                    <a:solidFill>
                      <a:srgbClr val="F2F2F2"/>
                    </a:solidFill>
                  </a:tcPr>
                </a:tc>
                <a:tc>
                  <a:txBody>
                    <a:bodyPr/>
                    <a:lstStyle/>
                    <a:p>
                      <a:pPr algn="l"/>
                      <a:r>
                        <a:rPr sz="1300" b="0" i="0">
                          <a:solidFill>
                            <a:srgbClr val="919191"/>
                          </a:solidFill>
                        </a:rPr>
                        <a:t>IRR / MOIC</a:t>
                      </a:r>
                    </a:p>
                  </a:txBody>
                  <a:tcPr marL="73152" marR="73152" marT="27432" marB="27432" anchor="ctr">
                    <a:solidFill>
                      <a:srgbClr val="F2F2F2"/>
                    </a:solidFill>
                  </a:tcPr>
                </a:tc>
                <a:tc>
                  <a:txBody>
                    <a:bodyPr/>
                    <a:lstStyle/>
                    <a:p>
                      <a:pPr algn="r"/>
                      <a:r>
                        <a:rPr sz="1300" b="0" i="0">
                          <a:solidFill>
                            <a:srgbClr val="3C3C3B"/>
                          </a:solidFill>
                        </a:rPr>
                        <a:t>47.4% / 2.02x</a:t>
                      </a:r>
                    </a:p>
                  </a:txBody>
                  <a:tcPr marL="73152" marR="73152" marT="27432" marB="27432" anchor="ctr">
                    <a:noFill/>
                  </a:tcPr>
                </a:tc>
                <a:tc>
                  <a:txBody>
                    <a:bodyPr/>
                    <a:lstStyle/>
                    <a:p>
                      <a:pPr algn="r"/>
                      <a:r>
                        <a:rPr sz="1300" b="0" i="0">
                          <a:solidFill>
                            <a:srgbClr val="3C3C3B"/>
                          </a:solidFill>
                        </a:rPr>
                        <a:t>42.1% / 1.80x</a:t>
                      </a:r>
                    </a:p>
                  </a:txBody>
                  <a:tcPr marL="73152" marR="73152" marT="27432" marB="27432" anchor="ctr">
                    <a:noFill/>
                  </a:tcPr>
                </a:tc>
                <a:tc>
                  <a:txBody>
                    <a:bodyPr/>
                    <a:lstStyle/>
                    <a:p>
                      <a:pPr algn="r"/>
                      <a:r>
                        <a:rPr sz="1300" b="0" i="0">
                          <a:solidFill>
                            <a:srgbClr val="3C3C3B"/>
                          </a:solidFill>
                        </a:rPr>
                        <a:t>40.8% / 1.75x</a:t>
                      </a:r>
                    </a:p>
                  </a:txBody>
                  <a:tcPr marL="73152" marR="73152" marT="27432" marB="27432" anchor="ctr">
                    <a:noFill/>
                  </a:tcPr>
                </a:tc>
                <a:tc>
                  <a:txBody>
                    <a:bodyPr/>
                    <a:lstStyle/>
                    <a:p>
                      <a:pPr algn="r"/>
                      <a:r>
                        <a:rPr sz="1300" b="0" i="0">
                          <a:solidFill>
                            <a:srgbClr val="3C3C3B"/>
                          </a:solidFill>
                        </a:rPr>
                        <a:t>39.0% / 1.70x</a:t>
                      </a:r>
                    </a:p>
                  </a:txBody>
                  <a:tcPr marL="73152" marR="73152" marT="27432" marB="27432" anchor="ctr">
                    <a:noFill/>
                  </a:tcPr>
                </a:tc>
                <a:tc>
                  <a:txBody>
                    <a:bodyPr/>
                    <a:lstStyle/>
                    <a:p>
                      <a:pPr algn="r"/>
                      <a:r>
                        <a:rPr sz="1300" b="0" i="0">
                          <a:solidFill>
                            <a:srgbClr val="3C3C3B"/>
                          </a:solidFill>
                        </a:rPr>
                        <a:t>29.6% / 1.50x</a:t>
                      </a:r>
                    </a:p>
                  </a:txBody>
                  <a:tcPr marL="73152" marR="73152" marT="27432" marB="27432" anchor="ctr">
                    <a:noFill/>
                  </a:tcPr>
                </a:tc>
              </a:tr>
              <a:tr h="365760">
                <a:tc>
                  <a:txBody>
                    <a:bodyPr/>
                    <a:lstStyle/>
                    <a:p>
                      <a:pPr algn="l"/>
                      <a:r>
                        <a:rPr sz="1300" b="0" i="0">
                          <a:solidFill>
                            <a:srgbClr val="3C3C3B"/>
                          </a:solidFill>
                        </a:rPr>
                        <a:t>Hold to maturity – European</a:t>
                      </a:r>
                    </a:p>
                  </a:txBody>
                  <a:tcPr marL="73152" marR="73152" marT="27432" marB="27432" anchor="ctr">
                    <a:solidFill>
                      <a:srgbClr val="F2F2F2"/>
                    </a:solidFill>
                  </a:tcPr>
                </a:tc>
                <a:tc>
                  <a:txBody>
                    <a:bodyPr/>
                    <a:lstStyle/>
                    <a:p>
                      <a:pPr algn="l"/>
                      <a:r>
                        <a:rPr sz="1300" b="0" i="0">
                          <a:solidFill>
                            <a:srgbClr val="919191"/>
                          </a:solidFill>
                        </a:rPr>
                        <a:t>IRR / MOIC</a:t>
                      </a:r>
                    </a:p>
                  </a:txBody>
                  <a:tcPr marL="73152" marR="73152" marT="27432" marB="27432" anchor="ctr">
                    <a:solidFill>
                      <a:srgbClr val="F2F2F2"/>
                    </a:solidFill>
                  </a:tcPr>
                </a:tc>
                <a:tc>
                  <a:txBody>
                    <a:bodyPr/>
                    <a:lstStyle/>
                    <a:p>
                      <a:pPr algn="r"/>
                      <a:r>
                        <a:rPr sz="1300" b="0" i="0">
                          <a:solidFill>
                            <a:srgbClr val="3C3C3B"/>
                          </a:solidFill>
                        </a:rPr>
                        <a:t>9.7% / 5.65x</a:t>
                      </a:r>
                    </a:p>
                  </a:txBody>
                  <a:tcPr marL="73152" marR="73152" marT="27432" marB="27432" anchor="ctr">
                    <a:noFill/>
                  </a:tcPr>
                </a:tc>
                <a:tc>
                  <a:txBody>
                    <a:bodyPr/>
                    <a:lstStyle/>
                    <a:p>
                      <a:pPr algn="r"/>
                      <a:r>
                        <a:rPr sz="1300" b="0" i="0">
                          <a:solidFill>
                            <a:srgbClr val="3C3C3B"/>
                          </a:solidFill>
                        </a:rPr>
                        <a:t>10.0% / 6.13x</a:t>
                      </a:r>
                    </a:p>
                  </a:txBody>
                  <a:tcPr marL="73152" marR="73152" marT="27432" marB="27432" anchor="ctr">
                    <a:noFill/>
                  </a:tcPr>
                </a:tc>
                <a:tc>
                  <a:txBody>
                    <a:bodyPr/>
                    <a:lstStyle/>
                    <a:p>
                      <a:pPr algn="r"/>
                      <a:r>
                        <a:rPr sz="1300" b="0" i="0">
                          <a:solidFill>
                            <a:srgbClr val="3C3C3B"/>
                          </a:solidFill>
                        </a:rPr>
                        <a:t>9.7% / 5.95x</a:t>
                      </a:r>
                    </a:p>
                  </a:txBody>
                  <a:tcPr marL="73152" marR="73152" marT="27432" marB="27432" anchor="ctr">
                    <a:noFill/>
                  </a:tcPr>
                </a:tc>
                <a:tc>
                  <a:txBody>
                    <a:bodyPr/>
                    <a:lstStyle/>
                    <a:p>
                      <a:pPr algn="r"/>
                      <a:r>
                        <a:rPr sz="1300" b="0" i="0">
                          <a:solidFill>
                            <a:srgbClr val="3C3C3B"/>
                          </a:solidFill>
                        </a:rPr>
                        <a:t>9.7% / 5.99x</a:t>
                      </a:r>
                    </a:p>
                  </a:txBody>
                  <a:tcPr marL="73152" marR="73152" marT="27432" marB="27432" anchor="ctr">
                    <a:noFill/>
                  </a:tcPr>
                </a:tc>
                <a:tc>
                  <a:txBody>
                    <a:bodyPr/>
                    <a:lstStyle/>
                    <a:p>
                      <a:pPr algn="r"/>
                      <a:r>
                        <a:rPr sz="1300" b="0" i="0">
                          <a:solidFill>
                            <a:srgbClr val="3C3C3B"/>
                          </a:solidFill>
                        </a:rPr>
                        <a:t>9.0% / 5.64x</a:t>
                      </a:r>
                    </a:p>
                  </a:txBody>
                  <a:tcPr marL="73152" marR="73152" marT="27432" marB="27432" anchor="ctr">
                    <a:noFill/>
                  </a:tcPr>
                </a:tc>
              </a:tr>
              <a:tr h="365760">
                <a:tc>
                  <a:txBody>
                    <a:bodyPr/>
                    <a:lstStyle/>
                    <a:p>
                      <a:pPr algn="l"/>
                      <a:r>
                        <a:rPr sz="1300" b="0" i="0">
                          <a:solidFill>
                            <a:srgbClr val="3C3C3B"/>
                          </a:solidFill>
                        </a:rPr>
                        <a:t>Hold to maturity – Chinese</a:t>
                      </a:r>
                    </a:p>
                  </a:txBody>
                  <a:tcPr marL="73152" marR="73152" marT="27432" marB="27432" anchor="ctr">
                    <a:solidFill>
                      <a:srgbClr val="F2F2F2"/>
                    </a:solidFill>
                  </a:tcPr>
                </a:tc>
                <a:tc>
                  <a:txBody>
                    <a:bodyPr/>
                    <a:lstStyle/>
                    <a:p>
                      <a:pPr algn="l"/>
                      <a:r>
                        <a:rPr sz="1300" b="0" i="0">
                          <a:solidFill>
                            <a:srgbClr val="919191"/>
                          </a:solidFill>
                        </a:rPr>
                        <a:t>IRR / MOIC</a:t>
                      </a:r>
                    </a:p>
                  </a:txBody>
                  <a:tcPr marL="73152" marR="73152" marT="27432" marB="27432" anchor="ctr">
                    <a:solidFill>
                      <a:srgbClr val="F2F2F2"/>
                    </a:solidFill>
                  </a:tcPr>
                </a:tc>
                <a:tc>
                  <a:txBody>
                    <a:bodyPr/>
                    <a:lstStyle/>
                    <a:p>
                      <a:pPr algn="r"/>
                      <a:r>
                        <a:rPr sz="1300" b="0" i="0">
                          <a:solidFill>
                            <a:srgbClr val="3C3C3B"/>
                          </a:solidFill>
                        </a:rPr>
                        <a:t>12.4% / 6.95x</a:t>
                      </a:r>
                    </a:p>
                  </a:txBody>
                  <a:tcPr marL="73152" marR="73152" marT="27432" marB="27432" anchor="ctr">
                    <a:noFill/>
                  </a:tcPr>
                </a:tc>
                <a:tc>
                  <a:txBody>
                    <a:bodyPr/>
                    <a:lstStyle/>
                    <a:p>
                      <a:pPr algn="r"/>
                      <a:r>
                        <a:rPr sz="1300" b="0" i="0">
                          <a:solidFill>
                            <a:srgbClr val="3C3C3B"/>
                          </a:solidFill>
                        </a:rPr>
                        <a:t>13.1% / 7.79x</a:t>
                      </a:r>
                    </a:p>
                  </a:txBody>
                  <a:tcPr marL="73152" marR="73152" marT="27432" marB="27432" anchor="ctr">
                    <a:noFill/>
                  </a:tcPr>
                </a:tc>
                <a:tc>
                  <a:txBody>
                    <a:bodyPr/>
                    <a:lstStyle/>
                    <a:p>
                      <a:pPr algn="r"/>
                      <a:r>
                        <a:rPr sz="1300" b="0" i="0">
                          <a:solidFill>
                            <a:srgbClr val="3C3C3B"/>
                          </a:solidFill>
                        </a:rPr>
                        <a:t>12.9% / 7.62x</a:t>
                      </a:r>
                    </a:p>
                  </a:txBody>
                  <a:tcPr marL="73152" marR="73152" marT="27432" marB="27432" anchor="ctr">
                    <a:noFill/>
                  </a:tcPr>
                </a:tc>
                <a:tc>
                  <a:txBody>
                    <a:bodyPr/>
                    <a:lstStyle/>
                    <a:p>
                      <a:pPr algn="r"/>
                      <a:r>
                        <a:rPr sz="1300" b="0" i="0">
                          <a:solidFill>
                            <a:srgbClr val="3C3C3B"/>
                          </a:solidFill>
                        </a:rPr>
                        <a:t>12.9% / 7.68x</a:t>
                      </a:r>
                    </a:p>
                  </a:txBody>
                  <a:tcPr marL="73152" marR="73152" marT="27432" marB="27432" anchor="ctr">
                    <a:noFill/>
                  </a:tcPr>
                </a:tc>
                <a:tc>
                  <a:txBody>
                    <a:bodyPr/>
                    <a:lstStyle/>
                    <a:p>
                      <a:pPr algn="r"/>
                      <a:r>
                        <a:rPr sz="1300" b="0" i="0">
                          <a:solidFill>
                            <a:srgbClr val="3C3C3B"/>
                          </a:solidFill>
                        </a:rPr>
                        <a:t>12.3% / 7.40x</a:t>
                      </a:r>
                    </a:p>
                  </a:txBody>
                  <a:tcPr marL="73152" marR="73152" marT="27432" marB="27432" anchor="ctr">
                    <a:noFill/>
                  </a:tcPr>
                </a:tc>
              </a:tr>
              <a:tr h="365760">
                <a:tc>
                  <a:txBody>
                    <a:bodyPr/>
                    <a:lstStyle/>
                    <a:p>
                      <a:pPr algn="l"/>
                      <a:r>
                        <a:rPr sz="1300" b="0" i="0">
                          <a:solidFill>
                            <a:srgbClr val="3C3C3B"/>
                          </a:solidFill>
                        </a:rPr>
                        <a:t>COD price after clipping and promise effect (EU / CN)</a:t>
                      </a:r>
                    </a:p>
                  </a:txBody>
                  <a:tcPr marL="73152" marR="73152" marT="27432" marB="27432" anchor="ctr">
                    <a:solidFill>
                      <a:srgbClr val="F2F2F2"/>
                    </a:solidFill>
                  </a:tcPr>
                </a:tc>
                <a:tc>
                  <a:txBody>
                    <a:bodyPr/>
                    <a:lstStyle/>
                    <a:p>
                      <a:pPr algn="l"/>
                      <a:r>
                        <a:rPr sz="1300" b="0" i="0">
                          <a:solidFill>
                            <a:srgbClr val="919191"/>
                          </a:solidFill>
                        </a:rPr>
                        <a:t>k€/MW</a:t>
                      </a:r>
                    </a:p>
                  </a:txBody>
                  <a:tcPr marL="73152" marR="73152" marT="27432" marB="27432" anchor="ctr">
                    <a:solidFill>
                      <a:srgbClr val="F2F2F2"/>
                    </a:solidFill>
                  </a:tcPr>
                </a:tc>
                <a:tc>
                  <a:txBody>
                    <a:bodyPr/>
                    <a:lstStyle/>
                    <a:p>
                      <a:pPr algn="r"/>
                      <a:r>
                        <a:rPr sz="1300" b="0" i="0">
                          <a:solidFill>
                            <a:srgbClr val="3C3C3B"/>
                          </a:solidFill>
                        </a:rPr>
                        <a:t>2,498 / 2,148</a:t>
                      </a:r>
                    </a:p>
                  </a:txBody>
                  <a:tcPr marL="73152" marR="73152" marT="27432" marB="27432" anchor="ctr">
                    <a:noFill/>
                  </a:tcPr>
                </a:tc>
                <a:tc>
                  <a:txBody>
                    <a:bodyPr/>
                    <a:lstStyle/>
                    <a:p>
                      <a:pPr algn="r"/>
                      <a:r>
                        <a:rPr sz="1300" b="0" i="0">
                          <a:solidFill>
                            <a:srgbClr val="3C3C3B"/>
                          </a:solidFill>
                        </a:rPr>
                        <a:t>2,336 / 2,002</a:t>
                      </a:r>
                    </a:p>
                  </a:txBody>
                  <a:tcPr marL="73152" marR="73152" marT="27432" marB="27432" anchor="ctr">
                    <a:noFill/>
                  </a:tcPr>
                </a:tc>
                <a:tc>
                  <a:txBody>
                    <a:bodyPr/>
                    <a:lstStyle/>
                    <a:p>
                      <a:pPr algn="r"/>
                      <a:r>
                        <a:rPr sz="1300" b="0" i="0">
                          <a:solidFill>
                            <a:srgbClr val="3C3C3B"/>
                          </a:solidFill>
                        </a:rPr>
                        <a:t>2,254 / 1,932</a:t>
                      </a:r>
                    </a:p>
                  </a:txBody>
                  <a:tcPr marL="73152" marR="73152" marT="27432" marB="27432" anchor="ctr">
                    <a:noFill/>
                  </a:tcPr>
                </a:tc>
                <a:tc>
                  <a:txBody>
                    <a:bodyPr/>
                    <a:lstStyle/>
                    <a:p>
                      <a:pPr algn="r"/>
                      <a:r>
                        <a:rPr sz="1300" b="0" i="0">
                          <a:solidFill>
                            <a:srgbClr val="3C3C3B"/>
                          </a:solidFill>
                        </a:rPr>
                        <a:t>2,254 / 1,932</a:t>
                      </a:r>
                    </a:p>
                  </a:txBody>
                  <a:tcPr marL="73152" marR="73152" marT="27432" marB="27432" anchor="ctr">
                    <a:noFill/>
                  </a:tcPr>
                </a:tc>
                <a:tc>
                  <a:txBody>
                    <a:bodyPr/>
                    <a:lstStyle/>
                    <a:p>
                      <a:pPr algn="r"/>
                      <a:r>
                        <a:rPr sz="1300" b="0" i="0">
                          <a:solidFill>
                            <a:srgbClr val="3C3C3B"/>
                          </a:solidFill>
                        </a:rPr>
                        <a:t>2,072 / 1,773</a:t>
                      </a:r>
                    </a:p>
                  </a:txBody>
                  <a:tcPr marL="73152" marR="73152" marT="27432" marB="27432" anchor="ctr">
                    <a:noFill/>
                  </a:tcPr>
                </a:tc>
              </a:tr>
            </a:tbl>
          </a:graphicData>
        </a:graphic>
      </p:graphicFrame>
      <p:sp>
        <p:nvSpPr>
          <p:cNvPr id="20" name="Footnote"/>
          <p:cNvSpPr txBox="1"/>
          <p:nvPr/>
        </p:nvSpPr>
        <p:spPr>
          <a:xfrm>
            <a:off x="4498848" y="9875520"/>
            <a:ext cx="13167360" cy="640080"/>
          </a:xfrm>
          <a:prstGeom prst="rect">
            <a:avLst/>
          </a:prstGeom>
          <a:noFill/>
        </p:spPr>
        <p:txBody>
          <a:bodyPr wrap="square" lIns="0" tIns="0" rIns="0" bIns="0" anchor="t">
            <a:spAutoFit/>
          </a:bodyPr>
          <a:lstStyle/>
          <a:p>
            <a:pPr algn="l"/>
            <a:r>
              <a:rPr sz="1100" b="0">
                <a:solidFill>
                  <a:srgbClr val="919191"/>
                </a:solidFill>
              </a:rPr>
              <a:t>The sale-at-COD price is 2,450 / 2,100 k€ per installed MW, adjusted for clipping and for the post-COD promises relative to the current bid; on the build routes the turbine follows the route. All results pass the model's integrity checks in every strategy and route.</a:t>
            </a:r>
          </a:p>
          <a:p>
            <a:pPr algn="l"/>
            <a:r>
              <a:rPr sz="1100" b="0">
                <a:solidFill>
                  <a:srgbClr val="919191"/>
                </a:solidFill>
              </a:rPr>
              <a:t>Source: Bora IC model, 11 Oct 2026.</a:t>
            </a:r>
          </a:p>
        </p:txBody>
      </p:sp>
      <p:sp>
        <p:nvSpPr>
          <p:cNvPr id="21" name="Key messages header"/>
          <p:cNvSpPr txBox="1"/>
          <p:nvPr/>
        </p:nvSpPr>
        <p:spPr>
          <a:xfrm>
            <a:off x="4498848" y="5047488"/>
            <a:ext cx="6035040" cy="365760"/>
          </a:xfrm>
          <a:prstGeom prst="rect">
            <a:avLst/>
          </a:prstGeom>
          <a:noFill/>
        </p:spPr>
        <p:txBody>
          <a:bodyPr wrap="square" lIns="0" tIns="0" rIns="0" bIns="0" anchor="t">
            <a:spAutoFit/>
          </a:bodyPr>
          <a:lstStyle/>
          <a:p>
            <a:pPr algn="l"/>
            <a:r>
              <a:rPr sz="1600" b="1">
                <a:solidFill>
                  <a:srgbClr val="00563C"/>
                </a:solidFill>
              </a:rPr>
              <a:t>Key messages</a:t>
            </a:r>
          </a:p>
        </p:txBody>
      </p:sp>
      <p:sp>
        <p:nvSpPr>
          <p:cNvPr id="22" name="Key messages"/>
          <p:cNvSpPr txBox="1"/>
          <p:nvPr/>
        </p:nvSpPr>
        <p:spPr>
          <a:xfrm>
            <a:off x="4498848" y="5504688"/>
            <a:ext cx="6035040" cy="3867912"/>
          </a:xfrm>
          <a:prstGeom prst="rect">
            <a:avLst/>
          </a:prstGeom>
          <a:noFill/>
        </p:spPr>
        <p:txBody>
          <a:bodyPr wrap="square" lIns="0" tIns="0" rIns="0" bIns="0">
            <a:spAutoFit/>
          </a:bodyPr>
          <a:lstStyle/>
          <a:p>
            <a:pPr marL="256032" indent="-256032">
              <a:spcAft>
                <a:spcPts val="600"/>
              </a:spcAft>
              <a:buFont typeface="Arial"/>
              <a:buChar char="•"/>
            </a:pPr>
            <a:r>
              <a:rPr sz="1300" b="1">
                <a:solidFill>
                  <a:srgbClr val="3C3C3B"/>
                </a:solidFill>
              </a:rPr>
              <a:t>Zero bid: </a:t>
            </a:r>
            <a:r>
              <a:rPr sz="1300" b="0">
                <a:solidFill>
                  <a:srgbClr val="3C3C3B"/>
                </a:solidFill>
              </a:rPr>
              <a:t>0 points and still valid; its promises are worth +€28.9m vs the current bid, so the effective price is €58.9m and FEP earns 50.2% / 1.82x</a:t>
            </a:r>
          </a:p>
          <a:p>
            <a:pPr marL="256032" indent="-256032">
              <a:spcAft>
                <a:spcPts val="600"/>
              </a:spcAft>
              <a:buFont typeface="Arial"/>
              <a:buChar char="•"/>
            </a:pPr>
            <a:r>
              <a:rPr sz="1300" b="1">
                <a:solidFill>
                  <a:srgbClr val="3C3C3B"/>
                </a:solidFill>
              </a:rPr>
              <a:t>Free points: </a:t>
            </a:r>
            <a:r>
              <a:rPr sz="1300" b="0">
                <a:solidFill>
                  <a:srgbClr val="3C3C3B"/>
                </a:solidFill>
              </a:rPr>
              <a:t>Strategy 2 scores 51.5 instead of 36.0 for €0.1m of RtB price; IRR 20.0% vs 20.9%</a:t>
            </a:r>
          </a:p>
          <a:p>
            <a:pPr marL="256032" indent="-256032">
              <a:spcAft>
                <a:spcPts val="600"/>
              </a:spcAft>
              <a:buFont typeface="Arial"/>
              <a:buChar char="•"/>
            </a:pPr>
            <a:r>
              <a:rPr sz="1300" b="1">
                <a:solidFill>
                  <a:srgbClr val="3C3C3B"/>
                </a:solidFill>
              </a:rPr>
              <a:t>About 70 points: </a:t>
            </a:r>
            <a:r>
              <a:rPr sz="1300" b="0">
                <a:solidFill>
                  <a:srgbClr val="3C3C3B"/>
                </a:solidFill>
              </a:rPr>
              <a:t>Strategy 3 gives up €5.7m; IRR 13.7%; needs 190.6 k€/MW to match Strategy 1</a:t>
            </a:r>
          </a:p>
          <a:p>
            <a:pPr marL="256032" indent="-256032">
              <a:spcAft>
                <a:spcPts val="600"/>
              </a:spcAft>
              <a:buFont typeface="Arial"/>
              <a:buChar char="•"/>
            </a:pPr>
            <a:r>
              <a:rPr sz="1300" b="1">
                <a:solidFill>
                  <a:srgbClr val="3C3C3B"/>
                </a:solidFill>
              </a:rPr>
              <a:t>Maximum score: </a:t>
            </a:r>
            <a:r>
              <a:rPr sz="1300" b="0">
                <a:solidFill>
                  <a:srgbClr val="3C3C3B"/>
                </a:solidFill>
              </a:rPr>
              <a:t>effective price €5.8m, FEP loss €5.3m (IRR −7.5%); needs 301.4 k€/MW</a:t>
            </a:r>
          </a:p>
          <a:p>
            <a:pPr marL="256032" indent="-256032">
              <a:spcAft>
                <a:spcPts val="600"/>
              </a:spcAft>
              <a:buFont typeface="Arial"/>
              <a:buChar char="•"/>
            </a:pPr>
            <a:r>
              <a:rPr sz="1300" b="1">
                <a:solidFill>
                  <a:srgbClr val="3C3C3B"/>
                </a:solidFill>
              </a:rPr>
              <a:t>Node-cap flag: </a:t>
            </a:r>
            <a:r>
              <a:rPr sz="1300" b="0">
                <a:solidFill>
                  <a:srgbClr val="3C3C3B"/>
                </a:solidFill>
              </a:rPr>
              <a:t>200 MVA at one node against the 100 MVA cap, on every strategy – an eligibility flag, not an integrity failure</a:t>
            </a:r>
          </a:p>
        </p:txBody>
      </p:sp>
      <p:sp>
        <p:nvSpPr>
          <p:cNvPr id="23" name="Zero reference card"/>
          <p:cNvSpPr/>
          <p:nvPr/>
        </p:nvSpPr>
        <p:spPr>
          <a:xfrm>
            <a:off x="10835640" y="5047488"/>
            <a:ext cx="7360920" cy="36118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Zero reference header"/>
          <p:cNvSpPr txBox="1"/>
          <p:nvPr/>
        </p:nvSpPr>
        <p:spPr>
          <a:xfrm>
            <a:off x="11018519" y="5184648"/>
            <a:ext cx="6995160" cy="365760"/>
          </a:xfrm>
          <a:prstGeom prst="rect">
            <a:avLst/>
          </a:prstGeom>
          <a:noFill/>
        </p:spPr>
        <p:txBody>
          <a:bodyPr wrap="square" lIns="0" tIns="0" rIns="0" bIns="0" anchor="t">
            <a:spAutoFit/>
          </a:bodyPr>
          <a:lstStyle/>
          <a:p>
            <a:pPr algn="l"/>
            <a:r>
              <a:rPr sz="1600" b="1">
                <a:solidFill>
                  <a:srgbClr val="00563C"/>
                </a:solidFill>
              </a:rPr>
              <a:t>Information only: bare project at 150 k€/MW</a:t>
            </a:r>
          </a:p>
        </p:txBody>
      </p:sp>
      <p:graphicFrame>
        <p:nvGraphicFramePr>
          <p:cNvPr id="25" name="Zero reference table"/>
          <p:cNvGraphicFramePr>
            <a:graphicFrameLocks noGrp="1"/>
          </p:cNvGraphicFramePr>
          <p:nvPr/>
        </p:nvGraphicFramePr>
        <p:xfrm>
          <a:off x="11018519" y="5641848"/>
          <a:ext cx="7132320" cy="1737360"/>
        </p:xfrm>
        <a:graphic>
          <a:graphicData uri="http://schemas.openxmlformats.org/drawingml/2006/table">
            <a:tbl>
              <a:tblPr>
                <a:tableStyleId>{5C22544A-7EE6-4342-B048-85BDC9FD1C3A}</a:tableStyleId>
              </a:tblPr>
              <a:tblGrid>
                <a:gridCol w="2240280"/>
                <a:gridCol w="978408"/>
                <a:gridCol w="978408"/>
                <a:gridCol w="978408"/>
                <a:gridCol w="978408"/>
                <a:gridCol w="978408"/>
              </a:tblGrid>
              <a:tr h="347472">
                <a:tc>
                  <a:txBody>
                    <a:bodyPr/>
                    <a:lstStyle/>
                    <a:p>
                      <a:pPr algn="l"/>
                      <a:r>
                        <a:rPr sz="1300" b="1" i="0">
                          <a:solidFill>
                            <a:srgbClr val="FFFFFF"/>
                          </a:solidFill>
                        </a:rPr>
                        <a:t>vs the zero bid</a:t>
                      </a:r>
                    </a:p>
                  </a:txBody>
                  <a:tcPr marL="73152" marR="73152" marT="27432" marB="27432" anchor="ctr">
                    <a:solidFill>
                      <a:srgbClr val="00A651"/>
                    </a:solidFill>
                  </a:tcPr>
                </a:tc>
                <a:tc>
                  <a:txBody>
                    <a:bodyPr/>
                    <a:lstStyle/>
                    <a:p>
                      <a:pPr algn="r"/>
                      <a:r>
                        <a:rPr sz="1300" b="1" i="0">
                          <a:solidFill>
                            <a:srgbClr val="FFFFFF"/>
                          </a:solidFill>
                        </a:rPr>
                        <a:t>Strategy 0</a:t>
                      </a:r>
                    </a:p>
                  </a:txBody>
                  <a:tcPr marL="73152" marR="73152" marT="27432" marB="27432" anchor="ctr">
                    <a:solidFill>
                      <a:srgbClr val="00A651"/>
                    </a:solidFill>
                  </a:tcPr>
                </a:tc>
                <a:tc>
                  <a:txBody>
                    <a:bodyPr/>
                    <a:lstStyle/>
                    <a:p>
                      <a:pPr algn="r"/>
                      <a:r>
                        <a:rPr sz="1300" b="1" i="0">
                          <a:solidFill>
                            <a:srgbClr val="FFFFFF"/>
                          </a:solidFill>
                        </a:rPr>
                        <a:t>Strategy 1</a:t>
                      </a:r>
                    </a:p>
                  </a:txBody>
                  <a:tcPr marL="73152" marR="73152" marT="27432" marB="27432" anchor="ctr">
                    <a:solidFill>
                      <a:srgbClr val="00A651"/>
                    </a:solidFill>
                  </a:tcPr>
                </a:tc>
                <a:tc>
                  <a:txBody>
                    <a:bodyPr/>
                    <a:lstStyle/>
                    <a:p>
                      <a:pPr algn="r"/>
                      <a:r>
                        <a:rPr sz="1300" b="1" i="0">
                          <a:solidFill>
                            <a:srgbClr val="FFFFFF"/>
                          </a:solidFill>
                        </a:rPr>
                        <a:t>Strategy 2</a:t>
                      </a:r>
                    </a:p>
                  </a:txBody>
                  <a:tcPr marL="73152" marR="73152" marT="27432" marB="27432" anchor="ctr">
                    <a:solidFill>
                      <a:srgbClr val="00A651"/>
                    </a:solidFill>
                  </a:tcPr>
                </a:tc>
                <a:tc>
                  <a:txBody>
                    <a:bodyPr/>
                    <a:lstStyle/>
                    <a:p>
                      <a:pPr algn="r"/>
                      <a:r>
                        <a:rPr sz="1300" b="1" i="0">
                          <a:solidFill>
                            <a:srgbClr val="FFFFFF"/>
                          </a:solidFill>
                        </a:rPr>
                        <a:t>Strategy 3</a:t>
                      </a:r>
                    </a:p>
                  </a:txBody>
                  <a:tcPr marL="73152" marR="73152" marT="27432" marB="27432" anchor="ctr">
                    <a:solidFill>
                      <a:srgbClr val="00A651"/>
                    </a:solidFill>
                  </a:tcPr>
                </a:tc>
                <a:tc>
                  <a:txBody>
                    <a:bodyPr/>
                    <a:lstStyle/>
                    <a:p>
                      <a:pPr algn="r"/>
                      <a:r>
                        <a:rPr sz="1300" b="1" i="0">
                          <a:solidFill>
                            <a:srgbClr val="FFFFFF"/>
                          </a:solidFill>
                        </a:rPr>
                        <a:t>Strategy 4</a:t>
                      </a:r>
                    </a:p>
                  </a:txBody>
                  <a:tcPr marL="73152" marR="73152" marT="27432" marB="27432" anchor="ctr">
                    <a:solidFill>
                      <a:srgbClr val="00A651"/>
                    </a:solidFill>
                  </a:tcPr>
                </a:tc>
              </a:tr>
              <a:tr h="347472">
                <a:tc>
                  <a:txBody>
                    <a:bodyPr/>
                    <a:lstStyle/>
                    <a:p>
                      <a:pPr algn="l"/>
                      <a:r>
                        <a:rPr sz="1300" b="0" i="0">
                          <a:solidFill>
                            <a:srgbClr val="3C3C3B"/>
                          </a:solidFill>
                        </a:rPr>
                        <a:t>Price effect (€m)</a:t>
                      </a:r>
                    </a:p>
                  </a:txBody>
                  <a:tcPr marL="73152" marR="73152" marT="27432" marB="27432" anchor="ctr">
                    <a:solidFill>
                      <a:srgbClr val="F2F2F2"/>
                    </a:solidFill>
                  </a:tcPr>
                </a:tc>
                <a:tc>
                  <a:txBody>
                    <a:bodyPr/>
                    <a:lstStyle/>
                    <a:p>
                      <a:pPr algn="r"/>
                      <a:r>
                        <a:rPr sz="1300" b="0" i="0">
                          <a:solidFill>
                            <a:srgbClr val="3C3C3B"/>
                          </a:solidFill>
                        </a:rPr>
                        <a:t>0.0</a:t>
                      </a:r>
                    </a:p>
                  </a:txBody>
                  <a:tcPr marL="73152" marR="73152" marT="27432" marB="27432" anchor="ctr">
                    <a:noFill/>
                  </a:tcPr>
                </a:tc>
                <a:tc>
                  <a:txBody>
                    <a:bodyPr/>
                    <a:lstStyle/>
                    <a:p>
                      <a:pPr algn="r"/>
                      <a:r>
                        <a:rPr sz="1300" b="0" i="0">
                          <a:solidFill>
                            <a:srgbClr val="3C3C3B"/>
                          </a:solidFill>
                        </a:rPr>
                        <a:t>(28.9)</a:t>
                      </a:r>
                    </a:p>
                  </a:txBody>
                  <a:tcPr marL="73152" marR="73152" marT="27432" marB="27432" anchor="ctr">
                    <a:noFill/>
                  </a:tcPr>
                </a:tc>
                <a:tc>
                  <a:txBody>
                    <a:bodyPr/>
                    <a:lstStyle/>
                    <a:p>
                      <a:pPr algn="r"/>
                      <a:r>
                        <a:rPr sz="1300" b="0" i="0">
                          <a:solidFill>
                            <a:srgbClr val="3C3C3B"/>
                          </a:solidFill>
                        </a:rPr>
                        <a:t>(29.1)</a:t>
                      </a:r>
                    </a:p>
                  </a:txBody>
                  <a:tcPr marL="73152" marR="73152" marT="27432" marB="27432" anchor="ctr">
                    <a:noFill/>
                  </a:tcPr>
                </a:tc>
                <a:tc>
                  <a:txBody>
                    <a:bodyPr/>
                    <a:lstStyle/>
                    <a:p>
                      <a:pPr algn="r"/>
                      <a:r>
                        <a:rPr sz="1300" b="0" i="0">
                          <a:solidFill>
                            <a:srgbClr val="3C3C3B"/>
                          </a:solidFill>
                        </a:rPr>
                        <a:t>(34.6)</a:t>
                      </a:r>
                    </a:p>
                  </a:txBody>
                  <a:tcPr marL="73152" marR="73152" marT="27432" marB="27432" anchor="ctr">
                    <a:noFill/>
                  </a:tcPr>
                </a:tc>
                <a:tc>
                  <a:txBody>
                    <a:bodyPr/>
                    <a:lstStyle/>
                    <a:p>
                      <a:pPr algn="r"/>
                      <a:r>
                        <a:rPr sz="1300" b="0" i="0">
                          <a:solidFill>
                            <a:srgbClr val="3C3C3B"/>
                          </a:solidFill>
                        </a:rPr>
                        <a:t>(53.1)</a:t>
                      </a:r>
                    </a:p>
                  </a:txBody>
                  <a:tcPr marL="73152" marR="73152" marT="27432" marB="27432" anchor="ctr">
                    <a:noFill/>
                  </a:tcPr>
                </a:tc>
              </a:tr>
              <a:tr h="347472">
                <a:tc>
                  <a:txBody>
                    <a:bodyPr/>
                    <a:lstStyle/>
                    <a:p>
                      <a:pPr algn="l"/>
                      <a:r>
                        <a:rPr sz="1300" b="1" i="0">
                          <a:solidFill>
                            <a:srgbClr val="3C3C3B"/>
                          </a:solidFill>
                        </a:rPr>
                        <a:t>Effective price (€m)</a:t>
                      </a:r>
                    </a:p>
                  </a:txBody>
                  <a:tcPr marL="73152" marR="73152" marT="27432" marB="27432" anchor="ctr">
                    <a:solidFill>
                      <a:srgbClr val="F2F2F2"/>
                    </a:solidFill>
                  </a:tcPr>
                </a:tc>
                <a:tc>
                  <a:txBody>
                    <a:bodyPr/>
                    <a:lstStyle/>
                    <a:p>
                      <a:pPr algn="r"/>
                      <a:r>
                        <a:rPr sz="1300" b="1" i="0">
                          <a:solidFill>
                            <a:srgbClr val="3C3C3B"/>
                          </a:solidFill>
                        </a:rPr>
                        <a:t>30.0</a:t>
                      </a:r>
                    </a:p>
                  </a:txBody>
                  <a:tcPr marL="73152" marR="73152" marT="27432" marB="27432" anchor="ctr">
                    <a:solidFill>
                      <a:srgbClr val="E6F4EC"/>
                    </a:solidFill>
                  </a:tcPr>
                </a:tc>
                <a:tc>
                  <a:txBody>
                    <a:bodyPr/>
                    <a:lstStyle/>
                    <a:p>
                      <a:pPr algn="r"/>
                      <a:r>
                        <a:rPr sz="1300" b="1" i="0">
                          <a:solidFill>
                            <a:srgbClr val="3C3C3B"/>
                          </a:solidFill>
                        </a:rPr>
                        <a:t>1.1</a:t>
                      </a:r>
                    </a:p>
                  </a:txBody>
                  <a:tcPr marL="73152" marR="73152" marT="27432" marB="27432" anchor="ctr">
                    <a:solidFill>
                      <a:srgbClr val="E6F4EC"/>
                    </a:solidFill>
                  </a:tcPr>
                </a:tc>
                <a:tc>
                  <a:txBody>
                    <a:bodyPr/>
                    <a:lstStyle/>
                    <a:p>
                      <a:pPr algn="r"/>
                      <a:r>
                        <a:rPr sz="1300" b="1" i="0">
                          <a:solidFill>
                            <a:srgbClr val="3C3C3B"/>
                          </a:solidFill>
                        </a:rPr>
                        <a:t>0.9</a:t>
                      </a:r>
                    </a:p>
                  </a:txBody>
                  <a:tcPr marL="73152" marR="73152" marT="27432" marB="27432" anchor="ctr">
                    <a:solidFill>
                      <a:srgbClr val="E6F4EC"/>
                    </a:solidFill>
                  </a:tcPr>
                </a:tc>
                <a:tc>
                  <a:txBody>
                    <a:bodyPr/>
                    <a:lstStyle/>
                    <a:p>
                      <a:pPr algn="r"/>
                      <a:r>
                        <a:rPr sz="1300" b="1" i="0">
                          <a:solidFill>
                            <a:srgbClr val="3C3C3B"/>
                          </a:solidFill>
                        </a:rPr>
                        <a:t>(4.6)</a:t>
                      </a:r>
                    </a:p>
                  </a:txBody>
                  <a:tcPr marL="73152" marR="73152" marT="27432" marB="27432" anchor="ctr">
                    <a:solidFill>
                      <a:srgbClr val="E6F4EC"/>
                    </a:solidFill>
                  </a:tcPr>
                </a:tc>
                <a:tc>
                  <a:txBody>
                    <a:bodyPr/>
                    <a:lstStyle/>
                    <a:p>
                      <a:pPr algn="r"/>
                      <a:r>
                        <a:rPr sz="1300" b="1" i="0">
                          <a:solidFill>
                            <a:srgbClr val="3C3C3B"/>
                          </a:solidFill>
                        </a:rPr>
                        <a:t>(23.1)</a:t>
                      </a:r>
                    </a:p>
                  </a:txBody>
                  <a:tcPr marL="73152" marR="73152" marT="27432" marB="27432" anchor="ctr">
                    <a:solidFill>
                      <a:srgbClr val="E6F4EC"/>
                    </a:solidFill>
                  </a:tcPr>
                </a:tc>
              </a:tr>
              <a:tr h="347472">
                <a:tc>
                  <a:txBody>
                    <a:bodyPr/>
                    <a:lstStyle/>
                    <a:p>
                      <a:pPr algn="l"/>
                      <a:r>
                        <a:rPr sz="1300" b="0" i="0">
                          <a:solidFill>
                            <a:srgbClr val="3C3C3B"/>
                          </a:solidFill>
                        </a:rPr>
                        <a:t>FEP IRR</a:t>
                      </a:r>
                    </a:p>
                  </a:txBody>
                  <a:tcPr marL="73152" marR="73152" marT="27432" marB="27432" anchor="ctr">
                    <a:solidFill>
                      <a:srgbClr val="F2F2F2"/>
                    </a:solidFill>
                  </a:tcPr>
                </a:tc>
                <a:tc>
                  <a:txBody>
                    <a:bodyPr/>
                    <a:lstStyle/>
                    <a:p>
                      <a:pPr algn="r"/>
                      <a:r>
                        <a:rPr sz="1300" b="0" i="0">
                          <a:solidFill>
                            <a:srgbClr val="3C3C3B"/>
                          </a:solidFill>
                        </a:rPr>
                        <a:t>25.3%</a:t>
                      </a:r>
                    </a:p>
                  </a:txBody>
                  <a:tcPr marL="73152" marR="73152" marT="27432" marB="27432" anchor="ctr">
                    <a:noFill/>
                  </a:tcPr>
                </a:tc>
                <a:tc>
                  <a:txBody>
                    <a:bodyPr/>
                    <a:lstStyle/>
                    <a:p>
                      <a:pPr algn="r"/>
                      <a:r>
                        <a:rPr sz="1300" b="0" i="0">
                          <a:solidFill>
                            <a:srgbClr val="3C3C3B"/>
                          </a:solidFill>
                        </a:rPr>
                        <a:t>−10.0%</a:t>
                      </a:r>
                    </a:p>
                  </a:txBody>
                  <a:tcPr marL="73152" marR="73152" marT="27432" marB="27432" anchor="ctr">
                    <a:noFill/>
                  </a:tcPr>
                </a:tc>
                <a:tc>
                  <a:txBody>
                    <a:bodyPr/>
                    <a:lstStyle/>
                    <a:p>
                      <a:pPr algn="r"/>
                      <a:r>
                        <a:rPr sz="1300" b="0" i="0">
                          <a:solidFill>
                            <a:srgbClr val="3C3C3B"/>
                          </a:solidFill>
                        </a:rPr>
                        <a:t>−10.8%</a:t>
                      </a:r>
                    </a:p>
                  </a:txBody>
                  <a:tcPr marL="73152" marR="73152" marT="27432" marB="27432" anchor="ctr">
                    <a:noFill/>
                  </a:tcPr>
                </a:tc>
                <a:tc>
                  <a:txBody>
                    <a:bodyPr/>
                    <a:lstStyle/>
                    <a:p>
                      <a:pPr algn="r"/>
                      <a:r>
                        <a:rPr sz="1300" b="0" i="0">
                          <a:solidFill>
                            <a:srgbClr val="3C3C3B"/>
                          </a:solidFill>
                        </a:rPr>
                        <a:t>−21.0%</a:t>
                      </a:r>
                    </a:p>
                  </a:txBody>
                  <a:tcPr marL="73152" marR="73152" marT="27432" marB="27432" anchor="ctr">
                    <a:noFill/>
                  </a:tcPr>
                </a:tc>
                <a:tc>
                  <a:txBody>
                    <a:bodyPr/>
                    <a:lstStyle/>
                    <a:p>
                      <a:pPr algn="r"/>
                      <a:r>
                        <a:rPr sz="1300" b="0" i="0">
                          <a:solidFill>
                            <a:srgbClr val="3C3C3B"/>
                          </a:solidFill>
                        </a:rPr>
                        <a:t>−56.9%</a:t>
                      </a:r>
                    </a:p>
                  </a:txBody>
                  <a:tcPr marL="73152" marR="73152" marT="27432" marB="27432" anchor="ctr">
                    <a:noFill/>
                  </a:tcPr>
                </a:tc>
              </a:tr>
              <a:tr h="347472">
                <a:tc>
                  <a:txBody>
                    <a:bodyPr/>
                    <a:lstStyle/>
                    <a:p>
                      <a:pPr algn="l"/>
                      <a:r>
                        <a:rPr sz="1300" b="0" i="0">
                          <a:solidFill>
                            <a:srgbClr val="3C3C3B"/>
                          </a:solidFill>
                        </a:rPr>
                        <a:t>FEP MOIC</a:t>
                      </a:r>
                    </a:p>
                  </a:txBody>
                  <a:tcPr marL="73152" marR="73152" marT="27432" marB="27432" anchor="ctr">
                    <a:solidFill>
                      <a:srgbClr val="F2F2F2"/>
                    </a:solidFill>
                  </a:tcPr>
                </a:tc>
                <a:tc>
                  <a:txBody>
                    <a:bodyPr/>
                    <a:lstStyle/>
                    <a:p>
                      <a:pPr algn="r"/>
                      <a:r>
                        <a:rPr sz="1300" b="0" i="0">
                          <a:solidFill>
                            <a:srgbClr val="3C3C3B"/>
                          </a:solidFill>
                        </a:rPr>
                        <a:t>1.38x</a:t>
                      </a:r>
                    </a:p>
                  </a:txBody>
                  <a:tcPr marL="73152" marR="73152" marT="27432" marB="27432" anchor="ctr">
                    <a:noFill/>
                  </a:tcPr>
                </a:tc>
                <a:tc>
                  <a:txBody>
                    <a:bodyPr/>
                    <a:lstStyle/>
                    <a:p>
                      <a:pPr algn="r"/>
                      <a:r>
                        <a:rPr sz="1300" b="0" i="0">
                          <a:solidFill>
                            <a:srgbClr val="3C3C3B"/>
                          </a:solidFill>
                        </a:rPr>
                        <a:t>0.87x</a:t>
                      </a:r>
                    </a:p>
                  </a:txBody>
                  <a:tcPr marL="73152" marR="73152" marT="27432" marB="27432" anchor="ctr">
                    <a:noFill/>
                  </a:tcPr>
                </a:tc>
                <a:tc>
                  <a:txBody>
                    <a:bodyPr/>
                    <a:lstStyle/>
                    <a:p>
                      <a:pPr algn="r"/>
                      <a:r>
                        <a:rPr sz="1300" b="0" i="0">
                          <a:solidFill>
                            <a:srgbClr val="3C3C3B"/>
                          </a:solidFill>
                        </a:rPr>
                        <a:t>0.86x</a:t>
                      </a:r>
                    </a:p>
                  </a:txBody>
                  <a:tcPr marL="73152" marR="73152" marT="27432" marB="27432" anchor="ctr">
                    <a:noFill/>
                  </a:tcPr>
                </a:tc>
                <a:tc>
                  <a:txBody>
                    <a:bodyPr/>
                    <a:lstStyle/>
                    <a:p>
                      <a:pPr algn="r"/>
                      <a:r>
                        <a:rPr sz="1300" b="0" i="0">
                          <a:solidFill>
                            <a:srgbClr val="3C3C3B"/>
                          </a:solidFill>
                        </a:rPr>
                        <a:t>0.73x</a:t>
                      </a:r>
                    </a:p>
                  </a:txBody>
                  <a:tcPr marL="73152" marR="73152" marT="27432" marB="27432" anchor="ctr">
                    <a:noFill/>
                  </a:tcPr>
                </a:tc>
                <a:tc>
                  <a:txBody>
                    <a:bodyPr/>
                    <a:lstStyle/>
                    <a:p>
                      <a:pPr algn="r"/>
                      <a:r>
                        <a:rPr sz="1300" b="0" i="0">
                          <a:solidFill>
                            <a:srgbClr val="3C3C3B"/>
                          </a:solidFill>
                        </a:rPr>
                        <a:t>0.34x</a:t>
                      </a:r>
                    </a:p>
                  </a:txBody>
                  <a:tcPr marL="73152" marR="73152" marT="27432" marB="27432" anchor="ctr">
                    <a:noFill/>
                  </a:tcPr>
                </a:tc>
              </a:tr>
            </a:tbl>
          </a:graphicData>
        </a:graphic>
      </p:graphicFrame>
      <p:sp>
        <p:nvSpPr>
          <p:cNvPr id="26" name="Zero reference caveat"/>
          <p:cNvSpPr txBox="1"/>
          <p:nvPr/>
        </p:nvSpPr>
        <p:spPr>
          <a:xfrm>
            <a:off x="11018519" y="7516368"/>
            <a:ext cx="6995160" cy="1051559"/>
          </a:xfrm>
          <a:prstGeom prst="rect">
            <a:avLst/>
          </a:prstGeom>
          <a:noFill/>
        </p:spPr>
        <p:txBody>
          <a:bodyPr wrap="square" lIns="0" tIns="0" rIns="0" bIns="0">
            <a:spAutoFit/>
          </a:bodyPr>
          <a:lstStyle/>
          <a:p>
            <a:pPr marL="256032" indent="-256032">
              <a:spcAft>
                <a:spcPts val="600"/>
              </a:spcAft>
              <a:buFont typeface="Arial"/>
              <a:buChar char="•"/>
            </a:pPr>
            <a:r>
              <a:rPr sz="1300" b="1">
                <a:solidFill>
                  <a:srgbClr val="3C3C3B"/>
                </a:solidFill>
              </a:rPr>
              <a:t>Caveat: </a:t>
            </a:r>
            <a:r>
              <a:rPr sz="1300" b="0">
                <a:solidFill>
                  <a:srgbClr val="3C3C3B"/>
                </a:solidFill>
              </a:rPr>
              <a:t>the model has no battery revenue, so the battery is a pure cost to the buyer – €15.9m of Strategy 1's €28.9m. The model itself prices promises against the current bid.</a:t>
            </a:r>
          </a:p>
        </p:txBody>
      </p:sp>
    </p:spTree>
  </p:cSld>
  <p:clrMapOvr>
    <a:masterClrMapping/>
  </p:clrMapOvr>
</p:sld>
</file>

<file path=ppt/theme/theme1.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EP base">
  <a:themeElements>
    <a:clrScheme name="FEP">
      <a:dk1>
        <a:srgbClr val="3C3C3B"/>
      </a:dk1>
      <a:lt1>
        <a:srgbClr val="FFFFFF"/>
      </a:lt1>
      <a:dk2>
        <a:srgbClr val="0E2841"/>
      </a:dk2>
      <a:lt2>
        <a:srgbClr val="E8E8E8"/>
      </a:lt2>
      <a:accent1>
        <a:srgbClr val="00563C"/>
      </a:accent1>
      <a:accent2>
        <a:srgbClr val="00A651"/>
      </a:accent2>
      <a:accent3>
        <a:srgbClr val="799385"/>
      </a:accent3>
      <a:accent4>
        <a:srgbClr val="82CA9C"/>
      </a:accent4>
      <a:accent5>
        <a:srgbClr val="919191"/>
      </a:accent5>
      <a:accent6>
        <a:srgbClr val="CACACA"/>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um" ma:contentTypeID="0x010100CB25C80BA76C054AAAC0D3CDDFCEC309" ma:contentTypeVersion="14" ma:contentTypeDescription="Új dokumentum létrehozása." ma:contentTypeScope="" ma:versionID="b04c3fe5a5d8daa439e4669e310e51c5">
  <xsd:schema xmlns:xsd="http://www.w3.org/2001/XMLSchema" xmlns:xs="http://www.w3.org/2001/XMLSchema" xmlns:p="http://schemas.microsoft.com/office/2006/metadata/properties" xmlns:ns2="3ba8be79-126f-4ecc-b268-0e8a1c9d820a" xmlns:ns3="348e42aa-7502-48aa-9973-d5430de63b43" targetNamespace="http://schemas.microsoft.com/office/2006/metadata/properties" ma:root="true" ma:fieldsID="b7d65723b2fd441c2730b2f9b66bba15" ns2:_="" ns3:_="">
    <xsd:import namespace="3ba8be79-126f-4ecc-b268-0e8a1c9d820a"/>
    <xsd:import namespace="348e42aa-7502-48aa-9973-d5430de63b4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MediaServiceSearchProperties" minOccurs="0"/>
                <xsd:element ref="ns3:lcf76f155ced4ddcb4097134ff3c332f" minOccurs="0"/>
                <xsd:element ref="ns2:TaxCatchAll" minOccurs="0"/>
                <xsd:element ref="ns3:MediaServiceDateTaken" minOccurs="0"/>
                <xsd:element ref="ns3:MediaServiceGenerationTime" minOccurs="0"/>
                <xsd:element ref="ns3:MediaServiceEventHashCode"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a8be79-126f-4ecc-b268-0e8a1c9d820a" elementFormDefault="qualified">
    <xsd:import namespace="http://schemas.microsoft.com/office/2006/documentManagement/types"/>
    <xsd:import namespace="http://schemas.microsoft.com/office/infopath/2007/PartnerControls"/>
    <xsd:element name="SharedWithUsers" ma:index="8" nillable="true" ma:displayName="Résztvevők"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Megosztva részletekkel" ma:internalName="SharedWithDetails" ma:readOnly="true">
      <xsd:simpleType>
        <xsd:restriction base="dms:Note">
          <xsd:maxLength value="255"/>
        </xsd:restriction>
      </xsd:simpleType>
    </xsd:element>
    <xsd:element name="TaxCatchAll" ma:index="16" nillable="true" ma:displayName="Taxonomy Catch All Column" ma:hidden="true" ma:list="{554c7780-c79f-4b81-a1cc-c56cb19b1b79}" ma:internalName="TaxCatchAll" ma:showField="CatchAllData" ma:web="3ba8be79-126f-4ecc-b268-0e8a1c9d820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48e42aa-7502-48aa-9973-d5430de63b4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Képcímkék" ma:readOnly="false" ma:fieldId="{5cf76f15-5ced-4ddc-b409-7134ff3c332f}" ma:taxonomyMulti="true" ma:sspId="88080c10-e0a6-4b42-beda-2db26c8ffc26"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artalomtípus"/>
        <xsd:element ref="dc:title" minOccurs="0" maxOccurs="1" ma:index="4" ma:displayName="Cím"/>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48e42aa-7502-48aa-9973-d5430de63b43">
      <Terms xmlns="http://schemas.microsoft.com/office/infopath/2007/PartnerControls"/>
    </lcf76f155ced4ddcb4097134ff3c332f>
    <TaxCatchAll xmlns="3ba8be79-126f-4ecc-b268-0e8a1c9d820a" xsi:nil="true"/>
  </documentManagement>
</p:properties>
</file>

<file path=customXml/itemProps1.xml><?xml version="1.0" encoding="utf-8"?>
<ds:datastoreItem xmlns:ds="http://schemas.openxmlformats.org/officeDocument/2006/customXml" ds:itemID="{0FDB0B0C-60B3-4153-B8BF-354313383EA8}">
  <ds:schemaRefs>
    <ds:schemaRef ds:uri="http://schemas.microsoft.com/sharepoint/v3/contenttype/forms"/>
  </ds:schemaRefs>
</ds:datastoreItem>
</file>

<file path=customXml/itemProps2.xml><?xml version="1.0" encoding="utf-8"?>
<ds:datastoreItem xmlns:ds="http://schemas.openxmlformats.org/officeDocument/2006/customXml" ds:itemID="{315DC757-8338-4BB9-BB28-498963EEAEB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a8be79-126f-4ecc-b268-0e8a1c9d820a"/>
    <ds:schemaRef ds:uri="348e42aa-7502-48aa-9973-d5430de63b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51DE518-529C-4DF1-8960-0E6216B00ED8}">
  <ds:schemaRefs>
    <ds:schemaRef ds:uri="348e42aa-7502-48aa-9973-d5430de63b43"/>
    <ds:schemaRef ds:uri="3ba8be79-126f-4ecc-b268-0e8a1c9d820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42728984-5573-4501-93e1-26196c1472d0}" enabled="0" method="" siteId="{42728984-5573-4501-93e1-26196c1472d0}" removed="1"/>
</clbl:labelList>
</file>

<file path=docProps/app.xml><?xml version="1.0" encoding="utf-8"?>
<Properties xmlns="http://schemas.openxmlformats.org/officeDocument/2006/extended-properties" xmlns:vt="http://schemas.openxmlformats.org/officeDocument/2006/docPropsVTypes">
  <Template/>
  <TotalTime>15504</TotalTime>
  <Words>2227</Words>
  <Application>Microsoft Office PowerPoint</Application>
  <PresentationFormat>Custom</PresentationFormat>
  <Paragraphs>474</Paragraphs>
  <Slides>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vt:i4>
      </vt:variant>
    </vt:vector>
  </HeadingPairs>
  <TitlesOfParts>
    <vt:vector size="12" baseType="lpstr">
      <vt:lpstr>Aptos</vt:lpstr>
      <vt:lpstr>Aptos Black</vt:lpstr>
      <vt:lpstr>Arial</vt:lpstr>
      <vt:lpstr>Blank</vt:lpstr>
      <vt:lpstr>FEP base</vt:lpstr>
      <vt:lpstr>PowerPoint Presentation</vt:lpstr>
      <vt:lpstr>Technical overview and tender bid</vt:lpstr>
      <vt:lpstr>European vs Chinese turbine – sale at COD</vt:lpstr>
      <vt:lpstr>Revenue and returns by case</vt:lpstr>
      <vt:lpstr>Sensitivity – FEP IRR</vt:lpstr>
      <vt:lpstr>Sensitivity – FEP MOIC</vt:lpstr>
      <vt:lpstr>Sensitivity – all values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Bora – RtB exit and tender bid strategies</dc:title>
  <dc:creator>FEP</dc:creator>
  <cp:lastModifiedBy>Zádeczki Zalán</cp:lastModifiedBy>
  <cp:revision>3</cp:revision>
  <dcterms:created xsi:type="dcterms:W3CDTF">2025-05-21T13:33:01Z</dcterms:created>
  <dcterms:modified xsi:type="dcterms:W3CDTF">2026-10-09T14:02:16Z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0x010100CB25C80BA76C054AAAC0D3CDDFCEC309</vt:lpwstr>
  </property>
  <property fmtid="{D5CDD505-2E9C-101B-9397-08002B2CF9AE}" pid="3" name="MediaServiceImageTags">
    <vt:lpwstr/>
  </property>
</Properties>
</file>