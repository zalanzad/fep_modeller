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4"/>
    <p:sldMasterId id="2147483676" r:id="rId5"/>
  </p:sldMasterIdLst>
  <p:notesMasterIdLst>
    <p:notesMasterId r:id="rId15"/>
  </p:notesMasterIdLst>
  <p:handoutMasterIdLst>
    <p:handoutMasterId r:id="rId16"/>
  </p:handoutMasterIdLst>
  <p:sldIdLst>
    <p:sldId id="257" r:id="rId6"/>
    <p:sldId id="338" r:id="rId7"/>
    <p:sldId id="345" r:id="rId8"/>
    <p:sldId id="339" r:id="rId9"/>
    <p:sldId id="340" r:id="rId10"/>
    <p:sldId id="341" r:id="rId11"/>
    <p:sldId id="342" r:id="rId12"/>
    <p:sldId id="343" r:id="rId13"/>
    <p:sldId id="344" r:id="rId14"/>
  </p:sldIdLst>
  <p:sldSz cx="20105688" cy="113109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62" userDrawn="1">
          <p15:clr>
            <a:srgbClr val="A4A3A4"/>
          </p15:clr>
        </p15:guide>
        <p15:guide id="2" pos="633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672F38-3738-1562-CF1E-110464726D22}" name="Szentirmai Dániel" initials="SD" userId="Szentirmai Dániel" providerId="None"/>
  <p188:author id="{77CEBA77-0EB0-CD9A-B348-5737FB6F5DFF}" name="Szentirmai Dániel" initials="DS" userId="S::daniel.szentirmai@futurealgroup.com::e4a987b4-a5be-46be-85af-05dbdc723d0d" providerId="AD"/>
  <p188:author id="{C83FDAAA-8457-959D-A531-E1A9B1A8ED9F}" name="Alexander Gibbs" initials="AG" userId="S::alexander.gibbs@futurealgroup.com::45f5242f-161c-406b-bf69-4ed0d839e48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A72E"/>
    <a:srgbClr val="00563C"/>
    <a:srgbClr val="E8E8E8"/>
    <a:srgbClr val="0053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707035-4999-FB08-8B5C-9975E92FA35B}" v="14" dt="2026-10-13T07:27:55.6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Közepesen sötét stílus 2 – 6.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3" d="100"/>
          <a:sy n="43" d="100"/>
        </p:scale>
        <p:origin x="72" y="324"/>
      </p:cViewPr>
      <p:guideLst>
        <p:guide orient="horz" pos="3562"/>
        <p:guide pos="63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ástyai Márk" userId="S::mark.balastyai@futurealgroup.com::384723b2-495d-419c-bdba-6cfaa2adae46" providerId="AD" clId="Web-{DF707035-4999-FB08-8B5C-9975E92FA35B}"/>
    <pc:docChg chg="addSld delSld modSld">
      <pc:chgData name="Balástyai Márk" userId="S::mark.balastyai@futurealgroup.com::384723b2-495d-419c-bdba-6cfaa2adae46" providerId="AD" clId="Web-{DF707035-4999-FB08-8B5C-9975E92FA35B}" dt="2026-10-13T07:27:55.686" v="38"/>
      <pc:docMkLst>
        <pc:docMk/>
      </pc:docMkLst>
      <pc:sldChg chg="del">
        <pc:chgData name="Balástyai Márk" userId="S::mark.balastyai@futurealgroup.com::384723b2-495d-419c-bdba-6cfaa2adae46" providerId="AD" clId="Web-{DF707035-4999-FB08-8B5C-9975E92FA35B}" dt="2026-10-13T07:26:51.071" v="18"/>
        <pc:sldMkLst>
          <pc:docMk/>
          <pc:sldMk cId="2125840798" sldId="326"/>
        </pc:sldMkLst>
      </pc:sldChg>
      <pc:sldChg chg="del">
        <pc:chgData name="Balástyai Márk" userId="S::mark.balastyai@futurealgroup.com::384723b2-495d-419c-bdba-6cfaa2adae46" providerId="AD" clId="Web-{DF707035-4999-FB08-8B5C-9975E92FA35B}" dt="2026-10-13T07:26:56.618" v="20"/>
        <pc:sldMkLst>
          <pc:docMk/>
          <pc:sldMk cId="1328498914" sldId="327"/>
        </pc:sldMkLst>
      </pc:sldChg>
      <pc:sldChg chg="del">
        <pc:chgData name="Balástyai Márk" userId="S::mark.balastyai@futurealgroup.com::384723b2-495d-419c-bdba-6cfaa2adae46" providerId="AD" clId="Web-{DF707035-4999-FB08-8B5C-9975E92FA35B}" dt="2026-10-13T07:27:01.697" v="22"/>
        <pc:sldMkLst>
          <pc:docMk/>
          <pc:sldMk cId="4142663118" sldId="328"/>
        </pc:sldMkLst>
      </pc:sldChg>
      <pc:sldChg chg="del">
        <pc:chgData name="Balástyai Márk" userId="S::mark.balastyai@futurealgroup.com::384723b2-495d-419c-bdba-6cfaa2adae46" providerId="AD" clId="Web-{DF707035-4999-FB08-8B5C-9975E92FA35B}" dt="2026-10-13T07:27:11.791" v="24"/>
        <pc:sldMkLst>
          <pc:docMk/>
          <pc:sldMk cId="2119066444" sldId="329"/>
        </pc:sldMkLst>
      </pc:sldChg>
      <pc:sldChg chg="del">
        <pc:chgData name="Balástyai Márk" userId="S::mark.balastyai@futurealgroup.com::384723b2-495d-419c-bdba-6cfaa2adae46" providerId="AD" clId="Web-{DF707035-4999-FB08-8B5C-9975E92FA35B}" dt="2026-10-13T07:27:15.010" v="26"/>
        <pc:sldMkLst>
          <pc:docMk/>
          <pc:sldMk cId="127879543" sldId="330"/>
        </pc:sldMkLst>
      </pc:sldChg>
      <pc:sldChg chg="del">
        <pc:chgData name="Balástyai Márk" userId="S::mark.balastyai@futurealgroup.com::384723b2-495d-419c-bdba-6cfaa2adae46" providerId="AD" clId="Web-{DF707035-4999-FB08-8B5C-9975E92FA35B}" dt="2026-10-13T07:27:20.464" v="28"/>
        <pc:sldMkLst>
          <pc:docMk/>
          <pc:sldMk cId="3612936194" sldId="331"/>
        </pc:sldMkLst>
      </pc:sldChg>
      <pc:sldChg chg="del">
        <pc:chgData name="Balástyai Márk" userId="S::mark.balastyai@futurealgroup.com::384723b2-495d-419c-bdba-6cfaa2adae46" providerId="AD" clId="Web-{DF707035-4999-FB08-8B5C-9975E92FA35B}" dt="2026-10-13T07:26:37.382" v="8"/>
        <pc:sldMkLst>
          <pc:docMk/>
          <pc:sldMk cId="257069903" sldId="333"/>
        </pc:sldMkLst>
      </pc:sldChg>
      <pc:sldChg chg="add del">
        <pc:chgData name="Balástyai Márk" userId="S::mark.balastyai@futurealgroup.com::384723b2-495d-419c-bdba-6cfaa2adae46" providerId="AD" clId="Web-{DF707035-4999-FB08-8B5C-9975E92FA35B}" dt="2026-10-13T07:25:51.925" v="2"/>
        <pc:sldMkLst>
          <pc:docMk/>
          <pc:sldMk cId="2224072832" sldId="334"/>
        </pc:sldMkLst>
      </pc:sldChg>
      <pc:sldChg chg="add del">
        <pc:chgData name="Balástyai Márk" userId="S::mark.balastyai@futurealgroup.com::384723b2-495d-419c-bdba-6cfaa2adae46" providerId="AD" clId="Web-{DF707035-4999-FB08-8B5C-9975E92FA35B}" dt="2026-10-13T07:26:03.536" v="4"/>
        <pc:sldMkLst>
          <pc:docMk/>
          <pc:sldMk cId="2768126260" sldId="335"/>
        </pc:sldMkLst>
      </pc:sldChg>
      <pc:sldChg chg="add del">
        <pc:chgData name="Balástyai Márk" userId="S::mark.balastyai@futurealgroup.com::384723b2-495d-419c-bdba-6cfaa2adae46" providerId="AD" clId="Web-{DF707035-4999-FB08-8B5C-9975E92FA35B}" dt="2026-10-13T07:26:18.131" v="6"/>
        <pc:sldMkLst>
          <pc:docMk/>
          <pc:sldMk cId="1902462181" sldId="336"/>
        </pc:sldMkLst>
      </pc:sldChg>
      <pc:sldChg chg="add del">
        <pc:chgData name="Balástyai Márk" userId="S::mark.balastyai@futurealgroup.com::384723b2-495d-419c-bdba-6cfaa2adae46" providerId="AD" clId="Web-{DF707035-4999-FB08-8B5C-9975E92FA35B}" dt="2026-10-13T07:27:55.686" v="38"/>
        <pc:sldMkLst>
          <pc:docMk/>
          <pc:sldMk cId="2306928485" sldId="337"/>
        </pc:sldMkLst>
      </pc:sldChg>
      <pc:sldChg chg="modSp add">
        <pc:chgData name="Balástyai Márk" userId="S::mark.balastyai@futurealgroup.com::384723b2-495d-419c-bdba-6cfaa2adae46" providerId="AD" clId="Web-{DF707035-4999-FB08-8B5C-9975E92FA35B}" dt="2026-10-13T07:26:39.304" v="16"/>
        <pc:sldMkLst>
          <pc:docMk/>
          <pc:sldMk cId="3657229674" sldId="338"/>
        </pc:sldMkLst>
        <pc:graphicFrameChg chg="modGraphic">
          <ac:chgData name="Balástyai Márk" userId="S::mark.balastyai@futurealgroup.com::384723b2-495d-419c-bdba-6cfaa2adae46" providerId="AD" clId="Web-{DF707035-4999-FB08-8B5C-9975E92FA35B}" dt="2026-10-13T07:26:39.304" v="16"/>
          <ac:graphicFrameMkLst>
            <pc:docMk/>
            <pc:sldMk cId="3657229674" sldId="338"/>
            <ac:graphicFrameMk id="3" creationId="{B0A8E69F-10CB-8CD4-C82C-92DEA05D0057}"/>
          </ac:graphicFrameMkLst>
        </pc:graphicFrameChg>
      </pc:sldChg>
      <pc:sldChg chg="add">
        <pc:chgData name="Balástyai Márk" userId="S::mark.balastyai@futurealgroup.com::384723b2-495d-419c-bdba-6cfaa2adae46" providerId="AD" clId="Web-{DF707035-4999-FB08-8B5C-9975E92FA35B}" dt="2026-10-13T07:26:51.071" v="17"/>
        <pc:sldMkLst>
          <pc:docMk/>
          <pc:sldMk cId="2629552703" sldId="339"/>
        </pc:sldMkLst>
      </pc:sldChg>
      <pc:sldChg chg="add">
        <pc:chgData name="Balástyai Márk" userId="S::mark.balastyai@futurealgroup.com::384723b2-495d-419c-bdba-6cfaa2adae46" providerId="AD" clId="Web-{DF707035-4999-FB08-8B5C-9975E92FA35B}" dt="2026-10-13T07:26:56.618" v="19"/>
        <pc:sldMkLst>
          <pc:docMk/>
          <pc:sldMk cId="4039742362" sldId="340"/>
        </pc:sldMkLst>
      </pc:sldChg>
      <pc:sldChg chg="add">
        <pc:chgData name="Balástyai Márk" userId="S::mark.balastyai@futurealgroup.com::384723b2-495d-419c-bdba-6cfaa2adae46" providerId="AD" clId="Web-{DF707035-4999-FB08-8B5C-9975E92FA35B}" dt="2026-10-13T07:27:01.681" v="21"/>
        <pc:sldMkLst>
          <pc:docMk/>
          <pc:sldMk cId="2776385210" sldId="341"/>
        </pc:sldMkLst>
      </pc:sldChg>
      <pc:sldChg chg="add">
        <pc:chgData name="Balástyai Márk" userId="S::mark.balastyai@futurealgroup.com::384723b2-495d-419c-bdba-6cfaa2adae46" providerId="AD" clId="Web-{DF707035-4999-FB08-8B5C-9975E92FA35B}" dt="2026-10-13T07:27:11.791" v="23"/>
        <pc:sldMkLst>
          <pc:docMk/>
          <pc:sldMk cId="4264186478" sldId="342"/>
        </pc:sldMkLst>
      </pc:sldChg>
      <pc:sldChg chg="add">
        <pc:chgData name="Balástyai Márk" userId="S::mark.balastyai@futurealgroup.com::384723b2-495d-419c-bdba-6cfaa2adae46" providerId="AD" clId="Web-{DF707035-4999-FB08-8B5C-9975E92FA35B}" dt="2026-10-13T07:27:15.010" v="25"/>
        <pc:sldMkLst>
          <pc:docMk/>
          <pc:sldMk cId="4205101344" sldId="343"/>
        </pc:sldMkLst>
      </pc:sldChg>
      <pc:sldChg chg="modSp add">
        <pc:chgData name="Balástyai Márk" userId="S::mark.balastyai@futurealgroup.com::384723b2-495d-419c-bdba-6cfaa2adae46" providerId="AD" clId="Web-{DF707035-4999-FB08-8B5C-9975E92FA35B}" dt="2026-10-13T07:27:25.918" v="36"/>
        <pc:sldMkLst>
          <pc:docMk/>
          <pc:sldMk cId="351494568" sldId="344"/>
        </pc:sldMkLst>
        <pc:graphicFrameChg chg="modGraphic">
          <ac:chgData name="Balástyai Márk" userId="S::mark.balastyai@futurealgroup.com::384723b2-495d-419c-bdba-6cfaa2adae46" providerId="AD" clId="Web-{DF707035-4999-FB08-8B5C-9975E92FA35B}" dt="2026-10-13T07:27:25.918" v="36"/>
          <ac:graphicFrameMkLst>
            <pc:docMk/>
            <pc:sldMk cId="351494568" sldId="344"/>
            <ac:graphicFrameMk id="3" creationId="{C90D80D7-F26B-0D98-EECD-BC40C468A81E}"/>
          </ac:graphicFrameMkLst>
        </pc:graphicFrameChg>
      </pc:sldChg>
      <pc:sldChg chg="add">
        <pc:chgData name="Balástyai Márk" userId="S::mark.balastyai@futurealgroup.com::384723b2-495d-419c-bdba-6cfaa2adae46" providerId="AD" clId="Web-{DF707035-4999-FB08-8B5C-9975E92FA35B}" dt="2026-10-13T07:27:55.686" v="37"/>
        <pc:sldMkLst>
          <pc:docMk/>
          <pc:sldMk cId="3650530233" sldId="34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en-GB" sz="1400" b="1">
                <a:solidFill>
                  <a:srgbClr val="3C3C3B"/>
                </a:solidFill>
              </a:rPr>
              <a:t>FEP IRR post-tax (%)</a:t>
            </a:r>
          </a:p>
        </c:rich>
      </c:tx>
      <c:overlay val="0"/>
    </c:title>
    <c:autoTitleDeleted val="0"/>
    <c:plotArea>
      <c:layout/>
      <c:barChart>
        <c:barDir val="col"/>
        <c:grouping val="clustered"/>
        <c:varyColors val="1"/>
        <c:ser>
          <c:idx val="0"/>
          <c:order val="0"/>
          <c:tx>
            <c:strRef>
              <c:f>Sheet1!$B$1</c:f>
              <c:strCache>
                <c:ptCount val="1"/>
                <c:pt idx="0">
                  <c:v>European turbine</c:v>
                </c:pt>
              </c:strCache>
            </c:strRef>
          </c:tx>
          <c:spPr>
            <a:solidFill>
              <a:srgbClr val="00563C"/>
            </a:solidFill>
          </c:spPr>
          <c:invertIfNegative val="1"/>
          <c:dLbls>
            <c:numFmt formatCode="0.0%" sourceLinked="0"/>
            <c:spPr>
              <a:noFill/>
              <a:ln>
                <a:noFill/>
              </a:ln>
              <a:effectLst/>
            </c:spPr>
            <c:txPr>
              <a:bodyPr/>
              <a:lstStyle/>
              <a:p>
                <a:pPr>
                  <a:defRPr sz="1200">
                    <a:solidFill>
                      <a:srgbClr val="3C3C3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Sale at COD</c:v>
                </c:pt>
                <c:pt idx="1">
                  <c:v>Hold to maturity</c:v>
                </c:pt>
              </c:strCache>
            </c:strRef>
          </c:cat>
          <c:val>
            <c:numRef>
              <c:f>Sheet1!$B$2:$B$3</c:f>
              <c:numCache>
                <c:formatCode>0.0%</c:formatCode>
                <c:ptCount val="2"/>
                <c:pt idx="0">
                  <c:v>0.26385382776101018</c:v>
                </c:pt>
                <c:pt idx="1">
                  <c:v>9.2421154116794524E-2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104-4E75-B18B-19B1BF27D8A8}"/>
            </c:ext>
          </c:extLst>
        </c:ser>
        <c:ser>
          <c:idx val="1"/>
          <c:order val="1"/>
          <c:tx>
            <c:strRef>
              <c:f>Sheet1!$C$1</c:f>
              <c:strCache>
                <c:ptCount val="1"/>
                <c:pt idx="0">
                  <c:v>Chinese turbine</c:v>
                </c:pt>
              </c:strCache>
            </c:strRef>
          </c:tx>
          <c:spPr>
            <a:solidFill>
              <a:srgbClr val="00A651"/>
            </a:solidFill>
          </c:spPr>
          <c:invertIfNegative val="1"/>
          <c:dLbls>
            <c:numFmt formatCode="0.0%" sourceLinked="0"/>
            <c:spPr>
              <a:noFill/>
              <a:ln>
                <a:noFill/>
              </a:ln>
              <a:effectLst/>
            </c:spPr>
            <c:txPr>
              <a:bodyPr/>
              <a:lstStyle/>
              <a:p>
                <a:pPr>
                  <a:defRPr sz="1200">
                    <a:solidFill>
                      <a:srgbClr val="3C3C3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Sale at COD</c:v>
                </c:pt>
                <c:pt idx="1">
                  <c:v>Hold to maturity</c:v>
                </c:pt>
              </c:strCache>
            </c:strRef>
          </c:cat>
          <c:val>
            <c:numRef>
              <c:f>Sheet1!$C$2:$C$3</c:f>
              <c:numCache>
                <c:formatCode>0.0%</c:formatCode>
                <c:ptCount val="2"/>
                <c:pt idx="0">
                  <c:v>0.3766971652628644</c:v>
                </c:pt>
                <c:pt idx="1">
                  <c:v>0.12103807372866249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104-4E75-B18B-19B1BF27D8A8}"/>
            </c:ext>
          </c:extLst>
        </c:ser>
        <c:dLbls>
          <c:dLblPos val="outEnd"/>
          <c:showLegendKey val="0"/>
          <c:showVal val="1"/>
          <c:showCatName val="0"/>
          <c:showSerName val="0"/>
          <c:showPercent val="0"/>
          <c:showBubbleSize val="0"/>
        </c:dLbls>
        <c:gapWidth val="8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ACACA"/>
            </a:solidFill>
          </a:ln>
        </c:spPr>
        <c:txPr>
          <a:bodyPr/>
          <a:lstStyle/>
          <a:p>
            <a:pPr>
              <a:defRPr sz="1200">
                <a:solidFill>
                  <a:srgbClr val="3C3C3B"/>
                </a:solidFill>
              </a:defRPr>
            </a:pPr>
            <a:endParaRPr lang="en-US"/>
          </a:p>
        </c:txPr>
        <c:crossAx val="-2113994440"/>
        <c:crosses val="autoZero"/>
        <c:auto val="1"/>
        <c:lblAlgn val="ctr"/>
        <c:lblOffset val="100"/>
        <c:noMultiLvlLbl val="0"/>
      </c:catAx>
      <c:valAx>
        <c:axId val="-2113994440"/>
        <c:scaling>
          <c:orientation val="minMax"/>
          <c:max val="0.5"/>
          <c:min val="0"/>
        </c:scaling>
        <c:delete val="1"/>
        <c:axPos val="l"/>
        <c:numFmt formatCode="0.0%" sourceLinked="1"/>
        <c:majorTickMark val="out"/>
        <c:minorTickMark val="none"/>
        <c:tickLblPos val="nextTo"/>
        <c:crossAx val="-2068027336"/>
        <c:crosses val="autoZero"/>
        <c:crossBetween val="between"/>
      </c:valAx>
    </c:plotArea>
    <c:legend>
      <c:legendPos val="b"/>
      <c:overlay val="0"/>
      <c:txPr>
        <a:bodyPr/>
        <a:lstStyle/>
        <a:p>
          <a:pPr>
            <a:defRPr sz="1200">
              <a:solidFill>
                <a:srgbClr val="3C3C3B"/>
              </a:solidFil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hu-HU" sz="1300" b="1">
                <a:solidFill>
                  <a:srgbClr val="3C3C3B"/>
                </a:solidFill>
              </a:rPr>
              <a:t>Sale at COD – European turbine  ·  base IRR 26.4%</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Sheet1!$B$2:$B$5</c:f>
              <c:numCache>
                <c:formatCode>\+0.0;\(0.0\);0.0</c:formatCode>
                <c:ptCount val="4"/>
                <c:pt idx="1">
                  <c:v>1.2954756371709397</c:v>
                </c:pt>
                <c:pt idx="2">
                  <c:v>6.3606619520035492</c:v>
                </c:pt>
                <c:pt idx="3">
                  <c:v>-14.865422394234958</c:v>
                </c:pt>
              </c:numCache>
            </c:numRef>
          </c:val>
          <c:extLst>
            <c:ext xmlns:c16="http://schemas.microsoft.com/office/drawing/2014/chart" uri="{C3380CC4-5D6E-409C-BE32-E72D297353CC}">
              <c16:uniqueId val="{00000000-8F89-4B11-B0CF-3880BDE120BB}"/>
            </c:ext>
          </c:extLst>
        </c:ser>
        <c:ser>
          <c:idx val="1"/>
          <c:order val="1"/>
          <c:tx>
            <c:strRef>
              <c:f>Sheet1!$C$1</c:f>
              <c:strCache>
                <c:ptCount val="1"/>
                <c:pt idx="0">
                  <c:v>+10% input</c:v>
                </c:pt>
              </c:strCache>
            </c:strRef>
          </c:tx>
          <c:spPr>
            <a:solidFill>
              <a:srgbClr val="00A651"/>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Sheet1!$C$2:$C$5</c:f>
              <c:numCache>
                <c:formatCode>\+0.0;\(0.0\);0.0</c:formatCode>
                <c:ptCount val="4"/>
                <c:pt idx="1">
                  <c:v>-1.2172734473427704</c:v>
                </c:pt>
                <c:pt idx="2">
                  <c:v>-6.548731022263798</c:v>
                </c:pt>
                <c:pt idx="3">
                  <c:v>12.437548384408863</c:v>
                </c:pt>
              </c:numCache>
            </c:numRef>
          </c:val>
          <c:extLst>
            <c:ext xmlns:c16="http://schemas.microsoft.com/office/drawing/2014/chart" uri="{C3380CC4-5D6E-409C-BE32-E72D297353CC}">
              <c16:uniqueId val="{00000001-8F89-4B11-B0CF-3880BDE120BB}"/>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25"/>
          <c:min val="-25"/>
        </c:scaling>
        <c:delete val="0"/>
        <c:axPos val="b"/>
        <c:majorGridlines>
          <c:spPr>
            <a:ln w="6350">
              <a:solidFill>
                <a:srgbClr val="D9D9D9"/>
              </a:solidFill>
            </a:ln>
          </c:spPr>
        </c:majorGridlines>
        <c:numFmt formatCode="\+0;\(0\);0" sourceLinked="0"/>
        <c:majorTickMark val="none"/>
        <c:minorTickMark val="none"/>
        <c:tickLblPos val="nextTo"/>
        <c:spPr>
          <a:ln>
            <a:noFill/>
          </a:ln>
        </c:spPr>
        <c:txPr>
          <a:bodyPr/>
          <a:lstStyle/>
          <a:p>
            <a:pPr>
              <a:defRPr sz="1100"/>
            </a:pPr>
            <a:endParaRPr lang="hu-HU"/>
          </a:p>
        </c:txPr>
        <c:crossAx val="-2068027336"/>
        <c:crosses val="autoZero"/>
        <c:crossBetween val="between"/>
        <c:majorUnit val="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hu-HU" sz="1300" b="1">
                <a:solidFill>
                  <a:srgbClr val="3C3C3B"/>
                </a:solidFill>
              </a:rPr>
              <a:t>Sale at COD – Chinese turbine  ·  base IRR 37.7%</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Sheet1!$B$2:$B$5</c:f>
              <c:numCache>
                <c:formatCode>\+0.0;\(0.0\);0.0</c:formatCode>
                <c:ptCount val="4"/>
                <c:pt idx="1">
                  <c:v>1.6642196505965268</c:v>
                </c:pt>
                <c:pt idx="2">
                  <c:v>3.3159595068589951</c:v>
                </c:pt>
                <c:pt idx="3">
                  <c:v>-11.389063513179876</c:v>
                </c:pt>
              </c:numCache>
            </c:numRef>
          </c:val>
          <c:extLst>
            <c:ext xmlns:c16="http://schemas.microsoft.com/office/drawing/2014/chart" uri="{C3380CC4-5D6E-409C-BE32-E72D297353CC}">
              <c16:uniqueId val="{00000000-F742-4C47-B460-1D61F6036ED8}"/>
            </c:ext>
          </c:extLst>
        </c:ser>
        <c:ser>
          <c:idx val="1"/>
          <c:order val="1"/>
          <c:tx>
            <c:strRef>
              <c:f>Sheet1!$C$1</c:f>
              <c:strCache>
                <c:ptCount val="1"/>
                <c:pt idx="0">
                  <c:v>+10% input</c:v>
                </c:pt>
              </c:strCache>
            </c:strRef>
          </c:tx>
          <c:spPr>
            <a:solidFill>
              <a:srgbClr val="00A651"/>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Sheet1!$C$2:$C$5</c:f>
              <c:numCache>
                <c:formatCode>\+0.0;\(0.0\);0.0</c:formatCode>
                <c:ptCount val="4"/>
                <c:pt idx="1">
                  <c:v>-1.5505685353164378</c:v>
                </c:pt>
                <c:pt idx="2">
                  <c:v>-3.3533150928526267</c:v>
                </c:pt>
                <c:pt idx="3">
                  <c:v>9.8669505782048752</c:v>
                </c:pt>
              </c:numCache>
            </c:numRef>
          </c:val>
          <c:extLst>
            <c:ext xmlns:c16="http://schemas.microsoft.com/office/drawing/2014/chart" uri="{C3380CC4-5D6E-409C-BE32-E72D297353CC}">
              <c16:uniqueId val="{00000001-F742-4C47-B460-1D61F6036ED8}"/>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25"/>
          <c:min val="-25"/>
        </c:scaling>
        <c:delete val="0"/>
        <c:axPos val="b"/>
        <c:majorGridlines>
          <c:spPr>
            <a:ln w="6350">
              <a:solidFill>
                <a:srgbClr val="D9D9D9"/>
              </a:solidFill>
            </a:ln>
          </c:spPr>
        </c:majorGridlines>
        <c:numFmt formatCode="\+0;\(0\);0" sourceLinked="0"/>
        <c:majorTickMark val="none"/>
        <c:minorTickMark val="none"/>
        <c:tickLblPos val="nextTo"/>
        <c:spPr>
          <a:ln>
            <a:noFill/>
          </a:ln>
        </c:spPr>
        <c:txPr>
          <a:bodyPr/>
          <a:lstStyle/>
          <a:p>
            <a:pPr>
              <a:defRPr sz="1100"/>
            </a:pPr>
            <a:endParaRPr lang="hu-HU"/>
          </a:p>
        </c:txPr>
        <c:crossAx val="-2068027336"/>
        <c:crosses val="autoZero"/>
        <c:crossBetween val="between"/>
        <c:majorUnit val="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en-US" sz="1300" b="1">
                <a:solidFill>
                  <a:srgbClr val="3C3C3B"/>
                </a:solidFill>
              </a:rPr>
              <a:t>Hold to maturity – European turbine  ·  base IRR 9.2%</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Sheet1!$B$2:$B$5</c:f>
              <c:numCache>
                <c:formatCode>\+0.0;\(0.0\);0.0</c:formatCode>
                <c:ptCount val="4"/>
                <c:pt idx="1">
                  <c:v>7.6621856993672188E-2</c:v>
                </c:pt>
                <c:pt idx="2">
                  <c:v>0.55552725400952596</c:v>
                </c:pt>
                <c:pt idx="3">
                  <c:v>-1.3393145047225095</c:v>
                </c:pt>
              </c:numCache>
            </c:numRef>
          </c:val>
          <c:extLst>
            <c:ext xmlns:c16="http://schemas.microsoft.com/office/drawing/2014/chart" uri="{C3380CC4-5D6E-409C-BE32-E72D297353CC}">
              <c16:uniqueId val="{00000000-15DE-4760-AFEF-3C40600CE82C}"/>
            </c:ext>
          </c:extLst>
        </c:ser>
        <c:ser>
          <c:idx val="1"/>
          <c:order val="1"/>
          <c:tx>
            <c:strRef>
              <c:f>Sheet1!$C$1</c:f>
              <c:strCache>
                <c:ptCount val="1"/>
                <c:pt idx="0">
                  <c:v>+10% input</c:v>
                </c:pt>
              </c:strCache>
            </c:strRef>
          </c:tx>
          <c:spPr>
            <a:solidFill>
              <a:srgbClr val="00A651"/>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Sheet1!$C$2:$C$5</c:f>
              <c:numCache>
                <c:formatCode>\+0.0;\(0.0\);0.0</c:formatCode>
                <c:ptCount val="4"/>
                <c:pt idx="1">
                  <c:v>-7.5231852500702578E-2</c:v>
                </c:pt>
                <c:pt idx="2">
                  <c:v>-0.52032176209423353</c:v>
                </c:pt>
                <c:pt idx="3">
                  <c:v>1.2475880536846589</c:v>
                </c:pt>
              </c:numCache>
            </c:numRef>
          </c:val>
          <c:extLst>
            <c:ext xmlns:c16="http://schemas.microsoft.com/office/drawing/2014/chart" uri="{C3380CC4-5D6E-409C-BE32-E72D297353CC}">
              <c16:uniqueId val="{00000001-15DE-4760-AFEF-3C40600CE82C}"/>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2.5"/>
          <c:min val="-2.5"/>
        </c:scaling>
        <c:delete val="0"/>
        <c:axPos val="b"/>
        <c:majorGridlines>
          <c:spPr>
            <a:ln w="6350">
              <a:solidFill>
                <a:srgbClr val="D9D9D9"/>
              </a:solidFill>
            </a:ln>
          </c:spPr>
        </c:majorGridlines>
        <c:numFmt formatCode="\+0.0;\(0.0\);0.0" sourceLinked="0"/>
        <c:majorTickMark val="none"/>
        <c:minorTickMark val="none"/>
        <c:tickLblPos val="nextTo"/>
        <c:spPr>
          <a:ln>
            <a:noFill/>
          </a:ln>
        </c:spPr>
        <c:txPr>
          <a:bodyPr/>
          <a:lstStyle/>
          <a:p>
            <a:pPr>
              <a:defRPr sz="1100"/>
            </a:pPr>
            <a:endParaRPr lang="hu-HU"/>
          </a:p>
        </c:txPr>
        <c:crossAx val="-2068027336"/>
        <c:crosses val="autoZero"/>
        <c:crossBetween val="between"/>
        <c:majorUnit val="0.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en-US" sz="1300" b="1">
                <a:solidFill>
                  <a:srgbClr val="3C3C3B"/>
                </a:solidFill>
              </a:rPr>
              <a:t>Hold to maturity – Chinese turbine  ·  base IRR 12.1%</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Sheet1!$B$2:$B$5</c:f>
              <c:numCache>
                <c:formatCode>\+0.0;\(0.0\);0.0</c:formatCode>
                <c:ptCount val="4"/>
                <c:pt idx="1">
                  <c:v>0.11927458111048589</c:v>
                </c:pt>
                <c:pt idx="2">
                  <c:v>0.40380660301706783</c:v>
                </c:pt>
                <c:pt idx="3">
                  <c:v>-1.4142767566382497</c:v>
                </c:pt>
              </c:numCache>
            </c:numRef>
          </c:val>
          <c:extLst>
            <c:ext xmlns:c16="http://schemas.microsoft.com/office/drawing/2014/chart" uri="{C3380CC4-5D6E-409C-BE32-E72D297353CC}">
              <c16:uniqueId val="{00000000-99CF-4650-86F1-C1E949CD5F2F}"/>
            </c:ext>
          </c:extLst>
        </c:ser>
        <c:ser>
          <c:idx val="1"/>
          <c:order val="1"/>
          <c:tx>
            <c:strRef>
              <c:f>Sheet1!$C$1</c:f>
              <c:strCache>
                <c:ptCount val="1"/>
                <c:pt idx="0">
                  <c:v>+10% input</c:v>
                </c:pt>
              </c:strCache>
            </c:strRef>
          </c:tx>
          <c:spPr>
            <a:solidFill>
              <a:srgbClr val="00A651"/>
            </a:solidFill>
          </c:spPr>
          <c:invertIfNegative val="0"/>
          <c:dLbls>
            <c:numFmt formatCode="\+0.0;\(0.0\);0.0"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Sheet1!$C$2:$C$5</c:f>
              <c:numCache>
                <c:formatCode>\+0.0;\(0.0\);0.0</c:formatCode>
                <c:ptCount val="4"/>
                <c:pt idx="1">
                  <c:v>-0.11634423586812104</c:v>
                </c:pt>
                <c:pt idx="2">
                  <c:v>-0.38565537786527243</c:v>
                </c:pt>
                <c:pt idx="3">
                  <c:v>1.3379606710904186</c:v>
                </c:pt>
              </c:numCache>
            </c:numRef>
          </c:val>
          <c:extLst>
            <c:ext xmlns:c16="http://schemas.microsoft.com/office/drawing/2014/chart" uri="{C3380CC4-5D6E-409C-BE32-E72D297353CC}">
              <c16:uniqueId val="{00000001-99CF-4650-86F1-C1E949CD5F2F}"/>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2.5"/>
          <c:min val="-2.5"/>
        </c:scaling>
        <c:delete val="0"/>
        <c:axPos val="b"/>
        <c:majorGridlines>
          <c:spPr>
            <a:ln w="6350">
              <a:solidFill>
                <a:srgbClr val="D9D9D9"/>
              </a:solidFill>
            </a:ln>
          </c:spPr>
        </c:majorGridlines>
        <c:numFmt formatCode="\+0.0;\(0.0\);0.0" sourceLinked="0"/>
        <c:majorTickMark val="none"/>
        <c:minorTickMark val="none"/>
        <c:tickLblPos val="nextTo"/>
        <c:spPr>
          <a:ln>
            <a:noFill/>
          </a:ln>
        </c:spPr>
        <c:txPr>
          <a:bodyPr/>
          <a:lstStyle/>
          <a:p>
            <a:pPr>
              <a:defRPr sz="1100"/>
            </a:pPr>
            <a:endParaRPr lang="hu-HU"/>
          </a:p>
        </c:txPr>
        <c:crossAx val="-2068027336"/>
        <c:crosses val="autoZero"/>
        <c:crossBetween val="between"/>
        <c:majorUnit val="0.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hu-HU" sz="1300" b="1">
                <a:solidFill>
                  <a:srgbClr val="3C3C3B"/>
                </a:solidFill>
              </a:rPr>
              <a:t>Sale at COD – European turbine  ·  base MOIC 1.46x</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Sheet1!$B$2:$B$5</c:f>
              <c:numCache>
                <c:formatCode>\+0.00"x";\(0.00"x"\);0.00"x"</c:formatCode>
                <c:ptCount val="4"/>
                <c:pt idx="1">
                  <c:v>1.4984407485382434E-2</c:v>
                </c:pt>
                <c:pt idx="2">
                  <c:v>0.1464937840128071</c:v>
                </c:pt>
                <c:pt idx="3">
                  <c:v>-0.27697435456651576</c:v>
                </c:pt>
              </c:numCache>
            </c:numRef>
          </c:val>
          <c:extLst>
            <c:ext xmlns:c16="http://schemas.microsoft.com/office/drawing/2014/chart" uri="{C3380CC4-5D6E-409C-BE32-E72D297353CC}">
              <c16:uniqueId val="{00000000-0C8E-478F-ABE3-ABEB3544A6C4}"/>
            </c:ext>
          </c:extLst>
        </c:ser>
        <c:ser>
          <c:idx val="1"/>
          <c:order val="1"/>
          <c:tx>
            <c:strRef>
              <c:f>Sheet1!$C$1</c:f>
              <c:strCache>
                <c:ptCount val="1"/>
                <c:pt idx="0">
                  <c:v>+10% input</c:v>
                </c:pt>
              </c:strCache>
            </c:strRef>
          </c:tx>
          <c:spPr>
            <a:solidFill>
              <a:srgbClr val="00A651"/>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Sheet1!$C$2:$C$5</c:f>
              <c:numCache>
                <c:formatCode>\+0.00"x";\(0.00"x"\);0.00"x"</c:formatCode>
                <c:ptCount val="4"/>
                <c:pt idx="1">
                  <c:v>-1.4682558914626442E-2</c:v>
                </c:pt>
                <c:pt idx="2">
                  <c:v>-0.13337149342489441</c:v>
                </c:pt>
                <c:pt idx="3">
                  <c:v>0.27697435456651553</c:v>
                </c:pt>
              </c:numCache>
            </c:numRef>
          </c:val>
          <c:extLst>
            <c:ext xmlns:c16="http://schemas.microsoft.com/office/drawing/2014/chart" uri="{C3380CC4-5D6E-409C-BE32-E72D297353CC}">
              <c16:uniqueId val="{00000001-0C8E-478F-ABE3-ABEB3544A6C4}"/>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0.5"/>
          <c:min val="-0.5"/>
        </c:scaling>
        <c:delete val="0"/>
        <c:axPos val="b"/>
        <c:majorGridlines>
          <c:spPr>
            <a:ln w="6350">
              <a:solidFill>
                <a:srgbClr val="D9D9D9"/>
              </a:solidFill>
            </a:ln>
          </c:spPr>
        </c:majorGridlines>
        <c:numFmt formatCode="\+0.00&quot;x&quot;;\(0.00&quot;x&quot;\);0.00&quot;x&quot;" sourceLinked="0"/>
        <c:majorTickMark val="none"/>
        <c:minorTickMark val="none"/>
        <c:tickLblPos val="nextTo"/>
        <c:spPr>
          <a:ln>
            <a:noFill/>
          </a:ln>
        </c:spPr>
        <c:txPr>
          <a:bodyPr/>
          <a:lstStyle/>
          <a:p>
            <a:pPr>
              <a:defRPr sz="1100"/>
            </a:pPr>
            <a:endParaRPr lang="hu-HU"/>
          </a:p>
        </c:txPr>
        <c:crossAx val="-2068027336"/>
        <c:crosses val="autoZero"/>
        <c:crossBetween val="between"/>
        <c:majorUnit val="0.2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hu-HU" sz="1300" b="1">
                <a:solidFill>
                  <a:srgbClr val="3C3C3B"/>
                </a:solidFill>
              </a:rPr>
              <a:t>Sale at COD – Chinese turbine  ·  base MOIC 1.73x</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Sheet1!$B$2:$B$5</c:f>
              <c:numCache>
                <c:formatCode>\+0.00"x";\(0.00"x"\);0.00"x"</c:formatCode>
                <c:ptCount val="4"/>
                <c:pt idx="1">
                  <c:v>1.9501809406381687E-2</c:v>
                </c:pt>
                <c:pt idx="2">
                  <c:v>9.5196434794345253E-2</c:v>
                </c:pt>
                <c:pt idx="3">
                  <c:v>-0.26041554223963614</c:v>
                </c:pt>
              </c:numCache>
            </c:numRef>
          </c:val>
          <c:extLst>
            <c:ext xmlns:c16="http://schemas.microsoft.com/office/drawing/2014/chart" uri="{C3380CC4-5D6E-409C-BE32-E72D297353CC}">
              <c16:uniqueId val="{00000000-6BFA-427B-B0D3-B224D8BEE04A}"/>
            </c:ext>
          </c:extLst>
        </c:ser>
        <c:ser>
          <c:idx val="1"/>
          <c:order val="1"/>
          <c:tx>
            <c:strRef>
              <c:f>Sheet1!$C$1</c:f>
              <c:strCache>
                <c:ptCount val="1"/>
                <c:pt idx="0">
                  <c:v>+10% input</c:v>
                </c:pt>
              </c:strCache>
            </c:strRef>
          </c:tx>
          <c:spPr>
            <a:solidFill>
              <a:srgbClr val="00A651"/>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Yield (P50 hours) – no effect</c:v>
                </c:pt>
                <c:pt idx="1">
                  <c:v>SPV purchase price</c:v>
                </c:pt>
                <c:pt idx="2">
                  <c:v>Turbine price</c:v>
                </c:pt>
                <c:pt idx="3">
                  <c:v>COD exit price</c:v>
                </c:pt>
              </c:strCache>
            </c:strRef>
          </c:cat>
          <c:val>
            <c:numRef>
              <c:f>Sheet1!$C$2:$C$5</c:f>
              <c:numCache>
                <c:formatCode>\+0.00"x";\(0.00"x"\);0.00"x"</c:formatCode>
                <c:ptCount val="4"/>
                <c:pt idx="1">
                  <c:v>-1.9071307725788245E-2</c:v>
                </c:pt>
                <c:pt idx="2">
                  <c:v>-8.9041307466965369E-2</c:v>
                </c:pt>
                <c:pt idx="3">
                  <c:v>0.26041554223963614</c:v>
                </c:pt>
              </c:numCache>
            </c:numRef>
          </c:val>
          <c:extLst>
            <c:ext xmlns:c16="http://schemas.microsoft.com/office/drawing/2014/chart" uri="{C3380CC4-5D6E-409C-BE32-E72D297353CC}">
              <c16:uniqueId val="{00000001-6BFA-427B-B0D3-B224D8BEE04A}"/>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0.5"/>
          <c:min val="-0.5"/>
        </c:scaling>
        <c:delete val="0"/>
        <c:axPos val="b"/>
        <c:majorGridlines>
          <c:spPr>
            <a:ln w="6350">
              <a:solidFill>
                <a:srgbClr val="D9D9D9"/>
              </a:solidFill>
            </a:ln>
          </c:spPr>
        </c:majorGridlines>
        <c:numFmt formatCode="\+0.00&quot;x&quot;;\(0.00&quot;x&quot;\);0.00&quot;x&quot;" sourceLinked="0"/>
        <c:majorTickMark val="none"/>
        <c:minorTickMark val="none"/>
        <c:tickLblPos val="nextTo"/>
        <c:spPr>
          <a:ln>
            <a:noFill/>
          </a:ln>
        </c:spPr>
        <c:txPr>
          <a:bodyPr/>
          <a:lstStyle/>
          <a:p>
            <a:pPr>
              <a:defRPr sz="1100"/>
            </a:pPr>
            <a:endParaRPr lang="hu-HU"/>
          </a:p>
        </c:txPr>
        <c:crossAx val="-2068027336"/>
        <c:crosses val="autoZero"/>
        <c:crossBetween val="between"/>
        <c:majorUnit val="0.2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en-US" sz="1300" b="1">
                <a:solidFill>
                  <a:srgbClr val="3C3C3B"/>
                </a:solidFill>
              </a:rPr>
              <a:t>Hold to maturity – European turbine  ·  base MOIC 5.64x</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Sheet1!$B$2:$B$5</c:f>
              <c:numCache>
                <c:formatCode>\+0.00"x";\(0.00"x"\);0.00"x"</c:formatCode>
                <c:ptCount val="4"/>
                <c:pt idx="1">
                  <c:v>5.5514890274864115E-2</c:v>
                </c:pt>
                <c:pt idx="2">
                  <c:v>0.3812363479604759</c:v>
                </c:pt>
                <c:pt idx="3">
                  <c:v>-0.97387405849351705</c:v>
                </c:pt>
              </c:numCache>
            </c:numRef>
          </c:val>
          <c:extLst>
            <c:ext xmlns:c16="http://schemas.microsoft.com/office/drawing/2014/chart" uri="{C3380CC4-5D6E-409C-BE32-E72D297353CC}">
              <c16:uniqueId val="{00000000-C587-4D54-BDFE-BF7A6ECE3368}"/>
            </c:ext>
          </c:extLst>
        </c:ser>
        <c:ser>
          <c:idx val="1"/>
          <c:order val="1"/>
          <c:tx>
            <c:strRef>
              <c:f>Sheet1!$C$1</c:f>
              <c:strCache>
                <c:ptCount val="1"/>
                <c:pt idx="0">
                  <c:v>+10% input</c:v>
                </c:pt>
              </c:strCache>
            </c:strRef>
          </c:tx>
          <c:spPr>
            <a:solidFill>
              <a:srgbClr val="00A651"/>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Sheet1!$C$2:$C$5</c:f>
              <c:numCache>
                <c:formatCode>\+0.00"x";\(0.00"x"\);0.00"x"</c:formatCode>
                <c:ptCount val="4"/>
                <c:pt idx="1">
                  <c:v>-5.4442197080314614E-2</c:v>
                </c:pt>
                <c:pt idx="2">
                  <c:v>-0.34488794517954258</c:v>
                </c:pt>
                <c:pt idx="3">
                  <c:v>0.88338765698942456</c:v>
                </c:pt>
              </c:numCache>
            </c:numRef>
          </c:val>
          <c:extLst>
            <c:ext xmlns:c16="http://schemas.microsoft.com/office/drawing/2014/chart" uri="{C3380CC4-5D6E-409C-BE32-E72D297353CC}">
              <c16:uniqueId val="{00000001-C587-4D54-BDFE-BF7A6ECE3368}"/>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2"/>
          <c:min val="-2"/>
        </c:scaling>
        <c:delete val="0"/>
        <c:axPos val="b"/>
        <c:majorGridlines>
          <c:spPr>
            <a:ln w="6350">
              <a:solidFill>
                <a:srgbClr val="D9D9D9"/>
              </a:solidFill>
            </a:ln>
          </c:spPr>
        </c:majorGridlines>
        <c:numFmt formatCode="\+0.0&quot;x&quot;;\(0.0&quot;x&quot;\);0.0&quot;x&quot;" sourceLinked="0"/>
        <c:majorTickMark val="none"/>
        <c:minorTickMark val="none"/>
        <c:tickLblPos val="nextTo"/>
        <c:spPr>
          <a:ln>
            <a:noFill/>
          </a:ln>
        </c:spPr>
        <c:txPr>
          <a:bodyPr/>
          <a:lstStyle/>
          <a:p>
            <a:pPr>
              <a:defRPr sz="1100"/>
            </a:pPr>
            <a:endParaRPr lang="hu-HU"/>
          </a:p>
        </c:txPr>
        <c:crossAx val="-2068027336"/>
        <c:crosses val="autoZero"/>
        <c:crossBetween val="between"/>
        <c:majorUnit val="0.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c:style val="2"/>
  <c:chart>
    <c:title>
      <c:tx>
        <c:rich>
          <a:bodyPr/>
          <a:lstStyle/>
          <a:p>
            <a:r>
              <a:rPr lang="en-US" sz="1300" b="1">
                <a:solidFill>
                  <a:srgbClr val="3C3C3B"/>
                </a:solidFill>
              </a:rPr>
              <a:t>Hold to maturity – Chinese turbine  ·  base MOIC 7.09x</a:t>
            </a:r>
          </a:p>
        </c:rich>
      </c:tx>
      <c:overlay val="0"/>
    </c:title>
    <c:autoTitleDeleted val="0"/>
    <c:plotArea>
      <c:layout/>
      <c:barChart>
        <c:barDir val="bar"/>
        <c:grouping val="clustered"/>
        <c:varyColors val="1"/>
        <c:ser>
          <c:idx val="0"/>
          <c:order val="0"/>
          <c:tx>
            <c:strRef>
              <c:f>Sheet1!$B$1</c:f>
              <c:strCache>
                <c:ptCount val="1"/>
                <c:pt idx="0">
                  <c:v>−10% input</c:v>
                </c:pt>
              </c:strCache>
            </c:strRef>
          </c:tx>
          <c:spPr>
            <a:solidFill>
              <a:srgbClr val="00563C"/>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Sheet1!$B$2:$B$5</c:f>
              <c:numCache>
                <c:formatCode>\+0.00"x";\(0.00"x"\);0.00"x"</c:formatCode>
                <c:ptCount val="4"/>
                <c:pt idx="1">
                  <c:v>7.9621500330343764E-2</c:v>
                </c:pt>
                <c:pt idx="2">
                  <c:v>0.30177144020571856</c:v>
                </c:pt>
                <c:pt idx="3">
                  <c:v>-0.99661330254788449</c:v>
                </c:pt>
              </c:numCache>
            </c:numRef>
          </c:val>
          <c:extLst>
            <c:ext xmlns:c16="http://schemas.microsoft.com/office/drawing/2014/chart" uri="{C3380CC4-5D6E-409C-BE32-E72D297353CC}">
              <c16:uniqueId val="{00000000-5963-4F98-8124-2958CBBB7C16}"/>
            </c:ext>
          </c:extLst>
        </c:ser>
        <c:ser>
          <c:idx val="1"/>
          <c:order val="1"/>
          <c:tx>
            <c:strRef>
              <c:f>Sheet1!$C$1</c:f>
              <c:strCache>
                <c:ptCount val="1"/>
                <c:pt idx="0">
                  <c:v>+10% input</c:v>
                </c:pt>
              </c:strCache>
            </c:strRef>
          </c:tx>
          <c:spPr>
            <a:solidFill>
              <a:srgbClr val="00A651"/>
            </a:solidFill>
          </c:spPr>
          <c:invertIfNegative val="0"/>
          <c:dLbls>
            <c:numFmt formatCode="\+0.00&quot;x&quot;;\(0.00&quot;x&quot;\);0.00&quot;x&quot;" sourceLinked="0"/>
            <c:spPr>
              <a:noFill/>
              <a:ln>
                <a:noFill/>
              </a:ln>
              <a:effectLst/>
            </c:spPr>
            <c:txPr>
              <a:bodyPr/>
              <a:lstStyle/>
              <a:p>
                <a:pPr>
                  <a:defRPr sz="1200">
                    <a:solidFill>
                      <a:srgbClr val="3C3C3B"/>
                    </a:solidFill>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 exit price – no effect</c:v>
                </c:pt>
                <c:pt idx="1">
                  <c:v>SPV purchase price</c:v>
                </c:pt>
                <c:pt idx="2">
                  <c:v>Turbine price</c:v>
                </c:pt>
                <c:pt idx="3">
                  <c:v>Yield (P50 hours)</c:v>
                </c:pt>
              </c:strCache>
            </c:strRef>
          </c:cat>
          <c:val>
            <c:numRef>
              <c:f>Sheet1!$C$2:$C$5</c:f>
              <c:numCache>
                <c:formatCode>\+0.00"x";\(0.00"x"\);0.00"x"</c:formatCode>
                <c:ptCount val="4"/>
                <c:pt idx="1">
                  <c:v>-7.7871365495770561E-2</c:v>
                </c:pt>
                <c:pt idx="2">
                  <c:v>-0.28088683850043861</c:v>
                </c:pt>
                <c:pt idx="3">
                  <c:v>1.0092711113082844</c:v>
                </c:pt>
              </c:numCache>
            </c:numRef>
          </c:val>
          <c:extLst>
            <c:ext xmlns:c16="http://schemas.microsoft.com/office/drawing/2014/chart" uri="{C3380CC4-5D6E-409C-BE32-E72D297353CC}">
              <c16:uniqueId val="{00000001-5963-4F98-8124-2958CBBB7C16}"/>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BFBFBF"/>
            </a:solidFill>
          </a:ln>
        </c:spPr>
        <c:txPr>
          <a:bodyPr/>
          <a:lstStyle/>
          <a:p>
            <a:pPr>
              <a:defRPr sz="1200"/>
            </a:pPr>
            <a:endParaRPr lang="hu-HU"/>
          </a:p>
        </c:txPr>
        <c:crossAx val="-2113994440"/>
        <c:crosses val="autoZero"/>
        <c:auto val="1"/>
        <c:lblAlgn val="ctr"/>
        <c:lblOffset val="100"/>
        <c:noMultiLvlLbl val="0"/>
      </c:catAx>
      <c:valAx>
        <c:axId val="-2113994440"/>
        <c:scaling>
          <c:orientation val="minMax"/>
          <c:max val="2"/>
          <c:min val="-2"/>
        </c:scaling>
        <c:delete val="0"/>
        <c:axPos val="b"/>
        <c:majorGridlines>
          <c:spPr>
            <a:ln w="6350">
              <a:solidFill>
                <a:srgbClr val="D9D9D9"/>
              </a:solidFill>
            </a:ln>
          </c:spPr>
        </c:majorGridlines>
        <c:numFmt formatCode="\+0.0&quot;x&quot;;\(0.0&quot;x&quot;\);0.0&quot;x&quot;" sourceLinked="0"/>
        <c:majorTickMark val="none"/>
        <c:minorTickMark val="none"/>
        <c:tickLblPos val="nextTo"/>
        <c:spPr>
          <a:ln>
            <a:noFill/>
          </a:ln>
        </c:spPr>
        <c:txPr>
          <a:bodyPr/>
          <a:lstStyle/>
          <a:p>
            <a:pPr>
              <a:defRPr sz="1100"/>
            </a:pPr>
            <a:endParaRPr lang="hu-HU"/>
          </a:p>
        </c:txPr>
        <c:crossAx val="-2068027336"/>
        <c:crosses val="autoZero"/>
        <c:crossBetween val="between"/>
        <c:majorUnit val="0.5"/>
      </c:valAx>
    </c:plotArea>
    <c:legend>
      <c:legendPos val="b"/>
      <c:overlay val="0"/>
      <c:txPr>
        <a:bodyPr/>
        <a:lstStyle/>
        <a:p>
          <a:pPr>
            <a:defRPr sz="1200"/>
          </a:pPr>
          <a:endParaRPr lang="hu-HU"/>
        </a:p>
      </c:txPr>
    </c:legend>
    <c:plotVisOnly val="1"/>
    <c:dispBlanksAs val="gap"/>
    <c:showDLblsOverMax val="1"/>
  </c:chart>
  <c:txPr>
    <a:bodyPr/>
    <a:lstStyle/>
    <a:p>
      <a:pPr>
        <a:defRPr sz="1200">
          <a:solidFill>
            <a:srgbClr val="3C3C3B"/>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C69F0A-753D-4D0A-E937-192AB0B195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a:extLst>
              <a:ext uri="{FF2B5EF4-FFF2-40B4-BE49-F238E27FC236}">
                <a16:creationId xmlns:a16="http://schemas.microsoft.com/office/drawing/2014/main" id="{5CB5C423-415A-8E73-29C5-35785CB64A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2B9B0E-0173-6448-B6CE-6FFDEF3DFC7C}" type="datetimeFigureOut">
              <a:rPr lang="hu-HU" smtClean="0"/>
              <a:t>2026. 10. 13.</a:t>
            </a:fld>
            <a:endParaRPr lang="hu-HU"/>
          </a:p>
        </p:txBody>
      </p:sp>
      <p:sp>
        <p:nvSpPr>
          <p:cNvPr id="4" name="Footer Placeholder 3">
            <a:extLst>
              <a:ext uri="{FF2B5EF4-FFF2-40B4-BE49-F238E27FC236}">
                <a16:creationId xmlns:a16="http://schemas.microsoft.com/office/drawing/2014/main" id="{21AD4182-9C29-5D16-7BAD-1DC5C2F06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5" name="Slide Number Placeholder 4">
            <a:extLst>
              <a:ext uri="{FF2B5EF4-FFF2-40B4-BE49-F238E27FC236}">
                <a16:creationId xmlns:a16="http://schemas.microsoft.com/office/drawing/2014/main" id="{AFBC83AC-DE2C-7165-9265-93700EAAB6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F7E15C-B816-EE44-A0DD-18B068892EE4}" type="slidenum">
              <a:rPr lang="hu-HU" smtClean="0"/>
              <a:t>‹#›</a:t>
            </a:fld>
            <a:endParaRPr lang="hu-HU"/>
          </a:p>
        </p:txBody>
      </p:sp>
    </p:spTree>
    <p:extLst>
      <p:ext uri="{BB962C8B-B14F-4D97-AF65-F5344CB8AC3E}">
        <p14:creationId xmlns:p14="http://schemas.microsoft.com/office/powerpoint/2010/main" val="7147268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DBD05-8D06-4AD0-9F7F-CE567DB23A8F}" type="datetimeFigureOut">
              <a:rPr lang="en-GB" smtClean="0"/>
              <a:t>13/10/2026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A7ABA-3AE4-43F1-8148-8F32BDF4A571}" type="slidenum">
              <a:rPr lang="en-GB" smtClean="0"/>
              <a:t>‹#›</a:t>
            </a:fld>
            <a:endParaRPr lang="en-GB"/>
          </a:p>
        </p:txBody>
      </p:sp>
    </p:spTree>
    <p:extLst>
      <p:ext uri="{BB962C8B-B14F-4D97-AF65-F5344CB8AC3E}">
        <p14:creationId xmlns:p14="http://schemas.microsoft.com/office/powerpoint/2010/main" val="3117623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B80CFB-4B2B-A473-B8AE-23147E9EE5CC}"/>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1041630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ase text">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393A530C-C9E9-8EDB-5821-11A963C1A10F}"/>
              </a:ext>
            </a:extLst>
          </p:cNvPr>
          <p:cNvSpPr>
            <a:spLocks noGrp="1"/>
          </p:cNvSpPr>
          <p:nvPr>
            <p:ph type="body" sz="quarter" idx="10"/>
          </p:nvPr>
        </p:nvSpPr>
        <p:spPr>
          <a:xfrm>
            <a:off x="4500000" y="3417835"/>
            <a:ext cx="10058400" cy="2763837"/>
          </a:xfrm>
          <a:prstGeom prst="rect">
            <a:avLst/>
          </a:prstGeom>
        </p:spPr>
        <p:txBody>
          <a:bodyPr/>
          <a:lstStyle>
            <a:lvl1pPr marL="409575" indent="-409575">
              <a:buFont typeface="Aptos" panose="020B0004020202020204" pitchFamily="34" charset="0"/>
              <a:buChar char="›"/>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Slide Number Placeholder 1">
            <a:extLst>
              <a:ext uri="{FF2B5EF4-FFF2-40B4-BE49-F238E27FC236}">
                <a16:creationId xmlns:a16="http://schemas.microsoft.com/office/drawing/2014/main" id="{88576B7A-1C0F-D2A3-8BE9-18F63D64C454}"/>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5685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2" name="Slide Number Placeholder 1">
            <a:extLst>
              <a:ext uri="{FF2B5EF4-FFF2-40B4-BE49-F238E27FC236}">
                <a16:creationId xmlns:a16="http://schemas.microsoft.com/office/drawing/2014/main" id="{94430D23-6C94-E7D2-E011-50938D4089DF}"/>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750337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e text">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393A530C-C9E9-8EDB-5821-11A963C1A10F}"/>
              </a:ext>
            </a:extLst>
          </p:cNvPr>
          <p:cNvSpPr>
            <a:spLocks noGrp="1"/>
          </p:cNvSpPr>
          <p:nvPr>
            <p:ph type="body" sz="quarter" idx="10"/>
          </p:nvPr>
        </p:nvSpPr>
        <p:spPr>
          <a:xfrm>
            <a:off x="4500000" y="3417835"/>
            <a:ext cx="10058400" cy="2763837"/>
          </a:xfrm>
          <a:prstGeom prst="rect">
            <a:avLst/>
          </a:prstGeom>
        </p:spPr>
        <p:txBody>
          <a:bodyPr/>
          <a:lstStyle>
            <a:lvl1pPr marL="409575" indent="-409575">
              <a:buFont typeface="Aptos" panose="020B0004020202020204" pitchFamily="34" charset="0"/>
              <a:buChar char="›"/>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Slide Number Placeholder 1">
            <a:extLst>
              <a:ext uri="{FF2B5EF4-FFF2-40B4-BE49-F238E27FC236}">
                <a16:creationId xmlns:a16="http://schemas.microsoft.com/office/drawing/2014/main" id="{88576B7A-1C0F-D2A3-8BE9-18F63D64C454}"/>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3778068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e text">
    <p:spTree>
      <p:nvGrpSpPr>
        <p:cNvPr id="1" name=""/>
        <p:cNvGrpSpPr/>
        <p:nvPr/>
      </p:nvGrpSpPr>
      <p:grpSpPr>
        <a:xfrm>
          <a:off x="0" y="0"/>
          <a:ext cx="0" cy="0"/>
          <a:chOff x="0" y="0"/>
          <a:chExt cx="0" cy="0"/>
        </a:xfrm>
      </p:grpSpPr>
      <p:pic>
        <p:nvPicPr>
          <p:cNvPr id="3" name="object 23">
            <a:extLst>
              <a:ext uri="{FF2B5EF4-FFF2-40B4-BE49-F238E27FC236}">
                <a16:creationId xmlns:a16="http://schemas.microsoft.com/office/drawing/2014/main" id="{C5F27261-9AF0-6EB2-713F-486F78006C79}"/>
              </a:ext>
            </a:extLst>
          </p:cNvPr>
          <p:cNvPicPr/>
          <p:nvPr userDrawn="1"/>
        </p:nvPicPr>
        <p:blipFill>
          <a:blip r:embed="rId2" cstate="print"/>
          <a:stretch>
            <a:fillRect/>
          </a:stretch>
        </p:blipFill>
        <p:spPr>
          <a:xfrm>
            <a:off x="8520665" y="4942258"/>
            <a:ext cx="11583434" cy="6366298"/>
          </a:xfrm>
          <a:prstGeom prst="rect">
            <a:avLst/>
          </a:prstGeom>
        </p:spPr>
      </p:pic>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3"/>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393A530C-C9E9-8EDB-5821-11A963C1A10F}"/>
              </a:ext>
            </a:extLst>
          </p:cNvPr>
          <p:cNvSpPr>
            <a:spLocks noGrp="1"/>
          </p:cNvSpPr>
          <p:nvPr>
            <p:ph type="body" sz="quarter" idx="10"/>
          </p:nvPr>
        </p:nvSpPr>
        <p:spPr>
          <a:xfrm>
            <a:off x="4500000" y="3014714"/>
            <a:ext cx="5110181" cy="2763837"/>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Text Placeholder 3">
            <a:extLst>
              <a:ext uri="{FF2B5EF4-FFF2-40B4-BE49-F238E27FC236}">
                <a16:creationId xmlns:a16="http://schemas.microsoft.com/office/drawing/2014/main" id="{D61619E1-FB93-D0B1-A562-709B3CB802E7}"/>
              </a:ext>
            </a:extLst>
          </p:cNvPr>
          <p:cNvSpPr>
            <a:spLocks noGrp="1"/>
          </p:cNvSpPr>
          <p:nvPr>
            <p:ph type="body" sz="quarter" idx="11"/>
          </p:nvPr>
        </p:nvSpPr>
        <p:spPr>
          <a:xfrm>
            <a:off x="4500000" y="2066114"/>
            <a:ext cx="5110181" cy="371127"/>
          </a:xfrm>
          <a:prstGeom prst="rect">
            <a:avLst/>
          </a:prstGeom>
        </p:spPr>
        <p:txBody>
          <a:bodyPr wrap="square">
            <a:spAutoFit/>
          </a:bodyPr>
          <a:lstStyle>
            <a:lvl1pPr marL="0" indent="0">
              <a:buFont typeface="Aptos" panose="020B0004020202020204" pitchFamily="34" charset="0"/>
              <a:buNone/>
              <a:tabLst/>
              <a:defRPr sz="2000" b="1"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5" name="Text Placeholder 3">
            <a:extLst>
              <a:ext uri="{FF2B5EF4-FFF2-40B4-BE49-F238E27FC236}">
                <a16:creationId xmlns:a16="http://schemas.microsoft.com/office/drawing/2014/main" id="{BDECA4B7-C217-E87C-BE98-ECFAC7D75F5A}"/>
              </a:ext>
            </a:extLst>
          </p:cNvPr>
          <p:cNvSpPr>
            <a:spLocks noGrp="1"/>
          </p:cNvSpPr>
          <p:nvPr>
            <p:ph type="body" sz="quarter" idx="12"/>
          </p:nvPr>
        </p:nvSpPr>
        <p:spPr>
          <a:xfrm>
            <a:off x="10066611" y="3014714"/>
            <a:ext cx="5110181" cy="2763837"/>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7" name="Slide Number Placeholder 1">
            <a:extLst>
              <a:ext uri="{FF2B5EF4-FFF2-40B4-BE49-F238E27FC236}">
                <a16:creationId xmlns:a16="http://schemas.microsoft.com/office/drawing/2014/main" id="{DF2B1256-E455-F14C-DA27-04643C697B06}"/>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1829584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 text 1">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5" name="Picture Placeholder 4">
            <a:extLst>
              <a:ext uri="{FF2B5EF4-FFF2-40B4-BE49-F238E27FC236}">
                <a16:creationId xmlns:a16="http://schemas.microsoft.com/office/drawing/2014/main" id="{49DEB9E5-1C75-93D8-7926-E2F4E629B40E}"/>
              </a:ext>
            </a:extLst>
          </p:cNvPr>
          <p:cNvSpPr>
            <a:spLocks noGrp="1"/>
          </p:cNvSpPr>
          <p:nvPr>
            <p:ph type="pic" sz="quarter" idx="10"/>
          </p:nvPr>
        </p:nvSpPr>
        <p:spPr>
          <a:xfrm>
            <a:off x="4500000" y="2106613"/>
            <a:ext cx="8290800" cy="8250237"/>
          </a:xfrm>
          <a:prstGeom prst="rect">
            <a:avLst/>
          </a:prstGeom>
        </p:spPr>
        <p:txBody>
          <a:bodyPr/>
          <a:lstStyle/>
          <a:p>
            <a:endParaRPr lang="hu-HU"/>
          </a:p>
        </p:txBody>
      </p:sp>
      <p:sp>
        <p:nvSpPr>
          <p:cNvPr id="9" name="Text Placeholder 3">
            <a:extLst>
              <a:ext uri="{FF2B5EF4-FFF2-40B4-BE49-F238E27FC236}">
                <a16:creationId xmlns:a16="http://schemas.microsoft.com/office/drawing/2014/main" id="{5AE3D0A3-F667-55A1-9C2D-343A97FC6E3B}"/>
              </a:ext>
            </a:extLst>
          </p:cNvPr>
          <p:cNvSpPr>
            <a:spLocks noGrp="1"/>
          </p:cNvSpPr>
          <p:nvPr>
            <p:ph type="body" sz="quarter" idx="12"/>
          </p:nvPr>
        </p:nvSpPr>
        <p:spPr>
          <a:xfrm>
            <a:off x="13120576" y="2891632"/>
            <a:ext cx="5968799" cy="1170005"/>
          </a:xfrm>
          <a:prstGeom prst="rect">
            <a:avLst/>
          </a:prstGeom>
        </p:spPr>
        <p:txBody>
          <a:bodyPr/>
          <a:lstStyle>
            <a:lvl1pPr marL="0" indent="0">
              <a:buFont typeface="Aptos" panose="020B0004020202020204" pitchFamily="34" charset="0"/>
              <a:buNone/>
              <a:tabLst/>
              <a:defRPr sz="1800" b="1"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16" name="Text Placeholder 3">
            <a:extLst>
              <a:ext uri="{FF2B5EF4-FFF2-40B4-BE49-F238E27FC236}">
                <a16:creationId xmlns:a16="http://schemas.microsoft.com/office/drawing/2014/main" id="{59D9EFFB-8C77-5ACF-8C26-4C9E9FE8670D}"/>
              </a:ext>
            </a:extLst>
          </p:cNvPr>
          <p:cNvSpPr>
            <a:spLocks noGrp="1"/>
          </p:cNvSpPr>
          <p:nvPr>
            <p:ph type="body" sz="quarter" idx="13" hasCustomPrompt="1"/>
          </p:nvPr>
        </p:nvSpPr>
        <p:spPr>
          <a:xfrm>
            <a:off x="13120576" y="4283971"/>
            <a:ext cx="5968799" cy="574582"/>
          </a:xfrm>
          <a:prstGeom prst="rect">
            <a:avLst/>
          </a:prstGeom>
        </p:spPr>
        <p:txBody>
          <a:bodyPr/>
          <a:lstStyle>
            <a:lvl1pPr marL="0" indent="0">
              <a:buFont typeface="Aptos" panose="020B0004020202020204" pitchFamily="34" charset="0"/>
              <a:buNone/>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18" name="Text Placeholder 3">
            <a:extLst>
              <a:ext uri="{FF2B5EF4-FFF2-40B4-BE49-F238E27FC236}">
                <a16:creationId xmlns:a16="http://schemas.microsoft.com/office/drawing/2014/main" id="{0AEB47D1-319C-304A-3785-F8EC65694CA1}"/>
              </a:ext>
            </a:extLst>
          </p:cNvPr>
          <p:cNvSpPr>
            <a:spLocks noGrp="1"/>
          </p:cNvSpPr>
          <p:nvPr>
            <p:ph type="body" sz="quarter" idx="15"/>
          </p:nvPr>
        </p:nvSpPr>
        <p:spPr>
          <a:xfrm>
            <a:off x="13120576" y="5184808"/>
            <a:ext cx="5968799" cy="1046923"/>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Slide Number Placeholder 1">
            <a:extLst>
              <a:ext uri="{FF2B5EF4-FFF2-40B4-BE49-F238E27FC236}">
                <a16:creationId xmlns:a16="http://schemas.microsoft.com/office/drawing/2014/main" id="{75DA3241-C4F1-F459-5D91-7EC5148AD9FC}"/>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97733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mage + text 1">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828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5" name="Picture Placeholder 4">
            <a:extLst>
              <a:ext uri="{FF2B5EF4-FFF2-40B4-BE49-F238E27FC236}">
                <a16:creationId xmlns:a16="http://schemas.microsoft.com/office/drawing/2014/main" id="{49DEB9E5-1C75-93D8-7926-E2F4E629B40E}"/>
              </a:ext>
            </a:extLst>
          </p:cNvPr>
          <p:cNvSpPr>
            <a:spLocks noGrp="1"/>
          </p:cNvSpPr>
          <p:nvPr>
            <p:ph type="pic" sz="quarter" idx="10"/>
          </p:nvPr>
        </p:nvSpPr>
        <p:spPr>
          <a:xfrm>
            <a:off x="12291237" y="3955313"/>
            <a:ext cx="6851212" cy="4552838"/>
          </a:xfrm>
          <a:prstGeom prst="rect">
            <a:avLst/>
          </a:prstGeom>
        </p:spPr>
        <p:txBody>
          <a:bodyPr/>
          <a:lstStyle/>
          <a:p>
            <a:endParaRPr lang="hu-HU"/>
          </a:p>
        </p:txBody>
      </p:sp>
      <p:sp>
        <p:nvSpPr>
          <p:cNvPr id="2" name="Text Placeholder 3">
            <a:extLst>
              <a:ext uri="{FF2B5EF4-FFF2-40B4-BE49-F238E27FC236}">
                <a16:creationId xmlns:a16="http://schemas.microsoft.com/office/drawing/2014/main" id="{67E4D72A-A4C5-4CE0-1DC5-685309E6ACCB}"/>
              </a:ext>
            </a:extLst>
          </p:cNvPr>
          <p:cNvSpPr>
            <a:spLocks noGrp="1"/>
          </p:cNvSpPr>
          <p:nvPr>
            <p:ph type="body" sz="quarter" idx="15"/>
          </p:nvPr>
        </p:nvSpPr>
        <p:spPr>
          <a:xfrm>
            <a:off x="4582800" y="3955313"/>
            <a:ext cx="7240605" cy="4552838"/>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3" name="Slide Number Placeholder 1">
            <a:extLst>
              <a:ext uri="{FF2B5EF4-FFF2-40B4-BE49-F238E27FC236}">
                <a16:creationId xmlns:a16="http://schemas.microsoft.com/office/drawing/2014/main" id="{B444AF4A-18BD-89AF-5CAF-F8416A0228B7}"/>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492184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 tables">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FB2AC032-DF18-4A35-CA27-5654560CC0ED}"/>
              </a:ext>
            </a:extLst>
          </p:cNvPr>
          <p:cNvSpPr>
            <a:spLocks noGrp="1"/>
          </p:cNvSpPr>
          <p:nvPr>
            <p:ph type="body" sz="quarter" idx="12"/>
          </p:nvPr>
        </p:nvSpPr>
        <p:spPr>
          <a:xfrm>
            <a:off x="4500000" y="3121296"/>
            <a:ext cx="14595474" cy="1258199"/>
          </a:xfrm>
          <a:prstGeom prst="rect">
            <a:avLst/>
          </a:prstGeom>
        </p:spPr>
        <p:txBody>
          <a:bodyPr/>
          <a:lstStyle>
            <a:lvl1pPr marL="0" indent="0">
              <a:buFont typeface="Aptos" panose="020B0004020202020204" pitchFamily="34" charset="0"/>
              <a:buNone/>
              <a:tabLst/>
              <a:defRPr sz="1800" b="1"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Text Placeholder 3">
            <a:extLst>
              <a:ext uri="{FF2B5EF4-FFF2-40B4-BE49-F238E27FC236}">
                <a16:creationId xmlns:a16="http://schemas.microsoft.com/office/drawing/2014/main" id="{40C855FD-0FB1-B567-AAB2-4AAC261A6159}"/>
              </a:ext>
            </a:extLst>
          </p:cNvPr>
          <p:cNvSpPr>
            <a:spLocks noGrp="1"/>
          </p:cNvSpPr>
          <p:nvPr>
            <p:ph type="body" sz="quarter" idx="13" hasCustomPrompt="1"/>
          </p:nvPr>
        </p:nvSpPr>
        <p:spPr>
          <a:xfrm>
            <a:off x="4500000" y="2215162"/>
            <a:ext cx="5968799" cy="574582"/>
          </a:xfrm>
          <a:prstGeom prst="rect">
            <a:avLst/>
          </a:prstGeom>
        </p:spPr>
        <p:txBody>
          <a:bodyPr/>
          <a:lstStyle>
            <a:lvl1pPr marL="0" indent="0">
              <a:buFont typeface="Aptos" panose="020B0004020202020204" pitchFamily="34" charset="0"/>
              <a:buNone/>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3" name="Slide Number Placeholder 1">
            <a:extLst>
              <a:ext uri="{FF2B5EF4-FFF2-40B4-BE49-F238E27FC236}">
                <a16:creationId xmlns:a16="http://schemas.microsoft.com/office/drawing/2014/main" id="{D77B3963-F925-BC86-DB81-A0E803503301}"/>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786723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tables + image">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2" name="Picture Placeholder 4">
            <a:extLst>
              <a:ext uri="{FF2B5EF4-FFF2-40B4-BE49-F238E27FC236}">
                <a16:creationId xmlns:a16="http://schemas.microsoft.com/office/drawing/2014/main" id="{94541138-C940-BC02-754C-BCBAFB7BDC4A}"/>
              </a:ext>
            </a:extLst>
          </p:cNvPr>
          <p:cNvSpPr>
            <a:spLocks noGrp="1"/>
          </p:cNvSpPr>
          <p:nvPr>
            <p:ph type="pic" sz="quarter" idx="10"/>
          </p:nvPr>
        </p:nvSpPr>
        <p:spPr>
          <a:xfrm>
            <a:off x="10820101" y="2106613"/>
            <a:ext cx="8251200" cy="8250237"/>
          </a:xfrm>
          <a:prstGeom prst="rect">
            <a:avLst/>
          </a:prstGeom>
        </p:spPr>
        <p:txBody>
          <a:bodyPr/>
          <a:lstStyle/>
          <a:p>
            <a:endParaRPr lang="hu-HU"/>
          </a:p>
        </p:txBody>
      </p:sp>
      <p:sp>
        <p:nvSpPr>
          <p:cNvPr id="3" name="Text Placeholder 3">
            <a:extLst>
              <a:ext uri="{FF2B5EF4-FFF2-40B4-BE49-F238E27FC236}">
                <a16:creationId xmlns:a16="http://schemas.microsoft.com/office/drawing/2014/main" id="{13B6016E-B0AF-721C-85CC-8DE92D8A8875}"/>
              </a:ext>
            </a:extLst>
          </p:cNvPr>
          <p:cNvSpPr>
            <a:spLocks noGrp="1"/>
          </p:cNvSpPr>
          <p:nvPr>
            <p:ph type="body" sz="quarter" idx="13" hasCustomPrompt="1"/>
          </p:nvPr>
        </p:nvSpPr>
        <p:spPr>
          <a:xfrm>
            <a:off x="4500000" y="2106613"/>
            <a:ext cx="5968799" cy="454740"/>
          </a:xfrm>
          <a:prstGeom prst="rect">
            <a:avLst/>
          </a:prstGeom>
        </p:spPr>
        <p:txBody>
          <a:bodyPr wrap="square">
            <a:noAutofit/>
          </a:bodyPr>
          <a:lstStyle>
            <a:lvl1pPr marL="0" indent="0">
              <a:buFont typeface="Aptos" panose="020B0004020202020204" pitchFamily="34" charset="0"/>
              <a:buNone/>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5" name="Text Placeholder 3">
            <a:extLst>
              <a:ext uri="{FF2B5EF4-FFF2-40B4-BE49-F238E27FC236}">
                <a16:creationId xmlns:a16="http://schemas.microsoft.com/office/drawing/2014/main" id="{144D6315-84DC-775C-A51D-F101FDA30C82}"/>
              </a:ext>
            </a:extLst>
          </p:cNvPr>
          <p:cNvSpPr>
            <a:spLocks noGrp="1"/>
          </p:cNvSpPr>
          <p:nvPr>
            <p:ph type="body" sz="quarter" idx="15"/>
          </p:nvPr>
        </p:nvSpPr>
        <p:spPr>
          <a:xfrm>
            <a:off x="4500000" y="2928235"/>
            <a:ext cx="5968799" cy="1046923"/>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4" name="Slide Number Placeholder 1">
            <a:extLst>
              <a:ext uri="{FF2B5EF4-FFF2-40B4-BE49-F238E27FC236}">
                <a16:creationId xmlns:a16="http://schemas.microsoft.com/office/drawing/2014/main" id="{57649FED-5AF9-0BAF-7D1F-23B3D2CCD128}"/>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997716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C513D7C6-6F52-D314-C456-2E4EEE9C6A53}"/>
              </a:ext>
            </a:extLst>
          </p:cNvPr>
          <p:cNvSpPr>
            <a:spLocks noGrp="1"/>
          </p:cNvSpPr>
          <p:nvPr>
            <p:ph type="pic" sz="quarter" idx="11"/>
          </p:nvPr>
        </p:nvSpPr>
        <p:spPr>
          <a:xfrm>
            <a:off x="4500000" y="2087563"/>
            <a:ext cx="14638605" cy="8269287"/>
          </a:xfrm>
          <a:prstGeom prst="rect">
            <a:avLst/>
          </a:prstGeom>
        </p:spPr>
        <p:txBody>
          <a:bodyPr/>
          <a:lstStyle/>
          <a:p>
            <a:endParaRPr lang="hu-HU"/>
          </a:p>
        </p:txBody>
      </p:sp>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7" name="Text Placeholder 6">
            <a:extLst>
              <a:ext uri="{FF2B5EF4-FFF2-40B4-BE49-F238E27FC236}">
                <a16:creationId xmlns:a16="http://schemas.microsoft.com/office/drawing/2014/main" id="{550C817D-4A21-D2C8-B411-11678420F4BA}"/>
              </a:ext>
            </a:extLst>
          </p:cNvPr>
          <p:cNvSpPr>
            <a:spLocks noGrp="1"/>
          </p:cNvSpPr>
          <p:nvPr>
            <p:ph type="body" sz="quarter" idx="10"/>
          </p:nvPr>
        </p:nvSpPr>
        <p:spPr>
          <a:xfrm>
            <a:off x="5052893" y="2624138"/>
            <a:ext cx="6659562" cy="1847850"/>
          </a:xfrm>
          <a:prstGeom prst="rect">
            <a:avLst/>
          </a:prstGeom>
          <a:gradFill>
            <a:gsLst>
              <a:gs pos="0">
                <a:schemeClr val="accent2">
                  <a:alpha val="30000"/>
                </a:schemeClr>
              </a:gs>
              <a:gs pos="100000">
                <a:schemeClr val="accent1">
                  <a:lumMod val="88000"/>
                  <a:lumOff val="12000"/>
                  <a:alpha val="30000"/>
                </a:schemeClr>
              </a:gs>
            </a:gsLst>
            <a:lin ang="21594000" scaled="0"/>
          </a:gradFill>
        </p:spPr>
        <p:txBody>
          <a:bodyPr lIns="360000" tIns="0" rIns="0" bIns="0" anchor="ctr" anchorCtr="0"/>
          <a:lstStyle>
            <a:lvl1pPr marL="0" indent="0">
              <a:buNone/>
              <a:defRPr sz="26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a:t>
            </a:r>
          </a:p>
        </p:txBody>
      </p:sp>
      <p:sp>
        <p:nvSpPr>
          <p:cNvPr id="2" name="Slide Number Placeholder 1">
            <a:extLst>
              <a:ext uri="{FF2B5EF4-FFF2-40B4-BE49-F238E27FC236}">
                <a16:creationId xmlns:a16="http://schemas.microsoft.com/office/drawing/2014/main" id="{39633254-15B8-F374-8FAC-EB824ADB83B5}"/>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690030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858633A7-3D11-1220-3C5A-EDAB8D9145D4}"/>
              </a:ext>
            </a:extLst>
          </p:cNvPr>
          <p:cNvSpPr>
            <a:spLocks noGrp="1"/>
          </p:cNvSpPr>
          <p:nvPr>
            <p:ph type="pic" sz="quarter" idx="10"/>
          </p:nvPr>
        </p:nvSpPr>
        <p:spPr>
          <a:xfrm>
            <a:off x="4519050" y="2605404"/>
            <a:ext cx="4644659" cy="2892417"/>
          </a:xfrm>
          <a:prstGeom prst="rect">
            <a:avLst/>
          </a:prstGeom>
        </p:spPr>
        <p:txBody>
          <a:bodyPr/>
          <a:lstStyle/>
          <a:p>
            <a:endParaRPr lang="hu-HU"/>
          </a:p>
        </p:txBody>
      </p:sp>
      <p:sp>
        <p:nvSpPr>
          <p:cNvPr id="42" name="Picture Placeholder 19">
            <a:extLst>
              <a:ext uri="{FF2B5EF4-FFF2-40B4-BE49-F238E27FC236}">
                <a16:creationId xmlns:a16="http://schemas.microsoft.com/office/drawing/2014/main" id="{87FD6E3D-6F9F-5EA9-AE10-8A97EC5F294D}"/>
              </a:ext>
            </a:extLst>
          </p:cNvPr>
          <p:cNvSpPr>
            <a:spLocks noGrp="1"/>
          </p:cNvSpPr>
          <p:nvPr>
            <p:ph type="pic" sz="quarter" idx="22"/>
          </p:nvPr>
        </p:nvSpPr>
        <p:spPr>
          <a:xfrm>
            <a:off x="9516352" y="2605404"/>
            <a:ext cx="4644659" cy="2892417"/>
          </a:xfrm>
          <a:prstGeom prst="rect">
            <a:avLst/>
          </a:prstGeom>
        </p:spPr>
        <p:txBody>
          <a:bodyPr/>
          <a:lstStyle/>
          <a:p>
            <a:endParaRPr lang="hu-HU"/>
          </a:p>
        </p:txBody>
      </p:sp>
      <p:sp>
        <p:nvSpPr>
          <p:cNvPr id="43" name="Picture Placeholder 19">
            <a:extLst>
              <a:ext uri="{FF2B5EF4-FFF2-40B4-BE49-F238E27FC236}">
                <a16:creationId xmlns:a16="http://schemas.microsoft.com/office/drawing/2014/main" id="{66685B75-93B7-22A6-FA43-77CE7E9B2532}"/>
              </a:ext>
            </a:extLst>
          </p:cNvPr>
          <p:cNvSpPr>
            <a:spLocks noGrp="1"/>
          </p:cNvSpPr>
          <p:nvPr>
            <p:ph type="pic" sz="quarter" idx="23"/>
          </p:nvPr>
        </p:nvSpPr>
        <p:spPr>
          <a:xfrm>
            <a:off x="14492389" y="2605404"/>
            <a:ext cx="4644659" cy="2892417"/>
          </a:xfrm>
          <a:prstGeom prst="rect">
            <a:avLst/>
          </a:prstGeom>
        </p:spPr>
        <p:txBody>
          <a:bodyPr/>
          <a:lstStyle/>
          <a:p>
            <a:endParaRPr lang="hu-HU"/>
          </a:p>
        </p:txBody>
      </p:sp>
      <p:sp>
        <p:nvSpPr>
          <p:cNvPr id="44" name="Picture Placeholder 19">
            <a:extLst>
              <a:ext uri="{FF2B5EF4-FFF2-40B4-BE49-F238E27FC236}">
                <a16:creationId xmlns:a16="http://schemas.microsoft.com/office/drawing/2014/main" id="{649F82B6-0B11-1D9B-2756-1C27FA453518}"/>
              </a:ext>
            </a:extLst>
          </p:cNvPr>
          <p:cNvSpPr>
            <a:spLocks noGrp="1"/>
          </p:cNvSpPr>
          <p:nvPr>
            <p:ph type="pic" sz="quarter" idx="24"/>
          </p:nvPr>
        </p:nvSpPr>
        <p:spPr>
          <a:xfrm>
            <a:off x="4519050" y="6220474"/>
            <a:ext cx="4644659" cy="2892417"/>
          </a:xfrm>
          <a:prstGeom prst="rect">
            <a:avLst/>
          </a:prstGeom>
        </p:spPr>
        <p:txBody>
          <a:bodyPr/>
          <a:lstStyle/>
          <a:p>
            <a:endParaRPr lang="hu-HU"/>
          </a:p>
        </p:txBody>
      </p:sp>
      <p:sp>
        <p:nvSpPr>
          <p:cNvPr id="45" name="Picture Placeholder 19">
            <a:extLst>
              <a:ext uri="{FF2B5EF4-FFF2-40B4-BE49-F238E27FC236}">
                <a16:creationId xmlns:a16="http://schemas.microsoft.com/office/drawing/2014/main" id="{B50884DA-261D-F296-F9FF-8870DF570BCB}"/>
              </a:ext>
            </a:extLst>
          </p:cNvPr>
          <p:cNvSpPr>
            <a:spLocks noGrp="1"/>
          </p:cNvSpPr>
          <p:nvPr>
            <p:ph type="pic" sz="quarter" idx="25"/>
          </p:nvPr>
        </p:nvSpPr>
        <p:spPr>
          <a:xfrm>
            <a:off x="9516352" y="6220474"/>
            <a:ext cx="4644659" cy="2892417"/>
          </a:xfrm>
          <a:prstGeom prst="rect">
            <a:avLst/>
          </a:prstGeom>
        </p:spPr>
        <p:txBody>
          <a:bodyPr/>
          <a:lstStyle/>
          <a:p>
            <a:endParaRPr lang="hu-HU"/>
          </a:p>
        </p:txBody>
      </p:sp>
      <p:sp>
        <p:nvSpPr>
          <p:cNvPr id="46" name="Picture Placeholder 19">
            <a:extLst>
              <a:ext uri="{FF2B5EF4-FFF2-40B4-BE49-F238E27FC236}">
                <a16:creationId xmlns:a16="http://schemas.microsoft.com/office/drawing/2014/main" id="{16C7E976-3EF1-4ABD-DBDF-4A18754D9393}"/>
              </a:ext>
            </a:extLst>
          </p:cNvPr>
          <p:cNvSpPr>
            <a:spLocks noGrp="1"/>
          </p:cNvSpPr>
          <p:nvPr>
            <p:ph type="pic" sz="quarter" idx="26"/>
          </p:nvPr>
        </p:nvSpPr>
        <p:spPr>
          <a:xfrm>
            <a:off x="14492389" y="6220474"/>
            <a:ext cx="4644659" cy="2892417"/>
          </a:xfrm>
          <a:prstGeom prst="rect">
            <a:avLst/>
          </a:prstGeom>
        </p:spPr>
        <p:txBody>
          <a:bodyPr/>
          <a:lstStyle/>
          <a:p>
            <a:endParaRPr lang="hu-HU"/>
          </a:p>
        </p:txBody>
      </p:sp>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30" name="Text Placeholder 28">
            <a:extLst>
              <a:ext uri="{FF2B5EF4-FFF2-40B4-BE49-F238E27FC236}">
                <a16:creationId xmlns:a16="http://schemas.microsoft.com/office/drawing/2014/main" id="{6E1B915D-A732-5430-C55E-837F13D6800E}"/>
              </a:ext>
            </a:extLst>
          </p:cNvPr>
          <p:cNvSpPr>
            <a:spLocks noGrp="1"/>
          </p:cNvSpPr>
          <p:nvPr>
            <p:ph type="body" sz="quarter" idx="16"/>
          </p:nvPr>
        </p:nvSpPr>
        <p:spPr>
          <a:xfrm>
            <a:off x="6643709" y="5647440"/>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58" name="Text Placeholder 28">
            <a:extLst>
              <a:ext uri="{FF2B5EF4-FFF2-40B4-BE49-F238E27FC236}">
                <a16:creationId xmlns:a16="http://schemas.microsoft.com/office/drawing/2014/main" id="{BB5AB633-0835-AA84-5117-DC61D0EB34FF}"/>
              </a:ext>
            </a:extLst>
          </p:cNvPr>
          <p:cNvSpPr>
            <a:spLocks noGrp="1"/>
          </p:cNvSpPr>
          <p:nvPr>
            <p:ph type="body" sz="quarter" idx="29"/>
          </p:nvPr>
        </p:nvSpPr>
        <p:spPr>
          <a:xfrm>
            <a:off x="6643709" y="9271173"/>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 name="Text Placeholder 28">
            <a:extLst>
              <a:ext uri="{FF2B5EF4-FFF2-40B4-BE49-F238E27FC236}">
                <a16:creationId xmlns:a16="http://schemas.microsoft.com/office/drawing/2014/main" id="{85BB3BB6-E61D-556C-8696-9480420C8E37}"/>
              </a:ext>
            </a:extLst>
          </p:cNvPr>
          <p:cNvSpPr>
            <a:spLocks noGrp="1"/>
          </p:cNvSpPr>
          <p:nvPr>
            <p:ph type="body" sz="quarter" idx="30"/>
          </p:nvPr>
        </p:nvSpPr>
        <p:spPr>
          <a:xfrm>
            <a:off x="11639915" y="5647440"/>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3" name="Text Placeholder 28">
            <a:extLst>
              <a:ext uri="{FF2B5EF4-FFF2-40B4-BE49-F238E27FC236}">
                <a16:creationId xmlns:a16="http://schemas.microsoft.com/office/drawing/2014/main" id="{ED45A816-C7D3-8E0C-0D0D-A3F78ECACAEB}"/>
              </a:ext>
            </a:extLst>
          </p:cNvPr>
          <p:cNvSpPr>
            <a:spLocks noGrp="1"/>
          </p:cNvSpPr>
          <p:nvPr>
            <p:ph type="body" sz="quarter" idx="31"/>
          </p:nvPr>
        </p:nvSpPr>
        <p:spPr>
          <a:xfrm>
            <a:off x="11639915" y="9271173"/>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4" name="Text Placeholder 28">
            <a:extLst>
              <a:ext uri="{FF2B5EF4-FFF2-40B4-BE49-F238E27FC236}">
                <a16:creationId xmlns:a16="http://schemas.microsoft.com/office/drawing/2014/main" id="{56F453A5-CE6D-DF7F-14CB-2D686920D7DB}"/>
              </a:ext>
            </a:extLst>
          </p:cNvPr>
          <p:cNvSpPr>
            <a:spLocks noGrp="1"/>
          </p:cNvSpPr>
          <p:nvPr>
            <p:ph type="body" sz="quarter" idx="32"/>
          </p:nvPr>
        </p:nvSpPr>
        <p:spPr>
          <a:xfrm>
            <a:off x="16617268" y="5647440"/>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5" name="Text Placeholder 28">
            <a:extLst>
              <a:ext uri="{FF2B5EF4-FFF2-40B4-BE49-F238E27FC236}">
                <a16:creationId xmlns:a16="http://schemas.microsoft.com/office/drawing/2014/main" id="{33E5179F-76C1-1B0B-A97B-930D04A7D0B4}"/>
              </a:ext>
            </a:extLst>
          </p:cNvPr>
          <p:cNvSpPr>
            <a:spLocks noGrp="1"/>
          </p:cNvSpPr>
          <p:nvPr>
            <p:ph type="body" sz="quarter" idx="33"/>
          </p:nvPr>
        </p:nvSpPr>
        <p:spPr>
          <a:xfrm>
            <a:off x="16617268" y="9271173"/>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7" name="Slide Number Placeholder 1">
            <a:extLst>
              <a:ext uri="{FF2B5EF4-FFF2-40B4-BE49-F238E27FC236}">
                <a16:creationId xmlns:a16="http://schemas.microsoft.com/office/drawing/2014/main" id="{E267ADC1-AF57-08DA-3461-735A01E6294A}"/>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4085420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B80CFB-4B2B-A473-B8AE-23147E9EE5CC}"/>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90845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AC708B-19F4-8EF4-2753-507BDF8E8F73}"/>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592102258"/>
      </p:ext>
    </p:extLst>
  </p:cSld>
  <p:clrMap bg1="lt1" tx1="dk1" bg2="lt2" tx2="dk2" accent1="accent1" accent2="accent2" accent3="accent3" accent4="accent4" accent5="accent5" accent6="accent6" hlink="hlink" folHlink="folHlink"/>
  <p:sldLayoutIdLst>
    <p:sldLayoutId id="2147483688" r:id="rId1"/>
    <p:sldLayoutId id="214748369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17">
            <a:extLst>
              <a:ext uri="{FF2B5EF4-FFF2-40B4-BE49-F238E27FC236}">
                <a16:creationId xmlns:a16="http://schemas.microsoft.com/office/drawing/2014/main" id="{FED51FD9-DD91-984F-64F8-1561CC177398}"/>
              </a:ext>
            </a:extLst>
          </p:cNvPr>
          <p:cNvSpPr/>
          <p:nvPr userDrawn="1"/>
        </p:nvSpPr>
        <p:spPr>
          <a:xfrm>
            <a:off x="4500000" y="1413569"/>
            <a:ext cx="14659200" cy="0"/>
          </a:xfrm>
          <a:custGeom>
            <a:avLst/>
            <a:gdLst/>
            <a:ahLst/>
            <a:cxnLst/>
            <a:rect l="l" t="t" r="r" b="b"/>
            <a:pathLst>
              <a:path w="18104485">
                <a:moveTo>
                  <a:pt x="0" y="0"/>
                </a:moveTo>
                <a:lnTo>
                  <a:pt x="18104160" y="0"/>
                </a:lnTo>
              </a:path>
            </a:pathLst>
          </a:custGeom>
          <a:ln w="12700">
            <a:gradFill>
              <a:gsLst>
                <a:gs pos="100000">
                  <a:schemeClr val="accent1"/>
                </a:gs>
                <a:gs pos="0">
                  <a:schemeClr val="accent2"/>
                </a:gs>
              </a:gsLst>
              <a:lin ang="0" scaled="0"/>
            </a:gradFill>
          </a:ln>
        </p:spPr>
        <p:txBody>
          <a:bodyPr wrap="square" lIns="0" tIns="0" rIns="0" bIns="0" rtlCol="0"/>
          <a:lstStyle/>
          <a:p>
            <a:endParaRPr/>
          </a:p>
        </p:txBody>
      </p:sp>
      <p:sp>
        <p:nvSpPr>
          <p:cNvPr id="2" name="Slide Number Placeholder 1">
            <a:extLst>
              <a:ext uri="{FF2B5EF4-FFF2-40B4-BE49-F238E27FC236}">
                <a16:creationId xmlns:a16="http://schemas.microsoft.com/office/drawing/2014/main" id="{2BD5A937-B250-7022-4FC6-F9B79765E5CB}"/>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3892607441"/>
      </p:ext>
    </p:extLst>
  </p:cSld>
  <p:clrMap bg1="lt1" tx1="dk1" bg2="lt2" tx2="dk2" accent1="accent1" accent2="accent2" accent3="accent3" accent4="accent4" accent5="accent5" accent6="accent6" hlink="hlink" folHlink="folHlink"/>
  <p:sldLayoutIdLst>
    <p:sldLayoutId id="214748364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E7403717-93A4-AAB0-5DA1-E3D59335FFA0}"/>
              </a:ext>
            </a:extLst>
          </p:cNvPr>
          <p:cNvPicPr/>
          <p:nvPr/>
        </p:nvPicPr>
        <p:blipFill>
          <a:blip r:embed="rId2">
            <a:extLst>
              <a:ext uri="{28A0092B-C50C-407E-A947-70E740481C1C}">
                <a14:useLocalDpi xmlns:a14="http://schemas.microsoft.com/office/drawing/2010/main" val="0"/>
              </a:ext>
            </a:extLst>
          </a:blip>
          <a:srcRect/>
          <a:stretch/>
        </p:blipFill>
        <p:spPr>
          <a:xfrm>
            <a:off x="0" y="794"/>
            <a:ext cx="20104099" cy="11308556"/>
          </a:xfrm>
          <a:prstGeom prst="rect">
            <a:avLst/>
          </a:prstGeom>
        </p:spPr>
      </p:pic>
      <p:pic>
        <p:nvPicPr>
          <p:cNvPr id="6" name="Picture 5" descr="A logo with white text&#10;&#10;AI-generated content may be incorrect.">
            <a:extLst>
              <a:ext uri="{FF2B5EF4-FFF2-40B4-BE49-F238E27FC236}">
                <a16:creationId xmlns:a16="http://schemas.microsoft.com/office/drawing/2014/main" id="{1FBC48BB-7B45-9563-3E74-6A7D75EA46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386" y="8474075"/>
            <a:ext cx="3450664" cy="2362200"/>
          </a:xfrm>
          <a:prstGeom prst="rect">
            <a:avLst/>
          </a:prstGeom>
        </p:spPr>
      </p:pic>
      <p:sp>
        <p:nvSpPr>
          <p:cNvPr id="7" name="object 16">
            <a:extLst>
              <a:ext uri="{FF2B5EF4-FFF2-40B4-BE49-F238E27FC236}">
                <a16:creationId xmlns:a16="http://schemas.microsoft.com/office/drawing/2014/main" id="{34703AC2-FA13-747C-85E7-7DB5CD624568}"/>
              </a:ext>
            </a:extLst>
          </p:cNvPr>
          <p:cNvSpPr txBox="1">
            <a:spLocks/>
          </p:cNvSpPr>
          <p:nvPr/>
        </p:nvSpPr>
        <p:spPr>
          <a:xfrm>
            <a:off x="960398" y="919539"/>
            <a:ext cx="18466105" cy="6635791"/>
          </a:xfrm>
          <a:prstGeom prst="rect">
            <a:avLst/>
          </a:prstGeom>
        </p:spPr>
        <p:txBody>
          <a:bodyPr vert="horz" wrap="square" lIns="0" tIns="12065"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ts val="9570"/>
              </a:lnSpc>
              <a:spcBef>
                <a:spcPts val="95"/>
              </a:spcBef>
            </a:pPr>
            <a:r>
              <a:rPr lang="en-GB" sz="8250" b="1" spc="-10" noProof="0" dirty="0">
                <a:solidFill>
                  <a:srgbClr val="FFFFFF"/>
                </a:solidFill>
                <a:latin typeface="Aptos" panose="020B0004020202020204" pitchFamily="34" charset="0"/>
                <a:cs typeface="Aptos"/>
              </a:rPr>
              <a:t>Project Bana</a:t>
            </a:r>
          </a:p>
          <a:p>
            <a:pPr marL="12700">
              <a:lnSpc>
                <a:spcPts val="5600"/>
              </a:lnSpc>
              <a:spcBef>
                <a:spcPts val="95"/>
              </a:spcBef>
            </a:pPr>
            <a:r>
              <a:rPr lang="hu-HU" b="1" spc="-10" dirty="0">
                <a:solidFill>
                  <a:srgbClr val="FFFFFF"/>
                </a:solidFill>
                <a:latin typeface="Aptos"/>
                <a:cs typeface="Aptos"/>
              </a:rPr>
              <a:t>50 MW </a:t>
            </a:r>
            <a:r>
              <a:rPr lang="hu-HU" b="1" spc="-10" dirty="0" err="1">
                <a:solidFill>
                  <a:srgbClr val="FFFFFF"/>
                </a:solidFill>
                <a:latin typeface="Aptos"/>
                <a:cs typeface="Aptos"/>
              </a:rPr>
              <a:t>wind</a:t>
            </a:r>
            <a:r>
              <a:rPr lang="hu-HU" b="1" spc="-10" dirty="0">
                <a:solidFill>
                  <a:srgbClr val="FFFFFF"/>
                </a:solidFill>
                <a:latin typeface="Aptos"/>
                <a:cs typeface="Aptos"/>
              </a:rPr>
              <a:t> </a:t>
            </a:r>
            <a:r>
              <a:rPr lang="hu-HU" b="1" spc="-10" dirty="0" err="1">
                <a:solidFill>
                  <a:srgbClr val="FFFFFF"/>
                </a:solidFill>
                <a:latin typeface="Aptos"/>
                <a:cs typeface="Aptos"/>
              </a:rPr>
              <a:t>development</a:t>
            </a:r>
            <a:r>
              <a:rPr lang="hu-HU" b="1" spc="-10" dirty="0">
                <a:solidFill>
                  <a:srgbClr val="FFFFFF"/>
                </a:solidFill>
                <a:latin typeface="Aptos"/>
                <a:cs typeface="Aptos"/>
              </a:rPr>
              <a:t> project </a:t>
            </a:r>
            <a:r>
              <a:rPr lang="hu-HU" b="1" spc="-10" dirty="0" err="1">
                <a:solidFill>
                  <a:srgbClr val="FFFFFF"/>
                </a:solidFill>
                <a:latin typeface="Aptos"/>
                <a:cs typeface="Aptos"/>
              </a:rPr>
              <a:t>opportunity</a:t>
            </a:r>
            <a:r>
              <a:rPr lang="hu-HU" b="1" spc="-10" dirty="0">
                <a:solidFill>
                  <a:srgbClr val="FFFFFF"/>
                </a:solidFill>
                <a:latin typeface="Aptos"/>
                <a:cs typeface="Aptos"/>
              </a:rPr>
              <a:t> </a:t>
            </a:r>
          </a:p>
          <a:p>
            <a:pPr marL="12700">
              <a:lnSpc>
                <a:spcPts val="5600"/>
              </a:lnSpc>
              <a:spcBef>
                <a:spcPts val="95"/>
              </a:spcBef>
            </a:pPr>
            <a:endParaRPr lang="en-GB" sz="5400" b="1" noProof="0" dirty="0">
              <a:latin typeface="Aptos"/>
              <a:cs typeface="Aptos"/>
            </a:endParaRPr>
          </a:p>
          <a:p>
            <a:pPr marL="12700">
              <a:lnSpc>
                <a:spcPts val="5610"/>
              </a:lnSpc>
            </a:pPr>
            <a:r>
              <a:rPr lang="en-GB" sz="3200" b="0" spc="-10" noProof="0" dirty="0">
                <a:solidFill>
                  <a:srgbClr val="FFFFFF"/>
                </a:solidFill>
                <a:latin typeface="Aptos"/>
                <a:cs typeface="Aptos"/>
              </a:rPr>
              <a:t>9 October 2026</a:t>
            </a:r>
            <a:endParaRPr lang="en-GB" sz="4950" spc="-10" noProof="0" dirty="0">
              <a:solidFill>
                <a:srgbClr val="FFFFFF"/>
              </a:solidFill>
              <a:latin typeface="Aptos"/>
              <a:cs typeface="Aptos"/>
            </a:endParaRPr>
          </a:p>
          <a:p>
            <a:pPr marL="12700" algn="r">
              <a:lnSpc>
                <a:spcPts val="5610"/>
              </a:lnSpc>
            </a:pPr>
            <a:endParaRPr lang="en-GB" sz="2800" b="1" spc="-10" noProof="0" dirty="0">
              <a:solidFill>
                <a:schemeClr val="bg1"/>
              </a:solidFill>
              <a:latin typeface="Aptos"/>
              <a:cs typeface="Aptos"/>
            </a:endParaRPr>
          </a:p>
          <a:p>
            <a:pPr marL="12700" algn="r">
              <a:lnSpc>
                <a:spcPct val="150000"/>
              </a:lnSpc>
            </a:pPr>
            <a:endParaRPr lang="en-GB" sz="2800" b="1" spc="-10" noProof="0" dirty="0">
              <a:solidFill>
                <a:schemeClr val="bg1"/>
              </a:solidFill>
              <a:latin typeface="Aptos"/>
              <a:cs typeface="Aptos"/>
            </a:endParaRPr>
          </a:p>
          <a:p>
            <a:pPr marL="12700">
              <a:lnSpc>
                <a:spcPct val="150000"/>
              </a:lnSpc>
            </a:pPr>
            <a:endParaRPr lang="en-GB" sz="4950" spc="-10" noProof="0" dirty="0">
              <a:solidFill>
                <a:srgbClr val="FFFFFF"/>
              </a:solidFill>
              <a:latin typeface="Aptos"/>
              <a:cs typeface="Aptos"/>
            </a:endParaRPr>
          </a:p>
          <a:p>
            <a:pPr marL="12700">
              <a:lnSpc>
                <a:spcPts val="5610"/>
              </a:lnSpc>
            </a:pPr>
            <a:endParaRPr lang="en-GB" sz="4950" spc="-10" noProof="0" dirty="0">
              <a:solidFill>
                <a:srgbClr val="FFFFFF"/>
              </a:solidFill>
              <a:latin typeface="Aptos"/>
              <a:cs typeface="Aptos"/>
            </a:endParaRPr>
          </a:p>
        </p:txBody>
      </p:sp>
    </p:spTree>
    <p:extLst>
      <p:ext uri="{BB962C8B-B14F-4D97-AF65-F5344CB8AC3E}">
        <p14:creationId xmlns:p14="http://schemas.microsoft.com/office/powerpoint/2010/main" val="718128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BAD93-9C2E-75E4-FBA2-5CF25B94C68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6DDB0DD-6A26-8426-A20F-E8B216972FB9}"/>
              </a:ext>
            </a:extLst>
          </p:cNvPr>
          <p:cNvSpPr>
            <a:spLocks noGrp="1"/>
          </p:cNvSpPr>
          <p:nvPr>
            <p:ph type="title"/>
          </p:nvPr>
        </p:nvSpPr>
        <p:spPr>
          <a:xfrm>
            <a:off x="4498848" y="283464"/>
            <a:ext cx="12618720" cy="795528"/>
          </a:xfrm>
        </p:spPr>
        <p:txBody>
          <a:bodyPr anchor="ctr"/>
          <a:lstStyle/>
          <a:p>
            <a:r>
              <a:rPr lang="hu-HU" noProof="0" dirty="0"/>
              <a:t>EXECUTIVE SUMMARY</a:t>
            </a:r>
            <a:endParaRPr lang="en-GB" noProof="0" dirty="0"/>
          </a:p>
        </p:txBody>
      </p:sp>
      <p:sp>
        <p:nvSpPr>
          <p:cNvPr id="2" name="Slide Number Placeholder 1">
            <a:extLst>
              <a:ext uri="{FF2B5EF4-FFF2-40B4-BE49-F238E27FC236}">
                <a16:creationId xmlns:a16="http://schemas.microsoft.com/office/drawing/2014/main" id="{B20E267F-21F3-CE95-2EAE-DB69E8E921AF}"/>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B0A8E69F-10CB-8CD4-C82C-92DEA05D0057}"/>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Subtitle">
            <a:extLst>
              <a:ext uri="{FF2B5EF4-FFF2-40B4-BE49-F238E27FC236}">
                <a16:creationId xmlns:a16="http://schemas.microsoft.com/office/drawing/2014/main" id="{F8840C91-4281-719B-871A-149A9D863335}"/>
              </a:ext>
            </a:extLst>
          </p:cNvPr>
          <p:cNvSpPr txBox="1"/>
          <p:nvPr/>
        </p:nvSpPr>
        <p:spPr>
          <a:xfrm>
            <a:off x="4498848" y="1097280"/>
            <a:ext cx="13716000" cy="276999"/>
          </a:xfrm>
          <a:prstGeom prst="rect">
            <a:avLst/>
          </a:prstGeom>
          <a:noFill/>
        </p:spPr>
        <p:txBody>
          <a:bodyPr wrap="square" lIns="0" tIns="0" rIns="0" bIns="0" anchor="t">
            <a:spAutoFit/>
          </a:bodyPr>
          <a:lstStyle/>
          <a:p>
            <a:pPr algn="l"/>
            <a:r>
              <a:rPr lang="en-AU" sz="1800" b="1" dirty="0">
                <a:solidFill>
                  <a:srgbClr val="3C3C3B"/>
                </a:solidFill>
              </a:rPr>
              <a:t>50 MW onshore wind development in Bana, Hungary</a:t>
            </a:r>
            <a:endParaRPr sz="1800" b="1" dirty="0">
              <a:solidFill>
                <a:srgbClr val="3C3C3B"/>
              </a:solidFill>
            </a:endParaRPr>
          </a:p>
        </p:txBody>
      </p:sp>
      <p:sp>
        <p:nvSpPr>
          <p:cNvPr id="11" name="Footnote">
            <a:extLst>
              <a:ext uri="{FF2B5EF4-FFF2-40B4-BE49-F238E27FC236}">
                <a16:creationId xmlns:a16="http://schemas.microsoft.com/office/drawing/2014/main" id="{7EC0919F-1C9A-051E-1008-87D208F71800}"/>
              </a:ext>
            </a:extLst>
          </p:cNvPr>
          <p:cNvSpPr txBox="1"/>
          <p:nvPr/>
        </p:nvSpPr>
        <p:spPr>
          <a:xfrm>
            <a:off x="4498848" y="9906000"/>
            <a:ext cx="13167360" cy="430887"/>
          </a:xfrm>
          <a:prstGeom prst="rect">
            <a:avLst/>
          </a:prstGeom>
          <a:noFill/>
        </p:spPr>
        <p:txBody>
          <a:bodyPr wrap="square" lIns="0" tIns="0" rIns="0" bIns="0" anchor="t">
            <a:spAutoFit/>
          </a:bodyPr>
          <a:lstStyle/>
          <a:p>
            <a:pPr algn="l"/>
            <a:r>
              <a:rPr sz="1400" b="0">
                <a:solidFill>
                  <a:srgbClr val="919191"/>
                </a:solidFill>
              </a:rPr>
              <a:t>Total scores are the model's own across all tender criteria; only the commitments FEP offers are listed.</a:t>
            </a:r>
          </a:p>
          <a:p>
            <a:pPr algn="l"/>
            <a:r>
              <a:rPr sz="1400" b="0">
                <a:solidFill>
                  <a:srgbClr val="919191"/>
                </a:solidFill>
              </a:rPr>
              <a:t>Source: Bana IC model, 9 Oct 2026.</a:t>
            </a:r>
          </a:p>
        </p:txBody>
      </p:sp>
      <p:sp>
        <p:nvSpPr>
          <p:cNvPr id="5" name="Szövegdoboz 4">
            <a:extLst>
              <a:ext uri="{FF2B5EF4-FFF2-40B4-BE49-F238E27FC236}">
                <a16:creationId xmlns:a16="http://schemas.microsoft.com/office/drawing/2014/main" id="{850BE061-0A5F-0906-D8BD-CD5C47AA30A8}"/>
              </a:ext>
            </a:extLst>
          </p:cNvPr>
          <p:cNvSpPr txBox="1"/>
          <p:nvPr/>
        </p:nvSpPr>
        <p:spPr>
          <a:xfrm>
            <a:off x="4498848" y="1620661"/>
            <a:ext cx="14605000" cy="804835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AU" sz="2200" noProof="0" dirty="0"/>
              <a:t>GEI has been developing a wind project near the Huayou Cobalt factory in Bana, Hungary, with the primary objective of developing and building a behind-the-meter project. The project is close to </a:t>
            </a:r>
            <a:r>
              <a:rPr lang="en-AU" sz="2200" noProof="0" dirty="0" err="1"/>
              <a:t>RtB</a:t>
            </a:r>
            <a:r>
              <a:rPr lang="en-AU" sz="2200" noProof="0" dirty="0"/>
              <a:t> status (building permit for 6 turbines already obtained) and is currently for sale.</a:t>
            </a:r>
          </a:p>
          <a:p>
            <a:pPr marL="285750" indent="-285750">
              <a:spcBef>
                <a:spcPts val="600"/>
              </a:spcBef>
              <a:buFont typeface="Arial" panose="020B0604020202020204" pitchFamily="34" charset="0"/>
              <a:buChar char="•"/>
            </a:pPr>
            <a:r>
              <a:rPr lang="en-AU" sz="2200" noProof="0" dirty="0"/>
              <a:t>The opportunity is to buy the project, complete the development, build the wind farm and either sell at COD or hold the asset.</a:t>
            </a:r>
          </a:p>
          <a:p>
            <a:pPr marL="285750" indent="-285750">
              <a:spcBef>
                <a:spcPts val="600"/>
              </a:spcBef>
              <a:buFont typeface="Arial" panose="020B0604020202020204" pitchFamily="34" charset="0"/>
              <a:buChar char="•"/>
            </a:pPr>
            <a:r>
              <a:rPr lang="en-AU" sz="2200" noProof="0" dirty="0"/>
              <a:t>The recent tender offers a 50 MW grid connection opportunity at this location, while selling the energy directly to Huayou or nearby factories remains a valid option, on its own or in combination.</a:t>
            </a:r>
          </a:p>
          <a:p>
            <a:pPr marL="285750" indent="-285750">
              <a:spcBef>
                <a:spcPts val="600"/>
              </a:spcBef>
              <a:buFont typeface="Arial" panose="020B0604020202020204" pitchFamily="34" charset="0"/>
              <a:buChar char="•"/>
            </a:pPr>
            <a:r>
              <a:rPr lang="en-AU" sz="2200" noProof="0" dirty="0"/>
              <a:t>As GEI cannot participate in the tender, a share deal is not feasible. A transfer of rights process would allow FEP to participate in the forthcoming tender (30 October), with closing subject to FEP winning the tender. The transfer agreement would transfer all land, rights, permits, etc. to FEP to continue the development.</a:t>
            </a:r>
          </a:p>
          <a:p>
            <a:pPr marL="285750" indent="-285750">
              <a:spcBef>
                <a:spcPts val="600"/>
              </a:spcBef>
              <a:buFont typeface="Arial" panose="020B0604020202020204" pitchFamily="34" charset="0"/>
              <a:buChar char="•"/>
            </a:pPr>
            <a:r>
              <a:rPr lang="en-AU" sz="2200" noProof="0" dirty="0"/>
              <a:t>Dentons, the sell-side advisor, has prepared a legal DD report and a draft transfer agreement (attached).</a:t>
            </a:r>
          </a:p>
          <a:p>
            <a:pPr marL="285750" indent="-285750">
              <a:spcBef>
                <a:spcPts val="600"/>
              </a:spcBef>
              <a:buFont typeface="Arial" panose="020B0604020202020204" pitchFamily="34" charset="0"/>
              <a:buChar char="•"/>
            </a:pPr>
            <a:endParaRPr lang="en-AU" sz="2200" noProof="0" dirty="0"/>
          </a:p>
          <a:p>
            <a:pPr marL="285750" indent="-285750">
              <a:spcBef>
                <a:spcPts val="600"/>
              </a:spcBef>
              <a:buFont typeface="Arial" panose="020B0604020202020204" pitchFamily="34" charset="0"/>
              <a:buChar char="•"/>
            </a:pPr>
            <a:r>
              <a:rPr lang="en-AU" sz="2200" b="1" noProof="0" dirty="0"/>
              <a:t>Main considerations</a:t>
            </a:r>
            <a:r>
              <a:rPr lang="en-AU" sz="2200" noProof="0" dirty="0"/>
              <a:t>:</a:t>
            </a:r>
          </a:p>
          <a:p>
            <a:pPr marL="742950" lvl="1" indent="-285750">
              <a:spcBef>
                <a:spcPts val="600"/>
              </a:spcBef>
              <a:buFont typeface="Arial" panose="020B0604020202020204" pitchFamily="34" charset="0"/>
              <a:buChar char="•"/>
            </a:pPr>
            <a:r>
              <a:rPr lang="en-AU" sz="2200" noProof="0" dirty="0"/>
              <a:t>The project is permitted with Chinese turbines (</a:t>
            </a:r>
            <a:r>
              <a:rPr lang="en-AU" sz="2200" noProof="0" dirty="0" err="1"/>
              <a:t>Goldwind</a:t>
            </a:r>
            <a:r>
              <a:rPr lang="en-AU" sz="2200" noProof="0" dirty="0"/>
              <a:t>); a change of turbine manufacturer would require building permit modifications (the process depends on the magnitude of the change, e.g. height difference).</a:t>
            </a:r>
          </a:p>
          <a:p>
            <a:pPr marL="742950" lvl="1" indent="-285750">
              <a:spcBef>
                <a:spcPts val="600"/>
              </a:spcBef>
              <a:buFont typeface="Arial" panose="020B0604020202020204" pitchFamily="34" charset="0"/>
              <a:buChar char="•"/>
            </a:pPr>
            <a:r>
              <a:rPr lang="en-AU" sz="2200" noProof="0" dirty="0" err="1"/>
              <a:t>RtB</a:t>
            </a:r>
            <a:r>
              <a:rPr lang="en-AU" sz="2200" noProof="0" dirty="0"/>
              <a:t> has not yet been achieved: cable route permits are missing, there is no agreement yet with nearby </a:t>
            </a:r>
            <a:r>
              <a:rPr lang="en-AU" sz="2200" noProof="0" dirty="0" err="1"/>
              <a:t>Pér</a:t>
            </a:r>
            <a:r>
              <a:rPr lang="en-AU" sz="2200" noProof="0" dirty="0"/>
              <a:t> airport on flight path modification, and only 6 of the 9 available turbine positions are permitted.</a:t>
            </a:r>
          </a:p>
          <a:p>
            <a:pPr marL="742950" lvl="1" indent="-285750">
              <a:spcBef>
                <a:spcPts val="600"/>
              </a:spcBef>
              <a:buFont typeface="Arial" panose="020B0604020202020204" pitchFamily="34" charset="0"/>
              <a:buChar char="•"/>
            </a:pPr>
            <a:r>
              <a:rPr lang="en-AU" sz="2200" noProof="0" dirty="0"/>
              <a:t>The earliest grid connection date under the recent tender is September 2030.</a:t>
            </a:r>
          </a:p>
          <a:p>
            <a:pPr marL="742950" lvl="1" indent="-285750">
              <a:spcBef>
                <a:spcPts val="600"/>
              </a:spcBef>
              <a:buFont typeface="Arial" panose="020B0604020202020204" pitchFamily="34" charset="0"/>
              <a:buChar char="•"/>
            </a:pPr>
            <a:r>
              <a:rPr lang="en-AU" sz="2200" noProof="0" dirty="0"/>
              <a:t>An </a:t>
            </a:r>
            <a:r>
              <a:rPr lang="en-AU" sz="2200" noProof="0" dirty="0" err="1"/>
              <a:t>RtB</a:t>
            </a:r>
            <a:r>
              <a:rPr lang="en-AU" sz="2200" noProof="0" dirty="0"/>
              <a:t> exit may not be a valid scenario, as the seller is seeking a near-</a:t>
            </a:r>
            <a:r>
              <a:rPr lang="en-AU" sz="2200" noProof="0" dirty="0" err="1"/>
              <a:t>RtB</a:t>
            </a:r>
            <a:r>
              <a:rPr lang="en-AU" sz="2200" noProof="0" dirty="0"/>
              <a:t> price; value creation therefore comes from building and either selling at COD or holding to maturity (HTM).</a:t>
            </a:r>
          </a:p>
          <a:p>
            <a:pPr marL="742950" lvl="1" indent="-285750">
              <a:spcBef>
                <a:spcPts val="600"/>
              </a:spcBef>
              <a:buFont typeface="Arial" panose="020B0604020202020204" pitchFamily="34" charset="0"/>
              <a:buChar char="•"/>
            </a:pPr>
            <a:r>
              <a:rPr lang="en-AU" sz="2200" noProof="0" dirty="0"/>
              <a:t>FEP is seeking approval on the purchase price and an opinion on whether to buy and develop the project.</a:t>
            </a:r>
          </a:p>
        </p:txBody>
      </p:sp>
    </p:spTree>
    <p:extLst>
      <p:ext uri="{BB962C8B-B14F-4D97-AF65-F5344CB8AC3E}">
        <p14:creationId xmlns:p14="http://schemas.microsoft.com/office/powerpoint/2010/main" val="3657229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BAD93-9C2E-75E4-FBA2-5CF25B94C68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6DDB0DD-6A26-8426-A20F-E8B216972FB9}"/>
              </a:ext>
            </a:extLst>
          </p:cNvPr>
          <p:cNvSpPr>
            <a:spLocks noGrp="1"/>
          </p:cNvSpPr>
          <p:nvPr>
            <p:ph type="title"/>
          </p:nvPr>
        </p:nvSpPr>
        <p:spPr>
          <a:xfrm>
            <a:off x="4498848" y="283464"/>
            <a:ext cx="12618720" cy="795528"/>
          </a:xfrm>
        </p:spPr>
        <p:txBody>
          <a:bodyPr anchor="ctr"/>
          <a:lstStyle/>
          <a:p>
            <a:r>
              <a:rPr lang="hu-HU" noProof="0" dirty="0"/>
              <a:t>Risks and mitigants</a:t>
            </a:r>
            <a:endParaRPr lang="en-GB" noProof="0" dirty="0"/>
          </a:p>
        </p:txBody>
      </p:sp>
      <p:sp>
        <p:nvSpPr>
          <p:cNvPr id="2" name="Slide Number Placeholder 1">
            <a:extLst>
              <a:ext uri="{FF2B5EF4-FFF2-40B4-BE49-F238E27FC236}">
                <a16:creationId xmlns:a16="http://schemas.microsoft.com/office/drawing/2014/main" id="{B20E267F-21F3-CE95-2EAE-DB69E8E921AF}"/>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B0A8E69F-10CB-8CD4-C82C-92DEA05D0057}"/>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Subtitle">
            <a:extLst>
              <a:ext uri="{FF2B5EF4-FFF2-40B4-BE49-F238E27FC236}">
                <a16:creationId xmlns:a16="http://schemas.microsoft.com/office/drawing/2014/main" id="{F8840C91-4281-719B-871A-149A9D863335}"/>
              </a:ext>
            </a:extLst>
          </p:cNvPr>
          <p:cNvSpPr txBox="1"/>
          <p:nvPr/>
        </p:nvSpPr>
        <p:spPr>
          <a:xfrm>
            <a:off x="4498848" y="1097280"/>
            <a:ext cx="13716000" cy="276999"/>
          </a:xfrm>
          <a:prstGeom prst="rect">
            <a:avLst/>
          </a:prstGeom>
          <a:noFill/>
        </p:spPr>
        <p:txBody>
          <a:bodyPr wrap="square" lIns="0" tIns="0" rIns="0" bIns="0" anchor="t">
            <a:spAutoFit/>
          </a:bodyPr>
          <a:lstStyle/>
          <a:p>
            <a:pPr algn="l"/>
            <a:r>
              <a:rPr lang="en-AU" sz="1800" b="1" dirty="0">
                <a:solidFill>
                  <a:srgbClr val="3C3C3B"/>
                </a:solidFill>
              </a:rPr>
              <a:t>Legal due diligence findings – no high risks; five medium and seven low</a:t>
            </a:r>
            <a:endParaRPr sz="1800" b="1" dirty="0">
              <a:solidFill>
                <a:srgbClr val="3C3C3B"/>
              </a:solidFill>
            </a:endParaRPr>
          </a:p>
        </p:txBody>
      </p:sp>
      <p:sp>
        <p:nvSpPr>
          <p:cNvPr id="11" name="Footnote">
            <a:extLst>
              <a:ext uri="{FF2B5EF4-FFF2-40B4-BE49-F238E27FC236}">
                <a16:creationId xmlns:a16="http://schemas.microsoft.com/office/drawing/2014/main" id="{7EC0919F-1C9A-051E-1008-87D208F71800}"/>
              </a:ext>
            </a:extLst>
          </p:cNvPr>
          <p:cNvSpPr txBox="1"/>
          <p:nvPr/>
        </p:nvSpPr>
        <p:spPr>
          <a:xfrm>
            <a:off x="4498848" y="9906000"/>
            <a:ext cx="13167360" cy="430887"/>
          </a:xfrm>
          <a:prstGeom prst="rect">
            <a:avLst/>
          </a:prstGeom>
          <a:noFill/>
        </p:spPr>
        <p:txBody>
          <a:bodyPr wrap="square" lIns="0" tIns="0" rIns="0" bIns="0" anchor="t">
            <a:spAutoFit/>
          </a:bodyPr>
          <a:lstStyle/>
          <a:p>
            <a:pPr algn="l"/>
            <a:r>
              <a:rPr sz="1400" b="0">
                <a:solidFill>
                  <a:srgbClr val="919191"/>
                </a:solidFill>
              </a:rPr>
              <a:t>Ratings as assigned by Dentons; Info = for information only, not rated. Recommendations paraphrased from the report.</a:t>
            </a:r>
          </a:p>
          <a:p>
            <a:pPr algn="l"/>
            <a:r>
              <a:rPr sz="1400" b="0">
                <a:solidFill>
                  <a:srgbClr val="919191"/>
                </a:solidFill>
              </a:rPr>
              <a:t>Source: Dentons, Project Bana Legal Due Diligence Report (draft, 9 October 2026).</a:t>
            </a:r>
          </a:p>
        </p:txBody>
      </p:sp>
      <p:graphicFrame>
        <p:nvGraphicFramePr>
          <p:cNvPr id="20" name="Risk table"/>
          <p:cNvGraphicFramePr>
            <a:graphicFrameLocks noGrp="1"/>
          </p:cNvGraphicFramePr>
          <p:nvPr/>
        </p:nvGraphicFramePr>
        <p:xfrm>
          <a:off x="4498848" y="1600200"/>
          <a:ext cx="13716000" cy="759796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570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5166000">
                  <a:extLst>
                    <a:ext uri="{9D8B030D-6E8A-4147-A177-3AD203B41FA5}">
                      <a16:colId xmlns:a16="http://schemas.microsoft.com/office/drawing/2014/main" val="20003"/>
                    </a:ext>
                  </a:extLst>
                </a:gridCol>
              </a:tblGrid>
              <a:tr h="380000">
                <a:tc>
                  <a:txBody>
                    <a:bodyPr/>
                    <a:lstStyle/>
                    <a:p>
                      <a:pPr algn="l"/>
                      <a:r>
                        <a:rPr lang="en-GB" sz="1300" b="1" i="0" dirty="0">
                          <a:solidFill>
                            <a:srgbClr val="FFFFFF"/>
                          </a:solidFill>
                        </a:rPr>
                        <a:t>Topic</a:t>
                      </a:r>
                    </a:p>
                  </a:txBody>
                  <a:tcPr anchor="ctr">
                    <a:solidFill>
                      <a:srgbClr val="00A651"/>
                    </a:solidFill>
                  </a:tcPr>
                </a:tc>
                <a:tc>
                  <a:txBody>
                    <a:bodyPr/>
                    <a:lstStyle/>
                    <a:p>
                      <a:pPr algn="l"/>
                      <a:r>
                        <a:rPr lang="en-GB" sz="1300" b="1" i="0" dirty="0">
                          <a:solidFill>
                            <a:srgbClr val="FFFFFF"/>
                          </a:solidFill>
                        </a:rPr>
                        <a:t>Issue</a:t>
                      </a:r>
                    </a:p>
                  </a:txBody>
                  <a:tcPr anchor="ctr">
                    <a:solidFill>
                      <a:srgbClr val="00A651"/>
                    </a:solidFill>
                  </a:tcPr>
                </a:tc>
                <a:tc>
                  <a:txBody>
                    <a:bodyPr/>
                    <a:lstStyle/>
                    <a:p>
                      <a:pPr algn="l"/>
                      <a:r>
                        <a:rPr lang="en-GB" sz="1300" b="1" i="0" dirty="0">
                          <a:solidFill>
                            <a:srgbClr val="FFFFFF"/>
                          </a:solidFill>
                        </a:rPr>
                        <a:t>Rating</a:t>
                      </a:r>
                    </a:p>
                  </a:txBody>
                  <a:tcPr anchor="ctr">
                    <a:solidFill>
                      <a:srgbClr val="00A651"/>
                    </a:solidFill>
                  </a:tcPr>
                </a:tc>
                <a:tc>
                  <a:txBody>
                    <a:bodyPr/>
                    <a:lstStyle/>
                    <a:p>
                      <a:pPr algn="l"/>
                      <a:r>
                        <a:rPr lang="en-GB" sz="1300" b="1" i="0" dirty="0">
                          <a:solidFill>
                            <a:srgbClr val="FFFFFF"/>
                          </a:solidFill>
                        </a:rPr>
                        <a:t>Mitigant (DD recommendation)</a:t>
                      </a:r>
                    </a:p>
                  </a:txBody>
                  <a:tcPr anchor="ctr">
                    <a:solidFill>
                      <a:srgbClr val="00A651"/>
                    </a:solidFill>
                  </a:tcPr>
                </a:tc>
                <a:extLst>
                  <a:ext uri="{0D108BD9-81ED-4DB2-BD59-A6C34878D82A}">
                    <a16:rowId xmlns:a16="http://schemas.microsoft.com/office/drawing/2014/main" val="20000"/>
                  </a:ext>
                </a:extLst>
              </a:tr>
              <a:tr h="340000">
                <a:tc gridSpan="4">
                  <a:txBody>
                    <a:bodyPr/>
                    <a:lstStyle/>
                    <a:p>
                      <a:pPr algn="l"/>
                      <a:r>
                        <a:rPr lang="en-GB" sz="1300" b="1" i="0" dirty="0">
                          <a:solidFill>
                            <a:srgbClr val="00563C"/>
                          </a:solidFill>
                        </a:rPr>
                        <a:t>Permitting and energy regulatory</a:t>
                      </a:r>
                    </a:p>
                  </a:txBody>
                  <a:tcPr anchor="ctr">
                    <a:solidFill>
                      <a:srgbClr val="E6F4EC"/>
                    </a:solidFill>
                  </a:tcPr>
                </a:tc>
                <a:tc hMerge="1">
                  <a:txBody>
                    <a:bodyPr/>
                    <a:lstStyle/>
                    <a:p>
                      <a:pPr algn="l"/>
                      <a:endParaRPr lang="en-GB" sz="1300" dirty="0"/>
                    </a:p>
                  </a:txBody>
                  <a:tcPr anchor="ctr">
                    <a:solidFill>
                      <a:srgbClr val="E6F4EC"/>
                    </a:solidFill>
                  </a:tcPr>
                </a:tc>
                <a:tc hMerge="1">
                  <a:txBody>
                    <a:bodyPr/>
                    <a:lstStyle/>
                    <a:p>
                      <a:pPr algn="l"/>
                      <a:endParaRPr lang="en-GB" sz="1300" dirty="0"/>
                    </a:p>
                  </a:txBody>
                  <a:tcPr anchor="ctr">
                    <a:solidFill>
                      <a:srgbClr val="E6F4EC"/>
                    </a:solidFill>
                  </a:tcPr>
                </a:tc>
                <a:tc hMerge="1">
                  <a:txBody>
                    <a:bodyPr/>
                    <a:lstStyle/>
                    <a:p>
                      <a:pPr algn="l"/>
                      <a:endParaRPr lang="en-GB" sz="1300" dirty="0"/>
                    </a:p>
                  </a:txBody>
                  <a:tcPr anchor="ctr">
                    <a:solidFill>
                      <a:srgbClr val="E6F4EC"/>
                    </a:solidFill>
                  </a:tcPr>
                </a:tc>
                <a:extLst>
                  <a:ext uri="{0D108BD9-81ED-4DB2-BD59-A6C34878D82A}">
                    <a16:rowId xmlns:a16="http://schemas.microsoft.com/office/drawing/2014/main" val="20001"/>
                  </a:ext>
                </a:extLst>
              </a:tr>
              <a:tr h="470000">
                <a:tc>
                  <a:txBody>
                    <a:bodyPr/>
                    <a:lstStyle/>
                    <a:p>
                      <a:pPr algn="l"/>
                      <a:r>
                        <a:rPr lang="en-GB" sz="1300" b="1" i="0" dirty="0">
                          <a:solidFill>
                            <a:srgbClr val="3C3C3B"/>
                          </a:solidFill>
                        </a:rPr>
                        <a:t>Permit transfer</a:t>
                      </a:r>
                    </a:p>
                  </a:txBody>
                  <a:tcPr anchor="ctr">
                    <a:solidFill>
                      <a:srgbClr val="F2F2F2"/>
                    </a:solidFill>
                  </a:tcPr>
                </a:tc>
                <a:tc>
                  <a:txBody>
                    <a:bodyPr/>
                    <a:lstStyle/>
                    <a:p>
                      <a:pPr algn="l"/>
                      <a:r>
                        <a:rPr lang="en-GB" sz="1300" b="0" i="0" dirty="0">
                          <a:solidFill>
                            <a:srgbClr val="3C3C3B"/>
                          </a:solidFill>
                        </a:rPr>
                        <a:t>Building and withdrawal permits and the environmental resolution must move to the Project Company; the law is silent, but authorities have allowed it</a:t>
                      </a:r>
                    </a:p>
                  </a:txBody>
                  <a:tcPr anchor="ctr">
                    <a:noFill/>
                  </a:tcPr>
                </a:tc>
                <a:tc>
                  <a:txBody>
                    <a:bodyPr/>
                    <a:lstStyle/>
                    <a:p>
                      <a:pPr algn="ctr"/>
                      <a:r>
                        <a:rPr lang="en-GB" sz="1300" b="1" i="0" dirty="0">
                          <a:solidFill>
                            <a:srgbClr val="3C3C3B"/>
                          </a:solidFill>
                        </a:rPr>
                        <a:t>Medium</a:t>
                      </a:r>
                    </a:p>
                  </a:txBody>
                  <a:tcPr anchor="ctr">
                    <a:solidFill>
                      <a:srgbClr val="FFE699"/>
                    </a:solidFill>
                  </a:tcPr>
                </a:tc>
                <a:tc>
                  <a:txBody>
                    <a:bodyPr/>
                    <a:lstStyle/>
                    <a:p>
                      <a:pPr algn="l"/>
                      <a:r>
                        <a:rPr lang="en-GB" sz="1300" b="0" i="0" dirty="0">
                          <a:solidFill>
                            <a:srgbClr val="3C3C3B"/>
                          </a:solidFill>
                        </a:rPr>
                        <a:t>Seller to prepare and file the transfer applications before Closing</a:t>
                      </a:r>
                    </a:p>
                  </a:txBody>
                  <a:tcPr anchor="ctr">
                    <a:noFill/>
                  </a:tcPr>
                </a:tc>
                <a:extLst>
                  <a:ext uri="{0D108BD9-81ED-4DB2-BD59-A6C34878D82A}">
                    <a16:rowId xmlns:a16="http://schemas.microsoft.com/office/drawing/2014/main" val="20002"/>
                  </a:ext>
                </a:extLst>
              </a:tr>
              <a:tr h="470000">
                <a:tc>
                  <a:txBody>
                    <a:bodyPr/>
                    <a:lstStyle/>
                    <a:p>
                      <a:pPr algn="l"/>
                      <a:r>
                        <a:rPr lang="en-GB" sz="1300" b="1" i="0" dirty="0">
                          <a:solidFill>
                            <a:srgbClr val="3C3C3B"/>
                          </a:solidFill>
                        </a:rPr>
                        <a:t>Building permit validity</a:t>
                      </a:r>
                    </a:p>
                  </a:txBody>
                  <a:tcPr anchor="ctr">
                    <a:solidFill>
                      <a:srgbClr val="F2F2F2"/>
                    </a:solidFill>
                  </a:tcPr>
                </a:tc>
                <a:tc>
                  <a:txBody>
                    <a:bodyPr/>
                    <a:lstStyle/>
                    <a:p>
                      <a:pPr algn="l"/>
                      <a:r>
                        <a:rPr lang="en-GB" sz="1300" b="0" i="0" dirty="0">
                          <a:solidFill>
                            <a:srgbClr val="3C3C3B"/>
                          </a:solidFill>
                        </a:rPr>
                        <a:t>Permits lapse 2 years after becoming final (first: 15 Jul 2026); repeat 2-year extensions are unclear, while grid connection may slip to Sep 2032</a:t>
                      </a:r>
                    </a:p>
                  </a:txBody>
                  <a:tcPr anchor="ctr">
                    <a:noFill/>
                  </a:tcPr>
                </a:tc>
                <a:tc>
                  <a:txBody>
                    <a:bodyPr/>
                    <a:lstStyle/>
                    <a:p>
                      <a:pPr algn="ctr"/>
                      <a:r>
                        <a:rPr lang="en-GB" sz="1300" b="1" i="0" dirty="0">
                          <a:solidFill>
                            <a:srgbClr val="3C3C3B"/>
                          </a:solidFill>
                        </a:rPr>
                        <a:t>Medium</a:t>
                      </a:r>
                    </a:p>
                  </a:txBody>
                  <a:tcPr anchor="ctr">
                    <a:solidFill>
                      <a:srgbClr val="FFE699"/>
                    </a:solidFill>
                  </a:tcPr>
                </a:tc>
                <a:tc>
                  <a:txBody>
                    <a:bodyPr/>
                    <a:lstStyle/>
                    <a:p>
                      <a:pPr algn="l"/>
                      <a:r>
                        <a:rPr lang="en-GB" sz="1300" b="0" i="0" dirty="0">
                          <a:solidFill>
                            <a:srgbClr val="3C3C3B"/>
                          </a:solidFill>
                        </a:rPr>
                        <a:t>Apply for extensions in time so the permits stay valid until the actual grid connection</a:t>
                      </a:r>
                    </a:p>
                  </a:txBody>
                  <a:tcPr anchor="ctr">
                    <a:noFill/>
                  </a:tcPr>
                </a:tc>
                <a:extLst>
                  <a:ext uri="{0D108BD9-81ED-4DB2-BD59-A6C34878D82A}">
                    <a16:rowId xmlns:a16="http://schemas.microsoft.com/office/drawing/2014/main" val="20003"/>
                  </a:ext>
                </a:extLst>
              </a:tr>
              <a:tr h="470000">
                <a:tc>
                  <a:txBody>
                    <a:bodyPr/>
                    <a:lstStyle/>
                    <a:p>
                      <a:pPr algn="l"/>
                      <a:r>
                        <a:rPr lang="en-GB" sz="1300" b="1" i="0" dirty="0">
                          <a:solidFill>
                            <a:srgbClr val="3C3C3B"/>
                          </a:solidFill>
                        </a:rPr>
                        <a:t>Withdrawal permits</a:t>
                      </a:r>
                    </a:p>
                  </a:txBody>
                  <a:tcPr anchor="ctr">
                    <a:solidFill>
                      <a:srgbClr val="F2F2F2"/>
                    </a:solidFill>
                  </a:tcPr>
                </a:tc>
                <a:tc>
                  <a:txBody>
                    <a:bodyPr/>
                    <a:lstStyle/>
                    <a:p>
                      <a:pPr algn="l"/>
                      <a:r>
                        <a:rPr lang="en-GB" sz="1300" b="0" i="0" dirty="0">
                          <a:solidFill>
                            <a:srgbClr val="3C3C3B"/>
                          </a:solidFill>
                        </a:rPr>
                        <a:t>Valid 4 years and not extendable; non-agricultural use must start by 2029–2030 or new permits are needed</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Track expiry dates and start site use within each validity period</a:t>
                      </a:r>
                    </a:p>
                  </a:txBody>
                  <a:tcPr anchor="ctr">
                    <a:noFill/>
                  </a:tcPr>
                </a:tc>
                <a:extLst>
                  <a:ext uri="{0D108BD9-81ED-4DB2-BD59-A6C34878D82A}">
                    <a16:rowId xmlns:a16="http://schemas.microsoft.com/office/drawing/2014/main" val="20004"/>
                  </a:ext>
                </a:extLst>
              </a:tr>
              <a:tr h="470000">
                <a:tc>
                  <a:txBody>
                    <a:bodyPr/>
                    <a:lstStyle/>
                    <a:p>
                      <a:pPr algn="l"/>
                      <a:r>
                        <a:rPr lang="en-GB" sz="1300" b="1" i="0" dirty="0">
                          <a:solidFill>
                            <a:srgbClr val="3C3C3B"/>
                          </a:solidFill>
                        </a:rPr>
                        <a:t>Environmental resolution</a:t>
                      </a:r>
                    </a:p>
                  </a:txBody>
                  <a:tcPr anchor="ctr">
                    <a:solidFill>
                      <a:srgbClr val="F2F2F2"/>
                    </a:solidFill>
                  </a:tcPr>
                </a:tc>
                <a:tc>
                  <a:txBody>
                    <a:bodyPr/>
                    <a:lstStyle/>
                    <a:p>
                      <a:pPr algn="l"/>
                      <a:r>
                        <a:rPr lang="en-GB" sz="1300" b="0" i="0" dirty="0">
                          <a:solidFill>
                            <a:srgbClr val="3C3C3B"/>
                          </a:solidFill>
                        </a:rPr>
                        <a:t>Resolution assumes behind-the-meter supply with no grid feed-in; a tender award changes the activity</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Notify the environmental authority and confirm whether an amendment is needed</a:t>
                      </a:r>
                    </a:p>
                  </a:txBody>
                  <a:tcPr anchor="ctr">
                    <a:noFill/>
                  </a:tcPr>
                </a:tc>
                <a:extLst>
                  <a:ext uri="{0D108BD9-81ED-4DB2-BD59-A6C34878D82A}">
                    <a16:rowId xmlns:a16="http://schemas.microsoft.com/office/drawing/2014/main" val="20005"/>
                  </a:ext>
                </a:extLst>
              </a:tr>
              <a:tr h="470000">
                <a:tc>
                  <a:txBody>
                    <a:bodyPr/>
                    <a:lstStyle/>
                    <a:p>
                      <a:pPr algn="l"/>
                      <a:r>
                        <a:rPr lang="en-GB" sz="1300" b="1" i="0" dirty="0">
                          <a:solidFill>
                            <a:srgbClr val="3C3C3B"/>
                          </a:solidFill>
                        </a:rPr>
                        <a:t>Airport flight procedures</a:t>
                      </a:r>
                    </a:p>
                  </a:txBody>
                  <a:tcPr anchor="ctr">
                    <a:solidFill>
                      <a:srgbClr val="F2F2F2"/>
                    </a:solidFill>
                  </a:tcPr>
                </a:tc>
                <a:tc>
                  <a:txBody>
                    <a:bodyPr/>
                    <a:lstStyle/>
                    <a:p>
                      <a:pPr algn="l"/>
                      <a:r>
                        <a:rPr lang="en-GB" sz="1300" b="0" i="0" dirty="0">
                          <a:solidFill>
                            <a:srgbClr val="3C3C3B"/>
                          </a:solidFill>
                        </a:rPr>
                        <a:t>Construction on 4 sites cannot start until Győr-Pér procedures are amended (agreement with ALTEO due Q4 2026, then ~9 months)</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Sign the tri-party agreement and complete the amendment ahead of construction</a:t>
                      </a:r>
                    </a:p>
                  </a:txBody>
                  <a:tcPr anchor="ctr">
                    <a:noFill/>
                  </a:tcPr>
                </a:tc>
                <a:extLst>
                  <a:ext uri="{0D108BD9-81ED-4DB2-BD59-A6C34878D82A}">
                    <a16:rowId xmlns:a16="http://schemas.microsoft.com/office/drawing/2014/main" val="20006"/>
                  </a:ext>
                </a:extLst>
              </a:tr>
              <a:tr h="470000">
                <a:tc>
                  <a:txBody>
                    <a:bodyPr/>
                    <a:lstStyle/>
                    <a:p>
                      <a:pPr algn="l"/>
                      <a:r>
                        <a:rPr lang="en-GB" sz="1300" b="1" i="0" dirty="0">
                          <a:solidFill>
                            <a:srgbClr val="3C3C3B"/>
                          </a:solidFill>
                        </a:rPr>
                        <a:t>Turbine type</a:t>
                      </a:r>
                    </a:p>
                  </a:txBody>
                  <a:tcPr anchor="ctr">
                    <a:solidFill>
                      <a:srgbClr val="F2F2F2"/>
                    </a:solidFill>
                  </a:tcPr>
                </a:tc>
                <a:tc>
                  <a:txBody>
                    <a:bodyPr/>
                    <a:lstStyle/>
                    <a:p>
                      <a:pPr algn="l"/>
                      <a:r>
                        <a:rPr lang="en-GB" sz="1300" b="0" i="0" dirty="0">
                          <a:solidFill>
                            <a:srgbClr val="3C3C3B"/>
                          </a:solidFill>
                        </a:rPr>
                        <a:t>Permits specify Goldwind turbines up to 129 m hub height; a taller turbine may need an EIA, and the EU-manufacturer tender bonus is out of reach</a:t>
                      </a:r>
                    </a:p>
                  </a:txBody>
                  <a:tcPr anchor="ctr">
                    <a:noFill/>
                  </a:tcPr>
                </a:tc>
                <a:tc>
                  <a:txBody>
                    <a:bodyPr/>
                    <a:lstStyle/>
                    <a:p>
                      <a:pPr algn="ctr"/>
                      <a:r>
                        <a:rPr lang="en-GB" sz="1300" b="1" i="0" dirty="0">
                          <a:solidFill>
                            <a:srgbClr val="7F7F7F"/>
                          </a:solidFill>
                        </a:rPr>
                        <a:t>Info</a:t>
                      </a:r>
                    </a:p>
                  </a:txBody>
                  <a:tcPr anchor="ctr">
                    <a:solidFill>
                      <a:srgbClr val="FFFFFF"/>
                    </a:solidFill>
                  </a:tcPr>
                </a:tc>
                <a:tc>
                  <a:txBody>
                    <a:bodyPr/>
                    <a:lstStyle/>
                    <a:p>
                      <a:pPr algn="l"/>
                      <a:r>
                        <a:rPr lang="en-GB" sz="1300" b="0" i="0" dirty="0">
                          <a:solidFill>
                            <a:srgbClr val="3C3C3B"/>
                          </a:solidFill>
                        </a:rPr>
                        <a:t>No DD recommendation; any turbine change needs a permit amendment</a:t>
                      </a:r>
                    </a:p>
                  </a:txBody>
                  <a:tcPr anchor="ctr">
                    <a:noFill/>
                  </a:tcPr>
                </a:tc>
                <a:extLst>
                  <a:ext uri="{0D108BD9-81ED-4DB2-BD59-A6C34878D82A}">
                    <a16:rowId xmlns:a16="http://schemas.microsoft.com/office/drawing/2014/main" val="20007"/>
                  </a:ext>
                </a:extLst>
              </a:tr>
              <a:tr h="340000">
                <a:tc gridSpan="4">
                  <a:txBody>
                    <a:bodyPr/>
                    <a:lstStyle/>
                    <a:p>
                      <a:pPr algn="l"/>
                      <a:r>
                        <a:rPr lang="en-GB" sz="1300" b="1" i="0" dirty="0">
                          <a:solidFill>
                            <a:srgbClr val="00563C"/>
                          </a:solidFill>
                        </a:rPr>
                        <a:t>Real property</a:t>
                      </a:r>
                    </a:p>
                  </a:txBody>
                  <a:tcPr anchor="ctr">
                    <a:solidFill>
                      <a:srgbClr val="E6F4EC"/>
                    </a:solidFill>
                  </a:tcPr>
                </a:tc>
                <a:tc hMerge="1">
                  <a:txBody>
                    <a:bodyPr/>
                    <a:lstStyle/>
                    <a:p>
                      <a:pPr algn="l"/>
                      <a:endParaRPr lang="en-GB" sz="1300" dirty="0"/>
                    </a:p>
                  </a:txBody>
                  <a:tcPr anchor="ctr">
                    <a:solidFill>
                      <a:srgbClr val="E6F4EC"/>
                    </a:solidFill>
                  </a:tcPr>
                </a:tc>
                <a:tc hMerge="1">
                  <a:txBody>
                    <a:bodyPr/>
                    <a:lstStyle/>
                    <a:p>
                      <a:pPr algn="l"/>
                      <a:endParaRPr lang="en-GB" sz="1300" dirty="0"/>
                    </a:p>
                  </a:txBody>
                  <a:tcPr anchor="ctr">
                    <a:solidFill>
                      <a:srgbClr val="E6F4EC"/>
                    </a:solidFill>
                  </a:tcPr>
                </a:tc>
                <a:tc hMerge="1">
                  <a:txBody>
                    <a:bodyPr/>
                    <a:lstStyle/>
                    <a:p>
                      <a:pPr algn="l"/>
                      <a:endParaRPr lang="en-GB" sz="1300" dirty="0"/>
                    </a:p>
                  </a:txBody>
                  <a:tcPr anchor="ctr">
                    <a:solidFill>
                      <a:srgbClr val="E6F4EC"/>
                    </a:solidFill>
                  </a:tcPr>
                </a:tc>
                <a:extLst>
                  <a:ext uri="{0D108BD9-81ED-4DB2-BD59-A6C34878D82A}">
                    <a16:rowId xmlns:a16="http://schemas.microsoft.com/office/drawing/2014/main" val="20008"/>
                  </a:ext>
                </a:extLst>
              </a:tr>
              <a:tr h="470000">
                <a:tc>
                  <a:txBody>
                    <a:bodyPr/>
                    <a:lstStyle/>
                    <a:p>
                      <a:pPr algn="l"/>
                      <a:r>
                        <a:rPr lang="en-GB" sz="1300" b="1" i="0" dirty="0">
                          <a:solidFill>
                            <a:srgbClr val="3C3C3B"/>
                          </a:solidFill>
                        </a:rPr>
                        <a:t>Tender land-right test</a:t>
                      </a:r>
                    </a:p>
                  </a:txBody>
                  <a:tcPr anchor="ctr">
                    <a:solidFill>
                      <a:srgbClr val="F2F2F2"/>
                    </a:solidFill>
                  </a:tcPr>
                </a:tc>
                <a:tc>
                  <a:txBody>
                    <a:bodyPr/>
                    <a:lstStyle/>
                    <a:p>
                      <a:pPr algn="l"/>
                      <a:r>
                        <a:rPr lang="en-GB" sz="1300" b="0" i="0" dirty="0">
                          <a:solidFill>
                            <a:srgbClr val="3C3C3B"/>
                          </a:solidFill>
                        </a:rPr>
                        <a:t>Land use agreements (ráépítési jog) do not formally meet the tender land-right rule; the bidder declares compliance under criminal liability</a:t>
                      </a:r>
                    </a:p>
                  </a:txBody>
                  <a:tcPr anchor="ctr">
                    <a:noFill/>
                  </a:tcPr>
                </a:tc>
                <a:tc>
                  <a:txBody>
                    <a:bodyPr/>
                    <a:lstStyle/>
                    <a:p>
                      <a:pPr algn="ctr"/>
                      <a:r>
                        <a:rPr lang="en-GB" sz="1300" b="1" i="0" dirty="0">
                          <a:solidFill>
                            <a:srgbClr val="3C3C3B"/>
                          </a:solidFill>
                        </a:rPr>
                        <a:t>Medium</a:t>
                      </a:r>
                    </a:p>
                  </a:txBody>
                  <a:tcPr anchor="ctr">
                    <a:solidFill>
                      <a:srgbClr val="FFE699"/>
                    </a:solidFill>
                  </a:tcPr>
                </a:tc>
                <a:tc>
                  <a:txBody>
                    <a:bodyPr/>
                    <a:lstStyle/>
                    <a:p>
                      <a:pPr algn="l"/>
                      <a:r>
                        <a:rPr lang="en-GB" sz="1300" b="0" i="0" dirty="0">
                          <a:solidFill>
                            <a:srgbClr val="3C3C3B"/>
                          </a:solidFill>
                        </a:rPr>
                        <a:t>Before or at Signing, sign a preliminary building-right agreement on at least one plot (&gt;1 ha), assigned to the Project Company at Closing; agree the list of plots needed</a:t>
                      </a:r>
                    </a:p>
                  </a:txBody>
                  <a:tcPr anchor="ctr">
                    <a:noFill/>
                  </a:tcPr>
                </a:tc>
                <a:extLst>
                  <a:ext uri="{0D108BD9-81ED-4DB2-BD59-A6C34878D82A}">
                    <a16:rowId xmlns:a16="http://schemas.microsoft.com/office/drawing/2014/main" val="20009"/>
                  </a:ext>
                </a:extLst>
              </a:tr>
              <a:tr h="470000">
                <a:tc>
                  <a:txBody>
                    <a:bodyPr/>
                    <a:lstStyle/>
                    <a:p>
                      <a:pPr algn="l"/>
                      <a:r>
                        <a:rPr lang="en-GB" sz="1300" b="1" i="0" dirty="0">
                          <a:solidFill>
                            <a:srgbClr val="3C3C3B"/>
                          </a:solidFill>
                        </a:rPr>
                        <a:t>Land right transfer</a:t>
                      </a:r>
                    </a:p>
                  </a:txBody>
                  <a:tcPr anchor="ctr">
                    <a:solidFill>
                      <a:srgbClr val="F2F2F2"/>
                    </a:solidFill>
                  </a:tcPr>
                </a:tc>
                <a:tc>
                  <a:txBody>
                    <a:bodyPr/>
                    <a:lstStyle/>
                    <a:p>
                      <a:pPr algn="l"/>
                      <a:r>
                        <a:rPr lang="en-GB" sz="1300" b="0" i="0" dirty="0">
                          <a:solidFill>
                            <a:srgbClr val="3C3C3B"/>
                          </a:solidFill>
                        </a:rPr>
                        <a:t>Land use rights must be transferred and re-registered plot by plot (landowner consent already given)</a:t>
                      </a:r>
                    </a:p>
                  </a:txBody>
                  <a:tcPr anchor="ctr">
                    <a:noFill/>
                  </a:tcPr>
                </a:tc>
                <a:tc>
                  <a:txBody>
                    <a:bodyPr/>
                    <a:lstStyle/>
                    <a:p>
                      <a:pPr algn="ctr"/>
                      <a:r>
                        <a:rPr lang="en-GB" sz="1300" b="1" i="0" dirty="0">
                          <a:solidFill>
                            <a:srgbClr val="3C3C3B"/>
                          </a:solidFill>
                        </a:rPr>
                        <a:t>Medium</a:t>
                      </a:r>
                    </a:p>
                  </a:txBody>
                  <a:tcPr anchor="ctr">
                    <a:solidFill>
                      <a:srgbClr val="FFE699"/>
                    </a:solidFill>
                  </a:tcPr>
                </a:tc>
                <a:tc>
                  <a:txBody>
                    <a:bodyPr/>
                    <a:lstStyle/>
                    <a:p>
                      <a:pPr algn="l"/>
                      <a:r>
                        <a:rPr lang="en-GB" sz="1300" b="0" i="0" dirty="0">
                          <a:solidFill>
                            <a:srgbClr val="3C3C3B"/>
                          </a:solidFill>
                        </a:rPr>
                        <a:t>Seller to prepare notices and transfer documents before Closing, effective at Closing</a:t>
                      </a:r>
                    </a:p>
                  </a:txBody>
                  <a:tcPr anchor="ctr">
                    <a:noFill/>
                  </a:tcPr>
                </a:tc>
                <a:extLst>
                  <a:ext uri="{0D108BD9-81ED-4DB2-BD59-A6C34878D82A}">
                    <a16:rowId xmlns:a16="http://schemas.microsoft.com/office/drawing/2014/main" val="20010"/>
                  </a:ext>
                </a:extLst>
              </a:tr>
              <a:tr h="470000">
                <a:tc>
                  <a:txBody>
                    <a:bodyPr/>
                    <a:lstStyle/>
                    <a:p>
                      <a:pPr algn="l"/>
                      <a:r>
                        <a:rPr lang="en-GB" sz="1300" b="1" i="0" dirty="0">
                          <a:solidFill>
                            <a:srgbClr val="3C3C3B"/>
                          </a:solidFill>
                        </a:rPr>
                        <a:t>Landowner rescission</a:t>
                      </a:r>
                    </a:p>
                  </a:txBody>
                  <a:tcPr anchor="ctr">
                    <a:solidFill>
                      <a:srgbClr val="F2F2F2"/>
                    </a:solidFill>
                  </a:tcPr>
                </a:tc>
                <a:tc>
                  <a:txBody>
                    <a:bodyPr/>
                    <a:lstStyle/>
                    <a:p>
                      <a:pPr algn="l"/>
                      <a:r>
                        <a:rPr lang="en-GB" sz="1300" b="0" i="0" dirty="0">
                          <a:solidFill>
                            <a:srgbClr val="3C3C3B"/>
                          </a:solidFill>
                        </a:rPr>
                        <a:t>RtB milestone expires Mar 2027–Jul 2028 and completion Mar 2029–Jul 2031; RtB needs a grid connection agreement only available after the tender award</a:t>
                      </a:r>
                    </a:p>
                  </a:txBody>
                  <a:tcPr anchor="ctr">
                    <a:noFill/>
                  </a:tcPr>
                </a:tc>
                <a:tc>
                  <a:txBody>
                    <a:bodyPr/>
                    <a:lstStyle/>
                    <a:p>
                      <a:pPr algn="ctr"/>
                      <a:r>
                        <a:rPr lang="en-GB" sz="1300" b="1" i="0" dirty="0">
                          <a:solidFill>
                            <a:srgbClr val="3C3C3B"/>
                          </a:solidFill>
                        </a:rPr>
                        <a:t>Medium</a:t>
                      </a:r>
                    </a:p>
                  </a:txBody>
                  <a:tcPr anchor="ctr">
                    <a:solidFill>
                      <a:srgbClr val="FFE699"/>
                    </a:solidFill>
                  </a:tcPr>
                </a:tc>
                <a:tc>
                  <a:txBody>
                    <a:bodyPr/>
                    <a:lstStyle/>
                    <a:p>
                      <a:pPr algn="l"/>
                      <a:r>
                        <a:rPr lang="en-GB" sz="1300" b="0" i="0" dirty="0">
                          <a:solidFill>
                            <a:srgbClr val="3C3C3B"/>
                          </a:solidFill>
                        </a:rPr>
                        <a:t>Extend the milestone deadlines in the land use agreements to fit the tender timeline before Closing</a:t>
                      </a:r>
                    </a:p>
                  </a:txBody>
                  <a:tcPr anchor="ctr">
                    <a:noFill/>
                  </a:tcPr>
                </a:tc>
                <a:extLst>
                  <a:ext uri="{0D108BD9-81ED-4DB2-BD59-A6C34878D82A}">
                    <a16:rowId xmlns:a16="http://schemas.microsoft.com/office/drawing/2014/main" val="20011"/>
                  </a:ext>
                </a:extLst>
              </a:tr>
              <a:tr h="470000">
                <a:tc>
                  <a:txBody>
                    <a:bodyPr/>
                    <a:lstStyle/>
                    <a:p>
                      <a:pPr algn="l"/>
                      <a:r>
                        <a:rPr lang="en-GB" sz="1300" b="1" i="0" dirty="0">
                          <a:solidFill>
                            <a:srgbClr val="3C3C3B"/>
                          </a:solidFill>
                        </a:rPr>
                        <a:t>Adjacent plots</a:t>
                      </a:r>
                    </a:p>
                  </a:txBody>
                  <a:tcPr anchor="ctr">
                    <a:solidFill>
                      <a:srgbClr val="F2F2F2"/>
                    </a:solidFill>
                  </a:tcPr>
                </a:tc>
                <a:tc>
                  <a:txBody>
                    <a:bodyPr/>
                    <a:lstStyle/>
                    <a:p>
                      <a:pPr algn="l"/>
                      <a:r>
                        <a:rPr lang="en-GB" sz="1300" b="0" i="0" dirty="0">
                          <a:solidFill>
                            <a:srgbClr val="3C3C3B"/>
                          </a:solidFill>
                        </a:rPr>
                        <a:t>BN-05 and BN-08 agreements also cover plots 031/4 and 039/8, which the Project does not need</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Terminate and deregister those rights before Closing</a:t>
                      </a:r>
                    </a:p>
                  </a:txBody>
                  <a:tcPr anchor="ctr">
                    <a:noFill/>
                  </a:tcPr>
                </a:tc>
                <a:extLst>
                  <a:ext uri="{0D108BD9-81ED-4DB2-BD59-A6C34878D82A}">
                    <a16:rowId xmlns:a16="http://schemas.microsoft.com/office/drawing/2014/main" val="20012"/>
                  </a:ext>
                </a:extLst>
              </a:tr>
              <a:tr h="470000">
                <a:tc>
                  <a:txBody>
                    <a:bodyPr/>
                    <a:lstStyle/>
                    <a:p>
                      <a:pPr algn="l"/>
                      <a:r>
                        <a:rPr lang="en-GB" sz="1300" b="1" i="0" dirty="0">
                          <a:solidFill>
                            <a:srgbClr val="3C3C3B"/>
                          </a:solidFill>
                        </a:rPr>
                        <a:t>Plot 07/9</a:t>
                      </a:r>
                    </a:p>
                  </a:txBody>
                  <a:tcPr anchor="ctr">
                    <a:solidFill>
                      <a:srgbClr val="F2F2F2"/>
                    </a:solidFill>
                  </a:tcPr>
                </a:tc>
                <a:tc>
                  <a:txBody>
                    <a:bodyPr/>
                    <a:lstStyle/>
                    <a:p>
                      <a:pPr algn="l"/>
                      <a:r>
                        <a:rPr lang="en-GB" sz="1300" b="0" i="0" dirty="0">
                          <a:solidFill>
                            <a:srgbClr val="3C3C3B"/>
                          </a:solidFill>
                        </a:rPr>
                        <a:t>No right registered yet; plot division expected Dec 2026, final agreement due within 15 days</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Sign the final land use agreement and file for registration before Closing</a:t>
                      </a:r>
                    </a:p>
                  </a:txBody>
                  <a:tcPr anchor="ctr">
                    <a:noFill/>
                  </a:tcPr>
                </a:tc>
                <a:extLst>
                  <a:ext uri="{0D108BD9-81ED-4DB2-BD59-A6C34878D82A}">
                    <a16:rowId xmlns:a16="http://schemas.microsoft.com/office/drawing/2014/main" val="20013"/>
                  </a:ext>
                </a:extLst>
              </a:tr>
              <a:tr h="470000">
                <a:tc>
                  <a:txBody>
                    <a:bodyPr/>
                    <a:lstStyle/>
                    <a:p>
                      <a:pPr algn="l"/>
                      <a:r>
                        <a:rPr lang="en-GB" sz="1300" b="1" i="0" dirty="0">
                          <a:solidFill>
                            <a:srgbClr val="3C3C3B"/>
                          </a:solidFill>
                        </a:rPr>
                        <a:t>Zoning</a:t>
                      </a:r>
                    </a:p>
                  </a:txBody>
                  <a:tcPr anchor="ctr">
                    <a:solidFill>
                      <a:srgbClr val="F2F2F2"/>
                    </a:solidFill>
                  </a:tcPr>
                </a:tc>
                <a:tc>
                  <a:txBody>
                    <a:bodyPr/>
                    <a:lstStyle/>
                    <a:p>
                      <a:pPr algn="l"/>
                      <a:r>
                        <a:rPr lang="en-GB" sz="1300" b="0" i="0" dirty="0">
                          <a:solidFill>
                            <a:srgbClr val="3C3C3B"/>
                          </a:solidFill>
                        </a:rPr>
                        <a:t>Plots 047/12 and 050 are not zoned for wind (amendment takes 4–7 months); county permit runs to 2031 (2032 if extended)</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Amend local regulations before the building permit applications; monitor county plan adoption</a:t>
                      </a:r>
                    </a:p>
                  </a:txBody>
                  <a:tcPr anchor="ctr">
                    <a:noFill/>
                  </a:tcPr>
                </a:tc>
                <a:extLst>
                  <a:ext uri="{0D108BD9-81ED-4DB2-BD59-A6C34878D82A}">
                    <a16:rowId xmlns:a16="http://schemas.microsoft.com/office/drawing/2014/main" val="20014"/>
                  </a:ext>
                </a:extLst>
              </a:tr>
              <a:tr h="470000">
                <a:tc>
                  <a:txBody>
                    <a:bodyPr/>
                    <a:lstStyle/>
                    <a:p>
                      <a:pPr algn="l"/>
                      <a:r>
                        <a:rPr lang="en-GB" sz="1300" b="1" i="0" dirty="0">
                          <a:solidFill>
                            <a:srgbClr val="3C3C3B"/>
                          </a:solidFill>
                        </a:rPr>
                        <a:t>Municipal cooperation</a:t>
                      </a:r>
                    </a:p>
                  </a:txBody>
                  <a:tcPr anchor="ctr">
                    <a:solidFill>
                      <a:srgbClr val="F2F2F2"/>
                    </a:solidFill>
                  </a:tcPr>
                </a:tc>
                <a:tc>
                  <a:txBody>
                    <a:bodyPr/>
                    <a:lstStyle/>
                    <a:p>
                      <a:pPr algn="l"/>
                      <a:r>
                        <a:rPr lang="en-GB" sz="1300" b="0" i="0" dirty="0">
                          <a:solidFill>
                            <a:srgbClr val="3C3C3B"/>
                          </a:solidFill>
                        </a:rPr>
                        <a:t>Agreement expires 18 Oct 2027 unless construction starts; the seller intends to keep it</a:t>
                      </a:r>
                    </a:p>
                  </a:txBody>
                  <a:tcPr anchor="ctr">
                    <a:noFill/>
                  </a:tcPr>
                </a:tc>
                <a:tc>
                  <a:txBody>
                    <a:bodyPr/>
                    <a:lstStyle/>
                    <a:p>
                      <a:pPr algn="ctr"/>
                      <a:r>
                        <a:rPr lang="en-GB" sz="1300" b="1" i="0" dirty="0">
                          <a:solidFill>
                            <a:srgbClr val="3C3C3B"/>
                          </a:solidFill>
                        </a:rPr>
                        <a:t>Low</a:t>
                      </a:r>
                    </a:p>
                  </a:txBody>
                  <a:tcPr anchor="ctr">
                    <a:solidFill>
                      <a:srgbClr val="F2F2F2"/>
                    </a:solidFill>
                  </a:tcPr>
                </a:tc>
                <a:tc>
                  <a:txBody>
                    <a:bodyPr/>
                    <a:lstStyle/>
                    <a:p>
                      <a:pPr algn="l"/>
                      <a:r>
                        <a:rPr lang="en-GB" sz="1300" b="0" i="0" dirty="0">
                          <a:solidFill>
                            <a:srgbClr val="3C3C3B"/>
                          </a:solidFill>
                        </a:rPr>
                        <a:t>Extend the term and widen the scope to plots 047/12 and 050</a:t>
                      </a:r>
                    </a:p>
                  </a:txBody>
                  <a:tcPr anchor="ctr">
                    <a:noFill/>
                  </a:tcPr>
                </a:tc>
                <a:extLst>
                  <a:ext uri="{0D108BD9-81ED-4DB2-BD59-A6C34878D82A}">
                    <a16:rowId xmlns:a16="http://schemas.microsoft.com/office/drawing/2014/main" val="20015"/>
                  </a:ext>
                </a:extLst>
              </a:tr>
            </a:tbl>
          </a:graphicData>
        </a:graphic>
      </p:graphicFrame>
    </p:spTree>
    <p:extLst>
      <p:ext uri="{BB962C8B-B14F-4D97-AF65-F5344CB8AC3E}">
        <p14:creationId xmlns:p14="http://schemas.microsoft.com/office/powerpoint/2010/main" val="365053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F463-258D-F03A-05D0-923DF0DB8A1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15059C6-B6E5-566B-6FC9-395148B8655C}"/>
              </a:ext>
            </a:extLst>
          </p:cNvPr>
          <p:cNvSpPr>
            <a:spLocks noGrp="1"/>
          </p:cNvSpPr>
          <p:nvPr>
            <p:ph type="title"/>
          </p:nvPr>
        </p:nvSpPr>
        <p:spPr>
          <a:xfrm>
            <a:off x="4498848" y="283464"/>
            <a:ext cx="12618720" cy="795528"/>
          </a:xfrm>
        </p:spPr>
        <p:txBody>
          <a:bodyPr anchor="ctr"/>
          <a:lstStyle/>
          <a:p>
            <a:r>
              <a:rPr lang="en-GB" noProof="0" dirty="0"/>
              <a:t>Technical overview and tender bid</a:t>
            </a:r>
          </a:p>
        </p:txBody>
      </p:sp>
      <p:sp>
        <p:nvSpPr>
          <p:cNvPr id="2" name="Slide Number Placeholder 1">
            <a:extLst>
              <a:ext uri="{FF2B5EF4-FFF2-40B4-BE49-F238E27FC236}">
                <a16:creationId xmlns:a16="http://schemas.microsoft.com/office/drawing/2014/main" id="{157AE5EA-3307-300B-41E7-5573CC6CCB7F}"/>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6675F5A5-39E1-1334-A3EE-0561E3BAF38F}"/>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50 MW onshore wind at Ács Katódgyár – technical data and tender bid</a:t>
            </a:r>
          </a:p>
        </p:txBody>
      </p:sp>
      <p:graphicFrame>
        <p:nvGraphicFramePr>
          <p:cNvPr id="9" name="Technical table"/>
          <p:cNvGraphicFramePr>
            <a:graphicFrameLocks noGrp="1"/>
          </p:cNvGraphicFramePr>
          <p:nvPr/>
        </p:nvGraphicFramePr>
        <p:xfrm>
          <a:off x="4498848" y="1783080"/>
          <a:ext cx="7223760" cy="6391168"/>
        </p:xfrm>
        <a:graphic>
          <a:graphicData uri="http://schemas.openxmlformats.org/drawingml/2006/table">
            <a:tbl>
              <a:tblPr>
                <a:tableStyleId>{5C22544A-7EE6-4342-B048-85BDC9FD1C3A}</a:tableStyleId>
              </a:tblPr>
              <a:tblGrid>
                <a:gridCol w="30632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399448">
                <a:tc>
                  <a:txBody>
                    <a:bodyPr/>
                    <a:lstStyle/>
                    <a:p>
                      <a:pPr algn="l"/>
                      <a:r>
                        <a:rPr sz="1400" b="1" i="0">
                          <a:solidFill>
                            <a:srgbClr val="FFFFFF"/>
                          </a:solidFill>
                        </a:rPr>
                        <a:t>Item</a:t>
                      </a:r>
                    </a:p>
                  </a:txBody>
                  <a:tcPr marL="73152" marR="73152" marT="27432" marB="27432" anchor="ctr">
                    <a:solidFill>
                      <a:srgbClr val="00A651"/>
                    </a:solidFill>
                  </a:tcPr>
                </a:tc>
                <a:tc>
                  <a:txBody>
                    <a:bodyPr/>
                    <a:lstStyle/>
                    <a:p>
                      <a:pPr algn="l"/>
                      <a:r>
                        <a:rPr sz="1400" b="1" i="0">
                          <a:solidFill>
                            <a:srgbClr val="FFFFFF"/>
                          </a:solidFill>
                        </a:rPr>
                        <a:t>Assumption</a:t>
                      </a:r>
                    </a:p>
                  </a:txBody>
                  <a:tcPr marL="73152" marR="73152" marT="27432" marB="27432" anchor="ctr">
                    <a:solidFill>
                      <a:srgbClr val="00A651"/>
                    </a:solidFill>
                  </a:tcPr>
                </a:tc>
                <a:extLst>
                  <a:ext uri="{0D108BD9-81ED-4DB2-BD59-A6C34878D82A}">
                    <a16:rowId xmlns:a16="http://schemas.microsoft.com/office/drawing/2014/main" val="10000"/>
                  </a:ext>
                </a:extLst>
              </a:tr>
              <a:tr h="399448">
                <a:tc gridSpan="2">
                  <a:txBody>
                    <a:bodyPr/>
                    <a:lstStyle/>
                    <a:p>
                      <a:pPr algn="l"/>
                      <a:r>
                        <a:rPr sz="1300" b="1" i="0">
                          <a:solidFill>
                            <a:srgbClr val="00563C"/>
                          </a:solidFill>
                        </a:rPr>
                        <a:t>Site and grid</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01"/>
                  </a:ext>
                </a:extLst>
              </a:tr>
              <a:tr h="399448">
                <a:tc>
                  <a:txBody>
                    <a:bodyPr/>
                    <a:lstStyle/>
                    <a:p>
                      <a:pPr algn="l"/>
                      <a:r>
                        <a:rPr sz="1300" b="0" i="0">
                          <a:solidFill>
                            <a:srgbClr val="3C3C3B"/>
                          </a:solidFill>
                        </a:rPr>
                        <a:t>Grid node</a:t>
                      </a:r>
                    </a:p>
                  </a:txBody>
                  <a:tcPr marL="73152" marR="73152" marT="27432" marB="27432" anchor="ctr">
                    <a:solidFill>
                      <a:srgbClr val="F2F2F2"/>
                    </a:solidFill>
                  </a:tcPr>
                </a:tc>
                <a:tc>
                  <a:txBody>
                    <a:bodyPr/>
                    <a:lstStyle/>
                    <a:p>
                      <a:pPr algn="l"/>
                      <a:r>
                        <a:rPr sz="1300" b="0" i="0">
                          <a:solidFill>
                            <a:srgbClr val="3C3C3B"/>
                          </a:solidFill>
                        </a:rPr>
                        <a:t>Ács Katódgyár (BAMO B 132.00)</a:t>
                      </a:r>
                    </a:p>
                  </a:txBody>
                  <a:tcPr marL="73152" marR="73152" marT="27432" marB="27432" anchor="ctr">
                    <a:noFill/>
                  </a:tcPr>
                </a:tc>
                <a:extLst>
                  <a:ext uri="{0D108BD9-81ED-4DB2-BD59-A6C34878D82A}">
                    <a16:rowId xmlns:a16="http://schemas.microsoft.com/office/drawing/2014/main" val="10002"/>
                  </a:ext>
                </a:extLst>
              </a:tr>
              <a:tr h="399448">
                <a:tc>
                  <a:txBody>
                    <a:bodyPr/>
                    <a:lstStyle/>
                    <a:p>
                      <a:pPr algn="l"/>
                      <a:r>
                        <a:rPr sz="1300" b="0" i="0">
                          <a:solidFill>
                            <a:srgbClr val="3C3C3B"/>
                          </a:solidFill>
                        </a:rPr>
                        <a:t>Grid connection capacity</a:t>
                      </a:r>
                    </a:p>
                  </a:txBody>
                  <a:tcPr marL="73152" marR="73152" marT="27432" marB="27432" anchor="ctr">
                    <a:solidFill>
                      <a:srgbClr val="F2F2F2"/>
                    </a:solidFill>
                  </a:tcPr>
                </a:tc>
                <a:tc>
                  <a:txBody>
                    <a:bodyPr/>
                    <a:lstStyle/>
                    <a:p>
                      <a:pPr algn="l"/>
                      <a:r>
                        <a:rPr sz="1300" b="0" i="0">
                          <a:solidFill>
                            <a:srgbClr val="3C3C3B"/>
                          </a:solidFill>
                        </a:rPr>
                        <a:t>50 MVA</a:t>
                      </a:r>
                    </a:p>
                  </a:txBody>
                  <a:tcPr marL="73152" marR="73152" marT="27432" marB="27432" anchor="ctr">
                    <a:noFill/>
                  </a:tcPr>
                </a:tc>
                <a:extLst>
                  <a:ext uri="{0D108BD9-81ED-4DB2-BD59-A6C34878D82A}">
                    <a16:rowId xmlns:a16="http://schemas.microsoft.com/office/drawing/2014/main" val="10003"/>
                  </a:ext>
                </a:extLst>
              </a:tr>
              <a:tr h="399448">
                <a:tc>
                  <a:txBody>
                    <a:bodyPr/>
                    <a:lstStyle/>
                    <a:p>
                      <a:pPr algn="l"/>
                      <a:r>
                        <a:rPr sz="1300" b="0" i="0">
                          <a:solidFill>
                            <a:srgbClr val="3C3C3B"/>
                          </a:solidFill>
                        </a:rPr>
                        <a:t>Installed wind</a:t>
                      </a:r>
                    </a:p>
                  </a:txBody>
                  <a:tcPr marL="73152" marR="73152" marT="27432" marB="27432" anchor="ctr">
                    <a:solidFill>
                      <a:srgbClr val="F2F2F2"/>
                    </a:solidFill>
                  </a:tcPr>
                </a:tc>
                <a:tc>
                  <a:txBody>
                    <a:bodyPr/>
                    <a:lstStyle/>
                    <a:p>
                      <a:pPr algn="l"/>
                      <a:r>
                        <a:rPr sz="1300" b="0" i="0">
                          <a:solidFill>
                            <a:srgbClr val="3C3C3B"/>
                          </a:solidFill>
                        </a:rPr>
                        <a:t>50 MW</a:t>
                      </a:r>
                    </a:p>
                  </a:txBody>
                  <a:tcPr marL="73152" marR="73152" marT="27432" marB="27432" anchor="ctr">
                    <a:noFill/>
                  </a:tcPr>
                </a:tc>
                <a:extLst>
                  <a:ext uri="{0D108BD9-81ED-4DB2-BD59-A6C34878D82A}">
                    <a16:rowId xmlns:a16="http://schemas.microsoft.com/office/drawing/2014/main" val="10004"/>
                  </a:ext>
                </a:extLst>
              </a:tr>
              <a:tr h="399448">
                <a:tc gridSpan="2">
                  <a:txBody>
                    <a:bodyPr/>
                    <a:lstStyle/>
                    <a:p>
                      <a:pPr algn="l"/>
                      <a:r>
                        <a:rPr sz="1300" b="1" i="0">
                          <a:solidFill>
                            <a:srgbClr val="00563C"/>
                          </a:solidFill>
                        </a:rPr>
                        <a:t>Energy yield</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06"/>
                  </a:ext>
                </a:extLst>
              </a:tr>
              <a:tr h="399448">
                <a:tc>
                  <a:txBody>
                    <a:bodyPr/>
                    <a:lstStyle/>
                    <a:p>
                      <a:pPr algn="l"/>
                      <a:r>
                        <a:rPr sz="1300" b="0" i="0">
                          <a:solidFill>
                            <a:srgbClr val="3C3C3B"/>
                          </a:solidFill>
                        </a:rPr>
                        <a:t>Net P50 equivalent hours</a:t>
                      </a:r>
                    </a:p>
                  </a:txBody>
                  <a:tcPr marL="73152" marR="73152" marT="27432" marB="27432" anchor="ctr">
                    <a:solidFill>
                      <a:srgbClr val="F2F2F2"/>
                    </a:solidFill>
                  </a:tcPr>
                </a:tc>
                <a:tc>
                  <a:txBody>
                    <a:bodyPr/>
                    <a:lstStyle/>
                    <a:p>
                      <a:pPr algn="l"/>
                      <a:r>
                        <a:rPr sz="1300" b="0" i="0">
                          <a:solidFill>
                            <a:srgbClr val="3C3C3B"/>
                          </a:solidFill>
                        </a:rPr>
                        <a:t>2,460 h (NCF 28.1%)</a:t>
                      </a:r>
                    </a:p>
                  </a:txBody>
                  <a:tcPr marL="73152" marR="73152" marT="27432" marB="27432" anchor="ctr">
                    <a:noFill/>
                  </a:tcPr>
                </a:tc>
                <a:extLst>
                  <a:ext uri="{0D108BD9-81ED-4DB2-BD59-A6C34878D82A}">
                    <a16:rowId xmlns:a16="http://schemas.microsoft.com/office/drawing/2014/main" val="10007"/>
                  </a:ext>
                </a:extLst>
              </a:tr>
              <a:tr h="399448">
                <a:tc>
                  <a:txBody>
                    <a:bodyPr/>
                    <a:lstStyle/>
                    <a:p>
                      <a:pPr algn="l"/>
                      <a:r>
                        <a:rPr sz="1300" b="0" i="0">
                          <a:solidFill>
                            <a:srgbClr val="3C3C3B"/>
                          </a:solidFill>
                        </a:rPr>
                        <a:t>Curtailment / degradation</a:t>
                      </a:r>
                    </a:p>
                  </a:txBody>
                  <a:tcPr marL="73152" marR="73152" marT="27432" marB="27432" anchor="ctr">
                    <a:solidFill>
                      <a:srgbClr val="F2F2F2"/>
                    </a:solidFill>
                  </a:tcPr>
                </a:tc>
                <a:tc>
                  <a:txBody>
                    <a:bodyPr/>
                    <a:lstStyle/>
                    <a:p>
                      <a:pPr algn="l"/>
                      <a:r>
                        <a:rPr sz="1300" b="0" i="0">
                          <a:solidFill>
                            <a:srgbClr val="3C3C3B"/>
                          </a:solidFill>
                        </a:rPr>
                        <a:t>2.0% / 0.3% p.a.</a:t>
                      </a:r>
                    </a:p>
                  </a:txBody>
                  <a:tcPr marL="73152" marR="73152" marT="27432" marB="27432" anchor="ctr">
                    <a:noFill/>
                  </a:tcPr>
                </a:tc>
                <a:extLst>
                  <a:ext uri="{0D108BD9-81ED-4DB2-BD59-A6C34878D82A}">
                    <a16:rowId xmlns:a16="http://schemas.microsoft.com/office/drawing/2014/main" val="10008"/>
                  </a:ext>
                </a:extLst>
              </a:tr>
              <a:tr h="399448">
                <a:tc>
                  <a:txBody>
                    <a:bodyPr/>
                    <a:lstStyle/>
                    <a:p>
                      <a:pPr algn="l"/>
                      <a:r>
                        <a:rPr sz="1300" b="0" i="0">
                          <a:solidFill>
                            <a:srgbClr val="3C3C3B"/>
                          </a:solidFill>
                        </a:rPr>
                        <a:t>First full-year net generation</a:t>
                      </a:r>
                    </a:p>
                  </a:txBody>
                  <a:tcPr marL="73152" marR="73152" marT="27432" marB="27432" anchor="ctr">
                    <a:solidFill>
                      <a:srgbClr val="F2F2F2"/>
                    </a:solidFill>
                  </a:tcPr>
                </a:tc>
                <a:tc>
                  <a:txBody>
                    <a:bodyPr/>
                    <a:lstStyle/>
                    <a:p>
                      <a:pPr algn="l"/>
                      <a:r>
                        <a:rPr sz="1300" b="0" i="0">
                          <a:solidFill>
                            <a:srgbClr val="3C3C3B"/>
                          </a:solidFill>
                        </a:rPr>
                        <a:t>120.5 GWh (2031)</a:t>
                      </a:r>
                    </a:p>
                  </a:txBody>
                  <a:tcPr marL="73152" marR="73152" marT="27432" marB="27432" anchor="ctr">
                    <a:noFill/>
                  </a:tcPr>
                </a:tc>
                <a:extLst>
                  <a:ext uri="{0D108BD9-81ED-4DB2-BD59-A6C34878D82A}">
                    <a16:rowId xmlns:a16="http://schemas.microsoft.com/office/drawing/2014/main" val="10010"/>
                  </a:ext>
                </a:extLst>
              </a:tr>
              <a:tr h="399448">
                <a:tc>
                  <a:txBody>
                    <a:bodyPr/>
                    <a:lstStyle/>
                    <a:p>
                      <a:pPr algn="l"/>
                      <a:r>
                        <a:rPr sz="1300" b="0" i="0">
                          <a:solidFill>
                            <a:srgbClr val="3C3C3B"/>
                          </a:solidFill>
                        </a:rPr>
                        <a:t>Lifetime net generation</a:t>
                      </a:r>
                    </a:p>
                  </a:txBody>
                  <a:tcPr marL="73152" marR="73152" marT="27432" marB="27432" anchor="ctr">
                    <a:solidFill>
                      <a:srgbClr val="F2F2F2"/>
                    </a:solidFill>
                  </a:tcPr>
                </a:tc>
                <a:tc>
                  <a:txBody>
                    <a:bodyPr/>
                    <a:lstStyle/>
                    <a:p>
                      <a:pPr algn="l"/>
                      <a:r>
                        <a:rPr sz="1300" b="0" i="0">
                          <a:solidFill>
                            <a:srgbClr val="3C3C3B"/>
                          </a:solidFill>
                        </a:rPr>
                        <a:t>3,466 GWh over 30 years</a:t>
                      </a:r>
                    </a:p>
                  </a:txBody>
                  <a:tcPr marL="73152" marR="73152" marT="27432" marB="27432" anchor="ctr">
                    <a:noFill/>
                  </a:tcPr>
                </a:tc>
                <a:extLst>
                  <a:ext uri="{0D108BD9-81ED-4DB2-BD59-A6C34878D82A}">
                    <a16:rowId xmlns:a16="http://schemas.microsoft.com/office/drawing/2014/main" val="10011"/>
                  </a:ext>
                </a:extLst>
              </a:tr>
              <a:tr h="399448">
                <a:tc gridSpan="2">
                  <a:txBody>
                    <a:bodyPr/>
                    <a:lstStyle/>
                    <a:p>
                      <a:pPr algn="l"/>
                      <a:r>
                        <a:rPr sz="1300" b="1" i="0">
                          <a:solidFill>
                            <a:srgbClr val="00563C"/>
                          </a:solidFill>
                        </a:rPr>
                        <a:t>Timeline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12"/>
                  </a:ext>
                </a:extLst>
              </a:tr>
              <a:tr h="399448">
                <a:tc>
                  <a:txBody>
                    <a:bodyPr/>
                    <a:lstStyle/>
                    <a:p>
                      <a:pPr algn="l"/>
                      <a:r>
                        <a:rPr sz="1300" b="0" i="0">
                          <a:solidFill>
                            <a:srgbClr val="3C3C3B"/>
                          </a:solidFill>
                        </a:rPr>
                        <a:t>Tender bid / award</a:t>
                      </a:r>
                    </a:p>
                  </a:txBody>
                  <a:tcPr marL="73152" marR="73152" marT="27432" marB="27432" anchor="ctr">
                    <a:solidFill>
                      <a:srgbClr val="F2F2F2"/>
                    </a:solidFill>
                  </a:tcPr>
                </a:tc>
                <a:tc>
                  <a:txBody>
                    <a:bodyPr/>
                    <a:lstStyle/>
                    <a:p>
                      <a:pPr algn="l"/>
                      <a:r>
                        <a:rPr sz="1300" b="0" i="0">
                          <a:solidFill>
                            <a:srgbClr val="3C3C3B"/>
                          </a:solidFill>
                        </a:rPr>
                        <a:t>30-Oct-26 / 13-Dec-26</a:t>
                      </a:r>
                    </a:p>
                  </a:txBody>
                  <a:tcPr marL="73152" marR="73152" marT="27432" marB="27432" anchor="ctr">
                    <a:noFill/>
                  </a:tcPr>
                </a:tc>
                <a:extLst>
                  <a:ext uri="{0D108BD9-81ED-4DB2-BD59-A6C34878D82A}">
                    <a16:rowId xmlns:a16="http://schemas.microsoft.com/office/drawing/2014/main" val="10013"/>
                  </a:ext>
                </a:extLst>
              </a:tr>
              <a:tr h="399448">
                <a:tc>
                  <a:txBody>
                    <a:bodyPr/>
                    <a:lstStyle/>
                    <a:p>
                      <a:pPr algn="l"/>
                      <a:r>
                        <a:rPr sz="1300" b="0" i="0">
                          <a:solidFill>
                            <a:srgbClr val="3C3C3B"/>
                          </a:solidFill>
                        </a:rPr>
                        <a:t>NTP / COD</a:t>
                      </a:r>
                    </a:p>
                  </a:txBody>
                  <a:tcPr marL="73152" marR="73152" marT="27432" marB="27432" anchor="ctr">
                    <a:solidFill>
                      <a:srgbClr val="F2F2F2"/>
                    </a:solidFill>
                  </a:tcPr>
                </a:tc>
                <a:tc>
                  <a:txBody>
                    <a:bodyPr/>
                    <a:lstStyle/>
                    <a:p>
                      <a:pPr algn="l"/>
                      <a:r>
                        <a:rPr sz="1300" b="0" i="0">
                          <a:solidFill>
                            <a:srgbClr val="3C3C3B"/>
                          </a:solidFill>
                        </a:rPr>
                        <a:t>30-Sep-28 / 30-Sep-30</a:t>
                      </a:r>
                    </a:p>
                  </a:txBody>
                  <a:tcPr marL="73152" marR="73152" marT="27432" marB="27432" anchor="ctr">
                    <a:noFill/>
                  </a:tcPr>
                </a:tc>
                <a:extLst>
                  <a:ext uri="{0D108BD9-81ED-4DB2-BD59-A6C34878D82A}">
                    <a16:rowId xmlns:a16="http://schemas.microsoft.com/office/drawing/2014/main" val="10014"/>
                  </a:ext>
                </a:extLst>
              </a:tr>
              <a:tr h="399448">
                <a:tc>
                  <a:txBody>
                    <a:bodyPr/>
                    <a:lstStyle/>
                    <a:p>
                      <a:pPr algn="l"/>
                      <a:r>
                        <a:rPr sz="1300" b="0" i="0">
                          <a:solidFill>
                            <a:srgbClr val="3C3C3B"/>
                          </a:solidFill>
                        </a:rPr>
                        <a:t>COD deadline (tender)</a:t>
                      </a:r>
                    </a:p>
                  </a:txBody>
                  <a:tcPr marL="73152" marR="73152" marT="27432" marB="27432" anchor="ctr">
                    <a:solidFill>
                      <a:srgbClr val="F2F2F2"/>
                    </a:solidFill>
                  </a:tcPr>
                </a:tc>
                <a:tc>
                  <a:txBody>
                    <a:bodyPr/>
                    <a:lstStyle/>
                    <a:p>
                      <a:pPr algn="l"/>
                      <a:r>
                        <a:rPr sz="1300" b="0" i="0">
                          <a:solidFill>
                            <a:srgbClr val="3C3C3B"/>
                          </a:solidFill>
                        </a:rPr>
                        <a:t>30-Sep-32</a:t>
                      </a:r>
                    </a:p>
                  </a:txBody>
                  <a:tcPr marL="73152" marR="73152" marT="27432" marB="27432" anchor="ctr">
                    <a:noFill/>
                  </a:tcPr>
                </a:tc>
                <a:extLst>
                  <a:ext uri="{0D108BD9-81ED-4DB2-BD59-A6C34878D82A}">
                    <a16:rowId xmlns:a16="http://schemas.microsoft.com/office/drawing/2014/main" val="10015"/>
                  </a:ext>
                </a:extLst>
              </a:tr>
              <a:tr h="399448">
                <a:tc gridSpan="2">
                  <a:txBody>
                    <a:bodyPr/>
                    <a:lstStyle/>
                    <a:p>
                      <a:pPr algn="l"/>
                      <a:r>
                        <a:rPr sz="1300" b="1" i="0">
                          <a:solidFill>
                            <a:srgbClr val="00563C"/>
                          </a:solidFill>
                        </a:rPr>
                        <a:t>Acquisition and development</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16"/>
                  </a:ext>
                </a:extLst>
              </a:tr>
              <a:tr h="399448">
                <a:tc>
                  <a:txBody>
                    <a:bodyPr/>
                    <a:lstStyle/>
                    <a:p>
                      <a:pPr algn="l"/>
                      <a:r>
                        <a:rPr sz="1300" b="0" i="0">
                          <a:solidFill>
                            <a:srgbClr val="3C3C3B"/>
                          </a:solidFill>
                        </a:rPr>
                        <a:t>Signing / purchase price</a:t>
                      </a:r>
                    </a:p>
                  </a:txBody>
                  <a:tcPr marL="73152" marR="73152" marT="27432" marB="27432" anchor="ctr">
                    <a:solidFill>
                      <a:srgbClr val="F2F2F2"/>
                    </a:solidFill>
                  </a:tcPr>
                </a:tc>
                <a:tc>
                  <a:txBody>
                    <a:bodyPr/>
                    <a:lstStyle/>
                    <a:p>
                      <a:pPr algn="l"/>
                      <a:r>
                        <a:rPr lang="hu-HU" sz="1300" b="0" i="0" dirty="0" err="1">
                          <a:solidFill>
                            <a:srgbClr val="3C3C3B"/>
                          </a:solidFill>
                        </a:rPr>
                        <a:t>Estimated</a:t>
                      </a:r>
                      <a:r>
                        <a:rPr lang="hu-HU" sz="1300" b="0" i="0" dirty="0">
                          <a:solidFill>
                            <a:srgbClr val="3C3C3B"/>
                          </a:solidFill>
                        </a:rPr>
                        <a:t> </a:t>
                      </a:r>
                      <a:r>
                        <a:rPr lang="hu-HU" sz="1300" b="0" i="0" dirty="0" err="1">
                          <a:solidFill>
                            <a:srgbClr val="3C3C3B"/>
                          </a:solidFill>
                        </a:rPr>
                        <a:t>at</a:t>
                      </a:r>
                      <a:r>
                        <a:rPr lang="hu-HU" sz="1300" b="0" i="0" dirty="0">
                          <a:solidFill>
                            <a:srgbClr val="3C3C3B"/>
                          </a:solidFill>
                        </a:rPr>
                        <a:t> </a:t>
                      </a:r>
                      <a:r>
                        <a:rPr sz="1300" b="0" i="0" dirty="0">
                          <a:solidFill>
                            <a:srgbClr val="3C3C3B"/>
                          </a:solidFill>
                        </a:rPr>
                        <a:t>€4.50m at signing (31-Jul-26)</a:t>
                      </a:r>
                      <a:r>
                        <a:rPr lang="hu-HU" sz="1300" b="0" i="0" dirty="0">
                          <a:solidFill>
                            <a:srgbClr val="3C3C3B"/>
                          </a:solidFill>
                        </a:rPr>
                        <a:t>* TBD</a:t>
                      </a:r>
                      <a:endParaRPr sz="1300" b="0" i="0" dirty="0">
                        <a:solidFill>
                          <a:srgbClr val="3C3C3B"/>
                        </a:solidFill>
                      </a:endParaRPr>
                    </a:p>
                  </a:txBody>
                  <a:tcPr marL="73152" marR="73152" marT="27432" marB="27432" anchor="ctr">
                    <a:noFill/>
                  </a:tcPr>
                </a:tc>
                <a:extLst>
                  <a:ext uri="{0D108BD9-81ED-4DB2-BD59-A6C34878D82A}">
                    <a16:rowId xmlns:a16="http://schemas.microsoft.com/office/drawing/2014/main" val="10017"/>
                  </a:ext>
                </a:extLst>
              </a:tr>
            </a:tbl>
          </a:graphicData>
        </a:graphic>
      </p:graphicFrame>
      <p:sp>
        <p:nvSpPr>
          <p:cNvPr id="11" name="Footnote"/>
          <p:cNvSpPr txBox="1"/>
          <p:nvPr/>
        </p:nvSpPr>
        <p:spPr>
          <a:xfrm>
            <a:off x="4498848" y="9646920"/>
            <a:ext cx="13167360" cy="640080"/>
          </a:xfrm>
          <a:prstGeom prst="rect">
            <a:avLst/>
          </a:prstGeom>
          <a:noFill/>
        </p:spPr>
        <p:txBody>
          <a:bodyPr wrap="square" lIns="0" tIns="0" rIns="0" bIns="0" anchor="t">
            <a:spAutoFit/>
          </a:bodyPr>
          <a:lstStyle/>
          <a:p>
            <a:pPr algn="l"/>
            <a:r>
              <a:rPr sz="1100" b="0">
                <a:solidFill>
                  <a:srgbClr val="919191"/>
                </a:solidFill>
              </a:rPr>
              <a:t>Total scores are the model's own across all tender criteria; only the commitments FEP offers are listed.</a:t>
            </a:r>
          </a:p>
          <a:p>
            <a:pPr algn="l"/>
            <a:r>
              <a:rPr sz="1100" b="0">
                <a:solidFill>
                  <a:srgbClr val="919191"/>
                </a:solidFill>
              </a:rPr>
              <a:t>Source: Bana IC model, 9 Oct 2026.</a:t>
            </a:r>
          </a:p>
        </p:txBody>
      </p:sp>
      <p:graphicFrame>
        <p:nvGraphicFramePr>
          <p:cNvPr id="12" name="Bid table"/>
          <p:cNvGraphicFramePr>
            <a:graphicFrameLocks noGrp="1"/>
          </p:cNvGraphicFramePr>
          <p:nvPr/>
        </p:nvGraphicFramePr>
        <p:xfrm>
          <a:off x="12024360" y="1783080"/>
          <a:ext cx="6172200" cy="3794760"/>
        </p:xfrm>
        <a:graphic>
          <a:graphicData uri="http://schemas.openxmlformats.org/drawingml/2006/table">
            <a:tbl>
              <a:tblPr>
                <a:tableStyleId>{5C22544A-7EE6-4342-B048-85BDC9FD1C3A}</a:tableStyleId>
              </a:tblPr>
              <a:tblGrid>
                <a:gridCol w="36118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474345">
                <a:tc>
                  <a:txBody>
                    <a:bodyPr/>
                    <a:lstStyle/>
                    <a:p>
                      <a:pPr algn="l"/>
                      <a:r>
                        <a:rPr sz="1400" b="1" i="0" dirty="0">
                          <a:solidFill>
                            <a:srgbClr val="FFFFFF"/>
                          </a:solidFill>
                        </a:rPr>
                        <a:t>Tender bid</a:t>
                      </a:r>
                    </a:p>
                  </a:txBody>
                  <a:tcPr marL="73152" marR="73152" marT="27432" marB="27432" anchor="ctr">
                    <a:solidFill>
                      <a:srgbClr val="00A651"/>
                    </a:solidFill>
                  </a:tcPr>
                </a:tc>
                <a:tc>
                  <a:txBody>
                    <a:bodyPr/>
                    <a:lstStyle/>
                    <a:p>
                      <a:pPr algn="l"/>
                      <a:r>
                        <a:rPr sz="1400" b="1" i="0">
                          <a:solidFill>
                            <a:srgbClr val="FFFFFF"/>
                          </a:solidFill>
                        </a:rPr>
                        <a:t>Commitment</a:t>
                      </a:r>
                    </a:p>
                  </a:txBody>
                  <a:tcPr marL="73152" marR="73152" marT="27432" marB="27432" anchor="ctr">
                    <a:solidFill>
                      <a:srgbClr val="00A651"/>
                    </a:solidFill>
                  </a:tcPr>
                </a:tc>
                <a:extLst>
                  <a:ext uri="{0D108BD9-81ED-4DB2-BD59-A6C34878D82A}">
                    <a16:rowId xmlns:a16="http://schemas.microsoft.com/office/drawing/2014/main" val="10000"/>
                  </a:ext>
                </a:extLst>
              </a:tr>
              <a:tr h="474345">
                <a:tc gridSpan="2">
                  <a:txBody>
                    <a:bodyPr/>
                    <a:lstStyle/>
                    <a:p>
                      <a:pPr algn="l"/>
                      <a:r>
                        <a:rPr sz="1300" b="1" i="0">
                          <a:solidFill>
                            <a:srgbClr val="00563C"/>
                          </a:solidFill>
                        </a:rPr>
                        <a:t>Scored commitments</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01"/>
                  </a:ext>
                </a:extLst>
              </a:tr>
              <a:tr h="474345">
                <a:tc>
                  <a:txBody>
                    <a:bodyPr/>
                    <a:lstStyle/>
                    <a:p>
                      <a:pPr algn="l"/>
                      <a:r>
                        <a:rPr sz="1300" b="0" i="0">
                          <a:solidFill>
                            <a:srgbClr val="3C3C3B"/>
                          </a:solidFill>
                        </a:rPr>
                        <a:t>ÖSZ-1 One-off municipal contribution</a:t>
                      </a:r>
                    </a:p>
                  </a:txBody>
                  <a:tcPr marL="73152" marR="73152" marT="27432" marB="27432" anchor="ctr">
                    <a:solidFill>
                      <a:srgbClr val="F2F2F2"/>
                    </a:solidFill>
                  </a:tcPr>
                </a:tc>
                <a:tc>
                  <a:txBody>
                    <a:bodyPr/>
                    <a:lstStyle/>
                    <a:p>
                      <a:pPr algn="l"/>
                      <a:r>
                        <a:rPr sz="1300" b="0" i="0">
                          <a:solidFill>
                            <a:srgbClr val="3C3C3B"/>
                          </a:solidFill>
                        </a:rPr>
                        <a:t>35 k€/MW (€1.75m)</a:t>
                      </a:r>
                    </a:p>
                  </a:txBody>
                  <a:tcPr marL="73152" marR="73152" marT="27432" marB="27432" anchor="ctr">
                    <a:noFill/>
                  </a:tcPr>
                </a:tc>
                <a:extLst>
                  <a:ext uri="{0D108BD9-81ED-4DB2-BD59-A6C34878D82A}">
                    <a16:rowId xmlns:a16="http://schemas.microsoft.com/office/drawing/2014/main" val="10002"/>
                  </a:ext>
                </a:extLst>
              </a:tr>
              <a:tr h="474345">
                <a:tc>
                  <a:txBody>
                    <a:bodyPr/>
                    <a:lstStyle/>
                    <a:p>
                      <a:pPr algn="l"/>
                      <a:r>
                        <a:rPr sz="1300" b="0" i="0">
                          <a:solidFill>
                            <a:srgbClr val="3C3C3B"/>
                          </a:solidFill>
                        </a:rPr>
                        <a:t>ÖSZ-2 Annual community contribution</a:t>
                      </a:r>
                    </a:p>
                  </a:txBody>
                  <a:tcPr marL="73152" marR="73152" marT="27432" marB="27432" anchor="ctr">
                    <a:solidFill>
                      <a:srgbClr val="F2F2F2"/>
                    </a:solidFill>
                  </a:tcPr>
                </a:tc>
                <a:tc>
                  <a:txBody>
                    <a:bodyPr/>
                    <a:lstStyle/>
                    <a:p>
                      <a:pPr algn="l"/>
                      <a:r>
                        <a:rPr sz="1300" b="0" i="0">
                          <a:solidFill>
                            <a:srgbClr val="3C3C3B"/>
                          </a:solidFill>
                        </a:rPr>
                        <a:t>2.5 €/MWh</a:t>
                      </a:r>
                    </a:p>
                  </a:txBody>
                  <a:tcPr marL="73152" marR="73152" marT="27432" marB="27432" anchor="ctr">
                    <a:noFill/>
                  </a:tcPr>
                </a:tc>
                <a:extLst>
                  <a:ext uri="{0D108BD9-81ED-4DB2-BD59-A6C34878D82A}">
                    <a16:rowId xmlns:a16="http://schemas.microsoft.com/office/drawing/2014/main" val="10003"/>
                  </a:ext>
                </a:extLst>
              </a:tr>
              <a:tr h="474345">
                <a:tc>
                  <a:txBody>
                    <a:bodyPr/>
                    <a:lstStyle/>
                    <a:p>
                      <a:pPr algn="l"/>
                      <a:r>
                        <a:rPr sz="1300" b="0" i="0">
                          <a:solidFill>
                            <a:srgbClr val="3C3C3B"/>
                          </a:solidFill>
                        </a:rPr>
                        <a:t>ÖSZ-6 Performance security</a:t>
                      </a:r>
                    </a:p>
                  </a:txBody>
                  <a:tcPr marL="73152" marR="73152" marT="27432" marB="27432" anchor="ctr">
                    <a:solidFill>
                      <a:srgbClr val="F2F2F2"/>
                    </a:solidFill>
                  </a:tcPr>
                </a:tc>
                <a:tc>
                  <a:txBody>
                    <a:bodyPr/>
                    <a:lstStyle/>
                    <a:p>
                      <a:pPr algn="l"/>
                      <a:r>
                        <a:rPr sz="1300" b="0" i="0" dirty="0">
                          <a:solidFill>
                            <a:srgbClr val="3C3C3B"/>
                          </a:solidFill>
                        </a:rPr>
                        <a:t>100% of minimum</a:t>
                      </a:r>
                    </a:p>
                  </a:txBody>
                  <a:tcPr marL="73152" marR="73152" marT="27432" marB="27432" anchor="ctr">
                    <a:noFill/>
                  </a:tcPr>
                </a:tc>
                <a:extLst>
                  <a:ext uri="{0D108BD9-81ED-4DB2-BD59-A6C34878D82A}">
                    <a16:rowId xmlns:a16="http://schemas.microsoft.com/office/drawing/2014/main" val="10006"/>
                  </a:ext>
                </a:extLst>
              </a:tr>
              <a:tr h="474345">
                <a:tc gridSpan="2">
                  <a:txBody>
                    <a:bodyPr/>
                    <a:lstStyle/>
                    <a:p>
                      <a:pPr algn="l"/>
                      <a:r>
                        <a:rPr sz="1300" b="1" i="0" dirty="0">
                          <a:solidFill>
                            <a:srgbClr val="00563C"/>
                          </a:solidFill>
                        </a:rPr>
                        <a:t>Tender score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07"/>
                  </a:ext>
                </a:extLst>
              </a:tr>
              <a:tr h="474345">
                <a:tc>
                  <a:txBody>
                    <a:bodyPr/>
                    <a:lstStyle/>
                    <a:p>
                      <a:pPr algn="l"/>
                      <a:r>
                        <a:rPr sz="1300" b="0" i="0">
                          <a:solidFill>
                            <a:srgbClr val="3C3C3B"/>
                          </a:solidFill>
                        </a:rPr>
                        <a:t>Total score – European turbine</a:t>
                      </a:r>
                    </a:p>
                  </a:txBody>
                  <a:tcPr marL="73152" marR="73152" marT="27432" marB="27432" anchor="ctr">
                    <a:solidFill>
                      <a:srgbClr val="F2F2F2"/>
                    </a:solidFill>
                  </a:tcPr>
                </a:tc>
                <a:tc>
                  <a:txBody>
                    <a:bodyPr/>
                    <a:lstStyle/>
                    <a:p>
                      <a:pPr algn="l"/>
                      <a:r>
                        <a:rPr sz="1300" b="0" i="0">
                          <a:solidFill>
                            <a:srgbClr val="3C3C3B"/>
                          </a:solidFill>
                        </a:rPr>
                        <a:t>29 pts</a:t>
                      </a:r>
                    </a:p>
                  </a:txBody>
                  <a:tcPr marL="73152" marR="73152" marT="27432" marB="27432" anchor="ctr">
                    <a:noFill/>
                  </a:tcPr>
                </a:tc>
                <a:extLst>
                  <a:ext uri="{0D108BD9-81ED-4DB2-BD59-A6C34878D82A}">
                    <a16:rowId xmlns:a16="http://schemas.microsoft.com/office/drawing/2014/main" val="10008"/>
                  </a:ext>
                </a:extLst>
              </a:tr>
              <a:tr h="474345">
                <a:tc>
                  <a:txBody>
                    <a:bodyPr/>
                    <a:lstStyle/>
                    <a:p>
                      <a:pPr algn="l"/>
                      <a:r>
                        <a:rPr sz="1300" b="0" i="0" dirty="0">
                          <a:solidFill>
                            <a:srgbClr val="3C3C3B"/>
                          </a:solidFill>
                        </a:rPr>
                        <a:t>Total score – Chinese turbine</a:t>
                      </a:r>
                    </a:p>
                  </a:txBody>
                  <a:tcPr marL="73152" marR="73152" marT="27432" marB="27432" anchor="ctr">
                    <a:solidFill>
                      <a:srgbClr val="F2F2F2"/>
                    </a:solidFill>
                  </a:tcPr>
                </a:tc>
                <a:tc>
                  <a:txBody>
                    <a:bodyPr/>
                    <a:lstStyle/>
                    <a:p>
                      <a:pPr algn="l"/>
                      <a:r>
                        <a:rPr sz="1300" b="0" i="0" dirty="0">
                          <a:solidFill>
                            <a:srgbClr val="3C3C3B"/>
                          </a:solidFill>
                        </a:rPr>
                        <a:t>17 pts</a:t>
                      </a:r>
                    </a:p>
                  </a:txBody>
                  <a:tcPr marL="73152" marR="73152" marT="27432" marB="27432" anchor="c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629552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8C36D-8A85-7240-E569-68D42E17655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35CB96A-5943-1799-7671-B87AE6BD83F5}"/>
              </a:ext>
            </a:extLst>
          </p:cNvPr>
          <p:cNvSpPr>
            <a:spLocks noGrp="1"/>
          </p:cNvSpPr>
          <p:nvPr>
            <p:ph type="title"/>
          </p:nvPr>
        </p:nvSpPr>
        <p:spPr>
          <a:xfrm>
            <a:off x="4498848" y="283464"/>
            <a:ext cx="12618720" cy="795528"/>
          </a:xfrm>
        </p:spPr>
        <p:txBody>
          <a:bodyPr anchor="ctr"/>
          <a:lstStyle/>
          <a:p>
            <a:r>
              <a:rPr lang="en-GB" noProof="0" dirty="0"/>
              <a:t>Funding to COD and what comes back</a:t>
            </a:r>
          </a:p>
        </p:txBody>
      </p:sp>
      <p:sp>
        <p:nvSpPr>
          <p:cNvPr id="2" name="Slide Number Placeholder 1">
            <a:extLst>
              <a:ext uri="{FF2B5EF4-FFF2-40B4-BE49-F238E27FC236}">
                <a16:creationId xmlns:a16="http://schemas.microsoft.com/office/drawing/2014/main" id="{25998BA7-495C-B8E8-70B6-32AA6042333D}"/>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C90D80D7-F26B-0D98-EECD-BC40C468A81E}"/>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Capex, uses and sources, tender bonds and what is returned – European vs Chinese turbine (€m)</a:t>
            </a:r>
          </a:p>
        </p:txBody>
      </p:sp>
      <p:graphicFrame>
        <p:nvGraphicFramePr>
          <p:cNvPr id="11" name="Capex table"/>
          <p:cNvGraphicFramePr>
            <a:graphicFrameLocks noGrp="1"/>
          </p:cNvGraphicFramePr>
          <p:nvPr/>
        </p:nvGraphicFramePr>
        <p:xfrm>
          <a:off x="4498848" y="1600200"/>
          <a:ext cx="6492240" cy="3291840"/>
        </p:xfrm>
        <a:graphic>
          <a:graphicData uri="http://schemas.openxmlformats.org/drawingml/2006/table">
            <a:tbl>
              <a:tblPr>
                <a:tableStyleId>{5C22544A-7EE6-4342-B048-85BDC9FD1C3A}</a:tableStyleId>
              </a:tblPr>
              <a:tblGrid>
                <a:gridCol w="4206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29184">
                <a:tc>
                  <a:txBody>
                    <a:bodyPr/>
                    <a:lstStyle/>
                    <a:p>
                      <a:pPr algn="l"/>
                      <a:r>
                        <a:rPr sz="1300" b="1" i="0">
                          <a:solidFill>
                            <a:srgbClr val="FFFFFF"/>
                          </a:solidFill>
                        </a:rPr>
                        <a:t>Construction capex (€m)</a:t>
                      </a:r>
                    </a:p>
                  </a:txBody>
                  <a:tcPr marL="73152" marR="73152" marT="27432" marB="27432" anchor="ctr">
                    <a:solidFill>
                      <a:srgbClr val="00A651"/>
                    </a:solidFill>
                  </a:tcPr>
                </a:tc>
                <a:tc>
                  <a:txBody>
                    <a:bodyPr/>
                    <a:lstStyle/>
                    <a:p>
                      <a:pPr algn="r"/>
                      <a:r>
                        <a:rPr sz="1300" b="1" i="0">
                          <a:solidFill>
                            <a:srgbClr val="FFFFFF"/>
                          </a:solidFill>
                        </a:rPr>
                        <a:t>European</a:t>
                      </a:r>
                    </a:p>
                  </a:txBody>
                  <a:tcPr marL="73152" marR="73152" marT="27432" marB="27432" anchor="ctr">
                    <a:solidFill>
                      <a:srgbClr val="00A651"/>
                    </a:solidFill>
                  </a:tcPr>
                </a:tc>
                <a:tc>
                  <a:txBody>
                    <a:bodyPr/>
                    <a:lstStyle/>
                    <a:p>
                      <a:pPr algn="r"/>
                      <a:r>
                        <a:rPr sz="1300" b="1" i="0">
                          <a:solidFill>
                            <a:srgbClr val="FFFFFF"/>
                          </a:solidFill>
                        </a:rPr>
                        <a:t>Chinese</a:t>
                      </a:r>
                    </a:p>
                  </a:txBody>
                  <a:tcPr marL="73152" marR="73152" marT="27432" marB="27432" anchor="ctr">
                    <a:solidFill>
                      <a:srgbClr val="00A651"/>
                    </a:solidFill>
                  </a:tcPr>
                </a:tc>
                <a:extLst>
                  <a:ext uri="{0D108BD9-81ED-4DB2-BD59-A6C34878D82A}">
                    <a16:rowId xmlns:a16="http://schemas.microsoft.com/office/drawing/2014/main" val="10000"/>
                  </a:ext>
                </a:extLst>
              </a:tr>
              <a:tr h="329184">
                <a:tc>
                  <a:txBody>
                    <a:bodyPr/>
                    <a:lstStyle/>
                    <a:p>
                      <a:pPr algn="l"/>
                      <a:r>
                        <a:rPr sz="1200" b="0" i="0">
                          <a:solidFill>
                            <a:srgbClr val="3C3C3B"/>
                          </a:solidFill>
                        </a:rPr>
                        <a:t>Turbines (950 | 500 k€/MW)</a:t>
                      </a:r>
                    </a:p>
                  </a:txBody>
                  <a:tcPr marL="73152" marR="73152" marT="27432" marB="27432" anchor="ctr">
                    <a:solidFill>
                      <a:srgbClr val="F2F2F2"/>
                    </a:solidFill>
                  </a:tcPr>
                </a:tc>
                <a:tc>
                  <a:txBody>
                    <a:bodyPr/>
                    <a:lstStyle/>
                    <a:p>
                      <a:pPr algn="r"/>
                      <a:r>
                        <a:rPr sz="1200" b="0" i="0">
                          <a:solidFill>
                            <a:srgbClr val="3C3C3B"/>
                          </a:solidFill>
                        </a:rPr>
                        <a:t>47.50</a:t>
                      </a:r>
                    </a:p>
                  </a:txBody>
                  <a:tcPr marL="73152" marR="73152" marT="27432" marB="27432" anchor="ctr">
                    <a:noFill/>
                  </a:tcPr>
                </a:tc>
                <a:tc>
                  <a:txBody>
                    <a:bodyPr/>
                    <a:lstStyle/>
                    <a:p>
                      <a:pPr algn="r"/>
                      <a:r>
                        <a:rPr sz="1200" b="0" i="0">
                          <a:solidFill>
                            <a:srgbClr val="3C3C3B"/>
                          </a:solidFill>
                        </a:rPr>
                        <a:t>25.00</a:t>
                      </a:r>
                    </a:p>
                  </a:txBody>
                  <a:tcPr marL="73152" marR="73152" marT="27432" marB="27432" anchor="ctr">
                    <a:noFill/>
                  </a:tcPr>
                </a:tc>
                <a:extLst>
                  <a:ext uri="{0D108BD9-81ED-4DB2-BD59-A6C34878D82A}">
                    <a16:rowId xmlns:a16="http://schemas.microsoft.com/office/drawing/2014/main" val="10001"/>
                  </a:ext>
                </a:extLst>
              </a:tr>
              <a:tr h="329184">
                <a:tc>
                  <a:txBody>
                    <a:bodyPr/>
                    <a:lstStyle/>
                    <a:p>
                      <a:pPr algn="l"/>
                      <a:r>
                        <a:rPr sz="1200" b="0" i="0">
                          <a:solidFill>
                            <a:srgbClr val="3C3C3B"/>
                          </a:solidFill>
                        </a:rPr>
                        <a:t>Installation, foundations, BOP</a:t>
                      </a:r>
                    </a:p>
                  </a:txBody>
                  <a:tcPr marL="73152" marR="73152" marT="27432" marB="27432" anchor="ctr">
                    <a:solidFill>
                      <a:srgbClr val="F2F2F2"/>
                    </a:solidFill>
                  </a:tcPr>
                </a:tc>
                <a:tc>
                  <a:txBody>
                    <a:bodyPr/>
                    <a:lstStyle/>
                    <a:p>
                      <a:pPr algn="r"/>
                      <a:r>
                        <a:rPr sz="1200" b="0" i="0">
                          <a:solidFill>
                            <a:srgbClr val="3C3C3B"/>
                          </a:solidFill>
                        </a:rPr>
                        <a:t>15.00</a:t>
                      </a:r>
                    </a:p>
                  </a:txBody>
                  <a:tcPr marL="73152" marR="73152" marT="27432" marB="27432" anchor="ctr">
                    <a:noFill/>
                  </a:tcPr>
                </a:tc>
                <a:tc>
                  <a:txBody>
                    <a:bodyPr/>
                    <a:lstStyle/>
                    <a:p>
                      <a:pPr algn="r"/>
                      <a:r>
                        <a:rPr sz="1200" b="0" i="0">
                          <a:solidFill>
                            <a:srgbClr val="3C3C3B"/>
                          </a:solidFill>
                        </a:rPr>
                        <a:t>15.00</a:t>
                      </a:r>
                    </a:p>
                  </a:txBody>
                  <a:tcPr marL="73152" marR="73152" marT="27432" marB="27432" anchor="ctr">
                    <a:noFill/>
                  </a:tcPr>
                </a:tc>
                <a:extLst>
                  <a:ext uri="{0D108BD9-81ED-4DB2-BD59-A6C34878D82A}">
                    <a16:rowId xmlns:a16="http://schemas.microsoft.com/office/drawing/2014/main" val="10002"/>
                  </a:ext>
                </a:extLst>
              </a:tr>
              <a:tr h="329184">
                <a:tc>
                  <a:txBody>
                    <a:bodyPr/>
                    <a:lstStyle/>
                    <a:p>
                      <a:pPr algn="l"/>
                      <a:r>
                        <a:rPr sz="1200" b="0" i="0">
                          <a:solidFill>
                            <a:srgbClr val="3C3C3B"/>
                          </a:solidFill>
                        </a:rPr>
                        <a:t>Owner's costs and land purchase</a:t>
                      </a:r>
                    </a:p>
                  </a:txBody>
                  <a:tcPr marL="73152" marR="73152" marT="27432" marB="27432" anchor="ctr">
                    <a:solidFill>
                      <a:srgbClr val="F2F2F2"/>
                    </a:solidFill>
                  </a:tcPr>
                </a:tc>
                <a:tc>
                  <a:txBody>
                    <a:bodyPr/>
                    <a:lstStyle/>
                    <a:p>
                      <a:pPr algn="r"/>
                      <a:r>
                        <a:rPr sz="1200" b="0" i="0">
                          <a:solidFill>
                            <a:srgbClr val="3C3C3B"/>
                          </a:solidFill>
                        </a:rPr>
                        <a:t>2.75</a:t>
                      </a:r>
                    </a:p>
                  </a:txBody>
                  <a:tcPr marL="73152" marR="73152" marT="27432" marB="27432" anchor="ctr">
                    <a:noFill/>
                  </a:tcPr>
                </a:tc>
                <a:tc>
                  <a:txBody>
                    <a:bodyPr/>
                    <a:lstStyle/>
                    <a:p>
                      <a:pPr algn="r"/>
                      <a:r>
                        <a:rPr sz="1200" b="0" i="0">
                          <a:solidFill>
                            <a:srgbClr val="3C3C3B"/>
                          </a:solidFill>
                        </a:rPr>
                        <a:t>2.75</a:t>
                      </a:r>
                    </a:p>
                  </a:txBody>
                  <a:tcPr marL="73152" marR="73152" marT="27432" marB="27432" anchor="ctr">
                    <a:noFill/>
                  </a:tcPr>
                </a:tc>
                <a:extLst>
                  <a:ext uri="{0D108BD9-81ED-4DB2-BD59-A6C34878D82A}">
                    <a16:rowId xmlns:a16="http://schemas.microsoft.com/office/drawing/2014/main" val="10003"/>
                  </a:ext>
                </a:extLst>
              </a:tr>
              <a:tr h="329184">
                <a:tc>
                  <a:txBody>
                    <a:bodyPr/>
                    <a:lstStyle/>
                    <a:p>
                      <a:pPr algn="l"/>
                      <a:r>
                        <a:rPr sz="1200" b="0" i="0">
                          <a:solidFill>
                            <a:srgbClr val="3C3C3B"/>
                          </a:solidFill>
                        </a:rPr>
                        <a:t>Substation and grid bay</a:t>
                      </a:r>
                    </a:p>
                  </a:txBody>
                  <a:tcPr marL="73152" marR="73152" marT="27432" marB="27432" anchor="ctr">
                    <a:solidFill>
                      <a:srgbClr val="F2F2F2"/>
                    </a:solidFill>
                  </a:tcPr>
                </a:tc>
                <a:tc>
                  <a:txBody>
                    <a:bodyPr/>
                    <a:lstStyle/>
                    <a:p>
                      <a:pPr algn="r"/>
                      <a:r>
                        <a:rPr sz="1200" b="0" i="0">
                          <a:solidFill>
                            <a:srgbClr val="3C3C3B"/>
                          </a:solidFill>
                        </a:rPr>
                        <a:t>12.00</a:t>
                      </a:r>
                    </a:p>
                  </a:txBody>
                  <a:tcPr marL="73152" marR="73152" marT="27432" marB="27432" anchor="ctr">
                    <a:noFill/>
                  </a:tcPr>
                </a:tc>
                <a:tc>
                  <a:txBody>
                    <a:bodyPr/>
                    <a:lstStyle/>
                    <a:p>
                      <a:pPr algn="r"/>
                      <a:r>
                        <a:rPr sz="1200" b="0" i="0">
                          <a:solidFill>
                            <a:srgbClr val="3C3C3B"/>
                          </a:solidFill>
                        </a:rPr>
                        <a:t>10.80</a:t>
                      </a:r>
                    </a:p>
                  </a:txBody>
                  <a:tcPr marL="73152" marR="73152" marT="27432" marB="27432" anchor="ctr">
                    <a:noFill/>
                  </a:tcPr>
                </a:tc>
                <a:extLst>
                  <a:ext uri="{0D108BD9-81ED-4DB2-BD59-A6C34878D82A}">
                    <a16:rowId xmlns:a16="http://schemas.microsoft.com/office/drawing/2014/main" val="10004"/>
                  </a:ext>
                </a:extLst>
              </a:tr>
              <a:tr h="329184">
                <a:tc>
                  <a:txBody>
                    <a:bodyPr/>
                    <a:lstStyle/>
                    <a:p>
                      <a:pPr algn="l"/>
                      <a:r>
                        <a:rPr sz="1200" b="0" i="0">
                          <a:solidFill>
                            <a:srgbClr val="3C3C3B"/>
                          </a:solidFill>
                        </a:rPr>
                        <a:t>Contingency</a:t>
                      </a:r>
                    </a:p>
                  </a:txBody>
                  <a:tcPr marL="73152" marR="73152" marT="27432" marB="27432" anchor="ctr">
                    <a:solidFill>
                      <a:srgbClr val="F2F2F2"/>
                    </a:solidFill>
                  </a:tcPr>
                </a:tc>
                <a:tc>
                  <a:txBody>
                    <a:bodyPr/>
                    <a:lstStyle/>
                    <a:p>
                      <a:pPr algn="r"/>
                      <a:r>
                        <a:rPr sz="1200" b="0" i="0">
                          <a:solidFill>
                            <a:srgbClr val="3C3C3B"/>
                          </a:solidFill>
                        </a:rPr>
                        <a:t>3.86</a:t>
                      </a:r>
                    </a:p>
                  </a:txBody>
                  <a:tcPr marL="73152" marR="73152" marT="27432" marB="27432" anchor="ctr">
                    <a:noFill/>
                  </a:tcPr>
                </a:tc>
                <a:tc>
                  <a:txBody>
                    <a:bodyPr/>
                    <a:lstStyle/>
                    <a:p>
                      <a:pPr algn="r"/>
                      <a:r>
                        <a:rPr sz="1200" b="0" i="0">
                          <a:solidFill>
                            <a:srgbClr val="3C3C3B"/>
                          </a:solidFill>
                        </a:rPr>
                        <a:t>2.68</a:t>
                      </a:r>
                    </a:p>
                  </a:txBody>
                  <a:tcPr marL="73152" marR="73152" marT="27432" marB="27432" anchor="ctr">
                    <a:noFill/>
                  </a:tcPr>
                </a:tc>
                <a:extLst>
                  <a:ext uri="{0D108BD9-81ED-4DB2-BD59-A6C34878D82A}">
                    <a16:rowId xmlns:a16="http://schemas.microsoft.com/office/drawing/2014/main" val="10005"/>
                  </a:ext>
                </a:extLst>
              </a:tr>
              <a:tr h="329184">
                <a:tc>
                  <a:txBody>
                    <a:bodyPr/>
                    <a:lstStyle/>
                    <a:p>
                      <a:pPr algn="l"/>
                      <a:r>
                        <a:rPr sz="1200" b="0" i="0">
                          <a:solidFill>
                            <a:srgbClr val="3C3C3B"/>
                          </a:solidFill>
                        </a:rPr>
                        <a:t>Municipal contribution (35 k€/MW)</a:t>
                      </a:r>
                    </a:p>
                  </a:txBody>
                  <a:tcPr marL="73152" marR="73152" marT="27432" marB="27432" anchor="ctr">
                    <a:solidFill>
                      <a:srgbClr val="F2F2F2"/>
                    </a:solidFill>
                  </a:tcPr>
                </a:tc>
                <a:tc>
                  <a:txBody>
                    <a:bodyPr/>
                    <a:lstStyle/>
                    <a:p>
                      <a:pPr algn="r"/>
                      <a:r>
                        <a:rPr sz="1200" b="0" i="0">
                          <a:solidFill>
                            <a:srgbClr val="3C3C3B"/>
                          </a:solidFill>
                        </a:rPr>
                        <a:t>1.75</a:t>
                      </a:r>
                    </a:p>
                  </a:txBody>
                  <a:tcPr marL="73152" marR="73152" marT="27432" marB="27432" anchor="ctr">
                    <a:noFill/>
                  </a:tcPr>
                </a:tc>
                <a:tc>
                  <a:txBody>
                    <a:bodyPr/>
                    <a:lstStyle/>
                    <a:p>
                      <a:pPr algn="r"/>
                      <a:r>
                        <a:rPr sz="1200" b="0" i="0">
                          <a:solidFill>
                            <a:srgbClr val="3C3C3B"/>
                          </a:solidFill>
                        </a:rPr>
                        <a:t>1.75</a:t>
                      </a:r>
                    </a:p>
                  </a:txBody>
                  <a:tcPr marL="73152" marR="73152" marT="27432" marB="27432" anchor="ctr">
                    <a:noFill/>
                  </a:tcPr>
                </a:tc>
                <a:extLst>
                  <a:ext uri="{0D108BD9-81ED-4DB2-BD59-A6C34878D82A}">
                    <a16:rowId xmlns:a16="http://schemas.microsoft.com/office/drawing/2014/main" val="10006"/>
                  </a:ext>
                </a:extLst>
              </a:tr>
              <a:tr h="329184">
                <a:tc>
                  <a:txBody>
                    <a:bodyPr/>
                    <a:lstStyle/>
                    <a:p>
                      <a:pPr algn="l"/>
                      <a:r>
                        <a:rPr sz="1200" b="0" i="0">
                          <a:solidFill>
                            <a:srgbClr val="3C3C3B"/>
                          </a:solidFill>
                        </a:rPr>
                        <a:t>Grid fee – direct</a:t>
                      </a:r>
                    </a:p>
                  </a:txBody>
                  <a:tcPr marL="73152" marR="73152" marT="27432" marB="27432" anchor="ctr">
                    <a:solidFill>
                      <a:srgbClr val="F2F2F2"/>
                    </a:solidFill>
                  </a:tcPr>
                </a:tc>
                <a:tc>
                  <a:txBody>
                    <a:bodyPr/>
                    <a:lstStyle/>
                    <a:p>
                      <a:pPr algn="r"/>
                      <a:r>
                        <a:rPr sz="1200" b="0" i="0">
                          <a:solidFill>
                            <a:srgbClr val="3C3C3B"/>
                          </a:solidFill>
                        </a:rPr>
                        <a:t>1.26</a:t>
                      </a:r>
                    </a:p>
                  </a:txBody>
                  <a:tcPr marL="73152" marR="73152" marT="27432" marB="27432" anchor="ctr">
                    <a:noFill/>
                  </a:tcPr>
                </a:tc>
                <a:tc>
                  <a:txBody>
                    <a:bodyPr/>
                    <a:lstStyle/>
                    <a:p>
                      <a:pPr algn="r"/>
                      <a:r>
                        <a:rPr sz="1200" b="0" i="0">
                          <a:solidFill>
                            <a:srgbClr val="3C3C3B"/>
                          </a:solidFill>
                        </a:rPr>
                        <a:t>1.26</a:t>
                      </a:r>
                    </a:p>
                  </a:txBody>
                  <a:tcPr marL="73152" marR="73152" marT="27432" marB="27432" anchor="ctr">
                    <a:noFill/>
                  </a:tcPr>
                </a:tc>
                <a:extLst>
                  <a:ext uri="{0D108BD9-81ED-4DB2-BD59-A6C34878D82A}">
                    <a16:rowId xmlns:a16="http://schemas.microsoft.com/office/drawing/2014/main" val="10007"/>
                  </a:ext>
                </a:extLst>
              </a:tr>
              <a:tr h="329184">
                <a:tc>
                  <a:txBody>
                    <a:bodyPr/>
                    <a:lstStyle/>
                    <a:p>
                      <a:pPr algn="l"/>
                      <a:r>
                        <a:rPr sz="1200" b="0" i="0">
                          <a:solidFill>
                            <a:srgbClr val="3C3C3B"/>
                          </a:solidFill>
                        </a:rPr>
                        <a:t>Grid fee – indirect, net of TSO security</a:t>
                      </a:r>
                    </a:p>
                  </a:txBody>
                  <a:tcPr marL="73152" marR="73152" marT="27432" marB="27432" anchor="ctr">
                    <a:solidFill>
                      <a:srgbClr val="F2F2F2"/>
                    </a:solidFill>
                  </a:tcPr>
                </a:tc>
                <a:tc>
                  <a:txBody>
                    <a:bodyPr/>
                    <a:lstStyle/>
                    <a:p>
                      <a:pPr algn="r"/>
                      <a:r>
                        <a:rPr sz="1200" b="0" i="0">
                          <a:solidFill>
                            <a:srgbClr val="3C3C3B"/>
                          </a:solidFill>
                        </a:rPr>
                        <a:t>6.89</a:t>
                      </a:r>
                    </a:p>
                  </a:txBody>
                  <a:tcPr marL="73152" marR="73152" marT="27432" marB="27432" anchor="ctr">
                    <a:noFill/>
                  </a:tcPr>
                </a:tc>
                <a:tc>
                  <a:txBody>
                    <a:bodyPr/>
                    <a:lstStyle/>
                    <a:p>
                      <a:pPr algn="r"/>
                      <a:r>
                        <a:rPr sz="1200" b="0" i="0">
                          <a:solidFill>
                            <a:srgbClr val="3C3C3B"/>
                          </a:solidFill>
                        </a:rPr>
                        <a:t>6.89</a:t>
                      </a:r>
                    </a:p>
                  </a:txBody>
                  <a:tcPr marL="73152" marR="73152" marT="27432" marB="27432" anchor="ctr">
                    <a:noFill/>
                  </a:tcPr>
                </a:tc>
                <a:extLst>
                  <a:ext uri="{0D108BD9-81ED-4DB2-BD59-A6C34878D82A}">
                    <a16:rowId xmlns:a16="http://schemas.microsoft.com/office/drawing/2014/main" val="10008"/>
                  </a:ext>
                </a:extLst>
              </a:tr>
              <a:tr h="329184">
                <a:tc>
                  <a:txBody>
                    <a:bodyPr/>
                    <a:lstStyle/>
                    <a:p>
                      <a:pPr algn="l"/>
                      <a:r>
                        <a:rPr sz="1200" b="1" i="0">
                          <a:solidFill>
                            <a:srgbClr val="FFFFFF"/>
                          </a:solidFill>
                        </a:rPr>
                        <a:t>Total capex</a:t>
                      </a:r>
                    </a:p>
                  </a:txBody>
                  <a:tcPr marL="73152" marR="73152" marT="27432" marB="27432" anchor="ctr">
                    <a:solidFill>
                      <a:srgbClr val="00563C"/>
                    </a:solidFill>
                  </a:tcPr>
                </a:tc>
                <a:tc>
                  <a:txBody>
                    <a:bodyPr/>
                    <a:lstStyle/>
                    <a:p>
                      <a:pPr algn="r"/>
                      <a:r>
                        <a:rPr sz="1200" b="1" i="0">
                          <a:solidFill>
                            <a:srgbClr val="FFFFFF"/>
                          </a:solidFill>
                        </a:rPr>
                        <a:t>91.02</a:t>
                      </a:r>
                    </a:p>
                  </a:txBody>
                  <a:tcPr marL="73152" marR="73152" marT="27432" marB="27432" anchor="ctr">
                    <a:solidFill>
                      <a:srgbClr val="00563C"/>
                    </a:solidFill>
                  </a:tcPr>
                </a:tc>
                <a:tc>
                  <a:txBody>
                    <a:bodyPr/>
                    <a:lstStyle/>
                    <a:p>
                      <a:pPr algn="r"/>
                      <a:r>
                        <a:rPr sz="1200" b="1" i="0">
                          <a:solidFill>
                            <a:srgbClr val="FFFFFF"/>
                          </a:solidFill>
                        </a:rPr>
                        <a:t>66.13</a:t>
                      </a:r>
                    </a:p>
                  </a:txBody>
                  <a:tcPr marL="73152" marR="73152" marT="27432" marB="27432" anchor="ctr">
                    <a:solidFill>
                      <a:srgbClr val="00563C"/>
                    </a:solidFill>
                  </a:tcPr>
                </a:tc>
                <a:extLst>
                  <a:ext uri="{0D108BD9-81ED-4DB2-BD59-A6C34878D82A}">
                    <a16:rowId xmlns:a16="http://schemas.microsoft.com/office/drawing/2014/main" val="10009"/>
                  </a:ext>
                </a:extLst>
              </a:tr>
            </a:tbl>
          </a:graphicData>
        </a:graphic>
      </p:graphicFrame>
      <p:graphicFrame>
        <p:nvGraphicFramePr>
          <p:cNvPr id="12" name="Funding table"/>
          <p:cNvGraphicFramePr>
            <a:graphicFrameLocks noGrp="1"/>
          </p:cNvGraphicFramePr>
          <p:nvPr/>
        </p:nvGraphicFramePr>
        <p:xfrm>
          <a:off x="11247120" y="1600200"/>
          <a:ext cx="6812280" cy="5358384"/>
        </p:xfrm>
        <a:graphic>
          <a:graphicData uri="http://schemas.openxmlformats.org/drawingml/2006/table">
            <a:tbl>
              <a:tblPr>
                <a:tableStyleId>{5C22544A-7EE6-4342-B048-85BDC9FD1C3A}</a:tableStyleId>
              </a:tblPr>
              <a:tblGrid>
                <a:gridCol w="4434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29184">
                <a:tc>
                  <a:txBody>
                    <a:bodyPr/>
                    <a:lstStyle/>
                    <a:p>
                      <a:pPr algn="l"/>
                      <a:r>
                        <a:rPr sz="1300" b="1" i="0">
                          <a:solidFill>
                            <a:srgbClr val="FFFFFF"/>
                          </a:solidFill>
                        </a:rPr>
                        <a:t>Uses and sources to COD (€m)</a:t>
                      </a:r>
                    </a:p>
                  </a:txBody>
                  <a:tcPr marL="73152" marR="73152" marT="27432" marB="27432" anchor="ctr">
                    <a:solidFill>
                      <a:srgbClr val="00A651"/>
                    </a:solidFill>
                  </a:tcPr>
                </a:tc>
                <a:tc>
                  <a:txBody>
                    <a:bodyPr/>
                    <a:lstStyle/>
                    <a:p>
                      <a:pPr algn="r"/>
                      <a:r>
                        <a:rPr sz="1300" b="1" i="0">
                          <a:solidFill>
                            <a:srgbClr val="FFFFFF"/>
                          </a:solidFill>
                        </a:rPr>
                        <a:t>European</a:t>
                      </a:r>
                    </a:p>
                  </a:txBody>
                  <a:tcPr marL="73152" marR="73152" marT="27432" marB="27432" anchor="ctr">
                    <a:solidFill>
                      <a:srgbClr val="00A651"/>
                    </a:solidFill>
                  </a:tcPr>
                </a:tc>
                <a:tc>
                  <a:txBody>
                    <a:bodyPr/>
                    <a:lstStyle/>
                    <a:p>
                      <a:pPr algn="r"/>
                      <a:r>
                        <a:rPr sz="1300" b="1" i="0">
                          <a:solidFill>
                            <a:srgbClr val="FFFFFF"/>
                          </a:solidFill>
                        </a:rPr>
                        <a:t>Chinese</a:t>
                      </a:r>
                    </a:p>
                  </a:txBody>
                  <a:tcPr marL="73152" marR="73152" marT="27432" marB="27432" anchor="ctr">
                    <a:solidFill>
                      <a:srgbClr val="00A651"/>
                    </a:solidFill>
                  </a:tcPr>
                </a:tc>
                <a:extLst>
                  <a:ext uri="{0D108BD9-81ED-4DB2-BD59-A6C34878D82A}">
                    <a16:rowId xmlns:a16="http://schemas.microsoft.com/office/drawing/2014/main" val="10000"/>
                  </a:ext>
                </a:extLst>
              </a:tr>
              <a:tr h="329184">
                <a:tc>
                  <a:txBody>
                    <a:bodyPr/>
                    <a:lstStyle/>
                    <a:p>
                      <a:pPr algn="l"/>
                      <a:r>
                        <a:rPr sz="1200" b="1" i="0">
                          <a:solidFill>
                            <a:srgbClr val="3C3C3B"/>
                          </a:solidFill>
                        </a:rPr>
                        <a:t>Development phase</a:t>
                      </a:r>
                    </a:p>
                  </a:txBody>
                  <a:tcPr marL="73152" marR="73152" marT="27432" marB="27432" anchor="ctr">
                    <a:solidFill>
                      <a:srgbClr val="F2F2F2"/>
                    </a:solidFill>
                  </a:tcPr>
                </a:tc>
                <a:tc>
                  <a:txBody>
                    <a:bodyPr/>
                    <a:lstStyle/>
                    <a:p>
                      <a:pPr algn="r"/>
                      <a:r>
                        <a:rPr sz="1200" b="1" i="0">
                          <a:solidFill>
                            <a:srgbClr val="3C3C3B"/>
                          </a:solidFill>
                        </a:rPr>
                        <a:t>6.09</a:t>
                      </a:r>
                    </a:p>
                  </a:txBody>
                  <a:tcPr marL="73152" marR="73152" marT="27432" marB="27432" anchor="ctr">
                    <a:noFill/>
                  </a:tcPr>
                </a:tc>
                <a:tc>
                  <a:txBody>
                    <a:bodyPr/>
                    <a:lstStyle/>
                    <a:p>
                      <a:pPr algn="r"/>
                      <a:r>
                        <a:rPr sz="1200" b="1" i="0">
                          <a:solidFill>
                            <a:srgbClr val="3C3C3B"/>
                          </a:solidFill>
                        </a:rPr>
                        <a:t>6.09</a:t>
                      </a:r>
                    </a:p>
                  </a:txBody>
                  <a:tcPr marL="73152" marR="73152" marT="27432" marB="27432" anchor="ctr">
                    <a:noFill/>
                  </a:tcPr>
                </a:tc>
                <a:extLst>
                  <a:ext uri="{0D108BD9-81ED-4DB2-BD59-A6C34878D82A}">
                    <a16:rowId xmlns:a16="http://schemas.microsoft.com/office/drawing/2014/main" val="10001"/>
                  </a:ext>
                </a:extLst>
              </a:tr>
              <a:tr h="329184">
                <a:tc>
                  <a:txBody>
                    <a:bodyPr/>
                    <a:lstStyle/>
                    <a:p>
                      <a:pPr algn="l"/>
                      <a:r>
                        <a:rPr sz="1200" b="0" i="0" dirty="0">
                          <a:solidFill>
                            <a:srgbClr val="3C3C3B"/>
                          </a:solidFill>
                        </a:rPr>
                        <a:t>   Purchase price to </a:t>
                      </a:r>
                      <a:r>
                        <a:rPr lang="hu-HU" sz="1200" b="0" i="0" dirty="0">
                          <a:solidFill>
                            <a:srgbClr val="3C3C3B"/>
                          </a:solidFill>
                        </a:rPr>
                        <a:t>GEI (</a:t>
                      </a:r>
                      <a:r>
                        <a:rPr lang="hu-HU" sz="1200" b="0" i="1" dirty="0" err="1">
                          <a:solidFill>
                            <a:srgbClr val="3C3C3B"/>
                          </a:solidFill>
                        </a:rPr>
                        <a:t>assumption</a:t>
                      </a:r>
                      <a:r>
                        <a:rPr lang="hu-HU" sz="1200" b="0" i="0" dirty="0">
                          <a:solidFill>
                            <a:srgbClr val="3C3C3B"/>
                          </a:solidFill>
                        </a:rPr>
                        <a:t>)</a:t>
                      </a:r>
                      <a:endParaRPr sz="1200" b="0" i="0" dirty="0">
                        <a:solidFill>
                          <a:srgbClr val="3C3C3B"/>
                        </a:solidFill>
                      </a:endParaRPr>
                    </a:p>
                  </a:txBody>
                  <a:tcPr marL="73152" marR="73152" marT="27432" marB="27432" anchor="ctr">
                    <a:solidFill>
                      <a:srgbClr val="F2F2F2"/>
                    </a:solidFill>
                  </a:tcPr>
                </a:tc>
                <a:tc>
                  <a:txBody>
                    <a:bodyPr/>
                    <a:lstStyle/>
                    <a:p>
                      <a:pPr algn="r"/>
                      <a:r>
                        <a:rPr sz="1200" b="0" i="0" dirty="0">
                          <a:solidFill>
                            <a:srgbClr val="3C3C3B"/>
                          </a:solidFill>
                        </a:rPr>
                        <a:t>4.50</a:t>
                      </a:r>
                    </a:p>
                  </a:txBody>
                  <a:tcPr marL="73152" marR="73152" marT="27432" marB="27432" anchor="ctr">
                    <a:noFill/>
                  </a:tcPr>
                </a:tc>
                <a:tc>
                  <a:txBody>
                    <a:bodyPr/>
                    <a:lstStyle/>
                    <a:p>
                      <a:pPr algn="r"/>
                      <a:r>
                        <a:rPr sz="1200" b="0" i="0">
                          <a:solidFill>
                            <a:srgbClr val="3C3C3B"/>
                          </a:solidFill>
                        </a:rPr>
                        <a:t>4.50</a:t>
                      </a:r>
                    </a:p>
                  </a:txBody>
                  <a:tcPr marL="73152" marR="73152" marT="27432" marB="27432" anchor="ctr">
                    <a:noFill/>
                  </a:tcPr>
                </a:tc>
                <a:extLst>
                  <a:ext uri="{0D108BD9-81ED-4DB2-BD59-A6C34878D82A}">
                    <a16:rowId xmlns:a16="http://schemas.microsoft.com/office/drawing/2014/main" val="10002"/>
                  </a:ext>
                </a:extLst>
              </a:tr>
              <a:tr h="329184">
                <a:tc>
                  <a:txBody>
                    <a:bodyPr/>
                    <a:lstStyle/>
                    <a:p>
                      <a:pPr algn="l"/>
                      <a:r>
                        <a:rPr sz="1200" b="0" i="0" dirty="0">
                          <a:solidFill>
                            <a:srgbClr val="3C3C3B"/>
                          </a:solidFill>
                        </a:rPr>
                        <a:t>   Due diligence</a:t>
                      </a:r>
                    </a:p>
                  </a:txBody>
                  <a:tcPr marL="73152" marR="73152" marT="27432" marB="27432" anchor="ctr">
                    <a:solidFill>
                      <a:srgbClr val="F2F2F2"/>
                    </a:solidFill>
                  </a:tcPr>
                </a:tc>
                <a:tc>
                  <a:txBody>
                    <a:bodyPr/>
                    <a:lstStyle/>
                    <a:p>
                      <a:pPr algn="r"/>
                      <a:r>
                        <a:rPr sz="1200" b="0" i="0">
                          <a:solidFill>
                            <a:srgbClr val="3C3C3B"/>
                          </a:solidFill>
                        </a:rPr>
                        <a:t>0.15</a:t>
                      </a:r>
                    </a:p>
                  </a:txBody>
                  <a:tcPr marL="73152" marR="73152" marT="27432" marB="27432" anchor="ctr">
                    <a:noFill/>
                  </a:tcPr>
                </a:tc>
                <a:tc>
                  <a:txBody>
                    <a:bodyPr/>
                    <a:lstStyle/>
                    <a:p>
                      <a:pPr algn="r"/>
                      <a:r>
                        <a:rPr sz="1200" b="0" i="0">
                          <a:solidFill>
                            <a:srgbClr val="3C3C3B"/>
                          </a:solidFill>
                        </a:rPr>
                        <a:t>0.15</a:t>
                      </a:r>
                    </a:p>
                  </a:txBody>
                  <a:tcPr marL="73152" marR="73152" marT="27432" marB="27432" anchor="ctr">
                    <a:noFill/>
                  </a:tcPr>
                </a:tc>
                <a:extLst>
                  <a:ext uri="{0D108BD9-81ED-4DB2-BD59-A6C34878D82A}">
                    <a16:rowId xmlns:a16="http://schemas.microsoft.com/office/drawing/2014/main" val="10003"/>
                  </a:ext>
                </a:extLst>
              </a:tr>
              <a:tr h="329184">
                <a:tc>
                  <a:txBody>
                    <a:bodyPr/>
                    <a:lstStyle/>
                    <a:p>
                      <a:pPr algn="l"/>
                      <a:r>
                        <a:rPr sz="1200" b="0" i="0" dirty="0">
                          <a:solidFill>
                            <a:srgbClr val="3C3C3B"/>
                          </a:solidFill>
                        </a:rPr>
                        <a:t>   </a:t>
                      </a:r>
                      <a:r>
                        <a:rPr sz="1200" b="0" i="0" dirty="0" err="1">
                          <a:solidFill>
                            <a:srgbClr val="3C3C3B"/>
                          </a:solidFill>
                        </a:rPr>
                        <a:t>Devex</a:t>
                      </a:r>
                      <a:r>
                        <a:rPr sz="1200" b="0" i="0" dirty="0">
                          <a:solidFill>
                            <a:srgbClr val="3C3C3B"/>
                          </a:solidFill>
                        </a:rPr>
                        <a:t> and land (budget €0.50m)</a:t>
                      </a:r>
                    </a:p>
                  </a:txBody>
                  <a:tcPr marL="73152" marR="73152" marT="27432" marB="27432" anchor="ctr">
                    <a:solidFill>
                      <a:srgbClr val="F2F2F2"/>
                    </a:solidFill>
                  </a:tcPr>
                </a:tc>
                <a:tc>
                  <a:txBody>
                    <a:bodyPr/>
                    <a:lstStyle/>
                    <a:p>
                      <a:pPr algn="r"/>
                      <a:r>
                        <a:rPr sz="1200" b="0" i="0">
                          <a:solidFill>
                            <a:srgbClr val="3C3C3B"/>
                          </a:solidFill>
                        </a:rPr>
                        <a:t>0.49</a:t>
                      </a:r>
                    </a:p>
                  </a:txBody>
                  <a:tcPr marL="73152" marR="73152" marT="27432" marB="27432" anchor="ctr">
                    <a:noFill/>
                  </a:tcPr>
                </a:tc>
                <a:tc>
                  <a:txBody>
                    <a:bodyPr/>
                    <a:lstStyle/>
                    <a:p>
                      <a:pPr algn="r"/>
                      <a:r>
                        <a:rPr sz="1200" b="0" i="0">
                          <a:solidFill>
                            <a:srgbClr val="3C3C3B"/>
                          </a:solidFill>
                        </a:rPr>
                        <a:t>0.49</a:t>
                      </a:r>
                    </a:p>
                  </a:txBody>
                  <a:tcPr marL="73152" marR="73152" marT="27432" marB="27432" anchor="ctr">
                    <a:noFill/>
                  </a:tcPr>
                </a:tc>
                <a:extLst>
                  <a:ext uri="{0D108BD9-81ED-4DB2-BD59-A6C34878D82A}">
                    <a16:rowId xmlns:a16="http://schemas.microsoft.com/office/drawing/2014/main" val="10004"/>
                  </a:ext>
                </a:extLst>
              </a:tr>
              <a:tr h="329184">
                <a:tc>
                  <a:txBody>
                    <a:bodyPr/>
                    <a:lstStyle/>
                    <a:p>
                      <a:pPr algn="l"/>
                      <a:r>
                        <a:rPr sz="1200" b="0" i="0">
                          <a:solidFill>
                            <a:srgbClr val="3C3C3B"/>
                          </a:solidFill>
                        </a:rPr>
                        <a:t>   Tender bonds and fees (TSO security, guarantee fees, participation fee)</a:t>
                      </a:r>
                    </a:p>
                  </a:txBody>
                  <a:tcPr marL="73152" marR="73152" marT="27432" marB="27432" anchor="ctr">
                    <a:solidFill>
                      <a:srgbClr val="F2F2F2"/>
                    </a:solidFill>
                  </a:tcPr>
                </a:tc>
                <a:tc>
                  <a:txBody>
                    <a:bodyPr/>
                    <a:lstStyle/>
                    <a:p>
                      <a:pPr algn="r"/>
                      <a:r>
                        <a:rPr sz="1200" b="0" i="0">
                          <a:solidFill>
                            <a:srgbClr val="3C3C3B"/>
                          </a:solidFill>
                        </a:rPr>
                        <a:t>0.95</a:t>
                      </a:r>
                    </a:p>
                  </a:txBody>
                  <a:tcPr marL="73152" marR="73152" marT="27432" marB="27432" anchor="ctr">
                    <a:noFill/>
                  </a:tcPr>
                </a:tc>
                <a:tc>
                  <a:txBody>
                    <a:bodyPr/>
                    <a:lstStyle/>
                    <a:p>
                      <a:pPr algn="r"/>
                      <a:r>
                        <a:rPr sz="1200" b="0" i="0">
                          <a:solidFill>
                            <a:srgbClr val="3C3C3B"/>
                          </a:solidFill>
                        </a:rPr>
                        <a:t>0.95</a:t>
                      </a:r>
                    </a:p>
                  </a:txBody>
                  <a:tcPr marL="73152" marR="73152" marT="27432" marB="27432" anchor="ctr">
                    <a:noFill/>
                  </a:tcPr>
                </a:tc>
                <a:extLst>
                  <a:ext uri="{0D108BD9-81ED-4DB2-BD59-A6C34878D82A}">
                    <a16:rowId xmlns:a16="http://schemas.microsoft.com/office/drawing/2014/main" val="10005"/>
                  </a:ext>
                </a:extLst>
              </a:tr>
              <a:tr h="329184">
                <a:tc>
                  <a:txBody>
                    <a:bodyPr/>
                    <a:lstStyle/>
                    <a:p>
                      <a:pPr algn="l"/>
                      <a:r>
                        <a:rPr sz="1200" b="0" i="0">
                          <a:solidFill>
                            <a:srgbClr val="3C3C3B"/>
                          </a:solidFill>
                        </a:rPr>
                        <a:t>Construction capex</a:t>
                      </a:r>
                    </a:p>
                  </a:txBody>
                  <a:tcPr marL="73152" marR="73152" marT="27432" marB="27432" anchor="ctr">
                    <a:solidFill>
                      <a:srgbClr val="F2F2F2"/>
                    </a:solidFill>
                  </a:tcPr>
                </a:tc>
                <a:tc>
                  <a:txBody>
                    <a:bodyPr/>
                    <a:lstStyle/>
                    <a:p>
                      <a:pPr algn="r"/>
                      <a:r>
                        <a:rPr sz="1200" b="0" i="0">
                          <a:solidFill>
                            <a:srgbClr val="3C3C3B"/>
                          </a:solidFill>
                        </a:rPr>
                        <a:t>91.02</a:t>
                      </a:r>
                    </a:p>
                  </a:txBody>
                  <a:tcPr marL="73152" marR="73152" marT="27432" marB="27432" anchor="ctr">
                    <a:noFill/>
                  </a:tcPr>
                </a:tc>
                <a:tc>
                  <a:txBody>
                    <a:bodyPr/>
                    <a:lstStyle/>
                    <a:p>
                      <a:pPr algn="r"/>
                      <a:r>
                        <a:rPr sz="1200" b="0" i="0">
                          <a:solidFill>
                            <a:srgbClr val="3C3C3B"/>
                          </a:solidFill>
                        </a:rPr>
                        <a:t>66.13</a:t>
                      </a:r>
                    </a:p>
                  </a:txBody>
                  <a:tcPr marL="73152" marR="73152" marT="27432" marB="27432" anchor="ctr">
                    <a:noFill/>
                  </a:tcPr>
                </a:tc>
                <a:extLst>
                  <a:ext uri="{0D108BD9-81ED-4DB2-BD59-A6C34878D82A}">
                    <a16:rowId xmlns:a16="http://schemas.microsoft.com/office/drawing/2014/main" val="10006"/>
                  </a:ext>
                </a:extLst>
              </a:tr>
              <a:tr h="329184">
                <a:tc>
                  <a:txBody>
                    <a:bodyPr/>
                    <a:lstStyle/>
                    <a:p>
                      <a:pPr algn="l"/>
                      <a:r>
                        <a:rPr sz="1200" b="0" i="0">
                          <a:solidFill>
                            <a:srgbClr val="3C3C3B"/>
                          </a:solidFill>
                        </a:rPr>
                        <a:t>Upfront and commitment fees</a:t>
                      </a:r>
                    </a:p>
                  </a:txBody>
                  <a:tcPr marL="73152" marR="73152" marT="27432" marB="27432" anchor="ctr">
                    <a:solidFill>
                      <a:srgbClr val="F2F2F2"/>
                    </a:solidFill>
                  </a:tcPr>
                </a:tc>
                <a:tc>
                  <a:txBody>
                    <a:bodyPr/>
                    <a:lstStyle/>
                    <a:p>
                      <a:pPr algn="r"/>
                      <a:r>
                        <a:rPr sz="1200" b="0" i="0">
                          <a:solidFill>
                            <a:srgbClr val="3C3C3B"/>
                          </a:solidFill>
                        </a:rPr>
                        <a:t>1.44</a:t>
                      </a:r>
                    </a:p>
                  </a:txBody>
                  <a:tcPr marL="73152" marR="73152" marT="27432" marB="27432" anchor="ctr">
                    <a:noFill/>
                  </a:tcPr>
                </a:tc>
                <a:tc>
                  <a:txBody>
                    <a:bodyPr/>
                    <a:lstStyle/>
                    <a:p>
                      <a:pPr algn="r"/>
                      <a:r>
                        <a:rPr sz="1200" b="0" i="0">
                          <a:solidFill>
                            <a:srgbClr val="3C3C3B"/>
                          </a:solidFill>
                        </a:rPr>
                        <a:t>0.87</a:t>
                      </a:r>
                    </a:p>
                  </a:txBody>
                  <a:tcPr marL="73152" marR="73152" marT="27432" marB="27432" anchor="ctr">
                    <a:noFill/>
                  </a:tcPr>
                </a:tc>
                <a:extLst>
                  <a:ext uri="{0D108BD9-81ED-4DB2-BD59-A6C34878D82A}">
                    <a16:rowId xmlns:a16="http://schemas.microsoft.com/office/drawing/2014/main" val="10007"/>
                  </a:ext>
                </a:extLst>
              </a:tr>
              <a:tr h="329184">
                <a:tc>
                  <a:txBody>
                    <a:bodyPr/>
                    <a:lstStyle/>
                    <a:p>
                      <a:pPr algn="l"/>
                      <a:r>
                        <a:rPr sz="1200" b="0" i="0">
                          <a:solidFill>
                            <a:srgbClr val="3C3C3B"/>
                          </a:solidFill>
                        </a:rPr>
                        <a:t>Capitalised interest</a:t>
                      </a:r>
                    </a:p>
                  </a:txBody>
                  <a:tcPr marL="73152" marR="73152" marT="27432" marB="27432" anchor="ctr">
                    <a:solidFill>
                      <a:srgbClr val="F2F2F2"/>
                    </a:solidFill>
                  </a:tcPr>
                </a:tc>
                <a:tc>
                  <a:txBody>
                    <a:bodyPr/>
                    <a:lstStyle/>
                    <a:p>
                      <a:pPr algn="r"/>
                      <a:r>
                        <a:rPr sz="1200" b="0" i="0">
                          <a:solidFill>
                            <a:srgbClr val="3C3C3B"/>
                          </a:solidFill>
                        </a:rPr>
                        <a:t>2.92</a:t>
                      </a:r>
                    </a:p>
                  </a:txBody>
                  <a:tcPr marL="73152" marR="73152" marT="27432" marB="27432" anchor="ctr">
                    <a:noFill/>
                  </a:tcPr>
                </a:tc>
                <a:tc>
                  <a:txBody>
                    <a:bodyPr/>
                    <a:lstStyle/>
                    <a:p>
                      <a:pPr algn="r"/>
                      <a:r>
                        <a:rPr sz="1200" b="0" i="0">
                          <a:solidFill>
                            <a:srgbClr val="3C3C3B"/>
                          </a:solidFill>
                        </a:rPr>
                        <a:t>1.77</a:t>
                      </a:r>
                    </a:p>
                  </a:txBody>
                  <a:tcPr marL="73152" marR="73152" marT="27432" marB="27432" anchor="ctr">
                    <a:noFill/>
                  </a:tcPr>
                </a:tc>
                <a:extLst>
                  <a:ext uri="{0D108BD9-81ED-4DB2-BD59-A6C34878D82A}">
                    <a16:rowId xmlns:a16="http://schemas.microsoft.com/office/drawing/2014/main" val="10008"/>
                  </a:ext>
                </a:extLst>
              </a:tr>
              <a:tr h="329184">
                <a:tc>
                  <a:txBody>
                    <a:bodyPr/>
                    <a:lstStyle/>
                    <a:p>
                      <a:pPr algn="l"/>
                      <a:r>
                        <a:rPr sz="1200" b="0" i="0">
                          <a:solidFill>
                            <a:srgbClr val="3C3C3B"/>
                          </a:solidFill>
                        </a:rPr>
                        <a:t>Land lease during construction</a:t>
                      </a:r>
                    </a:p>
                  </a:txBody>
                  <a:tcPr marL="73152" marR="73152" marT="27432" marB="27432" anchor="ctr">
                    <a:solidFill>
                      <a:srgbClr val="F2F2F2"/>
                    </a:solidFill>
                  </a:tcPr>
                </a:tc>
                <a:tc>
                  <a:txBody>
                    <a:bodyPr/>
                    <a:lstStyle/>
                    <a:p>
                      <a:pPr algn="r"/>
                      <a:r>
                        <a:rPr sz="1200" b="0" i="0">
                          <a:solidFill>
                            <a:srgbClr val="3C3C3B"/>
                          </a:solidFill>
                        </a:rPr>
                        <a:t>0.29</a:t>
                      </a:r>
                    </a:p>
                  </a:txBody>
                  <a:tcPr marL="73152" marR="73152" marT="27432" marB="27432" anchor="ctr">
                    <a:noFill/>
                  </a:tcPr>
                </a:tc>
                <a:tc>
                  <a:txBody>
                    <a:bodyPr/>
                    <a:lstStyle/>
                    <a:p>
                      <a:pPr algn="r"/>
                      <a:r>
                        <a:rPr sz="1200" b="0" i="0">
                          <a:solidFill>
                            <a:srgbClr val="3C3C3B"/>
                          </a:solidFill>
                        </a:rPr>
                        <a:t>0.29</a:t>
                      </a:r>
                    </a:p>
                  </a:txBody>
                  <a:tcPr marL="73152" marR="73152" marT="27432" marB="27432" anchor="ctr">
                    <a:noFill/>
                  </a:tcPr>
                </a:tc>
                <a:extLst>
                  <a:ext uri="{0D108BD9-81ED-4DB2-BD59-A6C34878D82A}">
                    <a16:rowId xmlns:a16="http://schemas.microsoft.com/office/drawing/2014/main" val="10009"/>
                  </a:ext>
                </a:extLst>
              </a:tr>
              <a:tr h="329184">
                <a:tc>
                  <a:txBody>
                    <a:bodyPr/>
                    <a:lstStyle/>
                    <a:p>
                      <a:pPr algn="l"/>
                      <a:r>
                        <a:rPr sz="1200" b="1" i="0">
                          <a:solidFill>
                            <a:srgbClr val="FFFFFF"/>
                          </a:solidFill>
                        </a:rPr>
                        <a:t>Total uses</a:t>
                      </a:r>
                    </a:p>
                  </a:txBody>
                  <a:tcPr marL="73152" marR="73152" marT="27432" marB="27432" anchor="ctr">
                    <a:solidFill>
                      <a:srgbClr val="00563C"/>
                    </a:solidFill>
                  </a:tcPr>
                </a:tc>
                <a:tc>
                  <a:txBody>
                    <a:bodyPr/>
                    <a:lstStyle/>
                    <a:p>
                      <a:pPr algn="r"/>
                      <a:r>
                        <a:rPr sz="1200" b="1" i="0">
                          <a:solidFill>
                            <a:srgbClr val="FFFFFF"/>
                          </a:solidFill>
                        </a:rPr>
                        <a:t>101.75</a:t>
                      </a:r>
                    </a:p>
                  </a:txBody>
                  <a:tcPr marL="73152" marR="73152" marT="27432" marB="27432" anchor="ctr">
                    <a:solidFill>
                      <a:srgbClr val="00563C"/>
                    </a:solidFill>
                  </a:tcPr>
                </a:tc>
                <a:tc>
                  <a:txBody>
                    <a:bodyPr/>
                    <a:lstStyle/>
                    <a:p>
                      <a:pPr algn="r"/>
                      <a:r>
                        <a:rPr sz="1200" b="1" i="0">
                          <a:solidFill>
                            <a:srgbClr val="FFFFFF"/>
                          </a:solidFill>
                        </a:rPr>
                        <a:t>75.15</a:t>
                      </a:r>
                    </a:p>
                  </a:txBody>
                  <a:tcPr marL="73152" marR="73152" marT="27432" marB="27432" anchor="ctr">
                    <a:solidFill>
                      <a:srgbClr val="00563C"/>
                    </a:solidFill>
                  </a:tcPr>
                </a:tc>
                <a:extLst>
                  <a:ext uri="{0D108BD9-81ED-4DB2-BD59-A6C34878D82A}">
                    <a16:rowId xmlns:a16="http://schemas.microsoft.com/office/drawing/2014/main" val="10010"/>
                  </a:ext>
                </a:extLst>
              </a:tr>
              <a:tr h="329184">
                <a:tc>
                  <a:txBody>
                    <a:bodyPr/>
                    <a:lstStyle/>
                    <a:p>
                      <a:pPr algn="l"/>
                      <a:r>
                        <a:rPr sz="1200" b="0" i="0" dirty="0">
                          <a:solidFill>
                            <a:srgbClr val="3C3C3B"/>
                          </a:solidFill>
                        </a:rPr>
                        <a:t>Senior debt (gearing 60% | 50%)</a:t>
                      </a:r>
                    </a:p>
                  </a:txBody>
                  <a:tcPr marL="73152" marR="73152" marT="27432" marB="27432" anchor="ctr">
                    <a:solidFill>
                      <a:srgbClr val="F2F2F2"/>
                    </a:solidFill>
                  </a:tcPr>
                </a:tc>
                <a:tc>
                  <a:txBody>
                    <a:bodyPr/>
                    <a:lstStyle/>
                    <a:p>
                      <a:pPr algn="r"/>
                      <a:r>
                        <a:rPr sz="1200" b="0" i="0">
                          <a:solidFill>
                            <a:srgbClr val="3C3C3B"/>
                          </a:solidFill>
                        </a:rPr>
                        <a:t>57.53</a:t>
                      </a:r>
                    </a:p>
                  </a:txBody>
                  <a:tcPr marL="73152" marR="73152" marT="27432" marB="27432" anchor="ctr">
                    <a:noFill/>
                  </a:tcPr>
                </a:tc>
                <a:tc>
                  <a:txBody>
                    <a:bodyPr/>
                    <a:lstStyle/>
                    <a:p>
                      <a:pPr algn="r"/>
                      <a:r>
                        <a:rPr sz="1200" b="0" i="0">
                          <a:solidFill>
                            <a:srgbClr val="3C3C3B"/>
                          </a:solidFill>
                        </a:rPr>
                        <a:t>34.83</a:t>
                      </a:r>
                    </a:p>
                  </a:txBody>
                  <a:tcPr marL="73152" marR="73152" marT="27432" marB="27432" anchor="ctr">
                    <a:noFill/>
                  </a:tcPr>
                </a:tc>
                <a:extLst>
                  <a:ext uri="{0D108BD9-81ED-4DB2-BD59-A6C34878D82A}">
                    <a16:rowId xmlns:a16="http://schemas.microsoft.com/office/drawing/2014/main" val="10011"/>
                  </a:ext>
                </a:extLst>
              </a:tr>
              <a:tr h="329184">
                <a:tc>
                  <a:txBody>
                    <a:bodyPr/>
                    <a:lstStyle/>
                    <a:p>
                      <a:pPr algn="l"/>
                      <a:r>
                        <a:rPr sz="1200" b="1" i="0">
                          <a:solidFill>
                            <a:srgbClr val="3C3C3B"/>
                          </a:solidFill>
                        </a:rPr>
                        <a:t>FEP equity</a:t>
                      </a:r>
                    </a:p>
                  </a:txBody>
                  <a:tcPr marL="73152" marR="73152" marT="27432" marB="27432" anchor="ctr">
                    <a:solidFill>
                      <a:srgbClr val="E6F4EC"/>
                    </a:solidFill>
                  </a:tcPr>
                </a:tc>
                <a:tc>
                  <a:txBody>
                    <a:bodyPr/>
                    <a:lstStyle/>
                    <a:p>
                      <a:pPr algn="r"/>
                      <a:r>
                        <a:rPr sz="1200" b="1" i="0">
                          <a:solidFill>
                            <a:srgbClr val="3C3C3B"/>
                          </a:solidFill>
                        </a:rPr>
                        <a:t>44.23</a:t>
                      </a:r>
                    </a:p>
                  </a:txBody>
                  <a:tcPr marL="73152" marR="73152" marT="27432" marB="27432" anchor="ctr">
                    <a:solidFill>
                      <a:srgbClr val="E6F4EC"/>
                    </a:solidFill>
                  </a:tcPr>
                </a:tc>
                <a:tc>
                  <a:txBody>
                    <a:bodyPr/>
                    <a:lstStyle/>
                    <a:p>
                      <a:pPr algn="r"/>
                      <a:r>
                        <a:rPr sz="1200" b="1" i="0">
                          <a:solidFill>
                            <a:srgbClr val="3C3C3B"/>
                          </a:solidFill>
                        </a:rPr>
                        <a:t>40.32</a:t>
                      </a:r>
                    </a:p>
                  </a:txBody>
                  <a:tcPr marL="73152" marR="73152" marT="27432" marB="27432" anchor="ctr">
                    <a:solidFill>
                      <a:srgbClr val="E6F4EC"/>
                    </a:solidFill>
                  </a:tcPr>
                </a:tc>
                <a:extLst>
                  <a:ext uri="{0D108BD9-81ED-4DB2-BD59-A6C34878D82A}">
                    <a16:rowId xmlns:a16="http://schemas.microsoft.com/office/drawing/2014/main" val="10012"/>
                  </a:ext>
                </a:extLst>
              </a:tr>
              <a:tr h="329184">
                <a:tc>
                  <a:txBody>
                    <a:bodyPr/>
                    <a:lstStyle/>
                    <a:p>
                      <a:pPr algn="l"/>
                      <a:r>
                        <a:rPr sz="1200" b="1" i="0">
                          <a:solidFill>
                            <a:srgbClr val="3C3C3B"/>
                          </a:solidFill>
                        </a:rPr>
                        <a:t>Total sources</a:t>
                      </a:r>
                    </a:p>
                  </a:txBody>
                  <a:tcPr marL="73152" marR="73152" marT="27432" marB="27432" anchor="ctr">
                    <a:solidFill>
                      <a:srgbClr val="F2F2F2"/>
                    </a:solidFill>
                  </a:tcPr>
                </a:tc>
                <a:tc>
                  <a:txBody>
                    <a:bodyPr/>
                    <a:lstStyle/>
                    <a:p>
                      <a:pPr algn="r"/>
                      <a:r>
                        <a:rPr sz="1200" b="1" i="0">
                          <a:solidFill>
                            <a:srgbClr val="3C3C3B"/>
                          </a:solidFill>
                        </a:rPr>
                        <a:t>101.75</a:t>
                      </a:r>
                    </a:p>
                  </a:txBody>
                  <a:tcPr marL="73152" marR="73152" marT="27432" marB="27432" anchor="ctr">
                    <a:noFill/>
                  </a:tcPr>
                </a:tc>
                <a:tc>
                  <a:txBody>
                    <a:bodyPr/>
                    <a:lstStyle/>
                    <a:p>
                      <a:pPr algn="r"/>
                      <a:r>
                        <a:rPr sz="1200" b="1" i="0">
                          <a:solidFill>
                            <a:srgbClr val="3C3C3B"/>
                          </a:solidFill>
                        </a:rPr>
                        <a:t>75.15</a:t>
                      </a:r>
                    </a:p>
                  </a:txBody>
                  <a:tcPr marL="73152" marR="73152" marT="27432" marB="27432" anchor="ctr">
                    <a:noFill/>
                  </a:tcPr>
                </a:tc>
                <a:extLst>
                  <a:ext uri="{0D108BD9-81ED-4DB2-BD59-A6C34878D82A}">
                    <a16:rowId xmlns:a16="http://schemas.microsoft.com/office/drawing/2014/main" val="10013"/>
                  </a:ext>
                </a:extLst>
              </a:tr>
              <a:tr h="329184">
                <a:tc>
                  <a:txBody>
                    <a:bodyPr/>
                    <a:lstStyle/>
                    <a:p>
                      <a:pPr algn="l"/>
                      <a:r>
                        <a:rPr sz="1200" b="0" i="0">
                          <a:solidFill>
                            <a:srgbClr val="3C3C3B"/>
                          </a:solidFill>
                        </a:rPr>
                        <a:t>FEP peak exposure – sale at COD (30-Sep-30)</a:t>
                      </a:r>
                    </a:p>
                  </a:txBody>
                  <a:tcPr marL="73152" marR="73152" marT="27432" marB="27432" anchor="ctr">
                    <a:solidFill>
                      <a:srgbClr val="F2F2F2"/>
                    </a:solidFill>
                  </a:tcPr>
                </a:tc>
                <a:tc>
                  <a:txBody>
                    <a:bodyPr/>
                    <a:lstStyle/>
                    <a:p>
                      <a:pPr algn="r"/>
                      <a:r>
                        <a:rPr sz="1200" b="0" i="0">
                          <a:solidFill>
                            <a:srgbClr val="3C3C3B"/>
                          </a:solidFill>
                        </a:rPr>
                        <a:t>44.23</a:t>
                      </a:r>
                    </a:p>
                  </a:txBody>
                  <a:tcPr marL="73152" marR="73152" marT="27432" marB="27432" anchor="ctr">
                    <a:noFill/>
                  </a:tcPr>
                </a:tc>
                <a:tc>
                  <a:txBody>
                    <a:bodyPr/>
                    <a:lstStyle/>
                    <a:p>
                      <a:pPr algn="r"/>
                      <a:r>
                        <a:rPr sz="1200" b="0" i="0">
                          <a:solidFill>
                            <a:srgbClr val="3C3C3B"/>
                          </a:solidFill>
                        </a:rPr>
                        <a:t>40.32</a:t>
                      </a:r>
                    </a:p>
                  </a:txBody>
                  <a:tcPr marL="73152" marR="73152" marT="27432" marB="27432" anchor="ctr">
                    <a:noFill/>
                  </a:tcPr>
                </a:tc>
                <a:extLst>
                  <a:ext uri="{0D108BD9-81ED-4DB2-BD59-A6C34878D82A}">
                    <a16:rowId xmlns:a16="http://schemas.microsoft.com/office/drawing/2014/main" val="10014"/>
                  </a:ext>
                </a:extLst>
              </a:tr>
              <a:tr h="329184">
                <a:tc>
                  <a:txBody>
                    <a:bodyPr/>
                    <a:lstStyle/>
                    <a:p>
                      <a:pPr algn="l"/>
                      <a:r>
                        <a:rPr sz="1200" b="0" i="0">
                          <a:solidFill>
                            <a:srgbClr val="3C3C3B"/>
                          </a:solidFill>
                        </a:rPr>
                        <a:t>FEP peak exposure – hold (end of 2030)</a:t>
                      </a:r>
                    </a:p>
                  </a:txBody>
                  <a:tcPr marL="73152" marR="73152" marT="27432" marB="27432" anchor="ctr">
                    <a:solidFill>
                      <a:srgbClr val="F2F2F2"/>
                    </a:solidFill>
                  </a:tcPr>
                </a:tc>
                <a:tc>
                  <a:txBody>
                    <a:bodyPr/>
                    <a:lstStyle/>
                    <a:p>
                      <a:pPr algn="r"/>
                      <a:r>
                        <a:rPr sz="1200" b="0" i="0">
                          <a:solidFill>
                            <a:srgbClr val="3C3C3B"/>
                          </a:solidFill>
                        </a:rPr>
                        <a:t>46.13</a:t>
                      </a:r>
                    </a:p>
                  </a:txBody>
                  <a:tcPr marL="73152" marR="73152" marT="27432" marB="27432" anchor="ctr">
                    <a:noFill/>
                  </a:tcPr>
                </a:tc>
                <a:tc>
                  <a:txBody>
                    <a:bodyPr/>
                    <a:lstStyle/>
                    <a:p>
                      <a:pPr algn="r"/>
                      <a:r>
                        <a:rPr sz="1200" b="0" i="0" dirty="0">
                          <a:solidFill>
                            <a:srgbClr val="3C3C3B"/>
                          </a:solidFill>
                        </a:rPr>
                        <a:t>40.50</a:t>
                      </a:r>
                    </a:p>
                  </a:txBody>
                  <a:tcPr marL="73152" marR="73152" marT="27432" marB="27432" anchor="ctr">
                    <a:noFill/>
                  </a:tcPr>
                </a:tc>
                <a:extLst>
                  <a:ext uri="{0D108BD9-81ED-4DB2-BD59-A6C34878D82A}">
                    <a16:rowId xmlns:a16="http://schemas.microsoft.com/office/drawing/2014/main" val="10015"/>
                  </a:ext>
                </a:extLst>
              </a:tr>
            </a:tbl>
          </a:graphicData>
        </a:graphic>
      </p:graphicFrame>
      <p:graphicFrame>
        <p:nvGraphicFramePr>
          <p:cNvPr id="13" name="Bonds table"/>
          <p:cNvGraphicFramePr>
            <a:graphicFrameLocks noGrp="1"/>
          </p:cNvGraphicFramePr>
          <p:nvPr/>
        </p:nvGraphicFramePr>
        <p:xfrm>
          <a:off x="4498848" y="5212079"/>
          <a:ext cx="6492240" cy="2286000"/>
        </p:xfrm>
        <a:graphic>
          <a:graphicData uri="http://schemas.openxmlformats.org/drawingml/2006/table">
            <a:tbl>
              <a:tblPr>
                <a:tableStyleId>{5C22544A-7EE6-4342-B048-85BDC9FD1C3A}</a:tableStyleId>
              </a:tblPr>
              <a:tblGrid>
                <a:gridCol w="2514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57200">
                <a:tc>
                  <a:txBody>
                    <a:bodyPr/>
                    <a:lstStyle/>
                    <a:p>
                      <a:pPr algn="l"/>
                      <a:r>
                        <a:rPr sz="1300" b="1" i="0">
                          <a:solidFill>
                            <a:srgbClr val="FFFFFF"/>
                          </a:solidFill>
                        </a:rPr>
                        <a:t>Tender bonds and fees</a:t>
                      </a:r>
                    </a:p>
                  </a:txBody>
                  <a:tcPr marL="73152" marR="73152" marT="27432" marB="27432" anchor="ctr">
                    <a:solidFill>
                      <a:srgbClr val="00A651"/>
                    </a:solidFill>
                  </a:tcPr>
                </a:tc>
                <a:tc>
                  <a:txBody>
                    <a:bodyPr/>
                    <a:lstStyle/>
                    <a:p>
                      <a:pPr algn="l"/>
                      <a:r>
                        <a:rPr sz="1300" b="1" i="0">
                          <a:solidFill>
                            <a:srgbClr val="FFFFFF"/>
                          </a:solidFill>
                        </a:rPr>
                        <a:t>Form</a:t>
                      </a:r>
                    </a:p>
                  </a:txBody>
                  <a:tcPr marL="73152" marR="73152" marT="27432" marB="27432" anchor="ctr">
                    <a:solidFill>
                      <a:srgbClr val="00A651"/>
                    </a:solidFill>
                  </a:tcPr>
                </a:tc>
                <a:tc>
                  <a:txBody>
                    <a:bodyPr/>
                    <a:lstStyle/>
                    <a:p>
                      <a:pPr algn="r"/>
                      <a:r>
                        <a:rPr sz="1300" b="1" i="0" dirty="0">
                          <a:solidFill>
                            <a:srgbClr val="FFFFFF"/>
                          </a:solidFill>
                        </a:rPr>
                        <a:t>€m</a:t>
                      </a:r>
                    </a:p>
                  </a:txBody>
                  <a:tcPr marL="73152" marR="73152" marT="27432" marB="27432" anchor="ctr">
                    <a:solidFill>
                      <a:srgbClr val="00A651"/>
                    </a:solidFill>
                  </a:tcPr>
                </a:tc>
                <a:tc>
                  <a:txBody>
                    <a:bodyPr/>
                    <a:lstStyle/>
                    <a:p>
                      <a:pPr algn="l"/>
                      <a:r>
                        <a:rPr sz="1300" b="1" i="0">
                          <a:solidFill>
                            <a:srgbClr val="FFFFFF"/>
                          </a:solidFill>
                        </a:rPr>
                        <a:t>What happens</a:t>
                      </a:r>
                    </a:p>
                  </a:txBody>
                  <a:tcPr marL="73152" marR="73152" marT="27432" marB="27432" anchor="ctr">
                    <a:solidFill>
                      <a:srgbClr val="00A651"/>
                    </a:solidFill>
                  </a:tcPr>
                </a:tc>
                <a:extLst>
                  <a:ext uri="{0D108BD9-81ED-4DB2-BD59-A6C34878D82A}">
                    <a16:rowId xmlns:a16="http://schemas.microsoft.com/office/drawing/2014/main" val="10000"/>
                  </a:ext>
                </a:extLst>
              </a:tr>
              <a:tr h="457200">
                <a:tc>
                  <a:txBody>
                    <a:bodyPr/>
                    <a:lstStyle/>
                    <a:p>
                      <a:pPr algn="l"/>
                      <a:r>
                        <a:rPr sz="1200" b="0" i="0">
                          <a:solidFill>
                            <a:srgbClr val="3C3C3B"/>
                          </a:solidFill>
                        </a:rPr>
                        <a:t>Bid bond</a:t>
                      </a:r>
                    </a:p>
                  </a:txBody>
                  <a:tcPr marL="73152" marR="73152" marT="27432" marB="27432" anchor="ctr">
                    <a:solidFill>
                      <a:srgbClr val="F2F2F2"/>
                    </a:solidFill>
                  </a:tcPr>
                </a:tc>
                <a:tc>
                  <a:txBody>
                    <a:bodyPr/>
                    <a:lstStyle/>
                    <a:p>
                      <a:pPr algn="l"/>
                      <a:r>
                        <a:rPr sz="1200" b="0" i="0">
                          <a:solidFill>
                            <a:srgbClr val="3C3C3B"/>
                          </a:solidFill>
                        </a:rPr>
                        <a:t>Bank guarantee</a:t>
                      </a:r>
                    </a:p>
                  </a:txBody>
                  <a:tcPr marL="73152" marR="73152" marT="27432" marB="27432" anchor="ctr">
                    <a:noFill/>
                  </a:tcPr>
                </a:tc>
                <a:tc>
                  <a:txBody>
                    <a:bodyPr/>
                    <a:lstStyle/>
                    <a:p>
                      <a:pPr algn="r"/>
                      <a:r>
                        <a:rPr sz="1200" b="0" i="0">
                          <a:solidFill>
                            <a:srgbClr val="3C3C3B"/>
                          </a:solidFill>
                        </a:rPr>
                        <a:t>0.28</a:t>
                      </a:r>
                    </a:p>
                  </a:txBody>
                  <a:tcPr marL="73152" marR="73152" marT="27432" marB="27432" anchor="ctr">
                    <a:noFill/>
                  </a:tcPr>
                </a:tc>
                <a:tc>
                  <a:txBody>
                    <a:bodyPr/>
                    <a:lstStyle/>
                    <a:p>
                      <a:pPr algn="l"/>
                      <a:r>
                        <a:rPr sz="1200" b="0" i="0">
                          <a:solidFill>
                            <a:srgbClr val="3C3C3B"/>
                          </a:solidFill>
                        </a:rPr>
                        <a:t>Rolled into the performance bond</a:t>
                      </a:r>
                    </a:p>
                  </a:txBody>
                  <a:tcPr marL="73152" marR="73152" marT="27432" marB="27432" anchor="ctr">
                    <a:noFill/>
                  </a:tcPr>
                </a:tc>
                <a:extLst>
                  <a:ext uri="{0D108BD9-81ED-4DB2-BD59-A6C34878D82A}">
                    <a16:rowId xmlns:a16="http://schemas.microsoft.com/office/drawing/2014/main" val="10001"/>
                  </a:ext>
                </a:extLst>
              </a:tr>
              <a:tr h="457200">
                <a:tc>
                  <a:txBody>
                    <a:bodyPr/>
                    <a:lstStyle/>
                    <a:p>
                      <a:pPr algn="l"/>
                      <a:r>
                        <a:rPr sz="1200" b="0" i="0">
                          <a:solidFill>
                            <a:srgbClr val="3C3C3B"/>
                          </a:solidFill>
                        </a:rPr>
                        <a:t>Performance bond</a:t>
                      </a:r>
                    </a:p>
                  </a:txBody>
                  <a:tcPr marL="73152" marR="73152" marT="27432" marB="27432" anchor="ctr">
                    <a:solidFill>
                      <a:srgbClr val="F2F2F2"/>
                    </a:solidFill>
                  </a:tcPr>
                </a:tc>
                <a:tc>
                  <a:txBody>
                    <a:bodyPr/>
                    <a:lstStyle/>
                    <a:p>
                      <a:pPr algn="l"/>
                      <a:r>
                        <a:rPr sz="1200" b="0" i="0">
                          <a:solidFill>
                            <a:srgbClr val="3C3C3B"/>
                          </a:solidFill>
                        </a:rPr>
                        <a:t>Bank guarantee</a:t>
                      </a:r>
                    </a:p>
                  </a:txBody>
                  <a:tcPr marL="73152" marR="73152" marT="27432" marB="27432" anchor="ctr">
                    <a:noFill/>
                  </a:tcPr>
                </a:tc>
                <a:tc>
                  <a:txBody>
                    <a:bodyPr/>
                    <a:lstStyle/>
                    <a:p>
                      <a:pPr algn="r"/>
                      <a:r>
                        <a:rPr sz="1200" b="0" i="0">
                          <a:solidFill>
                            <a:srgbClr val="3C3C3B"/>
                          </a:solidFill>
                        </a:rPr>
                        <a:t>1.11</a:t>
                      </a:r>
                    </a:p>
                  </a:txBody>
                  <a:tcPr marL="73152" marR="73152" marT="27432" marB="27432" anchor="ctr">
                    <a:noFill/>
                  </a:tcPr>
                </a:tc>
                <a:tc>
                  <a:txBody>
                    <a:bodyPr/>
                    <a:lstStyle/>
                    <a:p>
                      <a:pPr algn="l"/>
                      <a:r>
                        <a:rPr sz="1200" b="0" i="0">
                          <a:solidFill>
                            <a:srgbClr val="3C3C3B"/>
                          </a:solidFill>
                        </a:rPr>
                        <a:t>Released at COD, no cash</a:t>
                      </a:r>
                    </a:p>
                  </a:txBody>
                  <a:tcPr marL="73152" marR="73152" marT="27432" marB="27432" anchor="ctr">
                    <a:noFill/>
                  </a:tcPr>
                </a:tc>
                <a:extLst>
                  <a:ext uri="{0D108BD9-81ED-4DB2-BD59-A6C34878D82A}">
                    <a16:rowId xmlns:a16="http://schemas.microsoft.com/office/drawing/2014/main" val="10002"/>
                  </a:ext>
                </a:extLst>
              </a:tr>
              <a:tr h="457200">
                <a:tc>
                  <a:txBody>
                    <a:bodyPr/>
                    <a:lstStyle/>
                    <a:p>
                      <a:pPr algn="l"/>
                      <a:r>
                        <a:rPr sz="1200" b="0" i="0">
                          <a:solidFill>
                            <a:srgbClr val="3C3C3B"/>
                          </a:solidFill>
                        </a:rPr>
                        <a:t>TSO connection-request security</a:t>
                      </a:r>
                    </a:p>
                  </a:txBody>
                  <a:tcPr marL="73152" marR="73152" marT="27432" marB="27432" anchor="ctr">
                    <a:solidFill>
                      <a:srgbClr val="F2F2F2"/>
                    </a:solidFill>
                  </a:tcPr>
                </a:tc>
                <a:tc>
                  <a:txBody>
                    <a:bodyPr/>
                    <a:lstStyle/>
                    <a:p>
                      <a:pPr algn="l"/>
                      <a:r>
                        <a:rPr sz="1200" b="0" i="0">
                          <a:solidFill>
                            <a:srgbClr val="3C3C3B"/>
                          </a:solidFill>
                        </a:rPr>
                        <a:t>Cash</a:t>
                      </a:r>
                    </a:p>
                  </a:txBody>
                  <a:tcPr marL="73152" marR="73152" marT="27432" marB="27432" anchor="ctr">
                    <a:noFill/>
                  </a:tcPr>
                </a:tc>
                <a:tc>
                  <a:txBody>
                    <a:bodyPr/>
                    <a:lstStyle/>
                    <a:p>
                      <a:pPr algn="r"/>
                      <a:r>
                        <a:rPr sz="1200" b="0" i="0">
                          <a:solidFill>
                            <a:srgbClr val="3C3C3B"/>
                          </a:solidFill>
                        </a:rPr>
                        <a:t>0.62</a:t>
                      </a:r>
                    </a:p>
                  </a:txBody>
                  <a:tcPr marL="73152" marR="73152" marT="27432" marB="27432" anchor="ctr">
                    <a:noFill/>
                  </a:tcPr>
                </a:tc>
                <a:tc>
                  <a:txBody>
                    <a:bodyPr/>
                    <a:lstStyle/>
                    <a:p>
                      <a:pPr algn="l"/>
                      <a:r>
                        <a:rPr sz="1200" b="0" i="0">
                          <a:solidFill>
                            <a:srgbClr val="3C3C3B"/>
                          </a:solidFill>
                        </a:rPr>
                        <a:t>Credited against the grid fee</a:t>
                      </a:r>
                    </a:p>
                  </a:txBody>
                  <a:tcPr marL="73152" marR="73152" marT="27432" marB="27432" anchor="ctr">
                    <a:noFill/>
                  </a:tcPr>
                </a:tc>
                <a:extLst>
                  <a:ext uri="{0D108BD9-81ED-4DB2-BD59-A6C34878D82A}">
                    <a16:rowId xmlns:a16="http://schemas.microsoft.com/office/drawing/2014/main" val="10003"/>
                  </a:ext>
                </a:extLst>
              </a:tr>
              <a:tr h="457200">
                <a:tc>
                  <a:txBody>
                    <a:bodyPr/>
                    <a:lstStyle/>
                    <a:p>
                      <a:pPr algn="l"/>
                      <a:r>
                        <a:rPr sz="1200" b="0" i="0">
                          <a:solidFill>
                            <a:srgbClr val="3C3C3B"/>
                          </a:solidFill>
                        </a:rPr>
                        <a:t>Guarantee fees (6% p.a.)</a:t>
                      </a:r>
                    </a:p>
                  </a:txBody>
                  <a:tcPr marL="73152" marR="73152" marT="27432" marB="27432" anchor="ctr">
                    <a:solidFill>
                      <a:srgbClr val="F2F2F2"/>
                    </a:solidFill>
                  </a:tcPr>
                </a:tc>
                <a:tc>
                  <a:txBody>
                    <a:bodyPr/>
                    <a:lstStyle/>
                    <a:p>
                      <a:pPr algn="l"/>
                      <a:r>
                        <a:rPr sz="1200" b="0" i="0">
                          <a:solidFill>
                            <a:srgbClr val="3C3C3B"/>
                          </a:solidFill>
                        </a:rPr>
                        <a:t>Cash</a:t>
                      </a:r>
                    </a:p>
                  </a:txBody>
                  <a:tcPr marL="73152" marR="73152" marT="27432" marB="27432" anchor="ctr">
                    <a:noFill/>
                  </a:tcPr>
                </a:tc>
                <a:tc>
                  <a:txBody>
                    <a:bodyPr/>
                    <a:lstStyle/>
                    <a:p>
                      <a:pPr algn="r"/>
                      <a:r>
                        <a:rPr sz="1200" b="0" i="0">
                          <a:solidFill>
                            <a:srgbClr val="3C3C3B"/>
                          </a:solidFill>
                        </a:rPr>
                        <a:t>0.32</a:t>
                      </a:r>
                    </a:p>
                  </a:txBody>
                  <a:tcPr marL="73152" marR="73152" marT="27432" marB="27432" anchor="ctr">
                    <a:noFill/>
                  </a:tcPr>
                </a:tc>
                <a:tc>
                  <a:txBody>
                    <a:bodyPr/>
                    <a:lstStyle/>
                    <a:p>
                      <a:pPr algn="l"/>
                      <a:r>
                        <a:rPr sz="1200" b="0" i="0" dirty="0">
                          <a:solidFill>
                            <a:srgbClr val="3C3C3B"/>
                          </a:solidFill>
                        </a:rPr>
                        <a:t>Paid by FEP until COD</a:t>
                      </a:r>
                    </a:p>
                  </a:txBody>
                  <a:tcPr marL="73152" marR="73152" marT="27432" marB="27432" anchor="ctr">
                    <a:noFill/>
                  </a:tcPr>
                </a:tc>
                <a:extLst>
                  <a:ext uri="{0D108BD9-81ED-4DB2-BD59-A6C34878D82A}">
                    <a16:rowId xmlns:a16="http://schemas.microsoft.com/office/drawing/2014/main" val="10004"/>
                  </a:ext>
                </a:extLst>
              </a:tr>
            </a:tbl>
          </a:graphicData>
        </a:graphic>
      </p:graphicFrame>
      <p:graphicFrame>
        <p:nvGraphicFramePr>
          <p:cNvPr id="14" name="Comes back table"/>
          <p:cNvGraphicFramePr>
            <a:graphicFrameLocks noGrp="1"/>
          </p:cNvGraphicFramePr>
          <p:nvPr/>
        </p:nvGraphicFramePr>
        <p:xfrm>
          <a:off x="11247120" y="7141464"/>
          <a:ext cx="6812280" cy="1645920"/>
        </p:xfrm>
        <a:graphic>
          <a:graphicData uri="http://schemas.openxmlformats.org/drawingml/2006/table">
            <a:tbl>
              <a:tblPr>
                <a:tableStyleId>{5C22544A-7EE6-4342-B048-85BDC9FD1C3A}</a:tableStyleId>
              </a:tblPr>
              <a:tblGrid>
                <a:gridCol w="4434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29184">
                <a:tc>
                  <a:txBody>
                    <a:bodyPr/>
                    <a:lstStyle/>
                    <a:p>
                      <a:pPr algn="l"/>
                      <a:r>
                        <a:rPr sz="1300" b="1" i="0" dirty="0">
                          <a:solidFill>
                            <a:srgbClr val="FFFFFF"/>
                          </a:solidFill>
                        </a:rPr>
                        <a:t>What comes back (€m)</a:t>
                      </a:r>
                    </a:p>
                  </a:txBody>
                  <a:tcPr marL="73152" marR="73152" marT="27432" marB="27432" anchor="ctr">
                    <a:solidFill>
                      <a:srgbClr val="00A651"/>
                    </a:solidFill>
                  </a:tcPr>
                </a:tc>
                <a:tc>
                  <a:txBody>
                    <a:bodyPr/>
                    <a:lstStyle/>
                    <a:p>
                      <a:pPr algn="r"/>
                      <a:r>
                        <a:rPr sz="1300" b="1" i="0">
                          <a:solidFill>
                            <a:srgbClr val="FFFFFF"/>
                          </a:solidFill>
                        </a:rPr>
                        <a:t>European</a:t>
                      </a:r>
                    </a:p>
                  </a:txBody>
                  <a:tcPr marL="73152" marR="73152" marT="27432" marB="27432" anchor="ctr">
                    <a:solidFill>
                      <a:srgbClr val="00A651"/>
                    </a:solidFill>
                  </a:tcPr>
                </a:tc>
                <a:tc>
                  <a:txBody>
                    <a:bodyPr/>
                    <a:lstStyle/>
                    <a:p>
                      <a:pPr algn="r"/>
                      <a:r>
                        <a:rPr sz="1300" b="1" i="0">
                          <a:solidFill>
                            <a:srgbClr val="FFFFFF"/>
                          </a:solidFill>
                        </a:rPr>
                        <a:t>Chinese</a:t>
                      </a:r>
                    </a:p>
                  </a:txBody>
                  <a:tcPr marL="73152" marR="73152" marT="27432" marB="27432" anchor="ctr">
                    <a:solidFill>
                      <a:srgbClr val="00A651"/>
                    </a:solidFill>
                  </a:tcPr>
                </a:tc>
                <a:extLst>
                  <a:ext uri="{0D108BD9-81ED-4DB2-BD59-A6C34878D82A}">
                    <a16:rowId xmlns:a16="http://schemas.microsoft.com/office/drawing/2014/main" val="10000"/>
                  </a:ext>
                </a:extLst>
              </a:tr>
              <a:tr h="329184">
                <a:tc>
                  <a:txBody>
                    <a:bodyPr/>
                    <a:lstStyle/>
                    <a:p>
                      <a:pPr algn="l"/>
                      <a:r>
                        <a:rPr sz="1200" b="0" i="0" dirty="0">
                          <a:solidFill>
                            <a:srgbClr val="3C3C3B"/>
                          </a:solidFill>
                        </a:rPr>
                        <a:t>Sale: reimbursed on top of the sale price</a:t>
                      </a:r>
                    </a:p>
                  </a:txBody>
                  <a:tcPr marL="73152" marR="73152" marT="27432" marB="27432" anchor="ctr">
                    <a:solidFill>
                      <a:srgbClr val="F2F2F2"/>
                    </a:solidFill>
                  </a:tcPr>
                </a:tc>
                <a:tc>
                  <a:txBody>
                    <a:bodyPr/>
                    <a:lstStyle/>
                    <a:p>
                      <a:pPr algn="r"/>
                      <a:r>
                        <a:rPr sz="1200" b="0" i="0">
                          <a:solidFill>
                            <a:srgbClr val="3C3C3B"/>
                          </a:solidFill>
                        </a:rPr>
                        <a:t>0.00</a:t>
                      </a:r>
                    </a:p>
                  </a:txBody>
                  <a:tcPr marL="73152" marR="73152" marT="27432" marB="27432" anchor="ctr">
                    <a:noFill/>
                  </a:tcPr>
                </a:tc>
                <a:tc>
                  <a:txBody>
                    <a:bodyPr/>
                    <a:lstStyle/>
                    <a:p>
                      <a:pPr algn="r"/>
                      <a:r>
                        <a:rPr sz="1200" b="0" i="0">
                          <a:solidFill>
                            <a:srgbClr val="3C3C3B"/>
                          </a:solidFill>
                        </a:rPr>
                        <a:t>0.00</a:t>
                      </a:r>
                    </a:p>
                  </a:txBody>
                  <a:tcPr marL="73152" marR="73152" marT="27432" marB="27432" anchor="ctr">
                    <a:noFill/>
                  </a:tcPr>
                </a:tc>
                <a:extLst>
                  <a:ext uri="{0D108BD9-81ED-4DB2-BD59-A6C34878D82A}">
                    <a16:rowId xmlns:a16="http://schemas.microsoft.com/office/drawing/2014/main" val="10001"/>
                  </a:ext>
                </a:extLst>
              </a:tr>
              <a:tr h="329184">
                <a:tc>
                  <a:txBody>
                    <a:bodyPr/>
                    <a:lstStyle/>
                    <a:p>
                      <a:pPr algn="l"/>
                      <a:r>
                        <a:rPr sz="1200" b="0" i="0">
                          <a:solidFill>
                            <a:srgbClr val="3C3C3B"/>
                          </a:solidFill>
                        </a:rPr>
                        <a:t>Bank guarantees released at COD – no cash</a:t>
                      </a:r>
                    </a:p>
                  </a:txBody>
                  <a:tcPr marL="73152" marR="73152" marT="27432" marB="27432" anchor="ctr">
                    <a:solidFill>
                      <a:srgbClr val="F2F2F2"/>
                    </a:solidFill>
                  </a:tcPr>
                </a:tc>
                <a:tc>
                  <a:txBody>
                    <a:bodyPr/>
                    <a:lstStyle/>
                    <a:p>
                      <a:pPr algn="r"/>
                      <a:r>
                        <a:rPr sz="1200" b="0" i="0">
                          <a:solidFill>
                            <a:srgbClr val="3C3C3B"/>
                          </a:solidFill>
                        </a:rPr>
                        <a:t>1.39</a:t>
                      </a:r>
                    </a:p>
                  </a:txBody>
                  <a:tcPr marL="73152" marR="73152" marT="27432" marB="27432" anchor="ctr">
                    <a:noFill/>
                  </a:tcPr>
                </a:tc>
                <a:tc>
                  <a:txBody>
                    <a:bodyPr/>
                    <a:lstStyle/>
                    <a:p>
                      <a:pPr algn="r"/>
                      <a:r>
                        <a:rPr sz="1200" b="0" i="0">
                          <a:solidFill>
                            <a:srgbClr val="3C3C3B"/>
                          </a:solidFill>
                        </a:rPr>
                        <a:t>1.39</a:t>
                      </a:r>
                    </a:p>
                  </a:txBody>
                  <a:tcPr marL="73152" marR="73152" marT="27432" marB="27432" anchor="ctr">
                    <a:noFill/>
                  </a:tcPr>
                </a:tc>
                <a:extLst>
                  <a:ext uri="{0D108BD9-81ED-4DB2-BD59-A6C34878D82A}">
                    <a16:rowId xmlns:a16="http://schemas.microsoft.com/office/drawing/2014/main" val="10002"/>
                  </a:ext>
                </a:extLst>
              </a:tr>
              <a:tr h="329184">
                <a:tc>
                  <a:txBody>
                    <a:bodyPr/>
                    <a:lstStyle/>
                    <a:p>
                      <a:pPr algn="l"/>
                      <a:r>
                        <a:rPr sz="1200" b="0" i="0">
                          <a:solidFill>
                            <a:srgbClr val="3C3C3B"/>
                          </a:solidFill>
                        </a:rPr>
                        <a:t>Hold: debt service reserve funded in 2030</a:t>
                      </a:r>
                    </a:p>
                  </a:txBody>
                  <a:tcPr marL="73152" marR="73152" marT="27432" marB="27432" anchor="ctr">
                    <a:solidFill>
                      <a:srgbClr val="F2F2F2"/>
                    </a:solidFill>
                  </a:tcPr>
                </a:tc>
                <a:tc>
                  <a:txBody>
                    <a:bodyPr/>
                    <a:lstStyle/>
                    <a:p>
                      <a:pPr algn="r"/>
                      <a:r>
                        <a:rPr sz="1200" b="0" i="0">
                          <a:solidFill>
                            <a:srgbClr val="3C3C3B"/>
                          </a:solidFill>
                        </a:rPr>
                        <a:t>3.72</a:t>
                      </a:r>
                    </a:p>
                  </a:txBody>
                  <a:tcPr marL="73152" marR="73152" marT="27432" marB="27432" anchor="ctr">
                    <a:noFill/>
                  </a:tcPr>
                </a:tc>
                <a:tc>
                  <a:txBody>
                    <a:bodyPr/>
                    <a:lstStyle/>
                    <a:p>
                      <a:pPr algn="r"/>
                      <a:r>
                        <a:rPr sz="1200" b="0" i="0">
                          <a:solidFill>
                            <a:srgbClr val="3C3C3B"/>
                          </a:solidFill>
                        </a:rPr>
                        <a:t>2.26</a:t>
                      </a:r>
                    </a:p>
                  </a:txBody>
                  <a:tcPr marL="73152" marR="73152" marT="27432" marB="27432" anchor="ctr">
                    <a:noFill/>
                  </a:tcPr>
                </a:tc>
                <a:extLst>
                  <a:ext uri="{0D108BD9-81ED-4DB2-BD59-A6C34878D82A}">
                    <a16:rowId xmlns:a16="http://schemas.microsoft.com/office/drawing/2014/main" val="10003"/>
                  </a:ext>
                </a:extLst>
              </a:tr>
              <a:tr h="329184">
                <a:tc>
                  <a:txBody>
                    <a:bodyPr/>
                    <a:lstStyle/>
                    <a:p>
                      <a:pPr algn="l"/>
                      <a:r>
                        <a:rPr sz="1200" b="0" i="0">
                          <a:solidFill>
                            <a:srgbClr val="3C3C3B"/>
                          </a:solidFill>
                        </a:rPr>
                        <a:t>Hold: reserve released at the end of the debt</a:t>
                      </a:r>
                    </a:p>
                  </a:txBody>
                  <a:tcPr marL="73152" marR="73152" marT="27432" marB="27432" anchor="ctr">
                    <a:solidFill>
                      <a:srgbClr val="F2F2F2"/>
                    </a:solidFill>
                  </a:tcPr>
                </a:tc>
                <a:tc>
                  <a:txBody>
                    <a:bodyPr/>
                    <a:lstStyle/>
                    <a:p>
                      <a:pPr algn="r"/>
                      <a:r>
                        <a:rPr sz="1200" b="0" i="0">
                          <a:solidFill>
                            <a:srgbClr val="3C3C3B"/>
                          </a:solidFill>
                        </a:rPr>
                        <a:t>2039–2040</a:t>
                      </a:r>
                    </a:p>
                  </a:txBody>
                  <a:tcPr marL="73152" marR="73152" marT="27432" marB="27432" anchor="ctr">
                    <a:noFill/>
                  </a:tcPr>
                </a:tc>
                <a:tc>
                  <a:txBody>
                    <a:bodyPr/>
                    <a:lstStyle/>
                    <a:p>
                      <a:pPr algn="r"/>
                      <a:r>
                        <a:rPr sz="1200" b="0" i="0" dirty="0">
                          <a:solidFill>
                            <a:srgbClr val="3C3C3B"/>
                          </a:solidFill>
                        </a:rPr>
                        <a:t>2037–2038</a:t>
                      </a:r>
                    </a:p>
                  </a:txBody>
                  <a:tcPr marL="73152" marR="73152" marT="27432" marB="27432" anchor="c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9742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2470F-D6DE-9AA2-8CD6-E846D41F604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8F6220A-CA3D-C1A1-F8E0-EC3D6D749C9E}"/>
              </a:ext>
            </a:extLst>
          </p:cNvPr>
          <p:cNvSpPr>
            <a:spLocks noGrp="1"/>
          </p:cNvSpPr>
          <p:nvPr>
            <p:ph type="title"/>
          </p:nvPr>
        </p:nvSpPr>
        <p:spPr>
          <a:xfrm>
            <a:off x="4498848" y="283464"/>
            <a:ext cx="12618720" cy="795528"/>
          </a:xfrm>
        </p:spPr>
        <p:txBody>
          <a:bodyPr anchor="ctr"/>
          <a:lstStyle/>
          <a:p>
            <a:r>
              <a:rPr lang="en-GB" noProof="0" dirty="0"/>
              <a:t>Returns: sale at COD vs hold to maturity</a:t>
            </a:r>
          </a:p>
        </p:txBody>
      </p:sp>
      <p:sp>
        <p:nvSpPr>
          <p:cNvPr id="2" name="Slide Number Placeholder 1">
            <a:extLst>
              <a:ext uri="{FF2B5EF4-FFF2-40B4-BE49-F238E27FC236}">
                <a16:creationId xmlns:a16="http://schemas.microsoft.com/office/drawing/2014/main" id="{695E5A5C-46DB-BEDC-584B-134A0539A7B2}"/>
              </a:ext>
            </a:extLst>
          </p:cNvPr>
          <p:cNvSpPr>
            <a:spLocks noGrp="1"/>
          </p:cNvSpPr>
          <p:nvPr>
            <p:ph type="sldNum" sz="quarter" idx="4"/>
          </p:nvPr>
        </p:nvSpPr>
        <p:spPr/>
        <p:txBody>
          <a:bodyPr/>
          <a:lstStyle/>
          <a:p>
            <a:fld id="{52EEA166-2877-4493-9FAA-8D6952A82FC3}" type="slidenum">
              <a:rPr lang="en-GB" noProof="0" smtClean="0"/>
              <a:t>6</a:t>
            </a:fld>
            <a:endParaRPr lang="en-GB" noProof="0" dirty="0"/>
          </a:p>
        </p:txBody>
      </p:sp>
      <p:graphicFrame>
        <p:nvGraphicFramePr>
          <p:cNvPr id="14" name="Table 13">
            <a:extLst>
              <a:ext uri="{FF2B5EF4-FFF2-40B4-BE49-F238E27FC236}">
                <a16:creationId xmlns:a16="http://schemas.microsoft.com/office/drawing/2014/main" id="{93FD19EE-FC4A-32DF-6178-945B2C23B664}"/>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15"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FEP returns by exit route and turbine – PPA 90 €/MWh for 10 years, then merchant</a:t>
            </a:r>
          </a:p>
        </p:txBody>
      </p:sp>
      <p:graphicFrame>
        <p:nvGraphicFramePr>
          <p:cNvPr id="16" name="Returns table"/>
          <p:cNvGraphicFramePr>
            <a:graphicFrameLocks noGrp="1"/>
          </p:cNvGraphicFramePr>
          <p:nvPr/>
        </p:nvGraphicFramePr>
        <p:xfrm>
          <a:off x="4498848" y="1691640"/>
          <a:ext cx="13716000" cy="5029198"/>
        </p:xfrm>
        <a:graphic>
          <a:graphicData uri="http://schemas.openxmlformats.org/drawingml/2006/table">
            <a:tbl>
              <a:tblPr>
                <a:tableStyleId>{5C22544A-7EE6-4342-B048-85BDC9FD1C3A}</a:tableStyleId>
              </a:tblPr>
              <a:tblGrid>
                <a:gridCol w="42062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gridCol w="2057400">
                  <a:extLst>
                    <a:ext uri="{9D8B030D-6E8A-4147-A177-3AD203B41FA5}">
                      <a16:colId xmlns:a16="http://schemas.microsoft.com/office/drawing/2014/main" val="20005"/>
                    </a:ext>
                  </a:extLst>
                </a:gridCol>
              </a:tblGrid>
              <a:tr h="333304">
                <a:tc>
                  <a:txBody>
                    <a:bodyPr/>
                    <a:lstStyle/>
                    <a:p>
                      <a:pPr algn="l"/>
                      <a:endParaRPr/>
                    </a:p>
                  </a:txBody>
                  <a:tcPr marL="73152" marR="73152" marT="27432" marB="27432" anchor="ctr">
                    <a:noFill/>
                  </a:tcPr>
                </a:tc>
                <a:tc>
                  <a:txBody>
                    <a:bodyPr/>
                    <a:lstStyle/>
                    <a:p>
                      <a:pPr algn="l"/>
                      <a:endParaRPr/>
                    </a:p>
                  </a:txBody>
                  <a:tcPr marL="73152" marR="73152" marT="27432" marB="27432" anchor="ctr">
                    <a:noFill/>
                  </a:tcPr>
                </a:tc>
                <a:tc gridSpan="2">
                  <a:txBody>
                    <a:bodyPr/>
                    <a:lstStyle/>
                    <a:p>
                      <a:pPr algn="l"/>
                      <a:r>
                        <a:rPr sz="1400" b="1" i="0">
                          <a:solidFill>
                            <a:srgbClr val="FFFFFF"/>
                          </a:solidFill>
                        </a:rPr>
                        <a:t>Sale at COD (30-Sep-30)</a:t>
                      </a:r>
                    </a:p>
                  </a:txBody>
                  <a:tcPr marL="73152" marR="73152" marT="27432" marB="27432" anchor="ctr">
                    <a:solidFill>
                      <a:srgbClr val="00563C"/>
                    </a:solidFill>
                  </a:tcPr>
                </a:tc>
                <a:tc hMerge="1">
                  <a:txBody>
                    <a:bodyPr/>
                    <a:lstStyle/>
                    <a:p>
                      <a:endParaRPr/>
                    </a:p>
                  </a:txBody>
                  <a:tcPr/>
                </a:tc>
                <a:tc gridSpan="2">
                  <a:txBody>
                    <a:bodyPr/>
                    <a:lstStyle/>
                    <a:p>
                      <a:pPr algn="l"/>
                      <a:r>
                        <a:rPr sz="1400" b="1" i="0">
                          <a:solidFill>
                            <a:srgbClr val="FFFFFF"/>
                          </a:solidFill>
                        </a:rPr>
                        <a:t>Hold to maturity</a:t>
                      </a:r>
                    </a:p>
                  </a:txBody>
                  <a:tcPr marL="73152" marR="73152" marT="27432" marB="27432" anchor="ctr">
                    <a:solidFill>
                      <a:srgbClr val="00563C"/>
                    </a:solidFill>
                  </a:tcPr>
                </a:tc>
                <a:tc hMerge="1">
                  <a:txBody>
                    <a:bodyPr/>
                    <a:lstStyle/>
                    <a:p>
                      <a:endParaRPr/>
                    </a:p>
                  </a:txBody>
                  <a:tcPr/>
                </a:tc>
                <a:extLst>
                  <a:ext uri="{0D108BD9-81ED-4DB2-BD59-A6C34878D82A}">
                    <a16:rowId xmlns:a16="http://schemas.microsoft.com/office/drawing/2014/main" val="10000"/>
                  </a:ext>
                </a:extLst>
              </a:tr>
              <a:tr h="459220">
                <a:tc>
                  <a:txBody>
                    <a:bodyPr/>
                    <a:lstStyle/>
                    <a:p>
                      <a:pPr algn="l"/>
                      <a:r>
                        <a:rPr sz="1300" b="1" i="0">
                          <a:solidFill>
                            <a:srgbClr val="FFFFFF"/>
                          </a:solidFill>
                        </a:rPr>
                        <a:t>Metric</a:t>
                      </a:r>
                    </a:p>
                  </a:txBody>
                  <a:tcPr marL="73152" marR="73152" marT="27432" marB="27432" anchor="ctr">
                    <a:solidFill>
                      <a:srgbClr val="00A651"/>
                    </a:solidFill>
                  </a:tcPr>
                </a:tc>
                <a:tc>
                  <a:txBody>
                    <a:bodyPr/>
                    <a:lstStyle/>
                    <a:p>
                      <a:pPr algn="l"/>
                      <a:r>
                        <a:rPr sz="1300" b="1" i="0">
                          <a:solidFill>
                            <a:srgbClr val="FFFFFF"/>
                          </a:solidFill>
                        </a:rPr>
                        <a:t>Unit</a:t>
                      </a:r>
                    </a:p>
                  </a:txBody>
                  <a:tcPr marL="73152" marR="73152" marT="27432" marB="27432" anchor="ctr">
                    <a:solidFill>
                      <a:srgbClr val="00A651"/>
                    </a:solidFill>
                  </a:tcPr>
                </a:tc>
                <a:tc>
                  <a:txBody>
                    <a:bodyPr/>
                    <a:lstStyle/>
                    <a:p>
                      <a:pPr algn="r"/>
                      <a:r>
                        <a:rPr sz="1300" b="1" i="0">
                          <a:solidFill>
                            <a:srgbClr val="FFFFFF"/>
                          </a:solidFill>
                        </a:rPr>
                        <a:t>European</a:t>
                      </a:r>
                    </a:p>
                  </a:txBody>
                  <a:tcPr marL="73152" marR="73152" marT="27432" marB="27432" anchor="ctr">
                    <a:solidFill>
                      <a:srgbClr val="00A651"/>
                    </a:solidFill>
                  </a:tcPr>
                </a:tc>
                <a:tc>
                  <a:txBody>
                    <a:bodyPr/>
                    <a:lstStyle/>
                    <a:p>
                      <a:pPr algn="r"/>
                      <a:r>
                        <a:rPr sz="1300" b="1" i="0">
                          <a:solidFill>
                            <a:srgbClr val="FFFFFF"/>
                          </a:solidFill>
                        </a:rPr>
                        <a:t>Chinese</a:t>
                      </a:r>
                    </a:p>
                  </a:txBody>
                  <a:tcPr marL="73152" marR="73152" marT="27432" marB="27432" anchor="ctr">
                    <a:solidFill>
                      <a:srgbClr val="00A651"/>
                    </a:solidFill>
                  </a:tcPr>
                </a:tc>
                <a:tc>
                  <a:txBody>
                    <a:bodyPr/>
                    <a:lstStyle/>
                    <a:p>
                      <a:pPr algn="r"/>
                      <a:r>
                        <a:rPr sz="1300" b="1" i="0">
                          <a:solidFill>
                            <a:srgbClr val="FFFFFF"/>
                          </a:solidFill>
                        </a:rPr>
                        <a:t>European</a:t>
                      </a:r>
                    </a:p>
                  </a:txBody>
                  <a:tcPr marL="73152" marR="73152" marT="27432" marB="27432" anchor="ctr">
                    <a:solidFill>
                      <a:srgbClr val="00A651"/>
                    </a:solidFill>
                  </a:tcPr>
                </a:tc>
                <a:tc>
                  <a:txBody>
                    <a:bodyPr/>
                    <a:lstStyle/>
                    <a:p>
                      <a:pPr algn="r"/>
                      <a:r>
                        <a:rPr sz="1300" b="1" i="0">
                          <a:solidFill>
                            <a:srgbClr val="FFFFFF"/>
                          </a:solidFill>
                        </a:rPr>
                        <a:t>Chinese</a:t>
                      </a:r>
                    </a:p>
                  </a:txBody>
                  <a:tcPr marL="73152" marR="73152" marT="27432" marB="27432" anchor="ctr">
                    <a:solidFill>
                      <a:srgbClr val="00A651"/>
                    </a:solidFill>
                  </a:tcPr>
                </a:tc>
                <a:extLst>
                  <a:ext uri="{0D108BD9-81ED-4DB2-BD59-A6C34878D82A}">
                    <a16:rowId xmlns:a16="http://schemas.microsoft.com/office/drawing/2014/main" val="10001"/>
                  </a:ext>
                </a:extLst>
              </a:tr>
              <a:tr h="325898">
                <a:tc>
                  <a:txBody>
                    <a:bodyPr/>
                    <a:lstStyle/>
                    <a:p>
                      <a:pPr algn="l"/>
                      <a:r>
                        <a:rPr sz="1300" b="0" i="0" dirty="0">
                          <a:solidFill>
                            <a:srgbClr val="3C3C3B"/>
                          </a:solidFill>
                        </a:rPr>
                        <a:t>Lifetime project revenue</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endParaRPr sz="1300" b="0" i="1" dirty="0">
                        <a:solidFill>
                          <a:srgbClr val="8C8C8C"/>
                        </a:solidFill>
                      </a:endParaRPr>
                    </a:p>
                  </a:txBody>
                  <a:tcPr marL="73152" marR="73152" marT="27432" marB="27432" anchor="ctr">
                    <a:noFill/>
                  </a:tcPr>
                </a:tc>
                <a:tc>
                  <a:txBody>
                    <a:bodyPr/>
                    <a:lstStyle/>
                    <a:p>
                      <a:pPr algn="r"/>
                      <a:endParaRPr sz="1300" b="0" i="1">
                        <a:solidFill>
                          <a:srgbClr val="8C8C8C"/>
                        </a:solidFill>
                      </a:endParaRPr>
                    </a:p>
                  </a:txBody>
                  <a:tcPr marL="73152" marR="73152" marT="27432" marB="27432" anchor="ctr">
                    <a:noFill/>
                  </a:tcPr>
                </a:tc>
                <a:tc>
                  <a:txBody>
                    <a:bodyPr/>
                    <a:lstStyle/>
                    <a:p>
                      <a:pPr algn="r"/>
                      <a:r>
                        <a:rPr sz="1300" b="0" i="0">
                          <a:solidFill>
                            <a:srgbClr val="3C3C3B"/>
                          </a:solidFill>
                        </a:rPr>
                        <a:t>467.0</a:t>
                      </a:r>
                    </a:p>
                  </a:txBody>
                  <a:tcPr marL="73152" marR="73152" marT="27432" marB="27432" anchor="ctr">
                    <a:noFill/>
                  </a:tcPr>
                </a:tc>
                <a:tc>
                  <a:txBody>
                    <a:bodyPr/>
                    <a:lstStyle/>
                    <a:p>
                      <a:pPr algn="r"/>
                      <a:r>
                        <a:rPr sz="1300" b="0" i="0">
                          <a:solidFill>
                            <a:srgbClr val="3C3C3B"/>
                          </a:solidFill>
                        </a:rPr>
                        <a:t>467.0</a:t>
                      </a:r>
                    </a:p>
                  </a:txBody>
                  <a:tcPr marL="73152" marR="73152" marT="27432" marB="27432" anchor="ctr">
                    <a:noFill/>
                  </a:tcPr>
                </a:tc>
                <a:extLst>
                  <a:ext uri="{0D108BD9-81ED-4DB2-BD59-A6C34878D82A}">
                    <a16:rowId xmlns:a16="http://schemas.microsoft.com/office/drawing/2014/main" val="10002"/>
                  </a:ext>
                </a:extLst>
              </a:tr>
              <a:tr h="325898">
                <a:tc>
                  <a:txBody>
                    <a:bodyPr/>
                    <a:lstStyle/>
                    <a:p>
                      <a:pPr algn="l"/>
                      <a:r>
                        <a:rPr sz="1300" b="0" i="0">
                          <a:solidFill>
                            <a:srgbClr val="3C3C3B"/>
                          </a:solidFill>
                        </a:rPr>
                        <a:t>Average achieved price</a:t>
                      </a:r>
                    </a:p>
                  </a:txBody>
                  <a:tcPr marL="73152" marR="73152" marT="27432" marB="27432" anchor="ctr">
                    <a:solidFill>
                      <a:srgbClr val="F2F2F2"/>
                    </a:solidFill>
                  </a:tcPr>
                </a:tc>
                <a:tc>
                  <a:txBody>
                    <a:bodyPr/>
                    <a:lstStyle/>
                    <a:p>
                      <a:pPr algn="l"/>
                      <a:r>
                        <a:rPr sz="1300" b="0" i="0">
                          <a:solidFill>
                            <a:srgbClr val="919191"/>
                          </a:solidFill>
                        </a:rPr>
                        <a:t>€/MWh</a:t>
                      </a:r>
                    </a:p>
                  </a:txBody>
                  <a:tcPr marL="73152" marR="73152" marT="27432" marB="27432" anchor="ctr">
                    <a:solidFill>
                      <a:srgbClr val="F2F2F2"/>
                    </a:solidFill>
                  </a:tcPr>
                </a:tc>
                <a:tc>
                  <a:txBody>
                    <a:bodyPr/>
                    <a:lstStyle/>
                    <a:p>
                      <a:pPr algn="r"/>
                      <a:endParaRPr sz="1300" b="0" i="1" dirty="0">
                        <a:solidFill>
                          <a:srgbClr val="8C8C8C"/>
                        </a:solidFill>
                      </a:endParaRPr>
                    </a:p>
                  </a:txBody>
                  <a:tcPr marL="73152" marR="73152" marT="27432" marB="27432" anchor="ctr">
                    <a:noFill/>
                  </a:tcPr>
                </a:tc>
                <a:tc>
                  <a:txBody>
                    <a:bodyPr/>
                    <a:lstStyle/>
                    <a:p>
                      <a:pPr algn="r"/>
                      <a:endParaRPr sz="1300" b="0" i="1" dirty="0">
                        <a:solidFill>
                          <a:srgbClr val="8C8C8C"/>
                        </a:solidFill>
                      </a:endParaRPr>
                    </a:p>
                  </a:txBody>
                  <a:tcPr marL="73152" marR="73152" marT="27432" marB="27432" anchor="ctr">
                    <a:noFill/>
                  </a:tcPr>
                </a:tc>
                <a:tc>
                  <a:txBody>
                    <a:bodyPr/>
                    <a:lstStyle/>
                    <a:p>
                      <a:pPr algn="r"/>
                      <a:r>
                        <a:rPr sz="1300" b="0" i="0">
                          <a:solidFill>
                            <a:srgbClr val="3C3C3B"/>
                          </a:solidFill>
                        </a:rPr>
                        <a:t>134.7</a:t>
                      </a:r>
                    </a:p>
                  </a:txBody>
                  <a:tcPr marL="73152" marR="73152" marT="27432" marB="27432" anchor="ctr">
                    <a:noFill/>
                  </a:tcPr>
                </a:tc>
                <a:tc>
                  <a:txBody>
                    <a:bodyPr/>
                    <a:lstStyle/>
                    <a:p>
                      <a:pPr algn="r"/>
                      <a:r>
                        <a:rPr sz="1300" b="0" i="0">
                          <a:solidFill>
                            <a:srgbClr val="3C3C3B"/>
                          </a:solidFill>
                        </a:rPr>
                        <a:t>134.7</a:t>
                      </a:r>
                    </a:p>
                  </a:txBody>
                  <a:tcPr marL="73152" marR="73152" marT="27432" marB="27432" anchor="ctr">
                    <a:noFill/>
                  </a:tcPr>
                </a:tc>
                <a:extLst>
                  <a:ext uri="{0D108BD9-81ED-4DB2-BD59-A6C34878D82A}">
                    <a16:rowId xmlns:a16="http://schemas.microsoft.com/office/drawing/2014/main" val="10003"/>
                  </a:ext>
                </a:extLst>
              </a:tr>
              <a:tr h="325898">
                <a:tc>
                  <a:txBody>
                    <a:bodyPr/>
                    <a:lstStyle/>
                    <a:p>
                      <a:pPr algn="l"/>
                      <a:r>
                        <a:rPr sz="1300" b="0" i="0">
                          <a:solidFill>
                            <a:srgbClr val="3C3C3B"/>
                          </a:solidFill>
                        </a:rPr>
                        <a:t>First full year (2031): revenue / EBITDA</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endParaRPr sz="1300" b="0" i="1">
                        <a:solidFill>
                          <a:srgbClr val="8C8C8C"/>
                        </a:solidFill>
                      </a:endParaRPr>
                    </a:p>
                  </a:txBody>
                  <a:tcPr marL="73152" marR="73152" marT="27432" marB="27432" anchor="ctr">
                    <a:noFill/>
                  </a:tcPr>
                </a:tc>
                <a:tc>
                  <a:txBody>
                    <a:bodyPr/>
                    <a:lstStyle/>
                    <a:p>
                      <a:pPr algn="r"/>
                      <a:endParaRPr sz="1300" b="0" i="1" dirty="0">
                        <a:solidFill>
                          <a:srgbClr val="8C8C8C"/>
                        </a:solidFill>
                      </a:endParaRPr>
                    </a:p>
                  </a:txBody>
                  <a:tcPr marL="73152" marR="73152" marT="27432" marB="27432" anchor="ctr">
                    <a:noFill/>
                  </a:tcPr>
                </a:tc>
                <a:tc>
                  <a:txBody>
                    <a:bodyPr/>
                    <a:lstStyle/>
                    <a:p>
                      <a:pPr algn="r"/>
                      <a:r>
                        <a:rPr sz="1300" b="0" i="0">
                          <a:solidFill>
                            <a:srgbClr val="3C3C3B"/>
                          </a:solidFill>
                        </a:rPr>
                        <a:t>11.0 / 8.3</a:t>
                      </a:r>
                    </a:p>
                  </a:txBody>
                  <a:tcPr marL="73152" marR="73152" marT="27432" marB="27432" anchor="ctr">
                    <a:noFill/>
                  </a:tcPr>
                </a:tc>
                <a:tc>
                  <a:txBody>
                    <a:bodyPr/>
                    <a:lstStyle/>
                    <a:p>
                      <a:pPr algn="r"/>
                      <a:r>
                        <a:rPr sz="1300" b="0" i="0">
                          <a:solidFill>
                            <a:srgbClr val="3C3C3B"/>
                          </a:solidFill>
                        </a:rPr>
                        <a:t>11.0 / 8.3</a:t>
                      </a:r>
                    </a:p>
                  </a:txBody>
                  <a:tcPr marL="73152" marR="73152" marT="27432" marB="27432" anchor="ctr">
                    <a:noFill/>
                  </a:tcPr>
                </a:tc>
                <a:extLst>
                  <a:ext uri="{0D108BD9-81ED-4DB2-BD59-A6C34878D82A}">
                    <a16:rowId xmlns:a16="http://schemas.microsoft.com/office/drawing/2014/main" val="10004"/>
                  </a:ext>
                </a:extLst>
              </a:tr>
              <a:tr h="325898">
                <a:tc>
                  <a:txBody>
                    <a:bodyPr/>
                    <a:lstStyle/>
                    <a:p>
                      <a:pPr algn="l"/>
                      <a:r>
                        <a:rPr sz="1300" b="0" i="0">
                          <a:solidFill>
                            <a:srgbClr val="3C3C3B"/>
                          </a:solidFill>
                        </a:rPr>
                        <a:t>Estimated sale price at COD (model input)</a:t>
                      </a:r>
                    </a:p>
                  </a:txBody>
                  <a:tcPr marL="73152" marR="73152" marT="27432" marB="27432" anchor="ctr">
                    <a:solidFill>
                      <a:srgbClr val="F2F2F2"/>
                    </a:solidFill>
                  </a:tcPr>
                </a:tc>
                <a:tc>
                  <a:txBody>
                    <a:bodyPr/>
                    <a:lstStyle/>
                    <a:p>
                      <a:pPr algn="l"/>
                      <a:r>
                        <a:rPr sz="1300" b="0" i="0">
                          <a:solidFill>
                            <a:srgbClr val="919191"/>
                          </a:solidFill>
                        </a:rPr>
                        <a:t>k€/MW | €m</a:t>
                      </a:r>
                    </a:p>
                  </a:txBody>
                  <a:tcPr marL="73152" marR="73152" marT="27432" marB="27432" anchor="ctr">
                    <a:solidFill>
                      <a:srgbClr val="F2F2F2"/>
                    </a:solidFill>
                  </a:tcPr>
                </a:tc>
                <a:tc>
                  <a:txBody>
                    <a:bodyPr/>
                    <a:lstStyle/>
                    <a:p>
                      <a:pPr algn="r"/>
                      <a:r>
                        <a:rPr sz="1300" b="0" i="0">
                          <a:solidFill>
                            <a:srgbClr val="3C3C3B"/>
                          </a:solidFill>
                        </a:rPr>
                        <a:t>2,450 | 122.5</a:t>
                      </a:r>
                    </a:p>
                  </a:txBody>
                  <a:tcPr marL="73152" marR="73152" marT="27432" marB="27432" anchor="ctr">
                    <a:noFill/>
                  </a:tcPr>
                </a:tc>
                <a:tc>
                  <a:txBody>
                    <a:bodyPr/>
                    <a:lstStyle/>
                    <a:p>
                      <a:pPr algn="r"/>
                      <a:r>
                        <a:rPr sz="1300" b="0" i="0">
                          <a:solidFill>
                            <a:srgbClr val="3C3C3B"/>
                          </a:solidFill>
                        </a:rPr>
                        <a:t>2,100 | 105.0</a:t>
                      </a:r>
                    </a:p>
                  </a:txBody>
                  <a:tcPr marL="73152" marR="73152" marT="27432" marB="27432" anchor="ctr">
                    <a:no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a:t>
                      </a:r>
                    </a:p>
                  </a:txBody>
                  <a:tcPr marL="73152" marR="73152" marT="27432" marB="27432" anchor="ctr">
                    <a:noFill/>
                  </a:tcPr>
                </a:tc>
                <a:extLst>
                  <a:ext uri="{0D108BD9-81ED-4DB2-BD59-A6C34878D82A}">
                    <a16:rowId xmlns:a16="http://schemas.microsoft.com/office/drawing/2014/main" val="10010"/>
                  </a:ext>
                </a:extLst>
              </a:tr>
              <a:tr h="325898">
                <a:tc>
                  <a:txBody>
                    <a:bodyPr/>
                    <a:lstStyle/>
                    <a:p>
                      <a:pPr algn="l"/>
                      <a:r>
                        <a:rPr sz="1300" b="0" i="0">
                          <a:solidFill>
                            <a:srgbClr val="3C3C3B"/>
                          </a:solidFill>
                        </a:rPr>
                        <a:t>PPA strike / tenor</a:t>
                      </a:r>
                    </a:p>
                  </a:txBody>
                  <a:tcPr marL="73152" marR="73152" marT="27432" marB="27432" anchor="ctr">
                    <a:solidFill>
                      <a:srgbClr val="F2F2F2"/>
                    </a:solidFill>
                  </a:tcPr>
                </a:tc>
                <a:tc>
                  <a:txBody>
                    <a:bodyPr/>
                    <a:lstStyle/>
                    <a:p>
                      <a:pPr algn="l"/>
                      <a:r>
                        <a:rPr sz="1300" b="0" i="0">
                          <a:solidFill>
                            <a:srgbClr val="919191"/>
                          </a:solidFill>
                        </a:rPr>
                        <a:t>€/MWh / yrs</a:t>
                      </a:r>
                    </a:p>
                  </a:txBody>
                  <a:tcPr marL="73152" marR="73152" marT="27432" marB="27432" anchor="ctr">
                    <a:solidFill>
                      <a:srgbClr val="F2F2F2"/>
                    </a:solidFill>
                  </a:tcPr>
                </a:tc>
                <a:tc>
                  <a:txBody>
                    <a:bodyPr/>
                    <a:lstStyle/>
                    <a:p>
                      <a:pPr algn="r"/>
                      <a:r>
                        <a:rPr sz="1300" b="0" i="1">
                          <a:solidFill>
                            <a:srgbClr val="8C8C8C"/>
                          </a:solidFill>
                        </a:rPr>
                        <a:t>90 / 10</a:t>
                      </a:r>
                    </a:p>
                  </a:txBody>
                  <a:tcPr marL="73152" marR="73152" marT="27432" marB="27432" anchor="ctr">
                    <a:noFill/>
                  </a:tcPr>
                </a:tc>
                <a:tc>
                  <a:txBody>
                    <a:bodyPr/>
                    <a:lstStyle/>
                    <a:p>
                      <a:pPr algn="r"/>
                      <a:r>
                        <a:rPr sz="1300" b="0" i="1">
                          <a:solidFill>
                            <a:srgbClr val="8C8C8C"/>
                          </a:solidFill>
                        </a:rPr>
                        <a:t>90 / 10</a:t>
                      </a:r>
                    </a:p>
                  </a:txBody>
                  <a:tcPr marL="73152" marR="73152" marT="27432" marB="27432" anchor="ctr">
                    <a:noFill/>
                  </a:tcPr>
                </a:tc>
                <a:tc>
                  <a:txBody>
                    <a:bodyPr/>
                    <a:lstStyle/>
                    <a:p>
                      <a:pPr algn="r"/>
                      <a:r>
                        <a:rPr sz="1300" b="0" i="0">
                          <a:solidFill>
                            <a:srgbClr val="3C3C3B"/>
                          </a:solidFill>
                        </a:rPr>
                        <a:t>90 / 10</a:t>
                      </a:r>
                    </a:p>
                  </a:txBody>
                  <a:tcPr marL="73152" marR="73152" marT="27432" marB="27432" anchor="ctr">
                    <a:noFill/>
                  </a:tcPr>
                </a:tc>
                <a:tc>
                  <a:txBody>
                    <a:bodyPr/>
                    <a:lstStyle/>
                    <a:p>
                      <a:pPr algn="r"/>
                      <a:r>
                        <a:rPr sz="1300" b="0" i="0">
                          <a:solidFill>
                            <a:srgbClr val="3C3C3B"/>
                          </a:solidFill>
                        </a:rPr>
                        <a:t>90 / 10</a:t>
                      </a:r>
                    </a:p>
                  </a:txBody>
                  <a:tcPr marL="73152" marR="73152" marT="27432" marB="27432" anchor="ctr">
                    <a:noFill/>
                  </a:tcPr>
                </a:tc>
                <a:extLst>
                  <a:ext uri="{0D108BD9-81ED-4DB2-BD59-A6C34878D82A}">
                    <a16:rowId xmlns:a16="http://schemas.microsoft.com/office/drawing/2014/main" val="10005"/>
                  </a:ext>
                </a:extLst>
              </a:tr>
              <a:tr h="325898">
                <a:tc>
                  <a:txBody>
                    <a:bodyPr/>
                    <a:lstStyle/>
                    <a:p>
                      <a:pPr algn="l"/>
                      <a:r>
                        <a:rPr sz="1300" b="1" i="0">
                          <a:solidFill>
                            <a:srgbClr val="3C3C3B"/>
                          </a:solidFill>
                        </a:rPr>
                        <a:t>FEP net profit (post-tax)</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1" i="0">
                          <a:solidFill>
                            <a:srgbClr val="3C3C3B"/>
                          </a:solidFill>
                        </a:rPr>
                        <a:t>20.2</a:t>
                      </a:r>
                    </a:p>
                  </a:txBody>
                  <a:tcPr marL="73152" marR="73152" marT="27432" marB="27432" anchor="ctr">
                    <a:solidFill>
                      <a:srgbClr val="E6F4EC"/>
                    </a:solidFill>
                  </a:tcPr>
                </a:tc>
                <a:tc>
                  <a:txBody>
                    <a:bodyPr/>
                    <a:lstStyle/>
                    <a:p>
                      <a:pPr algn="r"/>
                      <a:r>
                        <a:rPr sz="1300" b="1" i="0">
                          <a:solidFill>
                            <a:srgbClr val="3C3C3B"/>
                          </a:solidFill>
                        </a:rPr>
                        <a:t>29.3</a:t>
                      </a:r>
                    </a:p>
                  </a:txBody>
                  <a:tcPr marL="73152" marR="73152" marT="27432" marB="27432" anchor="ctr">
                    <a:solidFill>
                      <a:srgbClr val="E6F4EC"/>
                    </a:solidFill>
                  </a:tcPr>
                </a:tc>
                <a:tc>
                  <a:txBody>
                    <a:bodyPr/>
                    <a:lstStyle/>
                    <a:p>
                      <a:pPr algn="r"/>
                      <a:r>
                        <a:rPr sz="1300" b="1" i="0">
                          <a:solidFill>
                            <a:srgbClr val="3C3C3B"/>
                          </a:solidFill>
                        </a:rPr>
                        <a:t>213.8</a:t>
                      </a:r>
                    </a:p>
                  </a:txBody>
                  <a:tcPr marL="73152" marR="73152" marT="27432" marB="27432" anchor="ctr">
                    <a:solidFill>
                      <a:srgbClr val="E6F4EC"/>
                    </a:solidFill>
                  </a:tcPr>
                </a:tc>
                <a:tc>
                  <a:txBody>
                    <a:bodyPr/>
                    <a:lstStyle/>
                    <a:p>
                      <a:pPr algn="r"/>
                      <a:r>
                        <a:rPr sz="1300" b="1" i="0">
                          <a:solidFill>
                            <a:srgbClr val="3C3C3B"/>
                          </a:solidFill>
                        </a:rPr>
                        <a:t>246.4</a:t>
                      </a:r>
                    </a:p>
                  </a:txBody>
                  <a:tcPr marL="73152" marR="73152" marT="27432" marB="27432" anchor="ctr">
                    <a:solidFill>
                      <a:srgbClr val="E6F4EC"/>
                    </a:solidFill>
                  </a:tcPr>
                </a:tc>
                <a:extLst>
                  <a:ext uri="{0D108BD9-81ED-4DB2-BD59-A6C34878D82A}">
                    <a16:rowId xmlns:a16="http://schemas.microsoft.com/office/drawing/2014/main" val="10007"/>
                  </a:ext>
                </a:extLst>
              </a:tr>
              <a:tr h="325898">
                <a:tc>
                  <a:txBody>
                    <a:bodyPr/>
                    <a:lstStyle/>
                    <a:p>
                      <a:pPr algn="l"/>
                      <a:r>
                        <a:rPr sz="1300" b="1" i="0">
                          <a:solidFill>
                            <a:srgbClr val="3C3C3B"/>
                          </a:solidFill>
                        </a:rPr>
                        <a:t>FEP IRR (post-tax)</a:t>
                      </a:r>
                    </a:p>
                  </a:txBody>
                  <a:tcPr marL="73152" marR="73152" marT="27432" marB="27432" anchor="ctr">
                    <a:solidFill>
                      <a:srgbClr val="F2F2F2"/>
                    </a:solidFill>
                  </a:tcPr>
                </a:tc>
                <a:tc>
                  <a:txBody>
                    <a:bodyPr/>
                    <a:lstStyle/>
                    <a:p>
                      <a:pPr algn="l"/>
                      <a:r>
                        <a:rPr sz="1300" b="0" i="0">
                          <a:solidFill>
                            <a:srgbClr val="919191"/>
                          </a:solidFill>
                        </a:rPr>
                        <a:t>%</a:t>
                      </a:r>
                    </a:p>
                  </a:txBody>
                  <a:tcPr marL="73152" marR="73152" marT="27432" marB="27432" anchor="ctr">
                    <a:solidFill>
                      <a:srgbClr val="F2F2F2"/>
                    </a:solidFill>
                  </a:tcPr>
                </a:tc>
                <a:tc>
                  <a:txBody>
                    <a:bodyPr/>
                    <a:lstStyle/>
                    <a:p>
                      <a:pPr algn="r"/>
                      <a:r>
                        <a:rPr sz="1300" b="1" i="0">
                          <a:solidFill>
                            <a:srgbClr val="3C3C3B"/>
                          </a:solidFill>
                        </a:rPr>
                        <a:t>26.4%</a:t>
                      </a:r>
                    </a:p>
                  </a:txBody>
                  <a:tcPr marL="73152" marR="73152" marT="27432" marB="27432" anchor="ctr">
                    <a:solidFill>
                      <a:srgbClr val="E6F4EC"/>
                    </a:solidFill>
                  </a:tcPr>
                </a:tc>
                <a:tc>
                  <a:txBody>
                    <a:bodyPr/>
                    <a:lstStyle/>
                    <a:p>
                      <a:pPr algn="r"/>
                      <a:r>
                        <a:rPr sz="1300" b="1" i="0">
                          <a:solidFill>
                            <a:srgbClr val="3C3C3B"/>
                          </a:solidFill>
                        </a:rPr>
                        <a:t>37.7%</a:t>
                      </a:r>
                    </a:p>
                  </a:txBody>
                  <a:tcPr marL="73152" marR="73152" marT="27432" marB="27432" anchor="ctr">
                    <a:solidFill>
                      <a:srgbClr val="E6F4EC"/>
                    </a:solidFill>
                  </a:tcPr>
                </a:tc>
                <a:tc>
                  <a:txBody>
                    <a:bodyPr/>
                    <a:lstStyle/>
                    <a:p>
                      <a:pPr algn="r"/>
                      <a:r>
                        <a:rPr sz="1300" b="1" i="0">
                          <a:solidFill>
                            <a:srgbClr val="3C3C3B"/>
                          </a:solidFill>
                        </a:rPr>
                        <a:t>9.2%</a:t>
                      </a:r>
                    </a:p>
                  </a:txBody>
                  <a:tcPr marL="73152" marR="73152" marT="27432" marB="27432" anchor="ctr">
                    <a:solidFill>
                      <a:srgbClr val="E6F4EC"/>
                    </a:solidFill>
                  </a:tcPr>
                </a:tc>
                <a:tc>
                  <a:txBody>
                    <a:bodyPr/>
                    <a:lstStyle/>
                    <a:p>
                      <a:pPr algn="r"/>
                      <a:r>
                        <a:rPr sz="1300" b="1" i="0">
                          <a:solidFill>
                            <a:srgbClr val="3C3C3B"/>
                          </a:solidFill>
                        </a:rPr>
                        <a:t>12.1%</a:t>
                      </a:r>
                    </a:p>
                  </a:txBody>
                  <a:tcPr marL="73152" marR="73152" marT="27432" marB="27432" anchor="ctr">
                    <a:solidFill>
                      <a:srgbClr val="E6F4EC"/>
                    </a:solidFill>
                  </a:tcPr>
                </a:tc>
                <a:extLst>
                  <a:ext uri="{0D108BD9-81ED-4DB2-BD59-A6C34878D82A}">
                    <a16:rowId xmlns:a16="http://schemas.microsoft.com/office/drawing/2014/main" val="10008"/>
                  </a:ext>
                </a:extLst>
              </a:tr>
              <a:tr h="325898">
                <a:tc>
                  <a:txBody>
                    <a:bodyPr/>
                    <a:lstStyle/>
                    <a:p>
                      <a:pPr algn="l"/>
                      <a:r>
                        <a:rPr sz="1300" b="1" i="0">
                          <a:solidFill>
                            <a:srgbClr val="3C3C3B"/>
                          </a:solidFill>
                        </a:rPr>
                        <a:t>FEP MOIC</a:t>
                      </a:r>
                    </a:p>
                  </a:txBody>
                  <a:tcPr marL="73152" marR="73152" marT="27432" marB="27432" anchor="ctr">
                    <a:solidFill>
                      <a:srgbClr val="F2F2F2"/>
                    </a:solidFill>
                  </a:tcPr>
                </a:tc>
                <a:tc>
                  <a:txBody>
                    <a:bodyPr/>
                    <a:lstStyle/>
                    <a:p>
                      <a:pPr algn="l"/>
                      <a:r>
                        <a:rPr sz="1300" b="0" i="0">
                          <a:solidFill>
                            <a:srgbClr val="919191"/>
                          </a:solidFill>
                        </a:rPr>
                        <a:t>x</a:t>
                      </a:r>
                    </a:p>
                  </a:txBody>
                  <a:tcPr marL="73152" marR="73152" marT="27432" marB="27432" anchor="ctr">
                    <a:solidFill>
                      <a:srgbClr val="F2F2F2"/>
                    </a:solidFill>
                  </a:tcPr>
                </a:tc>
                <a:tc>
                  <a:txBody>
                    <a:bodyPr/>
                    <a:lstStyle/>
                    <a:p>
                      <a:pPr algn="r"/>
                      <a:r>
                        <a:rPr sz="1300" b="1" i="0">
                          <a:solidFill>
                            <a:srgbClr val="3C3C3B"/>
                          </a:solidFill>
                        </a:rPr>
                        <a:t>1.46x</a:t>
                      </a:r>
                    </a:p>
                  </a:txBody>
                  <a:tcPr marL="73152" marR="73152" marT="27432" marB="27432" anchor="ctr">
                    <a:solidFill>
                      <a:srgbClr val="E6F4EC"/>
                    </a:solidFill>
                  </a:tcPr>
                </a:tc>
                <a:tc>
                  <a:txBody>
                    <a:bodyPr/>
                    <a:lstStyle/>
                    <a:p>
                      <a:pPr algn="r"/>
                      <a:r>
                        <a:rPr sz="1300" b="1" i="0">
                          <a:solidFill>
                            <a:srgbClr val="3C3C3B"/>
                          </a:solidFill>
                        </a:rPr>
                        <a:t>1.73x</a:t>
                      </a:r>
                    </a:p>
                  </a:txBody>
                  <a:tcPr marL="73152" marR="73152" marT="27432" marB="27432" anchor="ctr">
                    <a:solidFill>
                      <a:srgbClr val="E6F4EC"/>
                    </a:solidFill>
                  </a:tcPr>
                </a:tc>
                <a:tc>
                  <a:txBody>
                    <a:bodyPr/>
                    <a:lstStyle/>
                    <a:p>
                      <a:pPr algn="r"/>
                      <a:r>
                        <a:rPr sz="1300" b="1" i="0">
                          <a:solidFill>
                            <a:srgbClr val="3C3C3B"/>
                          </a:solidFill>
                        </a:rPr>
                        <a:t>5.64x</a:t>
                      </a:r>
                    </a:p>
                  </a:txBody>
                  <a:tcPr marL="73152" marR="73152" marT="27432" marB="27432" anchor="ctr">
                    <a:solidFill>
                      <a:srgbClr val="E6F4EC"/>
                    </a:solidFill>
                  </a:tcPr>
                </a:tc>
                <a:tc>
                  <a:txBody>
                    <a:bodyPr/>
                    <a:lstStyle/>
                    <a:p>
                      <a:pPr algn="r"/>
                      <a:r>
                        <a:rPr sz="1300" b="1" i="0">
                          <a:solidFill>
                            <a:srgbClr val="3C3C3B"/>
                          </a:solidFill>
                        </a:rPr>
                        <a:t>7.09x</a:t>
                      </a:r>
                    </a:p>
                  </a:txBody>
                  <a:tcPr marL="73152" marR="73152" marT="27432" marB="27432" anchor="ctr">
                    <a:solidFill>
                      <a:srgbClr val="E6F4EC"/>
                    </a:solidFill>
                  </a:tcPr>
                </a:tc>
                <a:extLst>
                  <a:ext uri="{0D108BD9-81ED-4DB2-BD59-A6C34878D82A}">
                    <a16:rowId xmlns:a16="http://schemas.microsoft.com/office/drawing/2014/main" val="10009"/>
                  </a:ext>
                </a:extLst>
              </a:tr>
              <a:tr h="325898">
                <a:tc>
                  <a:txBody>
                    <a:bodyPr/>
                    <a:lstStyle/>
                    <a:p>
                      <a:pPr algn="l"/>
                      <a:r>
                        <a:rPr sz="1300" b="0" i="0">
                          <a:solidFill>
                            <a:srgbClr val="3C3C3B"/>
                          </a:solidFill>
                        </a:rPr>
                        <a:t>FEP NPV</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11.5</a:t>
                      </a:r>
                    </a:p>
                  </a:txBody>
                  <a:tcPr marL="73152" marR="73152" marT="27432" marB="27432" anchor="ctr">
                    <a:noFill/>
                  </a:tcPr>
                </a:tc>
                <a:tc>
                  <a:txBody>
                    <a:bodyPr/>
                    <a:lstStyle/>
                    <a:p>
                      <a:pPr algn="r"/>
                      <a:r>
                        <a:rPr sz="1300" b="0" i="0">
                          <a:solidFill>
                            <a:srgbClr val="3C3C3B"/>
                          </a:solidFill>
                        </a:rPr>
                        <a:t>18.4</a:t>
                      </a:r>
                    </a:p>
                  </a:txBody>
                  <a:tcPr marL="73152" marR="73152" marT="27432" marB="27432" anchor="ctr">
                    <a:noFill/>
                  </a:tcPr>
                </a:tc>
                <a:tc>
                  <a:txBody>
                    <a:bodyPr/>
                    <a:lstStyle/>
                    <a:p>
                      <a:pPr algn="r"/>
                      <a:r>
                        <a:rPr sz="1300" b="0" i="0">
                          <a:solidFill>
                            <a:srgbClr val="3C3C3B"/>
                          </a:solidFill>
                        </a:rPr>
                        <a:t>8.6</a:t>
                      </a:r>
                    </a:p>
                  </a:txBody>
                  <a:tcPr marL="73152" marR="73152" marT="27432" marB="27432" anchor="ctr">
                    <a:noFill/>
                  </a:tcPr>
                </a:tc>
                <a:tc>
                  <a:txBody>
                    <a:bodyPr/>
                    <a:lstStyle/>
                    <a:p>
                      <a:pPr algn="r"/>
                      <a:r>
                        <a:rPr sz="1300" b="0" i="0">
                          <a:solidFill>
                            <a:srgbClr val="3C3C3B"/>
                          </a:solidFill>
                        </a:rPr>
                        <a:t>25.1</a:t>
                      </a:r>
                    </a:p>
                  </a:txBody>
                  <a:tcPr marL="73152" marR="73152" marT="27432" marB="27432" anchor="ctr">
                    <a:noFill/>
                  </a:tcPr>
                </a:tc>
                <a:extLst>
                  <a:ext uri="{0D108BD9-81ED-4DB2-BD59-A6C34878D82A}">
                    <a16:rowId xmlns:a16="http://schemas.microsoft.com/office/drawing/2014/main" val="3550364352"/>
                  </a:ext>
                </a:extLst>
              </a:tr>
              <a:tr h="325898">
                <a:tc>
                  <a:txBody>
                    <a:bodyPr/>
                    <a:lstStyle/>
                    <a:p>
                      <a:pPr algn="l"/>
                      <a:r>
                        <a:rPr sz="1300" b="0" i="0">
                          <a:solidFill>
                            <a:srgbClr val="3C3C3B"/>
                          </a:solidFill>
                        </a:rPr>
                        <a:t>NPV / FEP equity</a:t>
                      </a:r>
                    </a:p>
                  </a:txBody>
                  <a:tcPr marL="73152" marR="73152" marT="27432" marB="27432" anchor="ctr">
                    <a:solidFill>
                      <a:srgbClr val="F2F2F2"/>
                    </a:solidFill>
                  </a:tcPr>
                </a:tc>
                <a:tc>
                  <a:txBody>
                    <a:bodyPr/>
                    <a:lstStyle/>
                    <a:p>
                      <a:pPr algn="l"/>
                      <a:r>
                        <a:rPr sz="1300" b="0" i="0">
                          <a:solidFill>
                            <a:srgbClr val="919191"/>
                          </a:solidFill>
                        </a:rPr>
                        <a:t>%</a:t>
                      </a:r>
                    </a:p>
                  </a:txBody>
                  <a:tcPr marL="73152" marR="73152" marT="27432" marB="27432" anchor="ctr">
                    <a:solidFill>
                      <a:srgbClr val="F2F2F2"/>
                    </a:solidFill>
                  </a:tcPr>
                </a:tc>
                <a:tc>
                  <a:txBody>
                    <a:bodyPr/>
                    <a:lstStyle/>
                    <a:p>
                      <a:pPr algn="r"/>
                      <a:r>
                        <a:rPr sz="1300" b="0" i="0">
                          <a:solidFill>
                            <a:srgbClr val="3C3C3B"/>
                          </a:solidFill>
                        </a:rPr>
                        <a:t>32.2%</a:t>
                      </a:r>
                    </a:p>
                  </a:txBody>
                  <a:tcPr marL="73152" marR="73152" marT="27432" marB="27432" anchor="ctr">
                    <a:noFill/>
                  </a:tcPr>
                </a:tc>
                <a:tc>
                  <a:txBody>
                    <a:bodyPr/>
                    <a:lstStyle/>
                    <a:p>
                      <a:pPr algn="r"/>
                      <a:r>
                        <a:rPr sz="1300" b="0" i="0">
                          <a:solidFill>
                            <a:srgbClr val="3C3C3B"/>
                          </a:solidFill>
                        </a:rPr>
                        <a:t>56.3%</a:t>
                      </a:r>
                    </a:p>
                  </a:txBody>
                  <a:tcPr marL="73152" marR="73152" marT="27432" marB="27432" anchor="ctr">
                    <a:noFill/>
                  </a:tcPr>
                </a:tc>
                <a:tc>
                  <a:txBody>
                    <a:bodyPr/>
                    <a:lstStyle/>
                    <a:p>
                      <a:pPr algn="r"/>
                      <a:r>
                        <a:rPr sz="1300" b="0" i="0">
                          <a:solidFill>
                            <a:srgbClr val="3C3C3B"/>
                          </a:solidFill>
                        </a:rPr>
                        <a:t>23.1%</a:t>
                      </a:r>
                    </a:p>
                  </a:txBody>
                  <a:tcPr marL="73152" marR="73152" marT="27432" marB="27432" anchor="ctr">
                    <a:noFill/>
                  </a:tcPr>
                </a:tc>
                <a:tc>
                  <a:txBody>
                    <a:bodyPr/>
                    <a:lstStyle/>
                    <a:p>
                      <a:pPr algn="r"/>
                      <a:r>
                        <a:rPr sz="1300" b="0" i="0">
                          <a:solidFill>
                            <a:srgbClr val="3C3C3B"/>
                          </a:solidFill>
                        </a:rPr>
                        <a:t>76.5%</a:t>
                      </a:r>
                    </a:p>
                  </a:txBody>
                  <a:tcPr marL="73152" marR="73152" marT="27432" marB="27432" anchor="ctr">
                    <a:noFill/>
                  </a:tcPr>
                </a:tc>
                <a:extLst>
                  <a:ext uri="{0D108BD9-81ED-4DB2-BD59-A6C34878D82A}">
                    <a16:rowId xmlns:a16="http://schemas.microsoft.com/office/drawing/2014/main" val="10011"/>
                  </a:ext>
                </a:extLst>
              </a:tr>
              <a:tr h="325898">
                <a:tc>
                  <a:txBody>
                    <a:bodyPr/>
                    <a:lstStyle/>
                    <a:p>
                      <a:pPr algn="l"/>
                      <a:r>
                        <a:rPr sz="1300" b="0" i="0">
                          <a:solidFill>
                            <a:srgbClr val="3C3C3B"/>
                          </a:solidFill>
                        </a:rPr>
                        <a:t>Minimum DSCR</a:t>
                      </a:r>
                    </a:p>
                  </a:txBody>
                  <a:tcPr marL="73152" marR="73152" marT="27432" marB="27432" anchor="ctr">
                    <a:solidFill>
                      <a:srgbClr val="F2F2F2"/>
                    </a:solidFill>
                  </a:tcPr>
                </a:tc>
                <a:tc>
                  <a:txBody>
                    <a:bodyPr/>
                    <a:lstStyle/>
                    <a:p>
                      <a:pPr algn="l"/>
                      <a:r>
                        <a:rPr sz="1300" b="0" i="0">
                          <a:solidFill>
                            <a:srgbClr val="919191"/>
                          </a:solidFill>
                        </a:rPr>
                        <a:t>x</a:t>
                      </a:r>
                    </a:p>
                  </a:txBody>
                  <a:tcPr marL="73152" marR="73152" marT="27432" marB="27432" anchor="ctr">
                    <a:solidFill>
                      <a:srgbClr val="F2F2F2"/>
                    </a:solid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1.09x</a:t>
                      </a:r>
                    </a:p>
                  </a:txBody>
                  <a:tcPr marL="73152" marR="73152" marT="27432" marB="27432" anchor="ctr">
                    <a:noFill/>
                  </a:tcPr>
                </a:tc>
                <a:tc>
                  <a:txBody>
                    <a:bodyPr/>
                    <a:lstStyle/>
                    <a:p>
                      <a:pPr algn="r"/>
                      <a:r>
                        <a:rPr sz="1300" b="0" i="0">
                          <a:solidFill>
                            <a:srgbClr val="3C3C3B"/>
                          </a:solidFill>
                        </a:rPr>
                        <a:t>1.77x</a:t>
                      </a:r>
                    </a:p>
                  </a:txBody>
                  <a:tcPr marL="73152" marR="73152" marT="27432" marB="27432" anchor="ctr">
                    <a:noFill/>
                  </a:tcPr>
                </a:tc>
                <a:extLst>
                  <a:ext uri="{0D108BD9-81ED-4DB2-BD59-A6C34878D82A}">
                    <a16:rowId xmlns:a16="http://schemas.microsoft.com/office/drawing/2014/main" val="10012"/>
                  </a:ext>
                </a:extLst>
              </a:tr>
              <a:tr h="325898">
                <a:tc>
                  <a:txBody>
                    <a:bodyPr/>
                    <a:lstStyle/>
                    <a:p>
                      <a:pPr algn="l"/>
                      <a:r>
                        <a:rPr sz="1300" b="0" i="0">
                          <a:solidFill>
                            <a:srgbClr val="3C3C3B"/>
                          </a:solidFill>
                        </a:rPr>
                        <a:t>LCOE</a:t>
                      </a:r>
                    </a:p>
                  </a:txBody>
                  <a:tcPr marL="73152" marR="73152" marT="27432" marB="27432" anchor="ctr">
                    <a:solidFill>
                      <a:srgbClr val="F2F2F2"/>
                    </a:solidFill>
                  </a:tcPr>
                </a:tc>
                <a:tc>
                  <a:txBody>
                    <a:bodyPr/>
                    <a:lstStyle/>
                    <a:p>
                      <a:pPr algn="l"/>
                      <a:r>
                        <a:rPr sz="1300" b="0" i="0">
                          <a:solidFill>
                            <a:srgbClr val="919191"/>
                          </a:solidFill>
                        </a:rPr>
                        <a:t>€/MWh</a:t>
                      </a:r>
                    </a:p>
                  </a:txBody>
                  <a:tcPr marL="73152" marR="73152" marT="27432" marB="27432" anchor="ctr">
                    <a:solidFill>
                      <a:srgbClr val="F2F2F2"/>
                    </a:solid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106.1</a:t>
                      </a:r>
                    </a:p>
                  </a:txBody>
                  <a:tcPr marL="73152" marR="73152" marT="27432" marB="27432" anchor="ctr">
                    <a:noFill/>
                  </a:tcPr>
                </a:tc>
                <a:tc>
                  <a:txBody>
                    <a:bodyPr/>
                    <a:lstStyle/>
                    <a:p>
                      <a:pPr algn="r"/>
                      <a:r>
                        <a:rPr sz="1300" b="0" i="0">
                          <a:solidFill>
                            <a:srgbClr val="3C3C3B"/>
                          </a:solidFill>
                        </a:rPr>
                        <a:t>86.5</a:t>
                      </a:r>
                    </a:p>
                  </a:txBody>
                  <a:tcPr marL="73152" marR="73152" marT="27432" marB="27432" anchor="ctr">
                    <a:noFill/>
                  </a:tcPr>
                </a:tc>
                <a:extLst>
                  <a:ext uri="{0D108BD9-81ED-4DB2-BD59-A6C34878D82A}">
                    <a16:rowId xmlns:a16="http://schemas.microsoft.com/office/drawing/2014/main" val="10013"/>
                  </a:ext>
                </a:extLst>
              </a:tr>
              <a:tr h="325898">
                <a:tc>
                  <a:txBody>
                    <a:bodyPr/>
                    <a:lstStyle/>
                    <a:p>
                      <a:pPr algn="l"/>
                      <a:r>
                        <a:rPr sz="1300" b="0" i="0">
                          <a:solidFill>
                            <a:srgbClr val="3C3C3B"/>
                          </a:solidFill>
                        </a:rPr>
                        <a:t>Payback year</a:t>
                      </a:r>
                    </a:p>
                  </a:txBody>
                  <a:tcPr marL="73152" marR="73152" marT="27432" marB="27432" anchor="ctr">
                    <a:solidFill>
                      <a:srgbClr val="F2F2F2"/>
                    </a:solidFill>
                  </a:tcPr>
                </a:tc>
                <a:tc>
                  <a:txBody>
                    <a:bodyPr/>
                    <a:lstStyle/>
                    <a:p>
                      <a:pPr algn="l"/>
                      <a:r>
                        <a:rPr sz="1300" b="0" i="0">
                          <a:solidFill>
                            <a:srgbClr val="919191"/>
                          </a:solidFill>
                        </a:rPr>
                        <a:t>year</a:t>
                      </a:r>
                    </a:p>
                  </a:txBody>
                  <a:tcPr marL="73152" marR="73152" marT="27432" marB="27432" anchor="ctr">
                    <a:solidFill>
                      <a:srgbClr val="F2F2F2"/>
                    </a:solid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a:t>
                      </a:r>
                    </a:p>
                  </a:txBody>
                  <a:tcPr marL="73152" marR="73152" marT="27432" marB="27432" anchor="ctr">
                    <a:noFill/>
                  </a:tcPr>
                </a:tc>
                <a:tc>
                  <a:txBody>
                    <a:bodyPr/>
                    <a:lstStyle/>
                    <a:p>
                      <a:pPr algn="r"/>
                      <a:r>
                        <a:rPr sz="1300" b="0" i="0">
                          <a:solidFill>
                            <a:srgbClr val="3C3C3B"/>
                          </a:solidFill>
                        </a:rPr>
                        <a:t>2043</a:t>
                      </a:r>
                    </a:p>
                  </a:txBody>
                  <a:tcPr marL="73152" marR="73152" marT="27432" marB="27432" anchor="ctr">
                    <a:noFill/>
                  </a:tcPr>
                </a:tc>
                <a:tc>
                  <a:txBody>
                    <a:bodyPr/>
                    <a:lstStyle/>
                    <a:p>
                      <a:pPr algn="r"/>
                      <a:r>
                        <a:rPr sz="1300" b="0" i="0" dirty="0">
                          <a:solidFill>
                            <a:srgbClr val="3C3C3B"/>
                          </a:solidFill>
                        </a:rPr>
                        <a:t>2041</a:t>
                      </a:r>
                    </a:p>
                  </a:txBody>
                  <a:tcPr marL="73152" marR="73152" marT="27432" marB="27432" anchor="ctr">
                    <a:noFill/>
                  </a:tcPr>
                </a:tc>
                <a:extLst>
                  <a:ext uri="{0D108BD9-81ED-4DB2-BD59-A6C34878D82A}">
                    <a16:rowId xmlns:a16="http://schemas.microsoft.com/office/drawing/2014/main" val="10014"/>
                  </a:ext>
                </a:extLst>
              </a:tr>
            </a:tbl>
          </a:graphicData>
        </a:graphic>
      </p:graphicFrame>
      <p:graphicFrame>
        <p:nvGraphicFramePr>
          <p:cNvPr id="17" name="IRR chart"/>
          <p:cNvGraphicFramePr>
            <a:graphicFrameLocks noGrp="1"/>
          </p:cNvGraphicFramePr>
          <p:nvPr/>
        </p:nvGraphicFramePr>
        <p:xfrm>
          <a:off x="4498848" y="6949438"/>
          <a:ext cx="5943600" cy="2606041"/>
        </p:xfrm>
        <a:graphic>
          <a:graphicData uri="http://schemas.openxmlformats.org/drawingml/2006/chart">
            <c:chart xmlns:c="http://schemas.openxmlformats.org/drawingml/2006/chart" xmlns:r="http://schemas.openxmlformats.org/officeDocument/2006/relationships" r:id="rId2"/>
          </a:graphicData>
        </a:graphic>
      </p:graphicFrame>
      <p:sp>
        <p:nvSpPr>
          <p:cNvPr id="20" name="Footnote"/>
          <p:cNvSpPr txBox="1"/>
          <p:nvPr/>
        </p:nvSpPr>
        <p:spPr>
          <a:xfrm>
            <a:off x="4498848" y="9875520"/>
            <a:ext cx="13167360" cy="640080"/>
          </a:xfrm>
          <a:prstGeom prst="rect">
            <a:avLst/>
          </a:prstGeom>
          <a:noFill/>
        </p:spPr>
        <p:txBody>
          <a:bodyPr wrap="square" lIns="0" tIns="0" rIns="0" bIns="0" anchor="t">
            <a:spAutoFit/>
          </a:bodyPr>
          <a:lstStyle/>
          <a:p>
            <a:pPr algn="l"/>
            <a:r>
              <a:rPr sz="1100" b="0">
                <a:solidFill>
                  <a:srgbClr val="919191"/>
                </a:solidFill>
              </a:rPr>
              <a:t>Grey italic: project operating figures after COD, which belong to the buyer on the sale-at-COD routes (reference only) – FEP's revenue on that route is the sale price. NPV at the model's discount rate. DSCR, LCOE and payback are not defined for the COD exit. Hold-to-maturity MOIC is undiscounted over the operating life. Sale bridge: the senior debt is repaid out of the price and the gain is tax-exempt; development costs, guarantee fees, the grid fee and the purchase price are not reimbursed separately.</a:t>
            </a:r>
          </a:p>
          <a:p>
            <a:pPr algn="l"/>
            <a:r>
              <a:rPr sz="1100" b="0">
                <a:solidFill>
                  <a:srgbClr val="919191"/>
                </a:solidFill>
              </a:rPr>
              <a:t>Source: Bana IC model, 9 Oct 2026.</a:t>
            </a:r>
          </a:p>
        </p:txBody>
      </p:sp>
      <p:graphicFrame>
        <p:nvGraphicFramePr>
          <p:cNvPr id="21" name="Bridge table"/>
          <p:cNvGraphicFramePr>
            <a:graphicFrameLocks noGrp="1"/>
          </p:cNvGraphicFramePr>
          <p:nvPr/>
        </p:nvGraphicFramePr>
        <p:xfrm>
          <a:off x="10808208" y="6995158"/>
          <a:ext cx="7406640" cy="2304288"/>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29184">
                <a:tc>
                  <a:txBody>
                    <a:bodyPr/>
                    <a:lstStyle/>
                    <a:p>
                      <a:pPr algn="l"/>
                      <a:r>
                        <a:rPr sz="1300" b="1" i="0">
                          <a:solidFill>
                            <a:srgbClr val="FFFFFF"/>
                          </a:solidFill>
                        </a:rPr>
                        <a:t>Sale at COD – bridge to net profit (€m)</a:t>
                      </a:r>
                    </a:p>
                  </a:txBody>
                  <a:tcPr marL="73152" marR="73152" marT="27432" marB="27432" anchor="ctr">
                    <a:solidFill>
                      <a:srgbClr val="00A651"/>
                    </a:solidFill>
                  </a:tcPr>
                </a:tc>
                <a:tc>
                  <a:txBody>
                    <a:bodyPr/>
                    <a:lstStyle/>
                    <a:p>
                      <a:pPr algn="r"/>
                      <a:r>
                        <a:rPr sz="1300" b="1" i="0">
                          <a:solidFill>
                            <a:srgbClr val="FFFFFF"/>
                          </a:solidFill>
                        </a:rPr>
                        <a:t>European</a:t>
                      </a:r>
                    </a:p>
                  </a:txBody>
                  <a:tcPr marL="73152" marR="73152" marT="27432" marB="27432" anchor="ctr">
                    <a:solidFill>
                      <a:srgbClr val="00A651"/>
                    </a:solidFill>
                  </a:tcPr>
                </a:tc>
                <a:tc>
                  <a:txBody>
                    <a:bodyPr/>
                    <a:lstStyle/>
                    <a:p>
                      <a:pPr algn="r"/>
                      <a:r>
                        <a:rPr sz="1300" b="1" i="0">
                          <a:solidFill>
                            <a:srgbClr val="FFFFFF"/>
                          </a:solidFill>
                        </a:rPr>
                        <a:t>Chinese</a:t>
                      </a:r>
                    </a:p>
                  </a:txBody>
                  <a:tcPr marL="73152" marR="73152" marT="27432" marB="27432" anchor="ctr">
                    <a:solidFill>
                      <a:srgbClr val="00A651"/>
                    </a:solidFill>
                  </a:tcPr>
                </a:tc>
                <a:extLst>
                  <a:ext uri="{0D108BD9-81ED-4DB2-BD59-A6C34878D82A}">
                    <a16:rowId xmlns:a16="http://schemas.microsoft.com/office/drawing/2014/main" val="10000"/>
                  </a:ext>
                </a:extLst>
              </a:tr>
              <a:tr h="329184">
                <a:tc>
                  <a:txBody>
                    <a:bodyPr/>
                    <a:lstStyle/>
                    <a:p>
                      <a:pPr algn="l"/>
                      <a:r>
                        <a:rPr sz="1200" b="1" i="0">
                          <a:solidFill>
                            <a:srgbClr val="3C3C3B"/>
                          </a:solidFill>
                        </a:rPr>
                        <a:t>Sale price paid by the buyer</a:t>
                      </a:r>
                    </a:p>
                  </a:txBody>
                  <a:tcPr marL="73152" marR="73152" marT="27432" marB="27432" anchor="ctr">
                    <a:solidFill>
                      <a:srgbClr val="F2F2F2"/>
                    </a:solidFill>
                  </a:tcPr>
                </a:tc>
                <a:tc>
                  <a:txBody>
                    <a:bodyPr/>
                    <a:lstStyle/>
                    <a:p>
                      <a:pPr algn="r"/>
                      <a:r>
                        <a:rPr sz="1200" b="1" i="0">
                          <a:solidFill>
                            <a:srgbClr val="3C3C3B"/>
                          </a:solidFill>
                        </a:rPr>
                        <a:t>122.50</a:t>
                      </a:r>
                    </a:p>
                  </a:txBody>
                  <a:tcPr marL="73152" marR="73152" marT="27432" marB="27432" anchor="ctr">
                    <a:noFill/>
                  </a:tcPr>
                </a:tc>
                <a:tc>
                  <a:txBody>
                    <a:bodyPr/>
                    <a:lstStyle/>
                    <a:p>
                      <a:pPr algn="r"/>
                      <a:r>
                        <a:rPr sz="1200" b="1" i="0">
                          <a:solidFill>
                            <a:srgbClr val="3C3C3B"/>
                          </a:solidFill>
                        </a:rPr>
                        <a:t>105.00</a:t>
                      </a:r>
                    </a:p>
                  </a:txBody>
                  <a:tcPr marL="73152" marR="73152" marT="27432" marB="27432" anchor="ctr">
                    <a:noFill/>
                  </a:tcPr>
                </a:tc>
                <a:extLst>
                  <a:ext uri="{0D108BD9-81ED-4DB2-BD59-A6C34878D82A}">
                    <a16:rowId xmlns:a16="http://schemas.microsoft.com/office/drawing/2014/main" val="10001"/>
                  </a:ext>
                </a:extLst>
              </a:tr>
              <a:tr h="329184">
                <a:tc>
                  <a:txBody>
                    <a:bodyPr/>
                    <a:lstStyle/>
                    <a:p>
                      <a:pPr algn="l"/>
                      <a:r>
                        <a:rPr sz="1200" b="0" i="0">
                          <a:solidFill>
                            <a:srgbClr val="3C3C3B"/>
                          </a:solidFill>
                        </a:rPr>
                        <a:t>Senior debt repaid (incl. capitalised interest)</a:t>
                      </a:r>
                    </a:p>
                  </a:txBody>
                  <a:tcPr marL="73152" marR="73152" marT="27432" marB="27432" anchor="ctr">
                    <a:solidFill>
                      <a:srgbClr val="F2F2F2"/>
                    </a:solidFill>
                  </a:tcPr>
                </a:tc>
                <a:tc>
                  <a:txBody>
                    <a:bodyPr/>
                    <a:lstStyle/>
                    <a:p>
                      <a:pPr algn="r"/>
                      <a:r>
                        <a:rPr sz="1200" b="0" i="0">
                          <a:solidFill>
                            <a:srgbClr val="3C3C3B"/>
                          </a:solidFill>
                        </a:rPr>
                        <a:t>(57.53)</a:t>
                      </a:r>
                    </a:p>
                  </a:txBody>
                  <a:tcPr marL="73152" marR="73152" marT="27432" marB="27432" anchor="ctr">
                    <a:noFill/>
                  </a:tcPr>
                </a:tc>
                <a:tc>
                  <a:txBody>
                    <a:bodyPr/>
                    <a:lstStyle/>
                    <a:p>
                      <a:pPr algn="r"/>
                      <a:r>
                        <a:rPr sz="1200" b="0" i="0">
                          <a:solidFill>
                            <a:srgbClr val="3C3C3B"/>
                          </a:solidFill>
                        </a:rPr>
                        <a:t>(34.83)</a:t>
                      </a:r>
                    </a:p>
                  </a:txBody>
                  <a:tcPr marL="73152" marR="73152" marT="27432" marB="27432" anchor="ctr">
                    <a:noFill/>
                  </a:tcPr>
                </a:tc>
                <a:extLst>
                  <a:ext uri="{0D108BD9-81ED-4DB2-BD59-A6C34878D82A}">
                    <a16:rowId xmlns:a16="http://schemas.microsoft.com/office/drawing/2014/main" val="10002"/>
                  </a:ext>
                </a:extLst>
              </a:tr>
              <a:tr h="329184">
                <a:tc>
                  <a:txBody>
                    <a:bodyPr/>
                    <a:lstStyle/>
                    <a:p>
                      <a:pPr algn="l"/>
                      <a:r>
                        <a:rPr sz="1200" b="0" i="0">
                          <a:solidFill>
                            <a:srgbClr val="3C3C3B"/>
                          </a:solidFill>
                        </a:rPr>
                        <a:t>Sale costs</a:t>
                      </a:r>
                    </a:p>
                  </a:txBody>
                  <a:tcPr marL="73152" marR="73152" marT="27432" marB="27432" anchor="ctr">
                    <a:solidFill>
                      <a:srgbClr val="F2F2F2"/>
                    </a:solidFill>
                  </a:tcPr>
                </a:tc>
                <a:tc>
                  <a:txBody>
                    <a:bodyPr/>
                    <a:lstStyle/>
                    <a:p>
                      <a:pPr algn="r"/>
                      <a:r>
                        <a:rPr sz="1200" b="0" i="0">
                          <a:solidFill>
                            <a:srgbClr val="3C3C3B"/>
                          </a:solidFill>
                        </a:rPr>
                        <a:t>(0.50)</a:t>
                      </a:r>
                    </a:p>
                  </a:txBody>
                  <a:tcPr marL="73152" marR="73152" marT="27432" marB="27432" anchor="ctr">
                    <a:noFill/>
                  </a:tcPr>
                </a:tc>
                <a:tc>
                  <a:txBody>
                    <a:bodyPr/>
                    <a:lstStyle/>
                    <a:p>
                      <a:pPr algn="r"/>
                      <a:r>
                        <a:rPr sz="1200" b="0" i="0">
                          <a:solidFill>
                            <a:srgbClr val="3C3C3B"/>
                          </a:solidFill>
                        </a:rPr>
                        <a:t>(0.50)</a:t>
                      </a:r>
                    </a:p>
                  </a:txBody>
                  <a:tcPr marL="73152" marR="73152" marT="27432" marB="27432" anchor="ctr">
                    <a:noFill/>
                  </a:tcPr>
                </a:tc>
                <a:extLst>
                  <a:ext uri="{0D108BD9-81ED-4DB2-BD59-A6C34878D82A}">
                    <a16:rowId xmlns:a16="http://schemas.microsoft.com/office/drawing/2014/main" val="10003"/>
                  </a:ext>
                </a:extLst>
              </a:tr>
              <a:tr h="329184">
                <a:tc>
                  <a:txBody>
                    <a:bodyPr/>
                    <a:lstStyle/>
                    <a:p>
                      <a:pPr algn="l"/>
                      <a:r>
                        <a:rPr sz="1200" b="1" i="0">
                          <a:solidFill>
                            <a:srgbClr val="FFFFFF"/>
                          </a:solidFill>
                        </a:rPr>
                        <a:t>Cash to FEP at COD</a:t>
                      </a:r>
                    </a:p>
                  </a:txBody>
                  <a:tcPr marL="73152" marR="73152" marT="27432" marB="27432" anchor="ctr">
                    <a:solidFill>
                      <a:srgbClr val="00563C"/>
                    </a:solidFill>
                  </a:tcPr>
                </a:tc>
                <a:tc>
                  <a:txBody>
                    <a:bodyPr/>
                    <a:lstStyle/>
                    <a:p>
                      <a:pPr algn="r"/>
                      <a:r>
                        <a:rPr sz="1200" b="1" i="0">
                          <a:solidFill>
                            <a:srgbClr val="FFFFFF"/>
                          </a:solidFill>
                        </a:rPr>
                        <a:t>64.47</a:t>
                      </a:r>
                    </a:p>
                  </a:txBody>
                  <a:tcPr marL="73152" marR="73152" marT="27432" marB="27432" anchor="ctr">
                    <a:solidFill>
                      <a:srgbClr val="00563C"/>
                    </a:solidFill>
                  </a:tcPr>
                </a:tc>
                <a:tc>
                  <a:txBody>
                    <a:bodyPr/>
                    <a:lstStyle/>
                    <a:p>
                      <a:pPr algn="r"/>
                      <a:r>
                        <a:rPr sz="1200" b="1" i="0">
                          <a:solidFill>
                            <a:srgbClr val="FFFFFF"/>
                          </a:solidFill>
                        </a:rPr>
                        <a:t>69.67</a:t>
                      </a:r>
                    </a:p>
                  </a:txBody>
                  <a:tcPr marL="73152" marR="73152" marT="27432" marB="27432" anchor="ctr">
                    <a:solidFill>
                      <a:srgbClr val="00563C"/>
                    </a:solidFill>
                  </a:tcPr>
                </a:tc>
                <a:extLst>
                  <a:ext uri="{0D108BD9-81ED-4DB2-BD59-A6C34878D82A}">
                    <a16:rowId xmlns:a16="http://schemas.microsoft.com/office/drawing/2014/main" val="10004"/>
                  </a:ext>
                </a:extLst>
              </a:tr>
              <a:tr h="329184">
                <a:tc>
                  <a:txBody>
                    <a:bodyPr/>
                    <a:lstStyle/>
                    <a:p>
                      <a:pPr algn="l"/>
                      <a:r>
                        <a:rPr sz="1200" b="0" i="0">
                          <a:solidFill>
                            <a:srgbClr val="3C3C3B"/>
                          </a:solidFill>
                        </a:rPr>
                        <a:t>Less FEP equity contributed to COD</a:t>
                      </a:r>
                    </a:p>
                  </a:txBody>
                  <a:tcPr marL="73152" marR="73152" marT="27432" marB="27432" anchor="ctr">
                    <a:solidFill>
                      <a:srgbClr val="F2F2F2"/>
                    </a:solidFill>
                  </a:tcPr>
                </a:tc>
                <a:tc>
                  <a:txBody>
                    <a:bodyPr/>
                    <a:lstStyle/>
                    <a:p>
                      <a:pPr algn="r"/>
                      <a:r>
                        <a:rPr sz="1200" b="0" i="0">
                          <a:solidFill>
                            <a:srgbClr val="3C3C3B"/>
                          </a:solidFill>
                        </a:rPr>
                        <a:t>(44.23)</a:t>
                      </a:r>
                    </a:p>
                  </a:txBody>
                  <a:tcPr marL="73152" marR="73152" marT="27432" marB="27432" anchor="ctr">
                    <a:noFill/>
                  </a:tcPr>
                </a:tc>
                <a:tc>
                  <a:txBody>
                    <a:bodyPr/>
                    <a:lstStyle/>
                    <a:p>
                      <a:pPr algn="r"/>
                      <a:r>
                        <a:rPr sz="1200" b="0" i="0">
                          <a:solidFill>
                            <a:srgbClr val="3C3C3B"/>
                          </a:solidFill>
                        </a:rPr>
                        <a:t>(40.32)</a:t>
                      </a:r>
                    </a:p>
                  </a:txBody>
                  <a:tcPr marL="73152" marR="73152" marT="27432" marB="27432" anchor="ctr">
                    <a:noFill/>
                  </a:tcPr>
                </a:tc>
                <a:extLst>
                  <a:ext uri="{0D108BD9-81ED-4DB2-BD59-A6C34878D82A}">
                    <a16:rowId xmlns:a16="http://schemas.microsoft.com/office/drawing/2014/main" val="10005"/>
                  </a:ext>
                </a:extLst>
              </a:tr>
              <a:tr h="329184">
                <a:tc>
                  <a:txBody>
                    <a:bodyPr/>
                    <a:lstStyle/>
                    <a:p>
                      <a:pPr algn="l"/>
                      <a:r>
                        <a:rPr sz="1200" b="1" i="0">
                          <a:solidFill>
                            <a:srgbClr val="3C3C3B"/>
                          </a:solidFill>
                        </a:rPr>
                        <a:t>FEP net profit</a:t>
                      </a:r>
                    </a:p>
                  </a:txBody>
                  <a:tcPr marL="73152" marR="73152" marT="27432" marB="27432" anchor="ctr">
                    <a:solidFill>
                      <a:srgbClr val="E6F4EC"/>
                    </a:solidFill>
                  </a:tcPr>
                </a:tc>
                <a:tc>
                  <a:txBody>
                    <a:bodyPr/>
                    <a:lstStyle/>
                    <a:p>
                      <a:pPr algn="r"/>
                      <a:r>
                        <a:rPr sz="1200" b="1" i="0">
                          <a:solidFill>
                            <a:srgbClr val="3C3C3B"/>
                          </a:solidFill>
                        </a:rPr>
                        <a:t>20.25</a:t>
                      </a:r>
                    </a:p>
                  </a:txBody>
                  <a:tcPr marL="73152" marR="73152" marT="27432" marB="27432" anchor="ctr">
                    <a:solidFill>
                      <a:srgbClr val="E6F4EC"/>
                    </a:solidFill>
                  </a:tcPr>
                </a:tc>
                <a:tc>
                  <a:txBody>
                    <a:bodyPr/>
                    <a:lstStyle/>
                    <a:p>
                      <a:pPr algn="r"/>
                      <a:r>
                        <a:rPr sz="1200" b="1" i="0">
                          <a:solidFill>
                            <a:srgbClr val="3C3C3B"/>
                          </a:solidFill>
                        </a:rPr>
                        <a:t>29.35</a:t>
                      </a:r>
                    </a:p>
                  </a:txBody>
                  <a:tcPr marL="73152" marR="73152" marT="27432" marB="27432" anchor="ctr">
                    <a:solidFill>
                      <a:srgbClr val="E6F4E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7638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5CB96A-5943-1799-7671-B87AE6BD83F5}"/>
              </a:ext>
            </a:extLst>
          </p:cNvPr>
          <p:cNvSpPr>
            <a:spLocks noGrp="1"/>
          </p:cNvSpPr>
          <p:nvPr>
            <p:ph type="title"/>
          </p:nvPr>
        </p:nvSpPr>
        <p:spPr>
          <a:xfrm>
            <a:off x="4498848" y="283464"/>
            <a:ext cx="12618720" cy="795528"/>
          </a:xfrm>
        </p:spPr>
        <p:txBody>
          <a:bodyPr anchor="ctr"/>
          <a:lstStyle/>
          <a:p>
            <a:r>
              <a:rPr lang="en-GB" noProof="0" dirty="0"/>
              <a:t>Sensitivity – FEP IRR</a:t>
            </a:r>
          </a:p>
        </p:txBody>
      </p:sp>
      <p:sp>
        <p:nvSpPr>
          <p:cNvPr id="2" name="Slide Number Placeholder 1">
            <a:extLst>
              <a:ext uri="{FF2B5EF4-FFF2-40B4-BE49-F238E27FC236}">
                <a16:creationId xmlns:a16="http://schemas.microsoft.com/office/drawing/2014/main" id="{25998BA7-495C-B8E8-70B6-32AA6042333D}"/>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C90D80D7-F26B-0D98-EECD-BC40C468A81E}"/>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Change in FEP IRR vs base (percentage points) for −10% / +10% on each driver</a:t>
            </a:r>
          </a:p>
        </p:txBody>
      </p:sp>
      <p:sp>
        <p:nvSpPr>
          <p:cNvPr id="10" name="Footnote"/>
          <p:cNvSpPr txBox="1"/>
          <p:nvPr/>
        </p:nvSpPr>
        <p:spPr>
          <a:xfrm>
            <a:off x="4498848" y="9418320"/>
            <a:ext cx="13716000" cy="822960"/>
          </a:xfrm>
          <a:prstGeom prst="rect">
            <a:avLst/>
          </a:prstGeom>
          <a:noFill/>
        </p:spPr>
        <p:txBody>
          <a:bodyPr wrap="square" lIns="0" tIns="0" rIns="0" bIns="0" anchor="t">
            <a:spAutoFit/>
          </a:bodyPr>
          <a:lstStyle/>
          <a:p>
            <a:pPr algn="l"/>
            <a:r>
              <a:rPr sz="1100" b="0">
                <a:solidFill>
                  <a:srgbClr val="919191"/>
                </a:solidFill>
              </a:rPr>
              <a:t>Each driver is moved by −10% and +10% on its own, everything else at base; the model's integrity checks pass in every run.</a:t>
            </a:r>
          </a:p>
          <a:p>
            <a:pPr algn="l"/>
            <a:r>
              <a:rPr sz="1100" b="0">
                <a:solidFill>
                  <a:srgbClr val="919191"/>
                </a:solidFill>
              </a:rPr>
              <a:t>SPV purchase price = price paid to the current owners (€4.5m). COD exit price = sale price per MW (2,450 k€/MW European, 2,100 k€/MW Chinese). Yield = P50 equivalent hours (2,460 h). Turbine price = 950 k€/MW European, 500 k€/MW Chinese.</a:t>
            </a:r>
          </a:p>
          <a:p>
            <a:pPr algn="l"/>
            <a:r>
              <a:rPr sz="1100" b="0">
                <a:solidFill>
                  <a:srgbClr val="919191"/>
                </a:solidFill>
              </a:rPr>
              <a:t>Yield does not move the sale-at-COD cases: the sale price is fixed per MW and there is no operating revenue before the sale. The COD price does not affect hold to maturity. Bars sorted by swing; axis scale shared within each row.</a:t>
            </a:r>
          </a:p>
          <a:p>
            <a:pPr algn="l"/>
            <a:r>
              <a:rPr sz="1100" b="0">
                <a:solidFill>
                  <a:srgbClr val="919191"/>
                </a:solidFill>
              </a:rPr>
              <a:t>Source: Bana IC model, 9 Oct 2026.</a:t>
            </a:r>
          </a:p>
        </p:txBody>
      </p:sp>
      <p:graphicFrame>
        <p:nvGraphicFramePr>
          <p:cNvPr id="11" name="IRR tornado cod_eu"/>
          <p:cNvGraphicFramePr>
            <a:graphicFrameLocks noGrp="1"/>
          </p:cNvGraphicFramePr>
          <p:nvPr/>
        </p:nvGraphicFramePr>
        <p:xfrm>
          <a:off x="4498848" y="1691640"/>
          <a:ext cx="6720840"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IRR tornado cod_cn"/>
          <p:cNvGraphicFramePr>
            <a:graphicFrameLocks noGrp="1"/>
          </p:cNvGraphicFramePr>
          <p:nvPr/>
        </p:nvGraphicFramePr>
        <p:xfrm>
          <a:off x="11494008" y="1691640"/>
          <a:ext cx="672084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IRR tornado htm_eu"/>
          <p:cNvGraphicFramePr>
            <a:graphicFrameLocks noGrp="1"/>
          </p:cNvGraphicFramePr>
          <p:nvPr/>
        </p:nvGraphicFramePr>
        <p:xfrm>
          <a:off x="4498848" y="5532120"/>
          <a:ext cx="672084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IRR tornado htm_cn"/>
          <p:cNvGraphicFramePr>
            <a:graphicFrameLocks noGrp="1"/>
          </p:cNvGraphicFramePr>
          <p:nvPr/>
        </p:nvGraphicFramePr>
        <p:xfrm>
          <a:off x="11494008" y="5532120"/>
          <a:ext cx="6720840" cy="36576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64186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5CB96A-5943-1799-7671-B87AE6BD83F5}"/>
              </a:ext>
            </a:extLst>
          </p:cNvPr>
          <p:cNvSpPr>
            <a:spLocks noGrp="1"/>
          </p:cNvSpPr>
          <p:nvPr>
            <p:ph type="title"/>
          </p:nvPr>
        </p:nvSpPr>
        <p:spPr>
          <a:xfrm>
            <a:off x="4498848" y="283464"/>
            <a:ext cx="12618720" cy="795528"/>
          </a:xfrm>
        </p:spPr>
        <p:txBody>
          <a:bodyPr anchor="ctr"/>
          <a:lstStyle/>
          <a:p>
            <a:r>
              <a:rPr lang="en-GB" noProof="0" dirty="0"/>
              <a:t>Sensitivity – FEP MOIC</a:t>
            </a:r>
          </a:p>
        </p:txBody>
      </p:sp>
      <p:sp>
        <p:nvSpPr>
          <p:cNvPr id="2" name="Slide Number Placeholder 1">
            <a:extLst>
              <a:ext uri="{FF2B5EF4-FFF2-40B4-BE49-F238E27FC236}">
                <a16:creationId xmlns:a16="http://schemas.microsoft.com/office/drawing/2014/main" id="{25998BA7-495C-B8E8-70B6-32AA6042333D}"/>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C90D80D7-F26B-0D98-EECD-BC40C468A81E}"/>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5"/>
                  </a:ext>
                </a:extLst>
              </a:tr>
              <a:tr h="777240">
                <a:tc>
                  <a:txBody>
                    <a:bodyPr/>
                    <a:lstStyle/>
                    <a:p>
                      <a:pPr marL="12700">
                        <a:lnSpc>
                          <a:spcPct val="100000"/>
                        </a:lnSpc>
                        <a:spcBef>
                          <a:spcPts val="120"/>
                        </a:spcBef>
                      </a:pPr>
                      <a:r>
                        <a:rPr lang="en-GB" sz="1800" noProof="0" dirty="0">
                          <a:solidFill>
                            <a:schemeClr val="tx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Change in FEP MOIC vs base (x) for −10% / +10% on each driver</a:t>
            </a:r>
          </a:p>
        </p:txBody>
      </p:sp>
      <p:sp>
        <p:nvSpPr>
          <p:cNvPr id="10" name="Footnote"/>
          <p:cNvSpPr txBox="1"/>
          <p:nvPr/>
        </p:nvSpPr>
        <p:spPr>
          <a:xfrm>
            <a:off x="4498848" y="9418320"/>
            <a:ext cx="13716000" cy="822960"/>
          </a:xfrm>
          <a:prstGeom prst="rect">
            <a:avLst/>
          </a:prstGeom>
          <a:noFill/>
        </p:spPr>
        <p:txBody>
          <a:bodyPr wrap="square" lIns="0" tIns="0" rIns="0" bIns="0" anchor="t">
            <a:spAutoFit/>
          </a:bodyPr>
          <a:lstStyle/>
          <a:p>
            <a:pPr algn="l"/>
            <a:r>
              <a:rPr sz="1100" b="0">
                <a:solidFill>
                  <a:srgbClr val="919191"/>
                </a:solidFill>
              </a:rPr>
              <a:t>Each driver is moved by −10% and +10% on its own, everything else at base; the model's integrity checks pass in every run.</a:t>
            </a:r>
          </a:p>
          <a:p>
            <a:pPr algn="l"/>
            <a:r>
              <a:rPr sz="1100" b="0">
                <a:solidFill>
                  <a:srgbClr val="919191"/>
                </a:solidFill>
              </a:rPr>
              <a:t>SPV purchase price = price paid to the current owners (€4.5m). COD exit price = sale price per MW (2,450 k€/MW European, 2,100 k€/MW Chinese). Yield = P50 equivalent hours (2,460 h). Turbine price = 950 k€/MW European, 500 k€/MW Chinese.</a:t>
            </a:r>
          </a:p>
          <a:p>
            <a:pPr algn="l"/>
            <a:r>
              <a:rPr sz="1100" b="0">
                <a:solidFill>
                  <a:srgbClr val="919191"/>
                </a:solidFill>
              </a:rPr>
              <a:t>Yield does not move the sale-at-COD cases: the sale price is fixed per MW and there is no operating revenue before the sale. The COD price does not affect hold to maturity. Bars sorted by swing; axis scale shared within each row.</a:t>
            </a:r>
          </a:p>
          <a:p>
            <a:pPr algn="l"/>
            <a:r>
              <a:rPr sz="1100" b="0">
                <a:solidFill>
                  <a:srgbClr val="919191"/>
                </a:solidFill>
              </a:rPr>
              <a:t>Source: Bana IC model, 9 Oct 2026.</a:t>
            </a:r>
          </a:p>
        </p:txBody>
      </p:sp>
      <p:graphicFrame>
        <p:nvGraphicFramePr>
          <p:cNvPr id="11" name="MOIC tornado cod_eu"/>
          <p:cNvGraphicFramePr>
            <a:graphicFrameLocks noGrp="1"/>
          </p:cNvGraphicFramePr>
          <p:nvPr/>
        </p:nvGraphicFramePr>
        <p:xfrm>
          <a:off x="4498848" y="1691640"/>
          <a:ext cx="6720840"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MOIC tornado cod_cn"/>
          <p:cNvGraphicFramePr>
            <a:graphicFrameLocks noGrp="1"/>
          </p:cNvGraphicFramePr>
          <p:nvPr/>
        </p:nvGraphicFramePr>
        <p:xfrm>
          <a:off x="11494008" y="1691640"/>
          <a:ext cx="672084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MOIC tornado htm_eu"/>
          <p:cNvGraphicFramePr>
            <a:graphicFrameLocks noGrp="1"/>
          </p:cNvGraphicFramePr>
          <p:nvPr/>
        </p:nvGraphicFramePr>
        <p:xfrm>
          <a:off x="4498848" y="5532120"/>
          <a:ext cx="672084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MOIC tornado htm_cn"/>
          <p:cNvGraphicFramePr>
            <a:graphicFrameLocks noGrp="1"/>
          </p:cNvGraphicFramePr>
          <p:nvPr/>
        </p:nvGraphicFramePr>
        <p:xfrm>
          <a:off x="11494008" y="5532120"/>
          <a:ext cx="6720840" cy="36576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05101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5CB96A-5943-1799-7671-B87AE6BD83F5}"/>
              </a:ext>
            </a:extLst>
          </p:cNvPr>
          <p:cNvSpPr>
            <a:spLocks noGrp="1"/>
          </p:cNvSpPr>
          <p:nvPr>
            <p:ph type="title"/>
          </p:nvPr>
        </p:nvSpPr>
        <p:spPr>
          <a:xfrm>
            <a:off x="4498848" y="283464"/>
            <a:ext cx="12618720" cy="795528"/>
          </a:xfrm>
        </p:spPr>
        <p:txBody>
          <a:bodyPr anchor="ctr"/>
          <a:lstStyle/>
          <a:p>
            <a:r>
              <a:rPr lang="en-GB" noProof="0" dirty="0"/>
              <a:t>Sensitivity – all values</a:t>
            </a:r>
          </a:p>
        </p:txBody>
      </p:sp>
      <p:sp>
        <p:nvSpPr>
          <p:cNvPr id="2" name="Slide Number Placeholder 1">
            <a:extLst>
              <a:ext uri="{FF2B5EF4-FFF2-40B4-BE49-F238E27FC236}">
                <a16:creationId xmlns:a16="http://schemas.microsoft.com/office/drawing/2014/main" id="{25998BA7-495C-B8E8-70B6-32AA6042333D}"/>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C90D80D7-F26B-0D98-EECD-BC40C468A81E}"/>
              </a:ext>
            </a:extLst>
          </p:cNvPr>
          <p:cNvGraphicFramePr>
            <a:graphicFrameLocks noGrp="1"/>
          </p:cNvGraphicFramePr>
          <p:nvPr/>
        </p:nvGraphicFramePr>
        <p:xfrm>
          <a:off x="0" y="0"/>
          <a:ext cx="3769518" cy="621792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Executive 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Risks and mitigants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99"/>
                  </a:ext>
                </a:extLst>
              </a:tr>
              <a:tr h="777240">
                <a:tc>
                  <a:txBody>
                    <a:bodyPr/>
                    <a:lstStyle/>
                    <a:p>
                      <a:pPr marL="12700">
                        <a:lnSpc>
                          <a:spcPct val="100000"/>
                        </a:lnSpc>
                        <a:spcBef>
                          <a:spcPts val="120"/>
                        </a:spcBef>
                      </a:pPr>
                      <a:r>
                        <a:rPr lang="en-GB" sz="1800" noProof="0" dirty="0">
                          <a:solidFill>
                            <a:schemeClr val="tx1"/>
                          </a:solidFill>
                          <a:latin typeface="+mn-lt"/>
                          <a:cs typeface="Aptos"/>
                        </a:rPr>
                        <a:t>Technical overview and tender bid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Funding to COD and what comes back</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7240">
                <a:tc>
                  <a:txBody>
                    <a:bodyPr/>
                    <a:lstStyle/>
                    <a:p>
                      <a:pPr marL="12700">
                        <a:lnSpc>
                          <a:spcPct val="100000"/>
                        </a:lnSpc>
                        <a:spcBef>
                          <a:spcPts val="120"/>
                        </a:spcBef>
                      </a:pPr>
                      <a:r>
                        <a:rPr lang="en-GB" sz="1800" noProof="0" dirty="0">
                          <a:solidFill>
                            <a:schemeClr val="tx1"/>
                          </a:solidFill>
                          <a:latin typeface="+mn-lt"/>
                          <a:cs typeface="Aptos"/>
                        </a:rPr>
                        <a:t>Returns: sale at COD vs hold</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77240">
                <a:tc>
                  <a:txBody>
                    <a:bodyPr/>
                    <a:lstStyle/>
                    <a:p>
                      <a:pPr marL="12700">
                        <a:lnSpc>
                          <a:spcPct val="100000"/>
                        </a:lnSpc>
                        <a:spcBef>
                          <a:spcPts val="120"/>
                        </a:spcBef>
                      </a:pPr>
                      <a:r>
                        <a:rPr lang="en-GB" sz="1800" noProof="0" dirty="0">
                          <a:solidFill>
                            <a:schemeClr val="tx1"/>
                          </a:solidFill>
                          <a:latin typeface="+mn-lt"/>
                          <a:cs typeface="Aptos"/>
                        </a:rPr>
                        <a:t>IRR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77240">
                <a:tc>
                  <a:txBody>
                    <a:bodyPr/>
                    <a:lstStyle/>
                    <a:p>
                      <a:pPr marL="12700">
                        <a:lnSpc>
                          <a:spcPct val="100000"/>
                        </a:lnSpc>
                        <a:spcBef>
                          <a:spcPts val="120"/>
                        </a:spcBef>
                      </a:pPr>
                      <a:r>
                        <a:rPr lang="en-GB" sz="1800" noProof="0" dirty="0">
                          <a:solidFill>
                            <a:schemeClr val="tx1"/>
                          </a:solidFill>
                          <a:latin typeface="+mn-lt"/>
                          <a:cs typeface="Aptos"/>
                        </a:rPr>
                        <a:t>MOIC sensitivity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Sensitivity table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6"/>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FEP IRR and MOIC at −10% / base / +10% of each driver, by case</a:t>
            </a:r>
          </a:p>
        </p:txBody>
      </p:sp>
      <p:graphicFrame>
        <p:nvGraphicFramePr>
          <p:cNvPr id="9" name="Funding table"/>
          <p:cNvGraphicFramePr>
            <a:graphicFrameLocks noGrp="1"/>
          </p:cNvGraphicFramePr>
          <p:nvPr/>
        </p:nvGraphicFramePr>
        <p:xfrm>
          <a:off x="4498848" y="1691640"/>
          <a:ext cx="13716000" cy="7488936"/>
        </p:xfrm>
        <a:graphic>
          <a:graphicData uri="http://schemas.openxmlformats.org/drawingml/2006/table">
            <a:tbl>
              <a:tblPr>
                <a:tableStyleId>{5C22544A-7EE6-4342-B048-85BDC9FD1C3A}</a:tableStyleId>
              </a:tblPr>
              <a:tblGrid>
                <a:gridCol w="3291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280160">
                  <a:extLst>
                    <a:ext uri="{9D8B030D-6E8A-4147-A177-3AD203B41FA5}">
                      <a16:colId xmlns:a16="http://schemas.microsoft.com/office/drawing/2014/main" val="20007"/>
                    </a:ext>
                  </a:extLst>
                </a:gridCol>
              </a:tblGrid>
              <a:tr h="356616">
                <a:tc>
                  <a:txBody>
                    <a:bodyPr/>
                    <a:lstStyle/>
                    <a:p>
                      <a:pPr algn="l"/>
                      <a:r>
                        <a:rPr sz="1300" b="1" i="0">
                          <a:solidFill>
                            <a:srgbClr val="FFFFFF"/>
                          </a:solidFill>
                        </a:rPr>
                        <a:t>Driver</a:t>
                      </a:r>
                    </a:p>
                  </a:txBody>
                  <a:tcPr marL="73152" marR="73152" marT="27432" marB="27432" anchor="ctr">
                    <a:solidFill>
                      <a:srgbClr val="00A651"/>
                    </a:solidFill>
                  </a:tcPr>
                </a:tc>
                <a:tc>
                  <a:txBody>
                    <a:bodyPr/>
                    <a:lstStyle/>
                    <a:p>
                      <a:pPr algn="l"/>
                      <a:r>
                        <a:rPr sz="1300" b="1" i="0">
                          <a:solidFill>
                            <a:srgbClr val="FFFFFF"/>
                          </a:solidFill>
                        </a:rPr>
                        <a:t>Base input</a:t>
                      </a:r>
                    </a:p>
                  </a:txBody>
                  <a:tcPr marL="73152" marR="73152" marT="27432" marB="27432" anchor="ctr">
                    <a:solidFill>
                      <a:srgbClr val="00A651"/>
                    </a:solidFill>
                  </a:tcPr>
                </a:tc>
                <a:tc>
                  <a:txBody>
                    <a:bodyPr/>
                    <a:lstStyle/>
                    <a:p>
                      <a:pPr algn="r"/>
                      <a:r>
                        <a:rPr sz="1300" b="1" i="0">
                          <a:solidFill>
                            <a:srgbClr val="FFFFFF"/>
                          </a:solidFill>
                        </a:rPr>
                        <a:t>IRR −10%</a:t>
                      </a:r>
                    </a:p>
                  </a:txBody>
                  <a:tcPr marL="73152" marR="73152" marT="27432" marB="27432" anchor="ctr">
                    <a:solidFill>
                      <a:srgbClr val="00A651"/>
                    </a:solidFill>
                  </a:tcPr>
                </a:tc>
                <a:tc>
                  <a:txBody>
                    <a:bodyPr/>
                    <a:lstStyle/>
                    <a:p>
                      <a:pPr algn="r"/>
                      <a:r>
                        <a:rPr sz="1300" b="1" i="0">
                          <a:solidFill>
                            <a:srgbClr val="FFFFFF"/>
                          </a:solidFill>
                        </a:rPr>
                        <a:t>IRR base</a:t>
                      </a:r>
                    </a:p>
                  </a:txBody>
                  <a:tcPr marL="73152" marR="73152" marT="27432" marB="27432" anchor="ctr">
                    <a:solidFill>
                      <a:srgbClr val="00A651"/>
                    </a:solidFill>
                  </a:tcPr>
                </a:tc>
                <a:tc>
                  <a:txBody>
                    <a:bodyPr/>
                    <a:lstStyle/>
                    <a:p>
                      <a:pPr algn="r"/>
                      <a:r>
                        <a:rPr sz="1300" b="1" i="0">
                          <a:solidFill>
                            <a:srgbClr val="FFFFFF"/>
                          </a:solidFill>
                        </a:rPr>
                        <a:t>IRR +10%</a:t>
                      </a:r>
                    </a:p>
                  </a:txBody>
                  <a:tcPr marL="73152" marR="73152" marT="27432" marB="27432" anchor="ctr">
                    <a:solidFill>
                      <a:srgbClr val="00A651"/>
                    </a:solidFill>
                  </a:tcPr>
                </a:tc>
                <a:tc>
                  <a:txBody>
                    <a:bodyPr/>
                    <a:lstStyle/>
                    <a:p>
                      <a:pPr algn="r"/>
                      <a:r>
                        <a:rPr sz="1300" b="1" i="0">
                          <a:solidFill>
                            <a:srgbClr val="FFFFFF"/>
                          </a:solidFill>
                        </a:rPr>
                        <a:t>MOIC −10%</a:t>
                      </a:r>
                    </a:p>
                  </a:txBody>
                  <a:tcPr marL="73152" marR="73152" marT="27432" marB="27432" anchor="ctr">
                    <a:solidFill>
                      <a:srgbClr val="00A651"/>
                    </a:solidFill>
                  </a:tcPr>
                </a:tc>
                <a:tc>
                  <a:txBody>
                    <a:bodyPr/>
                    <a:lstStyle/>
                    <a:p>
                      <a:pPr algn="r"/>
                      <a:r>
                        <a:rPr sz="1300" b="1" i="0">
                          <a:solidFill>
                            <a:srgbClr val="FFFFFF"/>
                          </a:solidFill>
                        </a:rPr>
                        <a:t>MOIC base</a:t>
                      </a:r>
                    </a:p>
                  </a:txBody>
                  <a:tcPr marL="73152" marR="73152" marT="27432" marB="27432" anchor="ctr">
                    <a:solidFill>
                      <a:srgbClr val="00A651"/>
                    </a:solidFill>
                  </a:tcPr>
                </a:tc>
                <a:tc>
                  <a:txBody>
                    <a:bodyPr/>
                    <a:lstStyle/>
                    <a:p>
                      <a:pPr algn="r"/>
                      <a:r>
                        <a:rPr sz="1300" b="1" i="0">
                          <a:solidFill>
                            <a:srgbClr val="FFFFFF"/>
                          </a:solidFill>
                        </a:rPr>
                        <a:t>MOIC +10%</a:t>
                      </a:r>
                    </a:p>
                  </a:txBody>
                  <a:tcPr marL="73152" marR="73152" marT="27432" marB="27432" anchor="ctr">
                    <a:solidFill>
                      <a:srgbClr val="00A651"/>
                    </a:solidFill>
                  </a:tcPr>
                </a:tc>
                <a:extLst>
                  <a:ext uri="{0D108BD9-81ED-4DB2-BD59-A6C34878D82A}">
                    <a16:rowId xmlns:a16="http://schemas.microsoft.com/office/drawing/2014/main" val="10000"/>
                  </a:ext>
                </a:extLst>
              </a:tr>
              <a:tr h="356616">
                <a:tc gridSpan="8">
                  <a:txBody>
                    <a:bodyPr/>
                    <a:lstStyle/>
                    <a:p>
                      <a:pPr algn="l"/>
                      <a:r>
                        <a:rPr sz="1200" b="1" i="0">
                          <a:solidFill>
                            <a:srgbClr val="00563C"/>
                          </a:solidFill>
                        </a:rPr>
                        <a:t>Sale at COD – European turbine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01"/>
                  </a:ext>
                </a:extLst>
              </a:tr>
              <a:tr h="356616">
                <a:tc>
                  <a:txBody>
                    <a:bodyPr/>
                    <a:lstStyle/>
                    <a:p>
                      <a:pPr algn="l"/>
                      <a:r>
                        <a:rPr sz="1200" b="0" i="0">
                          <a:solidFill>
                            <a:srgbClr val="3C3C3B"/>
                          </a:solidFill>
                        </a:rPr>
                        <a:t>COD exit price</a:t>
                      </a:r>
                    </a:p>
                  </a:txBody>
                  <a:tcPr marL="73152" marR="73152" marT="27432" marB="27432" anchor="ctr">
                    <a:solidFill>
                      <a:srgbClr val="F2F2F2"/>
                    </a:solidFill>
                  </a:tcPr>
                </a:tc>
                <a:tc>
                  <a:txBody>
                    <a:bodyPr/>
                    <a:lstStyle/>
                    <a:p>
                      <a:pPr algn="l"/>
                      <a:r>
                        <a:rPr sz="1200" b="0" i="0">
                          <a:solidFill>
                            <a:srgbClr val="919191"/>
                          </a:solidFill>
                        </a:rPr>
                        <a:t>2,450 k€/MW</a:t>
                      </a:r>
                    </a:p>
                  </a:txBody>
                  <a:tcPr marL="73152" marR="73152" marT="27432" marB="27432" anchor="ctr">
                    <a:solidFill>
                      <a:srgbClr val="F2F2F2"/>
                    </a:solidFill>
                  </a:tcPr>
                </a:tc>
                <a:tc>
                  <a:txBody>
                    <a:bodyPr/>
                    <a:lstStyle/>
                    <a:p>
                      <a:pPr algn="r"/>
                      <a:r>
                        <a:rPr sz="1200" b="0" i="0">
                          <a:solidFill>
                            <a:srgbClr val="3C3C3B"/>
                          </a:solidFill>
                        </a:rPr>
                        <a:t>11.5%</a:t>
                      </a:r>
                    </a:p>
                  </a:txBody>
                  <a:tcPr marL="73152" marR="73152" marT="27432" marB="27432" anchor="ctr">
                    <a:noFill/>
                  </a:tcPr>
                </a:tc>
                <a:tc>
                  <a:txBody>
                    <a:bodyPr/>
                    <a:lstStyle/>
                    <a:p>
                      <a:pPr algn="r"/>
                      <a:r>
                        <a:rPr sz="1200" b="0" i="0">
                          <a:solidFill>
                            <a:srgbClr val="3C3C3B"/>
                          </a:solidFill>
                        </a:rPr>
                        <a:t>26.4%</a:t>
                      </a:r>
                    </a:p>
                  </a:txBody>
                  <a:tcPr marL="73152" marR="73152" marT="27432" marB="27432" anchor="ctr">
                    <a:noFill/>
                  </a:tcPr>
                </a:tc>
                <a:tc>
                  <a:txBody>
                    <a:bodyPr/>
                    <a:lstStyle/>
                    <a:p>
                      <a:pPr algn="r"/>
                      <a:r>
                        <a:rPr sz="1200" b="0" i="0">
                          <a:solidFill>
                            <a:srgbClr val="3C3C3B"/>
                          </a:solidFill>
                        </a:rPr>
                        <a:t>38.8%</a:t>
                      </a:r>
                    </a:p>
                  </a:txBody>
                  <a:tcPr marL="73152" marR="73152" marT="27432" marB="27432" anchor="ctr">
                    <a:noFill/>
                  </a:tcPr>
                </a:tc>
                <a:tc>
                  <a:txBody>
                    <a:bodyPr/>
                    <a:lstStyle/>
                    <a:p>
                      <a:pPr algn="r"/>
                      <a:r>
                        <a:rPr sz="1200" b="0" i="0">
                          <a:solidFill>
                            <a:srgbClr val="3C3C3B"/>
                          </a:solidFill>
                        </a:rPr>
                        <a:t>1.18x</a:t>
                      </a:r>
                    </a:p>
                  </a:txBody>
                  <a:tcPr marL="73152" marR="73152" marT="27432" marB="27432" anchor="ctr">
                    <a:noFill/>
                  </a:tcPr>
                </a:tc>
                <a:tc>
                  <a:txBody>
                    <a:bodyPr/>
                    <a:lstStyle/>
                    <a:p>
                      <a:pPr algn="r"/>
                      <a:r>
                        <a:rPr sz="1200" b="0" i="0">
                          <a:solidFill>
                            <a:srgbClr val="3C3C3B"/>
                          </a:solidFill>
                        </a:rPr>
                        <a:t>1.46x</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extLst>
                  <a:ext uri="{0D108BD9-81ED-4DB2-BD59-A6C34878D82A}">
                    <a16:rowId xmlns:a16="http://schemas.microsoft.com/office/drawing/2014/main" val="10002"/>
                  </a:ext>
                </a:extLst>
              </a:tr>
              <a:tr h="356616">
                <a:tc>
                  <a:txBody>
                    <a:bodyPr/>
                    <a:lstStyle/>
                    <a:p>
                      <a:pPr algn="l"/>
                      <a:r>
                        <a:rPr sz="1200" b="0" i="0">
                          <a:solidFill>
                            <a:srgbClr val="3C3C3B"/>
                          </a:solidFill>
                        </a:rPr>
                        <a:t>Turbine price</a:t>
                      </a:r>
                    </a:p>
                  </a:txBody>
                  <a:tcPr marL="73152" marR="73152" marT="27432" marB="27432" anchor="ctr">
                    <a:solidFill>
                      <a:srgbClr val="F2F2F2"/>
                    </a:solidFill>
                  </a:tcPr>
                </a:tc>
                <a:tc>
                  <a:txBody>
                    <a:bodyPr/>
                    <a:lstStyle/>
                    <a:p>
                      <a:pPr algn="l"/>
                      <a:r>
                        <a:rPr sz="1200" b="0" i="0">
                          <a:solidFill>
                            <a:srgbClr val="919191"/>
                          </a:solidFill>
                        </a:rPr>
                        <a:t>950 k€/MW</a:t>
                      </a:r>
                    </a:p>
                  </a:txBody>
                  <a:tcPr marL="73152" marR="73152" marT="27432" marB="27432" anchor="ctr">
                    <a:solidFill>
                      <a:srgbClr val="F2F2F2"/>
                    </a:solidFill>
                  </a:tcPr>
                </a:tc>
                <a:tc>
                  <a:txBody>
                    <a:bodyPr/>
                    <a:lstStyle/>
                    <a:p>
                      <a:pPr algn="r"/>
                      <a:r>
                        <a:rPr sz="1200" b="0" i="0">
                          <a:solidFill>
                            <a:srgbClr val="3C3C3B"/>
                          </a:solidFill>
                        </a:rPr>
                        <a:t>32.7%</a:t>
                      </a:r>
                    </a:p>
                  </a:txBody>
                  <a:tcPr marL="73152" marR="73152" marT="27432" marB="27432" anchor="ctr">
                    <a:noFill/>
                  </a:tcPr>
                </a:tc>
                <a:tc>
                  <a:txBody>
                    <a:bodyPr/>
                    <a:lstStyle/>
                    <a:p>
                      <a:pPr algn="r"/>
                      <a:r>
                        <a:rPr sz="1200" b="0" i="0">
                          <a:solidFill>
                            <a:srgbClr val="3C3C3B"/>
                          </a:solidFill>
                        </a:rPr>
                        <a:t>26.4%</a:t>
                      </a:r>
                    </a:p>
                  </a:txBody>
                  <a:tcPr marL="73152" marR="73152" marT="27432" marB="27432" anchor="ctr">
                    <a:noFill/>
                  </a:tcPr>
                </a:tc>
                <a:tc>
                  <a:txBody>
                    <a:bodyPr/>
                    <a:lstStyle/>
                    <a:p>
                      <a:pPr algn="r"/>
                      <a:r>
                        <a:rPr sz="1200" b="0" i="0">
                          <a:solidFill>
                            <a:srgbClr val="3C3C3B"/>
                          </a:solidFill>
                        </a:rPr>
                        <a:t>19.8%</a:t>
                      </a:r>
                    </a:p>
                  </a:txBody>
                  <a:tcPr marL="73152" marR="73152" marT="27432" marB="27432" anchor="ctr">
                    <a:noFill/>
                  </a:tcPr>
                </a:tc>
                <a:tc>
                  <a:txBody>
                    <a:bodyPr/>
                    <a:lstStyle/>
                    <a:p>
                      <a:pPr algn="r"/>
                      <a:r>
                        <a:rPr sz="1200" b="0" i="0">
                          <a:solidFill>
                            <a:srgbClr val="3C3C3B"/>
                          </a:solidFill>
                        </a:rPr>
                        <a:t>1.60x</a:t>
                      </a:r>
                    </a:p>
                  </a:txBody>
                  <a:tcPr marL="73152" marR="73152" marT="27432" marB="27432" anchor="ctr">
                    <a:noFill/>
                  </a:tcPr>
                </a:tc>
                <a:tc>
                  <a:txBody>
                    <a:bodyPr/>
                    <a:lstStyle/>
                    <a:p>
                      <a:pPr algn="r"/>
                      <a:r>
                        <a:rPr sz="1200" b="0" i="0">
                          <a:solidFill>
                            <a:srgbClr val="3C3C3B"/>
                          </a:solidFill>
                        </a:rPr>
                        <a:t>1.46x</a:t>
                      </a:r>
                    </a:p>
                  </a:txBody>
                  <a:tcPr marL="73152" marR="73152" marT="27432" marB="27432" anchor="ctr">
                    <a:noFill/>
                  </a:tcPr>
                </a:tc>
                <a:tc>
                  <a:txBody>
                    <a:bodyPr/>
                    <a:lstStyle/>
                    <a:p>
                      <a:pPr algn="r"/>
                      <a:r>
                        <a:rPr sz="1200" b="0" i="0">
                          <a:solidFill>
                            <a:srgbClr val="3C3C3B"/>
                          </a:solidFill>
                        </a:rPr>
                        <a:t>1.32x</a:t>
                      </a:r>
                    </a:p>
                  </a:txBody>
                  <a:tcPr marL="73152" marR="73152" marT="27432" marB="27432" anchor="ctr">
                    <a:noFill/>
                  </a:tcPr>
                </a:tc>
                <a:extLst>
                  <a:ext uri="{0D108BD9-81ED-4DB2-BD59-A6C34878D82A}">
                    <a16:rowId xmlns:a16="http://schemas.microsoft.com/office/drawing/2014/main" val="10003"/>
                  </a:ext>
                </a:extLst>
              </a:tr>
              <a:tr h="356616">
                <a:tc>
                  <a:txBody>
                    <a:bodyPr/>
                    <a:lstStyle/>
                    <a:p>
                      <a:pPr algn="l"/>
                      <a:r>
                        <a:rPr sz="1200" b="0" i="0">
                          <a:solidFill>
                            <a:srgbClr val="3C3C3B"/>
                          </a:solidFill>
                        </a:rPr>
                        <a:t>SPV purchase price</a:t>
                      </a:r>
                    </a:p>
                  </a:txBody>
                  <a:tcPr marL="73152" marR="73152" marT="27432" marB="27432" anchor="ctr">
                    <a:solidFill>
                      <a:srgbClr val="F2F2F2"/>
                    </a:solidFill>
                  </a:tcPr>
                </a:tc>
                <a:tc>
                  <a:txBody>
                    <a:bodyPr/>
                    <a:lstStyle/>
                    <a:p>
                      <a:pPr algn="l"/>
                      <a:r>
                        <a:rPr sz="1200" b="0" i="0">
                          <a:solidFill>
                            <a:srgbClr val="919191"/>
                          </a:solidFill>
                        </a:rPr>
                        <a:t>€4.5m</a:t>
                      </a:r>
                    </a:p>
                  </a:txBody>
                  <a:tcPr marL="73152" marR="73152" marT="27432" marB="27432" anchor="ctr">
                    <a:solidFill>
                      <a:srgbClr val="F2F2F2"/>
                    </a:solidFill>
                  </a:tcPr>
                </a:tc>
                <a:tc>
                  <a:txBody>
                    <a:bodyPr/>
                    <a:lstStyle/>
                    <a:p>
                      <a:pPr algn="r"/>
                      <a:r>
                        <a:rPr sz="1200" b="0" i="0">
                          <a:solidFill>
                            <a:srgbClr val="3C3C3B"/>
                          </a:solidFill>
                        </a:rPr>
                        <a:t>27.7%</a:t>
                      </a:r>
                    </a:p>
                  </a:txBody>
                  <a:tcPr marL="73152" marR="73152" marT="27432" marB="27432" anchor="ctr">
                    <a:noFill/>
                  </a:tcPr>
                </a:tc>
                <a:tc>
                  <a:txBody>
                    <a:bodyPr/>
                    <a:lstStyle/>
                    <a:p>
                      <a:pPr algn="r"/>
                      <a:r>
                        <a:rPr sz="1200" b="0" i="0">
                          <a:solidFill>
                            <a:srgbClr val="3C3C3B"/>
                          </a:solidFill>
                        </a:rPr>
                        <a:t>26.4%</a:t>
                      </a:r>
                    </a:p>
                  </a:txBody>
                  <a:tcPr marL="73152" marR="73152" marT="27432" marB="27432" anchor="ctr">
                    <a:noFill/>
                  </a:tcPr>
                </a:tc>
                <a:tc>
                  <a:txBody>
                    <a:bodyPr/>
                    <a:lstStyle/>
                    <a:p>
                      <a:pPr algn="r"/>
                      <a:r>
                        <a:rPr sz="1200" b="0" i="0">
                          <a:solidFill>
                            <a:srgbClr val="3C3C3B"/>
                          </a:solidFill>
                        </a:rPr>
                        <a:t>25.2%</a:t>
                      </a:r>
                    </a:p>
                  </a:txBody>
                  <a:tcPr marL="73152" marR="73152" marT="27432" marB="27432" anchor="ctr">
                    <a:noFill/>
                  </a:tcPr>
                </a:tc>
                <a:tc>
                  <a:txBody>
                    <a:bodyPr/>
                    <a:lstStyle/>
                    <a:p>
                      <a:pPr algn="r"/>
                      <a:r>
                        <a:rPr sz="1200" b="0" i="0">
                          <a:solidFill>
                            <a:srgbClr val="3C3C3B"/>
                          </a:solidFill>
                        </a:rPr>
                        <a:t>1.47x</a:t>
                      </a:r>
                    </a:p>
                  </a:txBody>
                  <a:tcPr marL="73152" marR="73152" marT="27432" marB="27432" anchor="ctr">
                    <a:noFill/>
                  </a:tcPr>
                </a:tc>
                <a:tc>
                  <a:txBody>
                    <a:bodyPr/>
                    <a:lstStyle/>
                    <a:p>
                      <a:pPr algn="r"/>
                      <a:r>
                        <a:rPr sz="1200" b="0" i="0">
                          <a:solidFill>
                            <a:srgbClr val="3C3C3B"/>
                          </a:solidFill>
                        </a:rPr>
                        <a:t>1.46x</a:t>
                      </a:r>
                    </a:p>
                  </a:txBody>
                  <a:tcPr marL="73152" marR="73152" marT="27432" marB="27432" anchor="ctr">
                    <a:noFill/>
                  </a:tcPr>
                </a:tc>
                <a:tc>
                  <a:txBody>
                    <a:bodyPr/>
                    <a:lstStyle/>
                    <a:p>
                      <a:pPr algn="r"/>
                      <a:r>
                        <a:rPr sz="1200" b="0" i="0">
                          <a:solidFill>
                            <a:srgbClr val="3C3C3B"/>
                          </a:solidFill>
                        </a:rPr>
                        <a:t>1.44x</a:t>
                      </a:r>
                    </a:p>
                  </a:txBody>
                  <a:tcPr marL="73152" marR="73152" marT="27432" marB="27432" anchor="ctr">
                    <a:noFill/>
                  </a:tcPr>
                </a:tc>
                <a:extLst>
                  <a:ext uri="{0D108BD9-81ED-4DB2-BD59-A6C34878D82A}">
                    <a16:rowId xmlns:a16="http://schemas.microsoft.com/office/drawing/2014/main" val="10004"/>
                  </a:ext>
                </a:extLst>
              </a:tr>
              <a:tr h="356616">
                <a:tc>
                  <a:txBody>
                    <a:bodyPr/>
                    <a:lstStyle/>
                    <a:p>
                      <a:pPr algn="l"/>
                      <a:r>
                        <a:rPr sz="1200" b="0" i="0">
                          <a:solidFill>
                            <a:srgbClr val="3C3C3B"/>
                          </a:solidFill>
                        </a:rPr>
                        <a:t>Yield (P50 hours) – no effect</a:t>
                      </a:r>
                    </a:p>
                  </a:txBody>
                  <a:tcPr marL="73152" marR="73152" marT="27432" marB="27432" anchor="ctr">
                    <a:solidFill>
                      <a:srgbClr val="F2F2F2"/>
                    </a:solidFill>
                  </a:tcPr>
                </a:tc>
                <a:tc>
                  <a:txBody>
                    <a:bodyPr/>
                    <a:lstStyle/>
                    <a:p>
                      <a:pPr algn="l"/>
                      <a:r>
                        <a:rPr sz="1200" b="0" i="0">
                          <a:solidFill>
                            <a:srgbClr val="919191"/>
                          </a:solidFill>
                        </a:rPr>
                        <a:t>2,460 h</a:t>
                      </a:r>
                    </a:p>
                  </a:txBody>
                  <a:tcPr marL="73152" marR="73152" marT="27432" marB="27432" anchor="ctr">
                    <a:solidFill>
                      <a:srgbClr val="F2F2F2"/>
                    </a:solidFill>
                  </a:tcPr>
                </a:tc>
                <a:tc>
                  <a:txBody>
                    <a:bodyPr/>
                    <a:lstStyle/>
                    <a:p>
                      <a:pPr algn="r"/>
                      <a:r>
                        <a:rPr sz="1200" b="0" i="0">
                          <a:solidFill>
                            <a:srgbClr val="3C3C3B"/>
                          </a:solidFill>
                        </a:rPr>
                        <a:t>26.4%</a:t>
                      </a:r>
                    </a:p>
                  </a:txBody>
                  <a:tcPr marL="73152" marR="73152" marT="27432" marB="27432" anchor="ctr">
                    <a:noFill/>
                  </a:tcPr>
                </a:tc>
                <a:tc>
                  <a:txBody>
                    <a:bodyPr/>
                    <a:lstStyle/>
                    <a:p>
                      <a:pPr algn="r"/>
                      <a:r>
                        <a:rPr sz="1200" b="0" i="0">
                          <a:solidFill>
                            <a:srgbClr val="3C3C3B"/>
                          </a:solidFill>
                        </a:rPr>
                        <a:t>26.4%</a:t>
                      </a:r>
                    </a:p>
                  </a:txBody>
                  <a:tcPr marL="73152" marR="73152" marT="27432" marB="27432" anchor="ctr">
                    <a:noFill/>
                  </a:tcPr>
                </a:tc>
                <a:tc>
                  <a:txBody>
                    <a:bodyPr/>
                    <a:lstStyle/>
                    <a:p>
                      <a:pPr algn="r"/>
                      <a:r>
                        <a:rPr sz="1200" b="0" i="0">
                          <a:solidFill>
                            <a:srgbClr val="3C3C3B"/>
                          </a:solidFill>
                        </a:rPr>
                        <a:t>26.4%</a:t>
                      </a:r>
                    </a:p>
                  </a:txBody>
                  <a:tcPr marL="73152" marR="73152" marT="27432" marB="27432" anchor="ctr">
                    <a:noFill/>
                  </a:tcPr>
                </a:tc>
                <a:tc>
                  <a:txBody>
                    <a:bodyPr/>
                    <a:lstStyle/>
                    <a:p>
                      <a:pPr algn="r"/>
                      <a:r>
                        <a:rPr sz="1200" b="0" i="0">
                          <a:solidFill>
                            <a:srgbClr val="3C3C3B"/>
                          </a:solidFill>
                        </a:rPr>
                        <a:t>1.46x</a:t>
                      </a:r>
                    </a:p>
                  </a:txBody>
                  <a:tcPr marL="73152" marR="73152" marT="27432" marB="27432" anchor="ctr">
                    <a:noFill/>
                  </a:tcPr>
                </a:tc>
                <a:tc>
                  <a:txBody>
                    <a:bodyPr/>
                    <a:lstStyle/>
                    <a:p>
                      <a:pPr algn="r"/>
                      <a:r>
                        <a:rPr sz="1200" b="0" i="0">
                          <a:solidFill>
                            <a:srgbClr val="3C3C3B"/>
                          </a:solidFill>
                        </a:rPr>
                        <a:t>1.46x</a:t>
                      </a:r>
                    </a:p>
                  </a:txBody>
                  <a:tcPr marL="73152" marR="73152" marT="27432" marB="27432" anchor="ctr">
                    <a:noFill/>
                  </a:tcPr>
                </a:tc>
                <a:tc>
                  <a:txBody>
                    <a:bodyPr/>
                    <a:lstStyle/>
                    <a:p>
                      <a:pPr algn="r"/>
                      <a:r>
                        <a:rPr sz="1200" b="0" i="0">
                          <a:solidFill>
                            <a:srgbClr val="3C3C3B"/>
                          </a:solidFill>
                        </a:rPr>
                        <a:t>1.46x</a:t>
                      </a:r>
                    </a:p>
                  </a:txBody>
                  <a:tcPr marL="73152" marR="73152" marT="27432" marB="27432" anchor="ctr">
                    <a:noFill/>
                  </a:tcPr>
                </a:tc>
                <a:extLst>
                  <a:ext uri="{0D108BD9-81ED-4DB2-BD59-A6C34878D82A}">
                    <a16:rowId xmlns:a16="http://schemas.microsoft.com/office/drawing/2014/main" val="10005"/>
                  </a:ext>
                </a:extLst>
              </a:tr>
              <a:tr h="356616">
                <a:tc gridSpan="8">
                  <a:txBody>
                    <a:bodyPr/>
                    <a:lstStyle/>
                    <a:p>
                      <a:pPr algn="l"/>
                      <a:r>
                        <a:rPr sz="1200" b="1" i="0">
                          <a:solidFill>
                            <a:srgbClr val="00563C"/>
                          </a:solidFill>
                        </a:rPr>
                        <a:t>Sale at COD – Chinese turbine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06"/>
                  </a:ext>
                </a:extLst>
              </a:tr>
              <a:tr h="356616">
                <a:tc>
                  <a:txBody>
                    <a:bodyPr/>
                    <a:lstStyle/>
                    <a:p>
                      <a:pPr algn="l"/>
                      <a:r>
                        <a:rPr sz="1200" b="0" i="0">
                          <a:solidFill>
                            <a:srgbClr val="3C3C3B"/>
                          </a:solidFill>
                        </a:rPr>
                        <a:t>COD exit price</a:t>
                      </a:r>
                    </a:p>
                  </a:txBody>
                  <a:tcPr marL="73152" marR="73152" marT="27432" marB="27432" anchor="ctr">
                    <a:solidFill>
                      <a:srgbClr val="F2F2F2"/>
                    </a:solidFill>
                  </a:tcPr>
                </a:tc>
                <a:tc>
                  <a:txBody>
                    <a:bodyPr/>
                    <a:lstStyle/>
                    <a:p>
                      <a:pPr algn="l"/>
                      <a:r>
                        <a:rPr sz="1200" b="0" i="0">
                          <a:solidFill>
                            <a:srgbClr val="919191"/>
                          </a:solidFill>
                        </a:rPr>
                        <a:t>2,100 k€/MW</a:t>
                      </a:r>
                    </a:p>
                  </a:txBody>
                  <a:tcPr marL="73152" marR="73152" marT="27432" marB="27432" anchor="ctr">
                    <a:solidFill>
                      <a:srgbClr val="F2F2F2"/>
                    </a:solidFill>
                  </a:tcPr>
                </a:tc>
                <a:tc>
                  <a:txBody>
                    <a:bodyPr/>
                    <a:lstStyle/>
                    <a:p>
                      <a:pPr algn="r"/>
                      <a:r>
                        <a:rPr sz="1200" b="0" i="0">
                          <a:solidFill>
                            <a:srgbClr val="3C3C3B"/>
                          </a:solidFill>
                        </a:rPr>
                        <a:t>26.3%</a:t>
                      </a:r>
                    </a:p>
                  </a:txBody>
                  <a:tcPr marL="73152" marR="73152" marT="27432" marB="27432" anchor="ctr">
                    <a:noFill/>
                  </a:tcPr>
                </a:tc>
                <a:tc>
                  <a:txBody>
                    <a:bodyPr/>
                    <a:lstStyle/>
                    <a:p>
                      <a:pPr algn="r"/>
                      <a:r>
                        <a:rPr sz="1200" b="0" i="0">
                          <a:solidFill>
                            <a:srgbClr val="3C3C3B"/>
                          </a:solidFill>
                        </a:rPr>
                        <a:t>37.7%</a:t>
                      </a:r>
                    </a:p>
                  </a:txBody>
                  <a:tcPr marL="73152" marR="73152" marT="27432" marB="27432" anchor="ctr">
                    <a:noFill/>
                  </a:tcPr>
                </a:tc>
                <a:tc>
                  <a:txBody>
                    <a:bodyPr/>
                    <a:lstStyle/>
                    <a:p>
                      <a:pPr algn="r"/>
                      <a:r>
                        <a:rPr sz="1200" b="0" i="0">
                          <a:solidFill>
                            <a:srgbClr val="3C3C3B"/>
                          </a:solidFill>
                        </a:rPr>
                        <a:t>47.5%</a:t>
                      </a:r>
                    </a:p>
                  </a:txBody>
                  <a:tcPr marL="73152" marR="73152" marT="27432" marB="27432" anchor="ctr">
                    <a:noFill/>
                  </a:tcPr>
                </a:tc>
                <a:tc>
                  <a:txBody>
                    <a:bodyPr/>
                    <a:lstStyle/>
                    <a:p>
                      <a:pPr algn="r"/>
                      <a:r>
                        <a:rPr sz="1200" b="0" i="0">
                          <a:solidFill>
                            <a:srgbClr val="3C3C3B"/>
                          </a:solidFill>
                        </a:rPr>
                        <a:t>1.47x</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tc>
                  <a:txBody>
                    <a:bodyPr/>
                    <a:lstStyle/>
                    <a:p>
                      <a:pPr algn="r"/>
                      <a:r>
                        <a:rPr sz="1200" b="0" i="0">
                          <a:solidFill>
                            <a:srgbClr val="3C3C3B"/>
                          </a:solidFill>
                        </a:rPr>
                        <a:t>1.99x</a:t>
                      </a:r>
                    </a:p>
                  </a:txBody>
                  <a:tcPr marL="73152" marR="73152" marT="27432" marB="27432" anchor="ctr">
                    <a:noFill/>
                  </a:tcPr>
                </a:tc>
                <a:extLst>
                  <a:ext uri="{0D108BD9-81ED-4DB2-BD59-A6C34878D82A}">
                    <a16:rowId xmlns:a16="http://schemas.microsoft.com/office/drawing/2014/main" val="10007"/>
                  </a:ext>
                </a:extLst>
              </a:tr>
              <a:tr h="356616">
                <a:tc>
                  <a:txBody>
                    <a:bodyPr/>
                    <a:lstStyle/>
                    <a:p>
                      <a:pPr algn="l"/>
                      <a:r>
                        <a:rPr sz="1200" b="0" i="0">
                          <a:solidFill>
                            <a:srgbClr val="3C3C3B"/>
                          </a:solidFill>
                        </a:rPr>
                        <a:t>Turbine price</a:t>
                      </a:r>
                    </a:p>
                  </a:txBody>
                  <a:tcPr marL="73152" marR="73152" marT="27432" marB="27432" anchor="ctr">
                    <a:solidFill>
                      <a:srgbClr val="F2F2F2"/>
                    </a:solidFill>
                  </a:tcPr>
                </a:tc>
                <a:tc>
                  <a:txBody>
                    <a:bodyPr/>
                    <a:lstStyle/>
                    <a:p>
                      <a:pPr algn="l"/>
                      <a:r>
                        <a:rPr sz="1200" b="0" i="0">
                          <a:solidFill>
                            <a:srgbClr val="919191"/>
                          </a:solidFill>
                        </a:rPr>
                        <a:t>500 k€/MW</a:t>
                      </a:r>
                    </a:p>
                  </a:txBody>
                  <a:tcPr marL="73152" marR="73152" marT="27432" marB="27432" anchor="ctr">
                    <a:solidFill>
                      <a:srgbClr val="F2F2F2"/>
                    </a:solidFill>
                  </a:tcPr>
                </a:tc>
                <a:tc>
                  <a:txBody>
                    <a:bodyPr/>
                    <a:lstStyle/>
                    <a:p>
                      <a:pPr algn="r"/>
                      <a:r>
                        <a:rPr sz="1200" b="0" i="0">
                          <a:solidFill>
                            <a:srgbClr val="3C3C3B"/>
                          </a:solidFill>
                        </a:rPr>
                        <a:t>41.0%</a:t>
                      </a:r>
                    </a:p>
                  </a:txBody>
                  <a:tcPr marL="73152" marR="73152" marT="27432" marB="27432" anchor="ctr">
                    <a:noFill/>
                  </a:tcPr>
                </a:tc>
                <a:tc>
                  <a:txBody>
                    <a:bodyPr/>
                    <a:lstStyle/>
                    <a:p>
                      <a:pPr algn="r"/>
                      <a:r>
                        <a:rPr sz="1200" b="0" i="0">
                          <a:solidFill>
                            <a:srgbClr val="3C3C3B"/>
                          </a:solidFill>
                        </a:rPr>
                        <a:t>37.7%</a:t>
                      </a:r>
                    </a:p>
                  </a:txBody>
                  <a:tcPr marL="73152" marR="73152" marT="27432" marB="27432" anchor="ctr">
                    <a:noFill/>
                  </a:tcPr>
                </a:tc>
                <a:tc>
                  <a:txBody>
                    <a:bodyPr/>
                    <a:lstStyle/>
                    <a:p>
                      <a:pPr algn="r"/>
                      <a:r>
                        <a:rPr sz="1200" b="0" i="0">
                          <a:solidFill>
                            <a:srgbClr val="3C3C3B"/>
                          </a:solidFill>
                        </a:rPr>
                        <a:t>34.3%</a:t>
                      </a:r>
                    </a:p>
                  </a:txBody>
                  <a:tcPr marL="73152" marR="73152" marT="27432" marB="27432" anchor="ctr">
                    <a:noFill/>
                  </a:tcPr>
                </a:tc>
                <a:tc>
                  <a:txBody>
                    <a:bodyPr/>
                    <a:lstStyle/>
                    <a:p>
                      <a:pPr algn="r"/>
                      <a:r>
                        <a:rPr sz="1200" b="0" i="0">
                          <a:solidFill>
                            <a:srgbClr val="3C3C3B"/>
                          </a:solidFill>
                        </a:rPr>
                        <a:t>1.82x</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tc>
                  <a:txBody>
                    <a:bodyPr/>
                    <a:lstStyle/>
                    <a:p>
                      <a:pPr algn="r"/>
                      <a:r>
                        <a:rPr sz="1200" b="0" i="0">
                          <a:solidFill>
                            <a:srgbClr val="3C3C3B"/>
                          </a:solidFill>
                        </a:rPr>
                        <a:t>1.64x</a:t>
                      </a:r>
                    </a:p>
                  </a:txBody>
                  <a:tcPr marL="73152" marR="73152" marT="27432" marB="27432" anchor="ctr">
                    <a:noFill/>
                  </a:tcPr>
                </a:tc>
                <a:extLst>
                  <a:ext uri="{0D108BD9-81ED-4DB2-BD59-A6C34878D82A}">
                    <a16:rowId xmlns:a16="http://schemas.microsoft.com/office/drawing/2014/main" val="10008"/>
                  </a:ext>
                </a:extLst>
              </a:tr>
              <a:tr h="356616">
                <a:tc>
                  <a:txBody>
                    <a:bodyPr/>
                    <a:lstStyle/>
                    <a:p>
                      <a:pPr algn="l"/>
                      <a:r>
                        <a:rPr sz="1200" b="0" i="0">
                          <a:solidFill>
                            <a:srgbClr val="3C3C3B"/>
                          </a:solidFill>
                        </a:rPr>
                        <a:t>SPV purchase price</a:t>
                      </a:r>
                    </a:p>
                  </a:txBody>
                  <a:tcPr marL="73152" marR="73152" marT="27432" marB="27432" anchor="ctr">
                    <a:solidFill>
                      <a:srgbClr val="F2F2F2"/>
                    </a:solidFill>
                  </a:tcPr>
                </a:tc>
                <a:tc>
                  <a:txBody>
                    <a:bodyPr/>
                    <a:lstStyle/>
                    <a:p>
                      <a:pPr algn="l"/>
                      <a:r>
                        <a:rPr sz="1200" b="0" i="0">
                          <a:solidFill>
                            <a:srgbClr val="919191"/>
                          </a:solidFill>
                        </a:rPr>
                        <a:t>€4.5m</a:t>
                      </a:r>
                    </a:p>
                  </a:txBody>
                  <a:tcPr marL="73152" marR="73152" marT="27432" marB="27432" anchor="ctr">
                    <a:solidFill>
                      <a:srgbClr val="F2F2F2"/>
                    </a:solidFill>
                  </a:tcPr>
                </a:tc>
                <a:tc>
                  <a:txBody>
                    <a:bodyPr/>
                    <a:lstStyle/>
                    <a:p>
                      <a:pPr algn="r"/>
                      <a:r>
                        <a:rPr sz="1200" b="0" i="0">
                          <a:solidFill>
                            <a:srgbClr val="3C3C3B"/>
                          </a:solidFill>
                        </a:rPr>
                        <a:t>39.3%</a:t>
                      </a:r>
                    </a:p>
                  </a:txBody>
                  <a:tcPr marL="73152" marR="73152" marT="27432" marB="27432" anchor="ctr">
                    <a:noFill/>
                  </a:tcPr>
                </a:tc>
                <a:tc>
                  <a:txBody>
                    <a:bodyPr/>
                    <a:lstStyle/>
                    <a:p>
                      <a:pPr algn="r"/>
                      <a:r>
                        <a:rPr sz="1200" b="0" i="0">
                          <a:solidFill>
                            <a:srgbClr val="3C3C3B"/>
                          </a:solidFill>
                        </a:rPr>
                        <a:t>37.7%</a:t>
                      </a:r>
                    </a:p>
                  </a:txBody>
                  <a:tcPr marL="73152" marR="73152" marT="27432" marB="27432" anchor="ctr">
                    <a:noFill/>
                  </a:tcPr>
                </a:tc>
                <a:tc>
                  <a:txBody>
                    <a:bodyPr/>
                    <a:lstStyle/>
                    <a:p>
                      <a:pPr algn="r"/>
                      <a:r>
                        <a:rPr sz="1200" b="0" i="0">
                          <a:solidFill>
                            <a:srgbClr val="3C3C3B"/>
                          </a:solidFill>
                        </a:rPr>
                        <a:t>36.1%</a:t>
                      </a:r>
                    </a:p>
                  </a:txBody>
                  <a:tcPr marL="73152" marR="73152" marT="27432" marB="27432" anchor="ctr">
                    <a:noFill/>
                  </a:tcPr>
                </a:tc>
                <a:tc>
                  <a:txBody>
                    <a:bodyPr/>
                    <a:lstStyle/>
                    <a:p>
                      <a:pPr algn="r"/>
                      <a:r>
                        <a:rPr sz="1200" b="0" i="0">
                          <a:solidFill>
                            <a:srgbClr val="3C3C3B"/>
                          </a:solidFill>
                        </a:rPr>
                        <a:t>1.75x</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tc>
                  <a:txBody>
                    <a:bodyPr/>
                    <a:lstStyle/>
                    <a:p>
                      <a:pPr algn="r"/>
                      <a:r>
                        <a:rPr sz="1200" b="0" i="0">
                          <a:solidFill>
                            <a:srgbClr val="3C3C3B"/>
                          </a:solidFill>
                        </a:rPr>
                        <a:t>1.71x</a:t>
                      </a:r>
                    </a:p>
                  </a:txBody>
                  <a:tcPr marL="73152" marR="73152" marT="27432" marB="27432" anchor="ctr">
                    <a:noFill/>
                  </a:tcPr>
                </a:tc>
                <a:extLst>
                  <a:ext uri="{0D108BD9-81ED-4DB2-BD59-A6C34878D82A}">
                    <a16:rowId xmlns:a16="http://schemas.microsoft.com/office/drawing/2014/main" val="10009"/>
                  </a:ext>
                </a:extLst>
              </a:tr>
              <a:tr h="356616">
                <a:tc>
                  <a:txBody>
                    <a:bodyPr/>
                    <a:lstStyle/>
                    <a:p>
                      <a:pPr algn="l"/>
                      <a:r>
                        <a:rPr sz="1200" b="0" i="0">
                          <a:solidFill>
                            <a:srgbClr val="3C3C3B"/>
                          </a:solidFill>
                        </a:rPr>
                        <a:t>Yield (P50 hours) – no effect</a:t>
                      </a:r>
                    </a:p>
                  </a:txBody>
                  <a:tcPr marL="73152" marR="73152" marT="27432" marB="27432" anchor="ctr">
                    <a:solidFill>
                      <a:srgbClr val="F2F2F2"/>
                    </a:solidFill>
                  </a:tcPr>
                </a:tc>
                <a:tc>
                  <a:txBody>
                    <a:bodyPr/>
                    <a:lstStyle/>
                    <a:p>
                      <a:pPr algn="l"/>
                      <a:r>
                        <a:rPr sz="1200" b="0" i="0">
                          <a:solidFill>
                            <a:srgbClr val="919191"/>
                          </a:solidFill>
                        </a:rPr>
                        <a:t>2,460 h</a:t>
                      </a:r>
                    </a:p>
                  </a:txBody>
                  <a:tcPr marL="73152" marR="73152" marT="27432" marB="27432" anchor="ctr">
                    <a:solidFill>
                      <a:srgbClr val="F2F2F2"/>
                    </a:solidFill>
                  </a:tcPr>
                </a:tc>
                <a:tc>
                  <a:txBody>
                    <a:bodyPr/>
                    <a:lstStyle/>
                    <a:p>
                      <a:pPr algn="r"/>
                      <a:r>
                        <a:rPr sz="1200" b="0" i="0">
                          <a:solidFill>
                            <a:srgbClr val="3C3C3B"/>
                          </a:solidFill>
                        </a:rPr>
                        <a:t>37.7%</a:t>
                      </a:r>
                    </a:p>
                  </a:txBody>
                  <a:tcPr marL="73152" marR="73152" marT="27432" marB="27432" anchor="ctr">
                    <a:noFill/>
                  </a:tcPr>
                </a:tc>
                <a:tc>
                  <a:txBody>
                    <a:bodyPr/>
                    <a:lstStyle/>
                    <a:p>
                      <a:pPr algn="r"/>
                      <a:r>
                        <a:rPr sz="1200" b="0" i="0">
                          <a:solidFill>
                            <a:srgbClr val="3C3C3B"/>
                          </a:solidFill>
                        </a:rPr>
                        <a:t>37.7%</a:t>
                      </a:r>
                    </a:p>
                  </a:txBody>
                  <a:tcPr marL="73152" marR="73152" marT="27432" marB="27432" anchor="ctr">
                    <a:noFill/>
                  </a:tcPr>
                </a:tc>
                <a:tc>
                  <a:txBody>
                    <a:bodyPr/>
                    <a:lstStyle/>
                    <a:p>
                      <a:pPr algn="r"/>
                      <a:r>
                        <a:rPr sz="1200" b="0" i="0">
                          <a:solidFill>
                            <a:srgbClr val="3C3C3B"/>
                          </a:solidFill>
                        </a:rPr>
                        <a:t>37.7%</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tc>
                  <a:txBody>
                    <a:bodyPr/>
                    <a:lstStyle/>
                    <a:p>
                      <a:pPr algn="r"/>
                      <a:r>
                        <a:rPr sz="1200" b="0" i="0">
                          <a:solidFill>
                            <a:srgbClr val="3C3C3B"/>
                          </a:solidFill>
                        </a:rPr>
                        <a:t>1.73x</a:t>
                      </a:r>
                    </a:p>
                  </a:txBody>
                  <a:tcPr marL="73152" marR="73152" marT="27432" marB="27432" anchor="ctr">
                    <a:noFill/>
                  </a:tcPr>
                </a:tc>
                <a:extLst>
                  <a:ext uri="{0D108BD9-81ED-4DB2-BD59-A6C34878D82A}">
                    <a16:rowId xmlns:a16="http://schemas.microsoft.com/office/drawing/2014/main" val="10010"/>
                  </a:ext>
                </a:extLst>
              </a:tr>
              <a:tr h="356616">
                <a:tc gridSpan="8">
                  <a:txBody>
                    <a:bodyPr/>
                    <a:lstStyle/>
                    <a:p>
                      <a:pPr algn="l"/>
                      <a:r>
                        <a:rPr sz="1200" b="1" i="0">
                          <a:solidFill>
                            <a:srgbClr val="00563C"/>
                          </a:solidFill>
                        </a:rPr>
                        <a:t>Hold to maturity – European turbine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11"/>
                  </a:ext>
                </a:extLst>
              </a:tr>
              <a:tr h="356616">
                <a:tc>
                  <a:txBody>
                    <a:bodyPr/>
                    <a:lstStyle/>
                    <a:p>
                      <a:pPr algn="l"/>
                      <a:r>
                        <a:rPr sz="1200" b="0" i="0">
                          <a:solidFill>
                            <a:srgbClr val="3C3C3B"/>
                          </a:solidFill>
                        </a:rPr>
                        <a:t>Yield (P50 hours)</a:t>
                      </a:r>
                    </a:p>
                  </a:txBody>
                  <a:tcPr marL="73152" marR="73152" marT="27432" marB="27432" anchor="ctr">
                    <a:solidFill>
                      <a:srgbClr val="F2F2F2"/>
                    </a:solidFill>
                  </a:tcPr>
                </a:tc>
                <a:tc>
                  <a:txBody>
                    <a:bodyPr/>
                    <a:lstStyle/>
                    <a:p>
                      <a:pPr algn="l"/>
                      <a:r>
                        <a:rPr sz="1200" b="0" i="0">
                          <a:solidFill>
                            <a:srgbClr val="919191"/>
                          </a:solidFill>
                        </a:rPr>
                        <a:t>2,460 h</a:t>
                      </a:r>
                    </a:p>
                  </a:txBody>
                  <a:tcPr marL="73152" marR="73152" marT="27432" marB="27432" anchor="ctr">
                    <a:solidFill>
                      <a:srgbClr val="F2F2F2"/>
                    </a:solidFill>
                  </a:tcPr>
                </a:tc>
                <a:tc>
                  <a:txBody>
                    <a:bodyPr/>
                    <a:lstStyle/>
                    <a:p>
                      <a:pPr algn="r"/>
                      <a:r>
                        <a:rPr sz="1200" b="0" i="0">
                          <a:solidFill>
                            <a:srgbClr val="3C3C3B"/>
                          </a:solidFill>
                        </a:rPr>
                        <a:t>7.9%</a:t>
                      </a:r>
                    </a:p>
                  </a:txBody>
                  <a:tcPr marL="73152" marR="73152" marT="27432" marB="27432" anchor="ctr">
                    <a:no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10.5%</a:t>
                      </a:r>
                    </a:p>
                  </a:txBody>
                  <a:tcPr marL="73152" marR="73152" marT="27432" marB="27432" anchor="ctr">
                    <a:noFill/>
                  </a:tcPr>
                </a:tc>
                <a:tc>
                  <a:txBody>
                    <a:bodyPr/>
                    <a:lstStyle/>
                    <a:p>
                      <a:pPr algn="r"/>
                      <a:r>
                        <a:rPr sz="1200" b="0" i="0">
                          <a:solidFill>
                            <a:srgbClr val="3C3C3B"/>
                          </a:solidFill>
                        </a:rPr>
                        <a:t>4.66x</a:t>
                      </a:r>
                    </a:p>
                  </a:txBody>
                  <a:tcPr marL="73152" marR="73152" marT="27432" marB="27432" anchor="ctr">
                    <a:noFill/>
                  </a:tcPr>
                </a:tc>
                <a:tc>
                  <a:txBody>
                    <a:bodyPr/>
                    <a:lstStyle/>
                    <a:p>
                      <a:pPr algn="r"/>
                      <a:r>
                        <a:rPr sz="1200" b="0" i="0">
                          <a:solidFill>
                            <a:srgbClr val="3C3C3B"/>
                          </a:solidFill>
                        </a:rPr>
                        <a:t>5.64x</a:t>
                      </a:r>
                    </a:p>
                  </a:txBody>
                  <a:tcPr marL="73152" marR="73152" marT="27432" marB="27432" anchor="ctr">
                    <a:noFill/>
                  </a:tcPr>
                </a:tc>
                <a:tc>
                  <a:txBody>
                    <a:bodyPr/>
                    <a:lstStyle/>
                    <a:p>
                      <a:pPr algn="r"/>
                      <a:r>
                        <a:rPr sz="1200" b="0" i="0">
                          <a:solidFill>
                            <a:srgbClr val="3C3C3B"/>
                          </a:solidFill>
                        </a:rPr>
                        <a:t>6.52x</a:t>
                      </a:r>
                    </a:p>
                  </a:txBody>
                  <a:tcPr marL="73152" marR="73152" marT="27432" marB="27432" anchor="ctr">
                    <a:noFill/>
                  </a:tcPr>
                </a:tc>
                <a:extLst>
                  <a:ext uri="{0D108BD9-81ED-4DB2-BD59-A6C34878D82A}">
                    <a16:rowId xmlns:a16="http://schemas.microsoft.com/office/drawing/2014/main" val="10012"/>
                  </a:ext>
                </a:extLst>
              </a:tr>
              <a:tr h="356616">
                <a:tc>
                  <a:txBody>
                    <a:bodyPr/>
                    <a:lstStyle/>
                    <a:p>
                      <a:pPr algn="l"/>
                      <a:r>
                        <a:rPr sz="1200" b="0" i="0">
                          <a:solidFill>
                            <a:srgbClr val="3C3C3B"/>
                          </a:solidFill>
                        </a:rPr>
                        <a:t>Turbine price</a:t>
                      </a:r>
                    </a:p>
                  </a:txBody>
                  <a:tcPr marL="73152" marR="73152" marT="27432" marB="27432" anchor="ctr">
                    <a:solidFill>
                      <a:srgbClr val="F2F2F2"/>
                    </a:solidFill>
                  </a:tcPr>
                </a:tc>
                <a:tc>
                  <a:txBody>
                    <a:bodyPr/>
                    <a:lstStyle/>
                    <a:p>
                      <a:pPr algn="l"/>
                      <a:r>
                        <a:rPr sz="1200" b="0" i="0">
                          <a:solidFill>
                            <a:srgbClr val="919191"/>
                          </a:solidFill>
                        </a:rPr>
                        <a:t>950 k€/MW</a:t>
                      </a:r>
                    </a:p>
                  </a:txBody>
                  <a:tcPr marL="73152" marR="73152" marT="27432" marB="27432" anchor="ctr">
                    <a:solidFill>
                      <a:srgbClr val="F2F2F2"/>
                    </a:solidFill>
                  </a:tcPr>
                </a:tc>
                <a:tc>
                  <a:txBody>
                    <a:bodyPr/>
                    <a:lstStyle/>
                    <a:p>
                      <a:pPr algn="r"/>
                      <a:r>
                        <a:rPr sz="1200" b="0" i="0">
                          <a:solidFill>
                            <a:srgbClr val="3C3C3B"/>
                          </a:solidFill>
                        </a:rPr>
                        <a:t>9.8%</a:t>
                      </a:r>
                    </a:p>
                  </a:txBody>
                  <a:tcPr marL="73152" marR="73152" marT="27432" marB="27432" anchor="ctr">
                    <a:no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8.7%</a:t>
                      </a:r>
                    </a:p>
                  </a:txBody>
                  <a:tcPr marL="73152" marR="73152" marT="27432" marB="27432" anchor="ctr">
                    <a:noFill/>
                  </a:tcPr>
                </a:tc>
                <a:tc>
                  <a:txBody>
                    <a:bodyPr/>
                    <a:lstStyle/>
                    <a:p>
                      <a:pPr algn="r"/>
                      <a:r>
                        <a:rPr sz="1200" b="0" i="0">
                          <a:solidFill>
                            <a:srgbClr val="3C3C3B"/>
                          </a:solidFill>
                        </a:rPr>
                        <a:t>6.02x</a:t>
                      </a:r>
                    </a:p>
                  </a:txBody>
                  <a:tcPr marL="73152" marR="73152" marT="27432" marB="27432" anchor="ctr">
                    <a:noFill/>
                  </a:tcPr>
                </a:tc>
                <a:tc>
                  <a:txBody>
                    <a:bodyPr/>
                    <a:lstStyle/>
                    <a:p>
                      <a:pPr algn="r"/>
                      <a:r>
                        <a:rPr sz="1200" b="0" i="0">
                          <a:solidFill>
                            <a:srgbClr val="3C3C3B"/>
                          </a:solidFill>
                        </a:rPr>
                        <a:t>5.64x</a:t>
                      </a:r>
                    </a:p>
                  </a:txBody>
                  <a:tcPr marL="73152" marR="73152" marT="27432" marB="27432" anchor="ctr">
                    <a:noFill/>
                  </a:tcPr>
                </a:tc>
                <a:tc>
                  <a:txBody>
                    <a:bodyPr/>
                    <a:lstStyle/>
                    <a:p>
                      <a:pPr algn="r"/>
                      <a:r>
                        <a:rPr sz="1200" b="0" i="0">
                          <a:solidFill>
                            <a:srgbClr val="3C3C3B"/>
                          </a:solidFill>
                        </a:rPr>
                        <a:t>5.29x</a:t>
                      </a:r>
                    </a:p>
                  </a:txBody>
                  <a:tcPr marL="73152" marR="73152" marT="27432" marB="27432" anchor="ctr">
                    <a:noFill/>
                  </a:tcPr>
                </a:tc>
                <a:extLst>
                  <a:ext uri="{0D108BD9-81ED-4DB2-BD59-A6C34878D82A}">
                    <a16:rowId xmlns:a16="http://schemas.microsoft.com/office/drawing/2014/main" val="10013"/>
                  </a:ext>
                </a:extLst>
              </a:tr>
              <a:tr h="356616">
                <a:tc>
                  <a:txBody>
                    <a:bodyPr/>
                    <a:lstStyle/>
                    <a:p>
                      <a:pPr algn="l"/>
                      <a:r>
                        <a:rPr sz="1200" b="0" i="0">
                          <a:solidFill>
                            <a:srgbClr val="3C3C3B"/>
                          </a:solidFill>
                        </a:rPr>
                        <a:t>SPV purchase price</a:t>
                      </a:r>
                    </a:p>
                  </a:txBody>
                  <a:tcPr marL="73152" marR="73152" marT="27432" marB="27432" anchor="ctr">
                    <a:solidFill>
                      <a:srgbClr val="F2F2F2"/>
                    </a:solidFill>
                  </a:tcPr>
                </a:tc>
                <a:tc>
                  <a:txBody>
                    <a:bodyPr/>
                    <a:lstStyle/>
                    <a:p>
                      <a:pPr algn="l"/>
                      <a:r>
                        <a:rPr sz="1200" b="0" i="0">
                          <a:solidFill>
                            <a:srgbClr val="919191"/>
                          </a:solidFill>
                        </a:rPr>
                        <a:t>€4.5m</a:t>
                      </a:r>
                    </a:p>
                  </a:txBody>
                  <a:tcPr marL="73152" marR="73152" marT="27432" marB="27432" anchor="ctr">
                    <a:solidFill>
                      <a:srgbClr val="F2F2F2"/>
                    </a:solidFill>
                  </a:tcPr>
                </a:tc>
                <a:tc>
                  <a:txBody>
                    <a:bodyPr/>
                    <a:lstStyle/>
                    <a:p>
                      <a:pPr algn="r"/>
                      <a:r>
                        <a:rPr sz="1200" b="0" i="0">
                          <a:solidFill>
                            <a:srgbClr val="3C3C3B"/>
                          </a:solidFill>
                        </a:rPr>
                        <a:t>9.3%</a:t>
                      </a:r>
                    </a:p>
                  </a:txBody>
                  <a:tcPr marL="73152" marR="73152" marT="27432" marB="27432" anchor="ctr">
                    <a:no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5.69x</a:t>
                      </a:r>
                    </a:p>
                  </a:txBody>
                  <a:tcPr marL="73152" marR="73152" marT="27432" marB="27432" anchor="ctr">
                    <a:noFill/>
                  </a:tcPr>
                </a:tc>
                <a:tc>
                  <a:txBody>
                    <a:bodyPr/>
                    <a:lstStyle/>
                    <a:p>
                      <a:pPr algn="r"/>
                      <a:r>
                        <a:rPr sz="1200" b="0" i="0">
                          <a:solidFill>
                            <a:srgbClr val="3C3C3B"/>
                          </a:solidFill>
                        </a:rPr>
                        <a:t>5.64x</a:t>
                      </a:r>
                    </a:p>
                  </a:txBody>
                  <a:tcPr marL="73152" marR="73152" marT="27432" marB="27432" anchor="ctr">
                    <a:noFill/>
                  </a:tcPr>
                </a:tc>
                <a:tc>
                  <a:txBody>
                    <a:bodyPr/>
                    <a:lstStyle/>
                    <a:p>
                      <a:pPr algn="r"/>
                      <a:r>
                        <a:rPr sz="1200" b="0" i="0">
                          <a:solidFill>
                            <a:srgbClr val="3C3C3B"/>
                          </a:solidFill>
                        </a:rPr>
                        <a:t>5.58x</a:t>
                      </a:r>
                    </a:p>
                  </a:txBody>
                  <a:tcPr marL="73152" marR="73152" marT="27432" marB="27432" anchor="ctr">
                    <a:noFill/>
                  </a:tcPr>
                </a:tc>
                <a:extLst>
                  <a:ext uri="{0D108BD9-81ED-4DB2-BD59-A6C34878D82A}">
                    <a16:rowId xmlns:a16="http://schemas.microsoft.com/office/drawing/2014/main" val="10014"/>
                  </a:ext>
                </a:extLst>
              </a:tr>
              <a:tr h="356616">
                <a:tc>
                  <a:txBody>
                    <a:bodyPr/>
                    <a:lstStyle/>
                    <a:p>
                      <a:pPr algn="l"/>
                      <a:r>
                        <a:rPr sz="1200" b="0" i="0">
                          <a:solidFill>
                            <a:srgbClr val="3C3C3B"/>
                          </a:solidFill>
                        </a:rPr>
                        <a:t>COD exit price – no effect</a:t>
                      </a:r>
                    </a:p>
                  </a:txBody>
                  <a:tcPr marL="73152" marR="73152" marT="27432" marB="27432" anchor="ctr">
                    <a:solidFill>
                      <a:srgbClr val="F2F2F2"/>
                    </a:solidFill>
                  </a:tcPr>
                </a:tc>
                <a:tc>
                  <a:txBody>
                    <a:bodyPr/>
                    <a:lstStyle/>
                    <a:p>
                      <a:pPr algn="l"/>
                      <a:r>
                        <a:rPr sz="1200" b="0" i="0">
                          <a:solidFill>
                            <a:srgbClr val="919191"/>
                          </a:solidFill>
                        </a:rPr>
                        <a:t>2,450 k€/MW</a:t>
                      </a:r>
                    </a:p>
                  </a:txBody>
                  <a:tcPr marL="73152" marR="73152" marT="27432" marB="27432" anchor="ctr">
                    <a:solidFill>
                      <a:srgbClr val="F2F2F2"/>
                    </a:solid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9.2%</a:t>
                      </a:r>
                    </a:p>
                  </a:txBody>
                  <a:tcPr marL="73152" marR="73152" marT="27432" marB="27432" anchor="ctr">
                    <a:noFill/>
                  </a:tcPr>
                </a:tc>
                <a:tc>
                  <a:txBody>
                    <a:bodyPr/>
                    <a:lstStyle/>
                    <a:p>
                      <a:pPr algn="r"/>
                      <a:r>
                        <a:rPr sz="1200" b="0" i="0">
                          <a:solidFill>
                            <a:srgbClr val="3C3C3B"/>
                          </a:solidFill>
                        </a:rPr>
                        <a:t>5.64x</a:t>
                      </a:r>
                    </a:p>
                  </a:txBody>
                  <a:tcPr marL="73152" marR="73152" marT="27432" marB="27432" anchor="ctr">
                    <a:noFill/>
                  </a:tcPr>
                </a:tc>
                <a:tc>
                  <a:txBody>
                    <a:bodyPr/>
                    <a:lstStyle/>
                    <a:p>
                      <a:pPr algn="r"/>
                      <a:r>
                        <a:rPr sz="1200" b="0" i="0">
                          <a:solidFill>
                            <a:srgbClr val="3C3C3B"/>
                          </a:solidFill>
                        </a:rPr>
                        <a:t>5.64x</a:t>
                      </a:r>
                    </a:p>
                  </a:txBody>
                  <a:tcPr marL="73152" marR="73152" marT="27432" marB="27432" anchor="ctr">
                    <a:noFill/>
                  </a:tcPr>
                </a:tc>
                <a:tc>
                  <a:txBody>
                    <a:bodyPr/>
                    <a:lstStyle/>
                    <a:p>
                      <a:pPr algn="r"/>
                      <a:r>
                        <a:rPr sz="1200" b="0" i="0">
                          <a:solidFill>
                            <a:srgbClr val="3C3C3B"/>
                          </a:solidFill>
                        </a:rPr>
                        <a:t>5.64x</a:t>
                      </a:r>
                    </a:p>
                  </a:txBody>
                  <a:tcPr marL="73152" marR="73152" marT="27432" marB="27432" anchor="ctr">
                    <a:noFill/>
                  </a:tcPr>
                </a:tc>
                <a:extLst>
                  <a:ext uri="{0D108BD9-81ED-4DB2-BD59-A6C34878D82A}">
                    <a16:rowId xmlns:a16="http://schemas.microsoft.com/office/drawing/2014/main" val="10015"/>
                  </a:ext>
                </a:extLst>
              </a:tr>
              <a:tr h="356616">
                <a:tc gridSpan="8">
                  <a:txBody>
                    <a:bodyPr/>
                    <a:lstStyle/>
                    <a:p>
                      <a:pPr algn="l"/>
                      <a:r>
                        <a:rPr sz="1200" b="1" i="0">
                          <a:solidFill>
                            <a:srgbClr val="00563C"/>
                          </a:solidFill>
                        </a:rPr>
                        <a:t>Hold to maturity – Chinese turbine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extLst>
                  <a:ext uri="{0D108BD9-81ED-4DB2-BD59-A6C34878D82A}">
                    <a16:rowId xmlns:a16="http://schemas.microsoft.com/office/drawing/2014/main" val="10016"/>
                  </a:ext>
                </a:extLst>
              </a:tr>
              <a:tr h="356616">
                <a:tc>
                  <a:txBody>
                    <a:bodyPr/>
                    <a:lstStyle/>
                    <a:p>
                      <a:pPr algn="l"/>
                      <a:r>
                        <a:rPr sz="1200" b="0" i="0">
                          <a:solidFill>
                            <a:srgbClr val="3C3C3B"/>
                          </a:solidFill>
                        </a:rPr>
                        <a:t>Yield (P50 hours)</a:t>
                      </a:r>
                    </a:p>
                  </a:txBody>
                  <a:tcPr marL="73152" marR="73152" marT="27432" marB="27432" anchor="ctr">
                    <a:solidFill>
                      <a:srgbClr val="F2F2F2"/>
                    </a:solidFill>
                  </a:tcPr>
                </a:tc>
                <a:tc>
                  <a:txBody>
                    <a:bodyPr/>
                    <a:lstStyle/>
                    <a:p>
                      <a:pPr algn="l"/>
                      <a:r>
                        <a:rPr sz="1200" b="0" i="0">
                          <a:solidFill>
                            <a:srgbClr val="919191"/>
                          </a:solidFill>
                        </a:rPr>
                        <a:t>2,460 h</a:t>
                      </a:r>
                    </a:p>
                  </a:txBody>
                  <a:tcPr marL="73152" marR="73152" marT="27432" marB="27432" anchor="ctr">
                    <a:solidFill>
                      <a:srgbClr val="F2F2F2"/>
                    </a:solidFill>
                  </a:tcPr>
                </a:tc>
                <a:tc>
                  <a:txBody>
                    <a:bodyPr/>
                    <a:lstStyle/>
                    <a:p>
                      <a:pPr algn="r"/>
                      <a:r>
                        <a:rPr sz="1200" b="0" i="0">
                          <a:solidFill>
                            <a:srgbClr val="3C3C3B"/>
                          </a:solidFill>
                        </a:rPr>
                        <a:t>10.7%</a:t>
                      </a:r>
                    </a:p>
                  </a:txBody>
                  <a:tcPr marL="73152" marR="73152" marT="27432" marB="27432" anchor="ctr">
                    <a:noFill/>
                  </a:tcPr>
                </a:tc>
                <a:tc>
                  <a:txBody>
                    <a:bodyPr/>
                    <a:lstStyle/>
                    <a:p>
                      <a:pPr algn="r"/>
                      <a:r>
                        <a:rPr sz="1200" b="0" i="0">
                          <a:solidFill>
                            <a:srgbClr val="3C3C3B"/>
                          </a:solidFill>
                        </a:rPr>
                        <a:t>12.1%</a:t>
                      </a:r>
                    </a:p>
                  </a:txBody>
                  <a:tcPr marL="73152" marR="73152" marT="27432" marB="27432" anchor="ctr">
                    <a:noFill/>
                  </a:tcPr>
                </a:tc>
                <a:tc>
                  <a:txBody>
                    <a:bodyPr/>
                    <a:lstStyle/>
                    <a:p>
                      <a:pPr algn="r"/>
                      <a:r>
                        <a:rPr sz="1200" b="0" i="0">
                          <a:solidFill>
                            <a:srgbClr val="3C3C3B"/>
                          </a:solidFill>
                        </a:rPr>
                        <a:t>13.4%</a:t>
                      </a:r>
                    </a:p>
                  </a:txBody>
                  <a:tcPr marL="73152" marR="73152" marT="27432" marB="27432" anchor="ctr">
                    <a:noFill/>
                  </a:tcPr>
                </a:tc>
                <a:tc>
                  <a:txBody>
                    <a:bodyPr/>
                    <a:lstStyle/>
                    <a:p>
                      <a:pPr algn="r"/>
                      <a:r>
                        <a:rPr sz="1200" b="0" i="0">
                          <a:solidFill>
                            <a:srgbClr val="3C3C3B"/>
                          </a:solidFill>
                        </a:rPr>
                        <a:t>6.09x</a:t>
                      </a:r>
                    </a:p>
                  </a:txBody>
                  <a:tcPr marL="73152" marR="73152" marT="27432" marB="27432" anchor="ctr">
                    <a:noFill/>
                  </a:tcPr>
                </a:tc>
                <a:tc>
                  <a:txBody>
                    <a:bodyPr/>
                    <a:lstStyle/>
                    <a:p>
                      <a:pPr algn="r"/>
                      <a:r>
                        <a:rPr sz="1200" b="0" i="0">
                          <a:solidFill>
                            <a:srgbClr val="3C3C3B"/>
                          </a:solidFill>
                        </a:rPr>
                        <a:t>7.09x</a:t>
                      </a:r>
                    </a:p>
                  </a:txBody>
                  <a:tcPr marL="73152" marR="73152" marT="27432" marB="27432" anchor="ctr">
                    <a:noFill/>
                  </a:tcPr>
                </a:tc>
                <a:tc>
                  <a:txBody>
                    <a:bodyPr/>
                    <a:lstStyle/>
                    <a:p>
                      <a:pPr algn="r"/>
                      <a:r>
                        <a:rPr sz="1200" b="0" i="0">
                          <a:solidFill>
                            <a:srgbClr val="3C3C3B"/>
                          </a:solidFill>
                        </a:rPr>
                        <a:t>8.09x</a:t>
                      </a:r>
                    </a:p>
                  </a:txBody>
                  <a:tcPr marL="73152" marR="73152" marT="27432" marB="27432" anchor="ctr">
                    <a:noFill/>
                  </a:tcPr>
                </a:tc>
                <a:extLst>
                  <a:ext uri="{0D108BD9-81ED-4DB2-BD59-A6C34878D82A}">
                    <a16:rowId xmlns:a16="http://schemas.microsoft.com/office/drawing/2014/main" val="10017"/>
                  </a:ext>
                </a:extLst>
              </a:tr>
              <a:tr h="356616">
                <a:tc>
                  <a:txBody>
                    <a:bodyPr/>
                    <a:lstStyle/>
                    <a:p>
                      <a:pPr algn="l"/>
                      <a:r>
                        <a:rPr sz="1200" b="0" i="0">
                          <a:solidFill>
                            <a:srgbClr val="3C3C3B"/>
                          </a:solidFill>
                        </a:rPr>
                        <a:t>Turbine price</a:t>
                      </a:r>
                    </a:p>
                  </a:txBody>
                  <a:tcPr marL="73152" marR="73152" marT="27432" marB="27432" anchor="ctr">
                    <a:solidFill>
                      <a:srgbClr val="F2F2F2"/>
                    </a:solidFill>
                  </a:tcPr>
                </a:tc>
                <a:tc>
                  <a:txBody>
                    <a:bodyPr/>
                    <a:lstStyle/>
                    <a:p>
                      <a:pPr algn="l"/>
                      <a:r>
                        <a:rPr sz="1200" b="0" i="0">
                          <a:solidFill>
                            <a:srgbClr val="919191"/>
                          </a:solidFill>
                        </a:rPr>
                        <a:t>500 k€/MW</a:t>
                      </a:r>
                    </a:p>
                  </a:txBody>
                  <a:tcPr marL="73152" marR="73152" marT="27432" marB="27432" anchor="ctr">
                    <a:solidFill>
                      <a:srgbClr val="F2F2F2"/>
                    </a:solidFill>
                  </a:tcPr>
                </a:tc>
                <a:tc>
                  <a:txBody>
                    <a:bodyPr/>
                    <a:lstStyle/>
                    <a:p>
                      <a:pPr algn="r"/>
                      <a:r>
                        <a:rPr sz="1200" b="0" i="0">
                          <a:solidFill>
                            <a:srgbClr val="3C3C3B"/>
                          </a:solidFill>
                        </a:rPr>
                        <a:t>12.5%</a:t>
                      </a:r>
                    </a:p>
                  </a:txBody>
                  <a:tcPr marL="73152" marR="73152" marT="27432" marB="27432" anchor="ctr">
                    <a:noFill/>
                  </a:tcPr>
                </a:tc>
                <a:tc>
                  <a:txBody>
                    <a:bodyPr/>
                    <a:lstStyle/>
                    <a:p>
                      <a:pPr algn="r"/>
                      <a:r>
                        <a:rPr sz="1200" b="0" i="0">
                          <a:solidFill>
                            <a:srgbClr val="3C3C3B"/>
                          </a:solidFill>
                        </a:rPr>
                        <a:t>12.1%</a:t>
                      </a:r>
                    </a:p>
                  </a:txBody>
                  <a:tcPr marL="73152" marR="73152" marT="27432" marB="27432" anchor="ctr">
                    <a:noFill/>
                  </a:tcPr>
                </a:tc>
                <a:tc>
                  <a:txBody>
                    <a:bodyPr/>
                    <a:lstStyle/>
                    <a:p>
                      <a:pPr algn="r"/>
                      <a:r>
                        <a:rPr sz="1200" b="0" i="0">
                          <a:solidFill>
                            <a:srgbClr val="3C3C3B"/>
                          </a:solidFill>
                        </a:rPr>
                        <a:t>11.7%</a:t>
                      </a:r>
                    </a:p>
                  </a:txBody>
                  <a:tcPr marL="73152" marR="73152" marT="27432" marB="27432" anchor="ctr">
                    <a:noFill/>
                  </a:tcPr>
                </a:tc>
                <a:tc>
                  <a:txBody>
                    <a:bodyPr/>
                    <a:lstStyle/>
                    <a:p>
                      <a:pPr algn="r"/>
                      <a:r>
                        <a:rPr sz="1200" b="0" i="0">
                          <a:solidFill>
                            <a:srgbClr val="3C3C3B"/>
                          </a:solidFill>
                        </a:rPr>
                        <a:t>7.39x</a:t>
                      </a:r>
                    </a:p>
                  </a:txBody>
                  <a:tcPr marL="73152" marR="73152" marT="27432" marB="27432" anchor="ctr">
                    <a:noFill/>
                  </a:tcPr>
                </a:tc>
                <a:tc>
                  <a:txBody>
                    <a:bodyPr/>
                    <a:lstStyle/>
                    <a:p>
                      <a:pPr algn="r"/>
                      <a:r>
                        <a:rPr sz="1200" b="0" i="0">
                          <a:solidFill>
                            <a:srgbClr val="3C3C3B"/>
                          </a:solidFill>
                        </a:rPr>
                        <a:t>7.09x</a:t>
                      </a:r>
                    </a:p>
                  </a:txBody>
                  <a:tcPr marL="73152" marR="73152" marT="27432" marB="27432" anchor="ctr">
                    <a:noFill/>
                  </a:tcPr>
                </a:tc>
                <a:tc>
                  <a:txBody>
                    <a:bodyPr/>
                    <a:lstStyle/>
                    <a:p>
                      <a:pPr algn="r"/>
                      <a:r>
                        <a:rPr sz="1200" b="0" i="0">
                          <a:solidFill>
                            <a:srgbClr val="3C3C3B"/>
                          </a:solidFill>
                        </a:rPr>
                        <a:t>6.80x</a:t>
                      </a:r>
                    </a:p>
                  </a:txBody>
                  <a:tcPr marL="73152" marR="73152" marT="27432" marB="27432" anchor="ctr">
                    <a:noFill/>
                  </a:tcPr>
                </a:tc>
                <a:extLst>
                  <a:ext uri="{0D108BD9-81ED-4DB2-BD59-A6C34878D82A}">
                    <a16:rowId xmlns:a16="http://schemas.microsoft.com/office/drawing/2014/main" val="10018"/>
                  </a:ext>
                </a:extLst>
              </a:tr>
              <a:tr h="356616">
                <a:tc>
                  <a:txBody>
                    <a:bodyPr/>
                    <a:lstStyle/>
                    <a:p>
                      <a:pPr algn="l"/>
                      <a:r>
                        <a:rPr sz="1200" b="0" i="0">
                          <a:solidFill>
                            <a:srgbClr val="3C3C3B"/>
                          </a:solidFill>
                        </a:rPr>
                        <a:t>SPV purchase price</a:t>
                      </a:r>
                    </a:p>
                  </a:txBody>
                  <a:tcPr marL="73152" marR="73152" marT="27432" marB="27432" anchor="ctr">
                    <a:solidFill>
                      <a:srgbClr val="F2F2F2"/>
                    </a:solidFill>
                  </a:tcPr>
                </a:tc>
                <a:tc>
                  <a:txBody>
                    <a:bodyPr/>
                    <a:lstStyle/>
                    <a:p>
                      <a:pPr algn="l"/>
                      <a:r>
                        <a:rPr sz="1200" b="0" i="0">
                          <a:solidFill>
                            <a:srgbClr val="919191"/>
                          </a:solidFill>
                        </a:rPr>
                        <a:t>€4.5m</a:t>
                      </a:r>
                    </a:p>
                  </a:txBody>
                  <a:tcPr marL="73152" marR="73152" marT="27432" marB="27432" anchor="ctr">
                    <a:solidFill>
                      <a:srgbClr val="F2F2F2"/>
                    </a:solidFill>
                  </a:tcPr>
                </a:tc>
                <a:tc>
                  <a:txBody>
                    <a:bodyPr/>
                    <a:lstStyle/>
                    <a:p>
                      <a:pPr algn="r"/>
                      <a:r>
                        <a:rPr sz="1200" b="0" i="0">
                          <a:solidFill>
                            <a:srgbClr val="3C3C3B"/>
                          </a:solidFill>
                        </a:rPr>
                        <a:t>12.2%</a:t>
                      </a:r>
                    </a:p>
                  </a:txBody>
                  <a:tcPr marL="73152" marR="73152" marT="27432" marB="27432" anchor="ctr">
                    <a:noFill/>
                  </a:tcPr>
                </a:tc>
                <a:tc>
                  <a:txBody>
                    <a:bodyPr/>
                    <a:lstStyle/>
                    <a:p>
                      <a:pPr algn="r"/>
                      <a:r>
                        <a:rPr sz="1200" b="0" i="0">
                          <a:solidFill>
                            <a:srgbClr val="3C3C3B"/>
                          </a:solidFill>
                        </a:rPr>
                        <a:t>12.1%</a:t>
                      </a:r>
                    </a:p>
                  </a:txBody>
                  <a:tcPr marL="73152" marR="73152" marT="27432" marB="27432" anchor="ctr">
                    <a:noFill/>
                  </a:tcPr>
                </a:tc>
                <a:tc>
                  <a:txBody>
                    <a:bodyPr/>
                    <a:lstStyle/>
                    <a:p>
                      <a:pPr algn="r"/>
                      <a:r>
                        <a:rPr sz="1200" b="0" i="0">
                          <a:solidFill>
                            <a:srgbClr val="3C3C3B"/>
                          </a:solidFill>
                        </a:rPr>
                        <a:t>12.0%</a:t>
                      </a:r>
                    </a:p>
                  </a:txBody>
                  <a:tcPr marL="73152" marR="73152" marT="27432" marB="27432" anchor="ctr">
                    <a:noFill/>
                  </a:tcPr>
                </a:tc>
                <a:tc>
                  <a:txBody>
                    <a:bodyPr/>
                    <a:lstStyle/>
                    <a:p>
                      <a:pPr algn="r"/>
                      <a:r>
                        <a:rPr sz="1200" b="0" i="0">
                          <a:solidFill>
                            <a:srgbClr val="3C3C3B"/>
                          </a:solidFill>
                        </a:rPr>
                        <a:t>7.17x</a:t>
                      </a:r>
                    </a:p>
                  </a:txBody>
                  <a:tcPr marL="73152" marR="73152" marT="27432" marB="27432" anchor="ctr">
                    <a:noFill/>
                  </a:tcPr>
                </a:tc>
                <a:tc>
                  <a:txBody>
                    <a:bodyPr/>
                    <a:lstStyle/>
                    <a:p>
                      <a:pPr algn="r"/>
                      <a:r>
                        <a:rPr sz="1200" b="0" i="0">
                          <a:solidFill>
                            <a:srgbClr val="3C3C3B"/>
                          </a:solidFill>
                        </a:rPr>
                        <a:t>7.09x</a:t>
                      </a:r>
                    </a:p>
                  </a:txBody>
                  <a:tcPr marL="73152" marR="73152" marT="27432" marB="27432" anchor="ctr">
                    <a:noFill/>
                  </a:tcPr>
                </a:tc>
                <a:tc>
                  <a:txBody>
                    <a:bodyPr/>
                    <a:lstStyle/>
                    <a:p>
                      <a:pPr algn="r"/>
                      <a:r>
                        <a:rPr sz="1200" b="0" i="0">
                          <a:solidFill>
                            <a:srgbClr val="3C3C3B"/>
                          </a:solidFill>
                        </a:rPr>
                        <a:t>7.01x</a:t>
                      </a:r>
                    </a:p>
                  </a:txBody>
                  <a:tcPr marL="73152" marR="73152" marT="27432" marB="27432" anchor="ctr">
                    <a:noFill/>
                  </a:tcPr>
                </a:tc>
                <a:extLst>
                  <a:ext uri="{0D108BD9-81ED-4DB2-BD59-A6C34878D82A}">
                    <a16:rowId xmlns:a16="http://schemas.microsoft.com/office/drawing/2014/main" val="10019"/>
                  </a:ext>
                </a:extLst>
              </a:tr>
              <a:tr h="356616">
                <a:tc>
                  <a:txBody>
                    <a:bodyPr/>
                    <a:lstStyle/>
                    <a:p>
                      <a:pPr algn="l"/>
                      <a:r>
                        <a:rPr sz="1200" b="0" i="0">
                          <a:solidFill>
                            <a:srgbClr val="3C3C3B"/>
                          </a:solidFill>
                        </a:rPr>
                        <a:t>COD exit price – no effect</a:t>
                      </a:r>
                    </a:p>
                  </a:txBody>
                  <a:tcPr marL="73152" marR="73152" marT="27432" marB="27432" anchor="ctr">
                    <a:solidFill>
                      <a:srgbClr val="F2F2F2"/>
                    </a:solidFill>
                  </a:tcPr>
                </a:tc>
                <a:tc>
                  <a:txBody>
                    <a:bodyPr/>
                    <a:lstStyle/>
                    <a:p>
                      <a:pPr algn="l"/>
                      <a:r>
                        <a:rPr sz="1200" b="0" i="0">
                          <a:solidFill>
                            <a:srgbClr val="919191"/>
                          </a:solidFill>
                        </a:rPr>
                        <a:t>2,100 k€/MW</a:t>
                      </a:r>
                    </a:p>
                  </a:txBody>
                  <a:tcPr marL="73152" marR="73152" marT="27432" marB="27432" anchor="ctr">
                    <a:solidFill>
                      <a:srgbClr val="F2F2F2"/>
                    </a:solidFill>
                  </a:tcPr>
                </a:tc>
                <a:tc>
                  <a:txBody>
                    <a:bodyPr/>
                    <a:lstStyle/>
                    <a:p>
                      <a:pPr algn="r"/>
                      <a:r>
                        <a:rPr sz="1200" b="0" i="0">
                          <a:solidFill>
                            <a:srgbClr val="3C3C3B"/>
                          </a:solidFill>
                        </a:rPr>
                        <a:t>12.1%</a:t>
                      </a:r>
                    </a:p>
                  </a:txBody>
                  <a:tcPr marL="73152" marR="73152" marT="27432" marB="27432" anchor="ctr">
                    <a:noFill/>
                  </a:tcPr>
                </a:tc>
                <a:tc>
                  <a:txBody>
                    <a:bodyPr/>
                    <a:lstStyle/>
                    <a:p>
                      <a:pPr algn="r"/>
                      <a:r>
                        <a:rPr sz="1200" b="0" i="0">
                          <a:solidFill>
                            <a:srgbClr val="3C3C3B"/>
                          </a:solidFill>
                        </a:rPr>
                        <a:t>12.1%</a:t>
                      </a:r>
                    </a:p>
                  </a:txBody>
                  <a:tcPr marL="73152" marR="73152" marT="27432" marB="27432" anchor="ctr">
                    <a:noFill/>
                  </a:tcPr>
                </a:tc>
                <a:tc>
                  <a:txBody>
                    <a:bodyPr/>
                    <a:lstStyle/>
                    <a:p>
                      <a:pPr algn="r"/>
                      <a:r>
                        <a:rPr sz="1200" b="0" i="0">
                          <a:solidFill>
                            <a:srgbClr val="3C3C3B"/>
                          </a:solidFill>
                        </a:rPr>
                        <a:t>12.1%</a:t>
                      </a:r>
                    </a:p>
                  </a:txBody>
                  <a:tcPr marL="73152" marR="73152" marT="27432" marB="27432" anchor="ctr">
                    <a:noFill/>
                  </a:tcPr>
                </a:tc>
                <a:tc>
                  <a:txBody>
                    <a:bodyPr/>
                    <a:lstStyle/>
                    <a:p>
                      <a:pPr algn="r"/>
                      <a:r>
                        <a:rPr sz="1200" b="0" i="0">
                          <a:solidFill>
                            <a:srgbClr val="3C3C3B"/>
                          </a:solidFill>
                        </a:rPr>
                        <a:t>7.09x</a:t>
                      </a:r>
                    </a:p>
                  </a:txBody>
                  <a:tcPr marL="73152" marR="73152" marT="27432" marB="27432" anchor="ctr">
                    <a:noFill/>
                  </a:tcPr>
                </a:tc>
                <a:tc>
                  <a:txBody>
                    <a:bodyPr/>
                    <a:lstStyle/>
                    <a:p>
                      <a:pPr algn="r"/>
                      <a:r>
                        <a:rPr sz="1200" b="0" i="0">
                          <a:solidFill>
                            <a:srgbClr val="3C3C3B"/>
                          </a:solidFill>
                        </a:rPr>
                        <a:t>7.09x</a:t>
                      </a:r>
                    </a:p>
                  </a:txBody>
                  <a:tcPr marL="73152" marR="73152" marT="27432" marB="27432" anchor="ctr">
                    <a:noFill/>
                  </a:tcPr>
                </a:tc>
                <a:tc>
                  <a:txBody>
                    <a:bodyPr/>
                    <a:lstStyle/>
                    <a:p>
                      <a:pPr algn="r"/>
                      <a:r>
                        <a:rPr sz="1200" b="0" i="0">
                          <a:solidFill>
                            <a:srgbClr val="3C3C3B"/>
                          </a:solidFill>
                        </a:rPr>
                        <a:t>7.09x</a:t>
                      </a:r>
                    </a:p>
                  </a:txBody>
                  <a:tcPr marL="73152" marR="73152" marT="27432" marB="27432" anchor="ctr">
                    <a:noFill/>
                  </a:tcPr>
                </a:tc>
                <a:extLst>
                  <a:ext uri="{0D108BD9-81ED-4DB2-BD59-A6C34878D82A}">
                    <a16:rowId xmlns:a16="http://schemas.microsoft.com/office/drawing/2014/main" val="10020"/>
                  </a:ext>
                </a:extLst>
              </a:tr>
            </a:tbl>
          </a:graphicData>
        </a:graphic>
      </p:graphicFrame>
      <p:sp>
        <p:nvSpPr>
          <p:cNvPr id="10" name="Footnote"/>
          <p:cNvSpPr txBox="1"/>
          <p:nvPr/>
        </p:nvSpPr>
        <p:spPr>
          <a:xfrm>
            <a:off x="4498848" y="9921240"/>
            <a:ext cx="13167360" cy="640080"/>
          </a:xfrm>
          <a:prstGeom prst="rect">
            <a:avLst/>
          </a:prstGeom>
          <a:noFill/>
        </p:spPr>
        <p:txBody>
          <a:bodyPr wrap="square" lIns="0" tIns="0" rIns="0" bIns="0" anchor="t">
            <a:spAutoFit/>
          </a:bodyPr>
          <a:lstStyle/>
          <a:p>
            <a:pPr algn="l"/>
            <a:r>
              <a:rPr sz="1100" b="0">
                <a:solidFill>
                  <a:srgbClr val="919191"/>
                </a:solidFill>
              </a:rPr>
              <a:t>Low / high = driver input −10% / +10%, everything else at base. COD exit price and turbine price are per MW, for the turbine of each case.</a:t>
            </a:r>
          </a:p>
          <a:p>
            <a:pPr algn="l"/>
            <a:r>
              <a:rPr sz="1100" b="0">
                <a:solidFill>
                  <a:srgbClr val="919191"/>
                </a:solidFill>
              </a:rPr>
              <a:t>Source: Bana IC model, 9 Oct 2026.</a:t>
            </a:r>
          </a:p>
        </p:txBody>
      </p:sp>
    </p:spTree>
    <p:extLst>
      <p:ext uri="{BB962C8B-B14F-4D97-AF65-F5344CB8AC3E}">
        <p14:creationId xmlns:p14="http://schemas.microsoft.com/office/powerpoint/2010/main" val="351494568"/>
      </p:ext>
    </p:extLst>
  </p:cSld>
  <p:clrMapOvr>
    <a:masterClrMapping/>
  </p:clrMapOvr>
</p:sld>
</file>

<file path=ppt/theme/theme1.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EP base">
  <a:themeElements>
    <a:clrScheme name="FEP">
      <a:dk1>
        <a:srgbClr val="3C3C3B"/>
      </a:dk1>
      <a:lt1>
        <a:srgbClr val="FFFFFF"/>
      </a:lt1>
      <a:dk2>
        <a:srgbClr val="0E2841"/>
      </a:dk2>
      <a:lt2>
        <a:srgbClr val="E8E8E8"/>
      </a:lt2>
      <a:accent1>
        <a:srgbClr val="00563C"/>
      </a:accent1>
      <a:accent2>
        <a:srgbClr val="00A651"/>
      </a:accent2>
      <a:accent3>
        <a:srgbClr val="799385"/>
      </a:accent3>
      <a:accent4>
        <a:srgbClr val="82CA9C"/>
      </a:accent4>
      <a:accent5>
        <a:srgbClr val="919191"/>
      </a:accent5>
      <a:accent6>
        <a:srgbClr val="CACACA"/>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A14AC2A-729A-4EF5-8C96-96CDC9FFFA55}">
  <we:reference id="wa200010001" version="1.0.0.1" store="hu-HU" storeType="OMEX"/>
  <we:alternateReferences>
    <we:reference id="WA200010001" version="1.0.0.1" store="" storeType="OMEX"/>
  </we:alternateReferences>
  <we:properties>
    <we:property name="claude.fileId" value="&quot;f311ad46-2d86-468d-a86c-375dd1fc438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48e42aa-7502-48aa-9973-d5430de63b43">
      <Terms xmlns="http://schemas.microsoft.com/office/infopath/2007/PartnerControls"/>
    </lcf76f155ced4ddcb4097134ff3c332f>
    <TaxCatchAll xmlns="3ba8be79-126f-4ecc-b268-0e8a1c9d820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B25C80BA76C054AAAC0D3CDDFCEC309" ma:contentTypeVersion="14" ma:contentTypeDescription="Create a new document." ma:contentTypeScope="" ma:versionID="d968673a7c3a10ddeefea4f97a096cd1">
  <xsd:schema xmlns:xsd="http://www.w3.org/2001/XMLSchema" xmlns:xs="http://www.w3.org/2001/XMLSchema" xmlns:p="http://schemas.microsoft.com/office/2006/metadata/properties" xmlns:ns2="3ba8be79-126f-4ecc-b268-0e8a1c9d820a" xmlns:ns3="348e42aa-7502-48aa-9973-d5430de63b43" targetNamespace="http://schemas.microsoft.com/office/2006/metadata/properties" ma:root="true" ma:fieldsID="65bd50756c71f8c38774f3a5c983a670" ns2:_="" ns3:_="">
    <xsd:import namespace="3ba8be79-126f-4ecc-b268-0e8a1c9d820a"/>
    <xsd:import namespace="348e42aa-7502-48aa-9973-d5430de63b4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GenerationTime" minOccurs="0"/>
                <xsd:element ref="ns3:MediaServiceEventHashCod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a8be79-126f-4ecc-b268-0e8a1c9d820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554c7780-c79f-4b81-a1cc-c56cb19b1b79}" ma:internalName="TaxCatchAll" ma:showField="CatchAllData" ma:web="3ba8be79-126f-4ecc-b268-0e8a1c9d820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8e42aa-7502-48aa-9973-d5430de63b4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8080c10-e0a6-4b42-beda-2db26c8ffc26"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1DE518-529C-4DF1-8960-0E6216B00ED8}">
  <ds:schemaRefs>
    <ds:schemaRef ds:uri="348e42aa-7502-48aa-9973-d5430de63b43"/>
    <ds:schemaRef ds:uri="3ba8be79-126f-4ecc-b268-0e8a1c9d82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E4EB891-0924-4C8D-9E76-3333F03C2C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a8be79-126f-4ecc-b268-0e8a1c9d820a"/>
    <ds:schemaRef ds:uri="348e42aa-7502-48aa-9973-d5430de63b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DB0B0C-60B3-4153-B8BF-354313383EA8}">
  <ds:schemaRefs>
    <ds:schemaRef ds:uri="http://schemas.microsoft.com/sharepoint/v3/contenttype/forms"/>
  </ds:schemaRefs>
</ds:datastoreItem>
</file>

<file path=docMetadata/LabelInfo.xml><?xml version="1.0" encoding="utf-8"?>
<clbl:labelList xmlns:clbl="http://schemas.microsoft.com/office/2020/mipLabelMetadata">
  <clbl:label id="{42728984-5573-4501-93e1-26196c1472d0}" enabled="0" method="" siteId="{42728984-5573-4501-93e1-26196c1472d0}" removed="1"/>
</clbl:labelList>
</file>

<file path=docProps/app.xml><?xml version="1.0" encoding="utf-8"?>
<Properties xmlns="http://schemas.openxmlformats.org/officeDocument/2006/extended-properties" xmlns:vt="http://schemas.openxmlformats.org/officeDocument/2006/docPropsVTypes">
  <Template/>
  <TotalTime>15584</TotalTime>
  <Words>2317</Words>
  <Application>Microsoft Office PowerPoint</Application>
  <PresentationFormat>Egyéni</PresentationFormat>
  <Paragraphs>509</Paragraphs>
  <Slides>9</Slides>
  <Notes>0</Notes>
  <HiddenSlides>0</HiddenSlides>
  <MMClips>0</MMClips>
  <ScaleCrop>false</ScaleCrop>
  <HeadingPairs>
    <vt:vector size="4" baseType="variant">
      <vt:variant>
        <vt:lpstr>Téma</vt:lpstr>
      </vt:variant>
      <vt:variant>
        <vt:i4>2</vt:i4>
      </vt:variant>
      <vt:variant>
        <vt:lpstr>Diacímek</vt:lpstr>
      </vt:variant>
      <vt:variant>
        <vt:i4>9</vt:i4>
      </vt:variant>
    </vt:vector>
  </HeadingPairs>
  <TitlesOfParts>
    <vt:vector size="11" baseType="lpstr">
      <vt:lpstr>Blank</vt:lpstr>
      <vt:lpstr>FEP base</vt:lpstr>
      <vt:lpstr>PowerPoint-bemutató</vt:lpstr>
      <vt:lpstr>EXECUTIVE SUMMARY</vt:lpstr>
      <vt:lpstr>Risks and mitigants</vt:lpstr>
      <vt:lpstr>Technical overview and tender bid</vt:lpstr>
      <vt:lpstr>Funding to COD and what comes back</vt:lpstr>
      <vt:lpstr>Returns: sale at COD vs hold to maturity</vt:lpstr>
      <vt:lpstr>Sensitivity – FEP IRR</vt:lpstr>
      <vt:lpstr>Sensitivity – FEP MOIC</vt:lpstr>
      <vt:lpstr>Sensitivity – all values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FEP</dc:creator>
  <cp:lastModifiedBy>Szentirmai Dániel</cp:lastModifiedBy>
  <cp:revision>16</cp:revision>
  <dcterms:created xsi:type="dcterms:W3CDTF">2025-05-21T13:33:01Z</dcterms:created>
  <dcterms:modified xsi:type="dcterms:W3CDTF">2026-10-13T07:27:56Z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0x010100CB25C80BA76C054AAAC0D3CDDFCEC309</vt:lpwstr>
  </property>
  <property fmtid="{D5CDD505-2E9C-101B-9397-08002B2CF9AE}" pid="3" name="MediaServiceImageTags">
    <vt:lpwstr/>
  </property>
</Properties>
</file>